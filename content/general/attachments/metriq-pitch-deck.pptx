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f47fff0-a35d-6f50-734a-f3ca927071c9}">
          <p14:sldIdLst>
            <p14:sldId id="256"/>
            <p14:sldId id="257"/>
          </p14:sldIdLst>
        </p14:section>
        <p14:section name="Capability" id="{0fb0a2c0-0ae3-cbe0-d000-d67adb82ecdf}">
          <p14:sldIdLst>
            <p14:sldId id="258"/>
            <p14:sldId id="259"/>
            <p14:sldId id="260"/>
            <p14:sldId id="261"/>
            <p14:sldId id="262"/>
            <p14:sldId id="263"/>
          </p14:sldIdLst>
        </p14:section>
        <p14:section name="Why MetriQ" id="{42f4896f-b927-d816-4531-5ed524835ca6}">
          <p14:sldIdLst>
            <p14:sldId id="264"/>
            <p14:sldId id="265"/>
            <p14:sldId id="266"/>
            <p14:sldId id="267"/>
          </p14:sldIdLst>
        </p14:section>
        <p14:section name="Your line" id="{cfb189e3-44fe-c680-d96a-f74335ab5b5f}">
          <p14:sldIdLst>
            <p14:sldId id="268"/>
          </p14:sldIdLst>
        </p14:section>
        <p14:section name="Next" id="{a342f1c0-98e5-2fe2-28ee-d848613cdf6f}">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D3D"/>
                </a:solidFill>
                <a:latin typeface="+mn-lt"/>
              </a:defRPr>
            </a:pPr>
            <a:r>
              <a:rPr sz="1300" b="0" i="0" u="none" strike="noStrike">
                <a:solidFill>
                  <a:srgbClr val="1D2D3D"/>
                </a:solidFill>
                <a:latin typeface="+mn-lt"/>
              </a:rPr>
              <a:t>Colour against grade A yellow, ΔE (one shift)</a:t>
            </a:r>
          </a:p>
        </c:rich>
      </c:tx>
      <c:layout/>
      <c:overlay val="0"/>
    </c:title>
    <c:autoTitleDeleted val="0"/>
    <c:plotArea>
      <c:layout/>
      <c:barChart>
        <c:barDir val="col"/>
        <c:grouping val="clustered"/>
        <c:varyColors val="0"/>
        <c:ser>
          <c:idx val="0"/>
          <c:order val="0"/>
          <c:tx>
            <c:strRef>
              <c:f>Sheet1!$B$1</c:f>
              <c:strCache>
                <c:ptCount val="1"/>
                <c:pt idx="0">
                  <c:v>Lemons</c:v>
                </c:pt>
              </c:strCache>
            </c:strRef>
          </c:tx>
          <c:spPr>
            <a:solidFill>
              <a:srgbClr val="E9C46A"/>
            </a:solidFill>
            <a:effectLst/>
          </c:spPr>
          <c:invertIfNegative val="0"/>
          <c:dLbls>
            <c:numFmt formatCode="#,##0" sourceLinked="0"/>
            <c:txPr>
              <a:bodyPr/>
              <a:lstStyle/>
              <a:p>
                <a:pPr>
                  <a:defRPr b="0" i="0" strike="noStrike" sz="1100" u="none">
                    <a:solidFill>
                      <a:srgbClr val="17181A"/>
                    </a:solidFill>
                    <a:latin typeface="+mn-lt"/>
                  </a:defRPr>
                </a:pPr>
              </a:p>
            </c:txPr>
            <c:showLegendKey val="0"/>
            <c:showVal val="1"/>
            <c:showCatName val="0"/>
            <c:showSerName val="0"/>
            <c:showPercent val="0"/>
            <c:showBubbleSize val="0"/>
            <c:showLeaderLines val="0"/>
          </c:dLbls>
          <c:dPt>
            <c:idx val="0"/>
            <c:invertIfNegative val="0"/>
            <c:bubble3D val="0"/>
            <c:spPr>
              <a:solidFill>
                <a:srgbClr val="E9C46A"/>
              </a:solidFill>
              <a:effectLst/>
            </c:spPr>
          </c:dPt>
          <c:dPt>
            <c:idx val="1"/>
            <c:invertIfNegative val="0"/>
            <c:bubble3D val="0"/>
            <c:spPr>
              <a:solidFill>
                <a:srgbClr val="E9C46A"/>
              </a:solidFill>
              <a:effectLst/>
            </c:spPr>
          </c:dPt>
          <c:dPt>
            <c:idx val="2"/>
            <c:invertIfNegative val="0"/>
            <c:bubble3D val="0"/>
            <c:spPr>
              <a:solidFill>
                <a:srgbClr val="E9C46A"/>
              </a:solidFill>
              <a:effectLst/>
            </c:spPr>
          </c:dPt>
          <c:dPt>
            <c:idx val="3"/>
            <c:invertIfNegative val="0"/>
            <c:bubble3D val="0"/>
            <c:spPr>
              <a:solidFill>
                <a:srgbClr val="D4B85A"/>
              </a:solidFill>
              <a:effectLst/>
            </c:spPr>
          </c:dPt>
          <c:dPt>
            <c:idx val="4"/>
            <c:invertIfNegative val="0"/>
            <c:bubble3D val="0"/>
            <c:spPr>
              <a:solidFill>
                <a:srgbClr val="7FA35A"/>
              </a:solidFill>
              <a:effectLst/>
            </c:spPr>
          </c:dPt>
          <c:cat>
            <c:multiLvlStrRef>
              <c:f>Sheet1!$A$2:$A$6</c:f>
              <c:multiLvlStrCache>
                <c:ptCount val="5"/>
                <c:lvl>
                  <c:pt idx="0">
                    <c:v>0–2</c:v>
                  </c:pt>
                  <c:pt idx="1">
                    <c:v>2–4</c:v>
                  </c:pt>
                  <c:pt idx="2">
                    <c:v>4–6</c:v>
                  </c:pt>
                  <c:pt idx="3">
                    <c:v>6–8</c:v>
                  </c:pt>
                  <c:pt idx="4">
                    <c:v>&gt; 8</c:v>
                  </c:pt>
                </c:lvl>
              </c:multiLvlStrCache>
            </c:multiLvlStrRef>
          </c:cat>
          <c:val>
            <c:numRef>
              <c:f>Sheet1!$B$2:$B$6</c:f>
              <c:numCache>
                <c:formatCode>General</c:formatCode>
                <c:ptCount val="5"/>
                <c:pt idx="0">
                  <c:v>6850</c:v>
                </c:pt>
                <c:pt idx="1">
                  <c:v>17420</c:v>
                </c:pt>
                <c:pt idx="2">
                  <c:v>16890</c:v>
                </c:pt>
                <c:pt idx="3">
                  <c:v>7252</c:v>
                </c:pt>
                <c:pt idx="4">
                  <c:v>548</c:v>
                </c:pt>
              </c:numCache>
            </c:numRef>
          </c:val>
        </c:ser>
        <c:dLbls>
          <c:numFmt formatCode="#,##0" sourceLinked="0"/>
          <c:txPr>
            <a:bodyPr/>
            <a:lstStyle/>
            <a:p>
              <a:pPr>
                <a:defRPr b="0" i="0" strike="noStrike" sz="1100" u="none">
                  <a:solidFill>
                    <a:srgbClr val="1718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5D6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Thong Huynh, founder of MTRobotix. MetriQ mounts over the conveyor you already run, goes live in hours, and catches defects the moment they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loop: the camera checks each part, grades it, and the pusher add-on removes defects. MetriQ can also drive the reject system the customer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Throughput, smallest defect, catch rate, time to go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A. One camera frame of mixed fasteners: MetriQ counts and identifies every part, measures each screw, checks the finish colour, finds the two broken bolts and the one lying the wrong way up, flags the capacitor it was never taught, and gives the verdict. Readings drawn on a real photo for illustration.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B. From above, MetriQ counts the cartons, checks length and width and the label colour. Then the view turns 3D: it checks height, finds the crushed corner by its height, and gives the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footage from a customer line. Setup was naming the product. Every unit gets an ID, so each is counted once. The same works for any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 is measured in CIELAB against a calibrated reference, so the grade is a number, not an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MetriQ tells the supervisor what is drifting and what to check, before parts start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Lower left is faster and cheaper. An integrator-built station takes weeks to months and $30k–150k in its first year; AI vision platforms take 1–4 weeks and roughly $16k–87k. MetriQ is installed by us and live the same day, with no integrator fees.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mount the camera over the running line, calibrate scale, colour and light, teach MetriQ with a few reference images, and it is live and reporting the same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columns first, then click to reveal MetriQ.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shift report MetriQ produces from the same numbers as the Measurements screen. Sample data for a lemon grading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MetriQ is configured for the customer's product, conveyor and plant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a demo on their parts. Offer two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spc="200" kern="0" dirty="0">
                <a:solidFill>
                  <a:schemeClr val="accent6"/>
                </a:solidFill>
              </a:rPr>
              <a:t>MTROBOTIX  ·  MetriQ</a:t>
            </a:r>
            <a:endParaRPr lang="en-US" sz="1000" dirty="0"/>
          </a:p>
        </p:txBody>
      </p:sp>
      <p:sp>
        <p:nvSpPr>
          <p:cNvPr id="3" name="Text 1"/>
          <p:cNvSpPr/>
          <p:nvPr>
            <p:ph idx="101" type="body" hasCustomPrompt="1"/>
          </p:nvPr>
        </p:nvSpPr>
        <p:spPr>
          <a:xfrm>
            <a:off x="548640" y="411480"/>
            <a:ext cx="8229600" cy="274320"/>
          </a:xfrm>
          <a:prstGeom prst="rect">
            <a:avLst/>
          </a:prstGeom>
          <a:noFill/>
          <a:ln/>
        </p:spPr>
        <p:txBody>
          <a:bodyPr wrap="square" rtlCol="0"/>
          <a:lstStyle>
            <a:lvl1pPr indent="0" marL="0">
              <a:buNone/>
              <a:defRPr lang="en-US" sz="1100" b="1" spc="300" kern="0"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548640" y="713232"/>
            <a:ext cx="11094415" cy="73152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slide" Target="slide4.xml"/><Relationship Id="rId1" Type="http://schemas.openxmlformats.org/officeDocument/2006/relationships/video" Target="../media/media-2-1.mp4"/><Relationship Id="rId2" Type="http://schemas.microsoft.com/office/2007/relationships/media" Target="../media/media-2-1.mp4"/><Relationship Id="rId3" Type="http://schemas.openxmlformats.org/officeDocument/2006/relationships/image" Target="../media/image-2-3.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4" Type="http://schemas.openxmlformats.org/officeDocument/2006/relationships/slide" Target="slide4.xml"/><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slide" Target="slide4.xml"/><Relationship Id="rId1" Type="http://schemas.openxmlformats.org/officeDocument/2006/relationships/chart" Target="/ppt/charts/chart1.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slide" Target="slide4.xml"/><Relationship Id="rId1" Type="http://schemas.openxmlformats.org/officeDocument/2006/relationships/image" Target="../media/image-8-1.jp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mailto:mtrobotix@gmail.com" TargetMode="External"/><Relationship Id="rId5" Type="http://schemas.openxmlformats.org/officeDocument/2006/relationships/hyperlink" Target="https://www.mtrobotix.com" TargetMode="External"/><Relationship Id="rId1"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6" Type="http://schemas.openxmlformats.org/officeDocument/2006/relationships/image" Target="../media/image-14-4.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Wordmark"/>
          <p:cNvSpPr txBox="1"/>
          <p:nvPr/>
        </p:nvSpPr>
        <p:spPr>
          <a:xfrm>
            <a:off x="548640" y="548640"/>
            <a:ext cx="3657600" cy="365760"/>
          </a:xfrm>
          <a:prstGeom prst="rect">
            <a:avLst/>
          </a:prstGeom>
          <a:noFill/>
          <a:ln/>
        </p:spPr>
        <p:txBody>
          <a:bodyPr wrap="square" lIns="0" tIns="0" rIns="0" bIns="0" rtlCol="0" anchor="ctr"/>
          <a:lstStyle/>
          <a:p>
            <a:pPr indent="0" marL="0">
              <a:buNone/>
            </a:pPr>
            <a:r>
              <a:rPr lang="en-US" sz="1400" b="1" spc="600" kern="0" dirty="0">
                <a:solidFill>
                  <a:schemeClr val="accent2"/>
                </a:solidFill>
              </a:rPr>
              <a:t>MT</a:t>
            </a:r>
            <a:pPr indent="0" marL="0">
              <a:buNone/>
            </a:pPr>
            <a:r>
              <a:rPr lang="en-US" sz="1400" b="1" spc="600" kern="0" dirty="0">
                <a:solidFill>
                  <a:schemeClr val="bg1"/>
                </a:solidFill>
              </a:rPr>
              <a:t>ROBOTIX</a:t>
            </a:r>
            <a:endParaRPr lang="en-US" sz="1400" dirty="0"/>
          </a:p>
        </p:txBody>
      </p:sp>
      <p:sp>
        <p:nvSpPr>
          <p:cNvPr id="3" name="Product"/>
          <p:cNvSpPr txBox="1"/>
          <p:nvPr/>
        </p:nvSpPr>
        <p:spPr>
          <a:xfrm>
            <a:off x="548640" y="1828800"/>
            <a:ext cx="5486400" cy="1188720"/>
          </a:xfrm>
          <a:prstGeom prst="rect">
            <a:avLst/>
          </a:prstGeom>
          <a:noFill/>
          <a:ln/>
        </p:spPr>
        <p:txBody>
          <a:bodyPr wrap="square" lIns="0" tIns="0" rIns="0" bIns="0" rtlCol="0" anchor="ctr"/>
          <a:lstStyle/>
          <a:p>
            <a:pPr indent="0" marL="0">
              <a:buNone/>
            </a:pPr>
            <a:r>
              <a:rPr lang="en-US" sz="8000" b="1" dirty="0">
                <a:solidFill>
                  <a:schemeClr val="bg1"/>
                </a:solidFill>
              </a:rPr>
              <a:t>MetriQ</a:t>
            </a:r>
            <a:endParaRPr lang="en-US" sz="8000" dirty="0"/>
          </a:p>
        </p:txBody>
      </p:sp>
      <p:sp>
        <p:nvSpPr>
          <p:cNvPr id="4" name="Lead"/>
          <p:cNvSpPr txBox="1"/>
          <p:nvPr/>
        </p:nvSpPr>
        <p:spPr>
          <a:xfrm>
            <a:off x="548640" y="3108960"/>
            <a:ext cx="5486400" cy="1005840"/>
          </a:xfrm>
          <a:prstGeom prst="rect">
            <a:avLst/>
          </a:prstGeom>
          <a:noFill/>
          <a:ln/>
        </p:spPr>
        <p:txBody>
          <a:bodyPr wrap="square" lIns="0" tIns="0" rIns="0" bIns="0" rtlCol="0" anchor="t"/>
          <a:lstStyle/>
          <a:p>
            <a:pPr indent="0" marL="0">
              <a:buNone/>
            </a:pPr>
            <a:r>
              <a:rPr lang="en-US" sz="2600" dirty="0">
                <a:solidFill>
                  <a:schemeClr val="bg1"/>
                </a:solidFill>
              </a:rPr>
              <a:t>Installed in hours.</a:t>
            </a:r>
            <a:endParaRPr lang="en-US" sz="2600" dirty="0"/>
          </a:p>
          <a:p>
            <a:pPr indent="0" marL="0">
              <a:buNone/>
            </a:pPr>
            <a:r>
              <a:rPr lang="en-US" sz="2600" dirty="0">
                <a:solidFill>
                  <a:schemeClr val="bg1"/>
                </a:solidFill>
              </a:rPr>
              <a:t>Zero downtime.</a:t>
            </a:r>
            <a:endParaRPr lang="en-US" sz="2600" dirty="0"/>
          </a:p>
        </p:txBody>
      </p:sp>
      <p:sp>
        <p:nvSpPr>
          <p:cNvPr id="5" name="Sub"/>
          <p:cNvSpPr txBox="1"/>
          <p:nvPr/>
        </p:nvSpPr>
        <p:spPr>
          <a:xfrm>
            <a:off x="548640" y="4389120"/>
            <a:ext cx="5486400" cy="457200"/>
          </a:xfrm>
          <a:prstGeom prst="rect">
            <a:avLst/>
          </a:prstGeom>
          <a:noFill/>
          <a:ln/>
        </p:spPr>
        <p:txBody>
          <a:bodyPr wrap="square" lIns="0" tIns="0" rIns="0" bIns="0" rtlCol="0" anchor="ctr"/>
          <a:lstStyle/>
          <a:p>
            <a:pPr indent="0" marL="0">
              <a:buNone/>
            </a:pPr>
            <a:r>
              <a:rPr lang="en-US" sz="1800" b="1" dirty="0">
                <a:solidFill>
                  <a:schemeClr val="accent2"/>
                </a:solidFill>
              </a:rPr>
              <a:t>Catch any defect, instantly.</a:t>
            </a:r>
            <a:endParaRPr lang="en-US" sz="1800" dirty="0"/>
          </a:p>
        </p:txBody>
      </p:sp>
      <p:sp>
        <p:nvSpPr>
          <p:cNvPr id="6" name="Hero frame"/>
          <p:cNvSpPr/>
          <p:nvPr/>
        </p:nvSpPr>
        <p:spPr>
          <a:xfrm>
            <a:off x="6309360" y="822960"/>
            <a:ext cx="5349240" cy="5212080"/>
          </a:xfrm>
          <a:prstGeom prst="roundRect">
            <a:avLst>
              <a:gd name="adj" fmla="val 3158"/>
            </a:avLst>
          </a:prstGeom>
          <a:solidFill>
            <a:schemeClr val="bg1"/>
          </a:solidFill>
          <a:ln/>
        </p:spPr>
      </p:sp>
      <p:pic>
        <p:nvPicPr>
          <p:cNvPr id="7" name="MetriQ cell" descr="MetriQ inspection cell: camera head mounted over a conveyor">    </p:cNvPr>
          <p:cNvPicPr>
            <a:picLocks noChangeAspect="1"/>
          </p:cNvPicPr>
          <p:nvPr/>
        </p:nvPicPr>
        <p:blipFill>
          <a:blip r:embed="rId1"/>
          <a:stretch>
            <a:fillRect/>
          </a:stretch>
        </p:blipFill>
        <p:spPr>
          <a:xfrm>
            <a:off x="6537960" y="1252728"/>
            <a:ext cx="4892040" cy="3913632"/>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grpId="0" nodeType="withEffect">
                                  <p:stCondLst>
                                    <p:cond delay="2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10" presetClass="entr" presetSubtype="0" fill="hold" grpId="0" nodeType="withEffect">
                                  <p:stCondLst>
                                    <p:cond delay="5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5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8229600" cy="274320"/>
          </a:xfrm>
          <a:prstGeom prst="rect">
            <a:avLst/>
          </a:prstGeom>
          <a:noFill/>
          <a:ln/>
        </p:spPr>
        <p:txBody>
          <a:bodyPr wrap="square" lIns="0" tIns="0" rIns="0" bIns="0" rtlCol="0"/>
          <a:lstStyle/>
          <a:p>
            <a:pPr indent="0" marL="0">
              <a:buNone/>
            </a:pPr>
            <a:r>
              <a:rPr lang="en-US" sz="1100" b="1" spc="300" kern="0" dirty="0">
                <a:solidFill>
                  <a:schemeClr val="accent1"/>
                </a:solidFill>
              </a:rPr>
              <a:t>HOW IT WORKS</a:t>
            </a:r>
            <a:endParaRPr lang="en-US" sz="1100" dirty="0"/>
          </a:p>
        </p:txBody>
      </p:sp>
      <p:sp>
        <p:nvSpPr>
          <p:cNvPr id="3" name="Text 1"/>
          <p:cNvSpPr/>
          <p:nvPr>
            <p:ph idx="102" type="title" hasCustomPrompt="1"/>
          </p:nvPr>
        </p:nvSpPr>
        <p:spPr>
          <a:xfrm>
            <a:off x="548640" y="713232"/>
            <a:ext cx="11094415" cy="731520"/>
          </a:xfrm>
          <a:prstGeom prst="rect">
            <a:avLst/>
          </a:prstGeom>
          <a:noFill/>
          <a:ln/>
        </p:spPr>
        <p:txBody>
          <a:bodyPr wrap="square" lIns="0" tIns="0" rIns="0" bIns="0" rtlCol="0" anchor="t"/>
          <a:lstStyle/>
          <a:p>
            <a:pPr algn="l" indent="0" marL="0">
              <a:buNone/>
            </a:pPr>
            <a:r>
              <a:rPr lang="en-US" sz="3600" b="1" dirty="0">
                <a:solidFill>
                  <a:schemeClr val="tx2"/>
                </a:solidFill>
              </a:rPr>
              <a:t>Every unit inspected. Defects removed.</a:t>
            </a:r>
            <a:endParaRPr lang="en-US" sz="3600" dirty="0"/>
          </a:p>
        </p:txBody>
      </p:sp>
      <p:sp>
        <p:nvSpPr>
          <p:cNvPr id="4" name="Video frame"/>
          <p:cNvSpPr/>
          <p:nvPr/>
        </p:nvSpPr>
        <p:spPr>
          <a:xfrm>
            <a:off x="548640" y="1691640"/>
            <a:ext cx="6949440" cy="4343400"/>
          </a:xfrm>
          <a:prstGeom prst="roundRect">
            <a:avLst>
              <a:gd name="adj" fmla="val 2526"/>
            </a:avLst>
          </a:prstGeom>
          <a:solidFill>
            <a:schemeClr val="bg1"/>
          </a:solidFill>
          <a:ln w="12700">
            <a:solidFill>
              <a:schemeClr val="accent5"/>
            </a:solidFill>
            <a:prstDash val="solid"/>
          </a:ln>
        </p:spPr>
      </p:sp>
      <p:pic>
        <p:nvPicPr>
          <p:cNvPr id="3" name="Line animation">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94360" y="1737360"/>
            <a:ext cx="6858000" cy="4251960"/>
          </a:xfrm>
          <a:prstGeom prst="rect">
            <a:avLst/>
          </a:prstGeom>
        </p:spPr>
      </p:pic>
      <p:sp>
        <p:nvSpPr>
          <p:cNvPr id="6" name="Shape 3"/>
          <p:cNvSpPr/>
          <p:nvPr/>
        </p:nvSpPr>
        <p:spPr>
          <a:xfrm>
            <a:off x="8001000" y="1920240"/>
            <a:ext cx="457200" cy="457200"/>
          </a:xfrm>
          <a:prstGeom prst="ellipse">
            <a:avLst/>
          </a:prstGeom>
          <a:solidFill>
            <a:schemeClr val="tx2"/>
          </a:solidFill>
          <a:ln/>
        </p:spPr>
      </p:sp>
      <p:sp>
        <p:nvSpPr>
          <p:cNvPr id="7" name="Text 4"/>
          <p:cNvSpPr txBox="1"/>
          <p:nvPr/>
        </p:nvSpPr>
        <p:spPr>
          <a:xfrm>
            <a:off x="800100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8641080" y="1901952"/>
            <a:ext cx="3017520" cy="914400"/>
          </a:xfrm>
          <a:prstGeom prst="rect">
            <a:avLst/>
          </a:prstGeom>
          <a:noFill/>
          <a:ln/>
        </p:spPr>
        <p:txBody>
          <a:bodyPr wrap="square" lIns="0" tIns="0" rIns="0" bIns="0" rtlCol="0" anchor="t"/>
          <a:lstStyle/>
          <a:p>
            <a:pPr indent="0" marL="0">
              <a:buNone/>
            </a:pPr>
            <a:r>
              <a:rPr lang="en-US" sz="1600" b="1" dirty="0">
                <a:solidFill>
                  <a:schemeClr val="tx1"/>
                </a:solidFill>
              </a:rPr>
              <a:t>Camera checks each part</a:t>
            </a:r>
            <a:endParaRPr lang="en-US" sz="1600" dirty="0"/>
          </a:p>
          <a:p>
            <a:pPr indent="0" marL="0">
              <a:buNone/>
            </a:pPr>
            <a:r>
              <a:rPr lang="en-US" sz="1600" dirty="0">
                <a:solidFill>
                  <a:schemeClr val="accent4"/>
                </a:solidFill>
              </a:rPr>
              <a:t>at line speed.</a:t>
            </a:r>
            <a:endParaRPr lang="en-US" sz="1600" dirty="0"/>
          </a:p>
        </p:txBody>
      </p:sp>
      <p:sp>
        <p:nvSpPr>
          <p:cNvPr id="9" name="Shape 6"/>
          <p:cNvSpPr/>
          <p:nvPr/>
        </p:nvSpPr>
        <p:spPr>
          <a:xfrm>
            <a:off x="8001000" y="3108960"/>
            <a:ext cx="457200" cy="457200"/>
          </a:xfrm>
          <a:prstGeom prst="ellipse">
            <a:avLst/>
          </a:prstGeom>
          <a:solidFill>
            <a:schemeClr val="accent3"/>
          </a:solidFill>
          <a:ln/>
        </p:spPr>
      </p:sp>
      <p:sp>
        <p:nvSpPr>
          <p:cNvPr id="10" name="Text 7"/>
          <p:cNvSpPr txBox="1"/>
          <p:nvPr/>
        </p:nvSpPr>
        <p:spPr>
          <a:xfrm>
            <a:off x="8001000" y="31089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8"/>
          <p:cNvSpPr txBox="1"/>
          <p:nvPr/>
        </p:nvSpPr>
        <p:spPr>
          <a:xfrm>
            <a:off x="8641080" y="3090672"/>
            <a:ext cx="3017520" cy="914400"/>
          </a:xfrm>
          <a:prstGeom prst="rect">
            <a:avLst/>
          </a:prstGeom>
          <a:noFill/>
          <a:ln/>
        </p:spPr>
        <p:txBody>
          <a:bodyPr wrap="square" lIns="0" tIns="0" rIns="0" bIns="0" rtlCol="0" anchor="t"/>
          <a:lstStyle/>
          <a:p>
            <a:pPr indent="0" marL="0">
              <a:buNone/>
            </a:pPr>
            <a:r>
              <a:rPr lang="en-US" sz="1600" b="1" dirty="0">
                <a:solidFill>
                  <a:schemeClr val="tx1"/>
                </a:solidFill>
              </a:rPr>
              <a:t>Good goes green, defects red</a:t>
            </a:r>
            <a:endParaRPr lang="en-US" sz="1600" dirty="0"/>
          </a:p>
          <a:p>
            <a:pPr indent="0" marL="0">
              <a:buNone/>
            </a:pPr>
            <a:r>
              <a:rPr lang="en-US" sz="1600" dirty="0">
                <a:solidFill>
                  <a:schemeClr val="accent4"/>
                </a:solidFill>
              </a:rPr>
              <a:t>with the defect named.</a:t>
            </a:r>
            <a:endParaRPr lang="en-US" sz="1600" dirty="0"/>
          </a:p>
        </p:txBody>
      </p:sp>
      <p:sp>
        <p:nvSpPr>
          <p:cNvPr id="12" name="Shape 9"/>
          <p:cNvSpPr/>
          <p:nvPr/>
        </p:nvSpPr>
        <p:spPr>
          <a:xfrm>
            <a:off x="8001000" y="4297680"/>
            <a:ext cx="457200" cy="457200"/>
          </a:xfrm>
          <a:prstGeom prst="ellipse">
            <a:avLst/>
          </a:prstGeom>
          <a:solidFill>
            <a:schemeClr val="accent2"/>
          </a:solidFill>
          <a:ln/>
        </p:spPr>
      </p:sp>
      <p:sp>
        <p:nvSpPr>
          <p:cNvPr id="13" name="Text 10"/>
          <p:cNvSpPr txBox="1"/>
          <p:nvPr/>
        </p:nvSpPr>
        <p:spPr>
          <a:xfrm>
            <a:off x="8001000" y="42976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1"/>
          <p:cNvSpPr txBox="1"/>
          <p:nvPr/>
        </p:nvSpPr>
        <p:spPr>
          <a:xfrm>
            <a:off x="8641080" y="4279392"/>
            <a:ext cx="3017520" cy="914400"/>
          </a:xfrm>
          <a:prstGeom prst="rect">
            <a:avLst/>
          </a:prstGeom>
          <a:noFill/>
          <a:ln/>
        </p:spPr>
        <p:txBody>
          <a:bodyPr wrap="square" lIns="0" tIns="0" rIns="0" bIns="0" rtlCol="0" anchor="t"/>
          <a:lstStyle/>
          <a:p>
            <a:pPr indent="0" marL="0">
              <a:buNone/>
            </a:pPr>
            <a:r>
              <a:rPr lang="en-US" sz="1600" b="1" dirty="0">
                <a:solidFill>
                  <a:schemeClr val="tx1"/>
                </a:solidFill>
              </a:rPr>
              <a:t>Defects removed</a:t>
            </a:r>
            <a:endParaRPr lang="en-US" sz="1600" dirty="0"/>
          </a:p>
          <a:p>
            <a:pPr indent="0" marL="0">
              <a:buNone/>
            </a:pPr>
            <a:r>
              <a:rPr lang="en-US" sz="1600" dirty="0">
                <a:solidFill>
                  <a:schemeClr val="accent4"/>
                </a:solidFill>
              </a:rPr>
              <a:t>by our pusher or your reject system.</a:t>
            </a:r>
            <a:endParaRPr lang="en-US" sz="1600" dirty="0"/>
          </a:p>
        </p:txBody>
      </p:sp>
      <p:sp>
        <p:nvSpPr>
          <p:cNvPr id="15" name="Back link"/>
          <p:cNvSpPr txBox="1"/>
          <p:nvPr/>
        </p:nvSpPr>
        <p:spPr>
          <a:xfrm>
            <a:off x="8716975" y="6382512"/>
            <a:ext cx="2194560" cy="310896"/>
          </a:xfrm>
          <a:prstGeom prst="rect">
            <a:avLst/>
          </a:prstGeom>
          <a:noFill/>
          <a:ln/>
        </p:spPr>
        <p:txBody>
          <a:bodyPr wrap="square" lIns="0" tIns="0" rIns="0" bIns="0" rtlCol="0" anchor="ctr"/>
          <a:lstStyle/>
          <a:p>
            <a:pPr algn="r" indent="0" marL="0">
              <a:buNone/>
            </a:pPr>
            <a:r>
              <a:rPr lang="en-US" sz="1100" u="sng" dirty="0">
                <a:solidFill>
                  <a:schemeClr val="accent1"/>
                </a:solidFill>
                <a:hlinkClick r:id="rId4" action="ppaction://hlinksldjump" tooltip="Back to capabilities">
                  <a:extLst>
                    <a:ext uri="{A12FA001-AC4F-418D-AE19-62706E023703}">
                      <ahyp:hlinkClr xmlns:ahyp="http://schemas.microsoft.com/office/drawing/2018/hyperlinkcolor" val="tx"/>
                    </a:ext>
                  </a:extLst>
                </a:hlinkClick>
              </a:rPr>
              <a:t>← All capabilities</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65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3"/>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lIns="0" tIns="0" rIns="0" bIns="0" rtlCol="0" anchor="ctr"/>
          <a:lstStyle/>
          <a:p>
            <a:pPr indent="0" marL="0">
              <a:buNone/>
            </a:pPr>
            <a:r>
              <a:rPr lang="en-US" sz="1100" b="1" spc="300" kern="0" dirty="0">
                <a:solidFill>
                  <a:schemeClr val="accent6"/>
                </a:solidFill>
              </a:rPr>
              <a:t>PERFORMANCE</a:t>
            </a:r>
            <a:endParaRPr lang="en-US" sz="1100" dirty="0"/>
          </a:p>
        </p:txBody>
      </p:sp>
      <p:sp>
        <p:nvSpPr>
          <p:cNvPr id="3" name="Text 1"/>
          <p:cNvSpPr txBox="1"/>
          <p:nvPr/>
        </p:nvSpPr>
        <p:spPr>
          <a:xfrm>
            <a:off x="548640" y="713232"/>
            <a:ext cx="9144000" cy="731520"/>
          </a:xfrm>
          <a:prstGeom prst="rect">
            <a:avLst/>
          </a:prstGeom>
          <a:noFill/>
          <a:ln/>
        </p:spPr>
        <p:txBody>
          <a:bodyPr wrap="square" lIns="0" tIns="0" rIns="0" bIns="0" rtlCol="0" anchor="ctr"/>
          <a:lstStyle/>
          <a:p>
            <a:pPr indent="0" marL="0">
              <a:buNone/>
            </a:pPr>
            <a:r>
              <a:rPr lang="en-US" sz="3600" b="1" dirty="0">
                <a:solidFill>
                  <a:schemeClr val="bg1"/>
                </a:solidFill>
              </a:rPr>
              <a:t>Built for line speed</a:t>
            </a:r>
            <a:endParaRPr lang="en-US" sz="3600" dirty="0"/>
          </a:p>
        </p:txBody>
      </p:sp>
      <p:sp>
        <p:nvSpPr>
          <p:cNvPr id="4" name="Stat 0 value"/>
          <p:cNvSpPr txBox="1"/>
          <p:nvPr/>
        </p:nvSpPr>
        <p:spPr>
          <a:xfrm>
            <a:off x="548640" y="2468880"/>
            <a:ext cx="2407844" cy="1188720"/>
          </a:xfrm>
          <a:prstGeom prst="rect">
            <a:avLst/>
          </a:prstGeom>
          <a:noFill/>
          <a:ln/>
        </p:spPr>
        <p:txBody>
          <a:bodyPr wrap="square" lIns="0" tIns="0" rIns="0" bIns="0" rtlCol="0" anchor="b"/>
          <a:lstStyle/>
          <a:p>
            <a:pPr indent="0" marL="0">
              <a:buNone/>
            </a:pPr>
            <a:r>
              <a:rPr lang="en-US" sz="5000" b="1" dirty="0">
                <a:solidFill>
                  <a:schemeClr val="bg1"/>
                </a:solidFill>
              </a:rPr>
              <a:t>100+</a:t>
            </a:r>
            <a:endParaRPr lang="en-US" sz="5000" dirty="0"/>
          </a:p>
        </p:txBody>
      </p:sp>
      <p:sp>
        <p:nvSpPr>
          <p:cNvPr id="5" name="Stat 0 label"/>
          <p:cNvSpPr txBox="1"/>
          <p:nvPr/>
        </p:nvSpPr>
        <p:spPr>
          <a:xfrm>
            <a:off x="548640" y="3794760"/>
            <a:ext cx="2316404" cy="640080"/>
          </a:xfrm>
          <a:prstGeom prst="rect">
            <a:avLst/>
          </a:prstGeom>
          <a:noFill/>
          <a:ln/>
        </p:spPr>
        <p:txBody>
          <a:bodyPr wrap="square" lIns="0" tIns="0" rIns="0" bIns="0" rtlCol="0" anchor="t"/>
          <a:lstStyle/>
          <a:p>
            <a:pPr indent="0" marL="0">
              <a:buNone/>
            </a:pPr>
            <a:r>
              <a:rPr lang="en-US" sz="1700" dirty="0">
                <a:solidFill>
                  <a:schemeClr val="accent5"/>
                </a:solidFill>
              </a:rPr>
              <a:t>parts per second</a:t>
            </a:r>
            <a:endParaRPr lang="en-US" sz="1700" dirty="0"/>
          </a:p>
        </p:txBody>
      </p:sp>
      <p:sp>
        <p:nvSpPr>
          <p:cNvPr id="6" name="Stat 1 rule"/>
          <p:cNvSpPr/>
          <p:nvPr/>
        </p:nvSpPr>
        <p:spPr>
          <a:xfrm>
            <a:off x="3322244" y="2514600"/>
            <a:ext cx="0" cy="1920240"/>
          </a:xfrm>
          <a:prstGeom prst="line">
            <a:avLst/>
          </a:prstGeom>
          <a:noFill/>
          <a:ln w="12700">
            <a:solidFill>
              <a:srgbClr val="3A4A5B"/>
            </a:solidFill>
            <a:prstDash val="solid"/>
          </a:ln>
        </p:spPr>
      </p:sp>
      <p:sp>
        <p:nvSpPr>
          <p:cNvPr id="7" name="Stat 1 value"/>
          <p:cNvSpPr txBox="1"/>
          <p:nvPr/>
        </p:nvSpPr>
        <p:spPr>
          <a:xfrm>
            <a:off x="3642284" y="2468880"/>
            <a:ext cx="2407844" cy="1188720"/>
          </a:xfrm>
          <a:prstGeom prst="rect">
            <a:avLst/>
          </a:prstGeom>
          <a:noFill/>
          <a:ln/>
        </p:spPr>
        <p:txBody>
          <a:bodyPr wrap="square" lIns="0" tIns="0" rIns="0" bIns="0" rtlCol="0" anchor="b"/>
          <a:lstStyle/>
          <a:p>
            <a:pPr indent="0" marL="0">
              <a:buNone/>
            </a:pPr>
            <a:r>
              <a:rPr lang="en-US" sz="5000" b="1" dirty="0">
                <a:solidFill>
                  <a:schemeClr val="bg1"/>
                </a:solidFill>
              </a:rPr>
              <a:t>&lt;1 mm</a:t>
            </a:r>
            <a:endParaRPr lang="en-US" sz="5000" dirty="0"/>
          </a:p>
        </p:txBody>
      </p:sp>
      <p:sp>
        <p:nvSpPr>
          <p:cNvPr id="8" name="Stat 1 label"/>
          <p:cNvSpPr txBox="1"/>
          <p:nvPr/>
        </p:nvSpPr>
        <p:spPr>
          <a:xfrm>
            <a:off x="3642284" y="3794760"/>
            <a:ext cx="2316404" cy="640080"/>
          </a:xfrm>
          <a:prstGeom prst="rect">
            <a:avLst/>
          </a:prstGeom>
          <a:noFill/>
          <a:ln/>
        </p:spPr>
        <p:txBody>
          <a:bodyPr wrap="square" lIns="0" tIns="0" rIns="0" bIns="0" rtlCol="0" anchor="t"/>
          <a:lstStyle/>
          <a:p>
            <a:pPr indent="0" marL="0">
              <a:buNone/>
            </a:pPr>
            <a:r>
              <a:rPr lang="en-US" sz="1700" dirty="0">
                <a:solidFill>
                  <a:schemeClr val="accent5"/>
                </a:solidFill>
              </a:rPr>
              <a:t>smallest defect caught</a:t>
            </a:r>
            <a:endParaRPr lang="en-US" sz="1700" dirty="0"/>
          </a:p>
        </p:txBody>
      </p:sp>
      <p:sp>
        <p:nvSpPr>
          <p:cNvPr id="9" name="Stat 2 rule"/>
          <p:cNvSpPr/>
          <p:nvPr/>
        </p:nvSpPr>
        <p:spPr>
          <a:xfrm>
            <a:off x="6095848" y="2514600"/>
            <a:ext cx="0" cy="1920240"/>
          </a:xfrm>
          <a:prstGeom prst="line">
            <a:avLst/>
          </a:prstGeom>
          <a:noFill/>
          <a:ln w="12700">
            <a:solidFill>
              <a:srgbClr val="3A4A5B"/>
            </a:solidFill>
            <a:prstDash val="solid"/>
          </a:ln>
        </p:spPr>
      </p:sp>
      <p:sp>
        <p:nvSpPr>
          <p:cNvPr id="10" name="Stat 2 value"/>
          <p:cNvSpPr txBox="1"/>
          <p:nvPr/>
        </p:nvSpPr>
        <p:spPr>
          <a:xfrm>
            <a:off x="6415888" y="2468880"/>
            <a:ext cx="2407844" cy="1188720"/>
          </a:xfrm>
          <a:prstGeom prst="rect">
            <a:avLst/>
          </a:prstGeom>
          <a:noFill/>
          <a:ln/>
        </p:spPr>
        <p:txBody>
          <a:bodyPr wrap="square" lIns="0" tIns="0" rIns="0" bIns="0" rtlCol="0" anchor="b"/>
          <a:lstStyle/>
          <a:p>
            <a:pPr indent="0" marL="0">
              <a:buNone/>
            </a:pPr>
            <a:r>
              <a:rPr lang="en-US" sz="5000" b="1" dirty="0">
                <a:solidFill>
                  <a:schemeClr val="accent2"/>
                </a:solidFill>
              </a:rPr>
              <a:t>&gt;99.5%</a:t>
            </a:r>
            <a:endParaRPr lang="en-US" sz="5000" dirty="0"/>
          </a:p>
        </p:txBody>
      </p:sp>
      <p:sp>
        <p:nvSpPr>
          <p:cNvPr id="11" name="Stat 2 label"/>
          <p:cNvSpPr txBox="1"/>
          <p:nvPr/>
        </p:nvSpPr>
        <p:spPr>
          <a:xfrm>
            <a:off x="6415888" y="3794760"/>
            <a:ext cx="2316404" cy="640080"/>
          </a:xfrm>
          <a:prstGeom prst="rect">
            <a:avLst/>
          </a:prstGeom>
          <a:noFill/>
          <a:ln/>
        </p:spPr>
        <p:txBody>
          <a:bodyPr wrap="square" lIns="0" tIns="0" rIns="0" bIns="0" rtlCol="0" anchor="t"/>
          <a:lstStyle/>
          <a:p>
            <a:pPr indent="0" marL="0">
              <a:buNone/>
            </a:pPr>
            <a:r>
              <a:rPr lang="en-US" sz="1700" dirty="0">
                <a:solidFill>
                  <a:schemeClr val="accent5"/>
                </a:solidFill>
              </a:rPr>
              <a:t>of defects caught</a:t>
            </a:r>
            <a:endParaRPr lang="en-US" sz="1700" dirty="0"/>
          </a:p>
        </p:txBody>
      </p:sp>
      <p:sp>
        <p:nvSpPr>
          <p:cNvPr id="12" name="Stat 3 rule"/>
          <p:cNvSpPr/>
          <p:nvPr/>
        </p:nvSpPr>
        <p:spPr>
          <a:xfrm>
            <a:off x="8869451" y="2514600"/>
            <a:ext cx="0" cy="1920240"/>
          </a:xfrm>
          <a:prstGeom prst="line">
            <a:avLst/>
          </a:prstGeom>
          <a:noFill/>
          <a:ln w="12700">
            <a:solidFill>
              <a:srgbClr val="3A4A5B"/>
            </a:solidFill>
            <a:prstDash val="solid"/>
          </a:ln>
        </p:spPr>
      </p:sp>
      <p:sp>
        <p:nvSpPr>
          <p:cNvPr id="13" name="Stat 3 value"/>
          <p:cNvSpPr txBox="1"/>
          <p:nvPr/>
        </p:nvSpPr>
        <p:spPr>
          <a:xfrm>
            <a:off x="9189491" y="2468880"/>
            <a:ext cx="2407844" cy="1188720"/>
          </a:xfrm>
          <a:prstGeom prst="rect">
            <a:avLst/>
          </a:prstGeom>
          <a:noFill/>
          <a:ln/>
        </p:spPr>
        <p:txBody>
          <a:bodyPr wrap="square" lIns="0" tIns="0" rIns="0" bIns="0" rtlCol="0" anchor="b"/>
          <a:lstStyle/>
          <a:p>
            <a:pPr indent="0" marL="0">
              <a:buNone/>
            </a:pPr>
            <a:r>
              <a:rPr lang="en-US" sz="5000" b="1" dirty="0">
                <a:solidFill>
                  <a:schemeClr val="bg1"/>
                </a:solidFill>
              </a:rPr>
              <a:t>Hours</a:t>
            </a:r>
            <a:endParaRPr lang="en-US" sz="5000" dirty="0"/>
          </a:p>
        </p:txBody>
      </p:sp>
      <p:sp>
        <p:nvSpPr>
          <p:cNvPr id="14" name="Stat 3 label"/>
          <p:cNvSpPr txBox="1"/>
          <p:nvPr/>
        </p:nvSpPr>
        <p:spPr>
          <a:xfrm>
            <a:off x="9189491" y="3794760"/>
            <a:ext cx="2316404" cy="640080"/>
          </a:xfrm>
          <a:prstGeom prst="rect">
            <a:avLst/>
          </a:prstGeom>
          <a:noFill/>
          <a:ln/>
        </p:spPr>
        <p:txBody>
          <a:bodyPr wrap="square" lIns="0" tIns="0" rIns="0" bIns="0" rtlCol="0" anchor="t"/>
          <a:lstStyle/>
          <a:p>
            <a:pPr indent="0" marL="0">
              <a:buNone/>
            </a:pPr>
            <a:r>
              <a:rPr lang="en-US" sz="1700" dirty="0">
                <a:solidFill>
                  <a:schemeClr val="accent5"/>
                </a:solidFill>
              </a:rPr>
              <a:t>from install to live</a:t>
            </a:r>
            <a:endParaRPr lang="en-US" sz="1700" dirty="0"/>
          </a:p>
        </p:txBody>
      </p:sp>
      <p:sp>
        <p:nvSpPr>
          <p:cNvPr id="15" name="Stat line"/>
          <p:cNvSpPr txBox="1"/>
          <p:nvPr/>
        </p:nvSpPr>
        <p:spPr>
          <a:xfrm>
            <a:off x="548640" y="5394960"/>
            <a:ext cx="11094415" cy="457200"/>
          </a:xfrm>
          <a:prstGeom prst="rect">
            <a:avLst/>
          </a:prstGeom>
          <a:noFill/>
          <a:ln/>
        </p:spPr>
        <p:txBody>
          <a:bodyPr wrap="square" lIns="0" tIns="0" rIns="0" bIns="0" rtlCol="0" anchor="ctr"/>
          <a:lstStyle/>
          <a:p>
            <a:pPr indent="0" marL="0">
              <a:buNone/>
            </a:pPr>
            <a:r>
              <a:rPr lang="en-US" sz="2000" b="1" dirty="0">
                <a:solidFill>
                  <a:schemeClr val="bg1"/>
                </a:solidFill>
              </a:rPr>
              <a:t>Your best QC inspector. On every unit, every shift.</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450"/>
                                        <p:tgtEl>
                                          <p:spTgt spid="5"/>
                                        </p:tgtEl>
                                      </p:cBhvr>
                                    </p:animEffect>
                                  </p:childTnLst>
                                </p:cTn>
                              </p:par>
                              <p:par>
                                <p:cTn id="11" presetID="10" presetClass="entr" presetSubtype="0" fill="hold" grpId="0" nodeType="withEffect">
                                  <p:stCondLst>
                                    <p:cond delay="35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450"/>
                                        <p:tgtEl>
                                          <p:spTgt spid="6"/>
                                        </p:tgtEl>
                                      </p:cBhvr>
                                    </p:animEffect>
                                  </p:childTnLst>
                                </p:cTn>
                              </p:par>
                              <p:par>
                                <p:cTn id="14" presetID="10" presetClass="entr" presetSubtype="0" fill="hold" grpId="0" nodeType="withEffect">
                                  <p:stCondLst>
                                    <p:cond delay="35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450"/>
                                        <p:tgtEl>
                                          <p:spTgt spid="7"/>
                                        </p:tgtEl>
                                      </p:cBhvr>
                                    </p:animEffect>
                                  </p:childTnLst>
                                </p:cTn>
                              </p:par>
                              <p:par>
                                <p:cTn id="17" presetID="10" presetClass="entr" presetSubtype="0" fill="hold" grpId="0" nodeType="withEffect">
                                  <p:stCondLst>
                                    <p:cond delay="35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7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70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70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105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par>
                                <p:cTn id="32" presetID="10" presetClass="entr" presetSubtype="0" fill="hold" grpId="0" nodeType="withEffect">
                                  <p:stCondLst>
                                    <p:cond delay="105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50"/>
                                        <p:tgtEl>
                                          <p:spTgt spid="13"/>
                                        </p:tgtEl>
                                      </p:cBhvr>
                                    </p:animEffect>
                                  </p:childTnLst>
                                </p:cTn>
                              </p:par>
                              <p:par>
                                <p:cTn id="35" presetID="10" presetClass="entr" presetSubtype="0" fill="hold" grpId="0" nodeType="withEffect">
                                  <p:stCondLst>
                                    <p:cond delay="105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140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8229600" cy="274320"/>
          </a:xfrm>
          <a:prstGeom prst="rect">
            <a:avLst/>
          </a:prstGeom>
          <a:noFill/>
          <a:ln/>
        </p:spPr>
        <p:txBody>
          <a:bodyPr wrap="square" lIns="0" tIns="0" rIns="0" bIns="0" rtlCol="0"/>
          <a:lstStyle/>
          <a:p>
            <a:pPr indent="0" marL="0">
              <a:buNone/>
            </a:pPr>
            <a:r>
              <a:rPr lang="en-US" sz="1100" b="1" spc="300" kern="0" dirty="0">
                <a:solidFill>
                  <a:schemeClr val="accent1"/>
                </a:solidFill>
              </a:rPr>
              <a:t>WHAT IT DOES</a:t>
            </a:r>
            <a:endParaRPr lang="en-US" sz="1100" dirty="0"/>
          </a:p>
        </p:txBody>
      </p:sp>
      <p:sp>
        <p:nvSpPr>
          <p:cNvPr id="3" name="Text 1"/>
          <p:cNvSpPr/>
          <p:nvPr>
            <p:ph idx="102" type="title" hasCustomPrompt="1"/>
          </p:nvPr>
        </p:nvSpPr>
        <p:spPr>
          <a:xfrm>
            <a:off x="548640" y="713232"/>
            <a:ext cx="11094415" cy="731520"/>
          </a:xfrm>
          <a:prstGeom prst="rect">
            <a:avLst/>
          </a:prstGeom>
          <a:noFill/>
          <a:ln/>
        </p:spPr>
        <p:txBody>
          <a:bodyPr wrap="square" lIns="0" tIns="0" rIns="0" bIns="0" rtlCol="0" anchor="t"/>
          <a:lstStyle/>
          <a:p>
            <a:pPr algn="l" indent="0" marL="0">
              <a:buNone/>
            </a:pPr>
            <a:r>
              <a:rPr lang="en-US" sz="3600" b="1" dirty="0">
                <a:solidFill>
                  <a:schemeClr val="tx2"/>
                </a:solidFill>
              </a:rPr>
              <a:t>One frame. Every check.</a:t>
            </a:r>
            <a:endParaRPr lang="en-US" sz="3600" dirty="0"/>
          </a:p>
        </p:txBody>
      </p:sp>
      <p:sp>
        <p:nvSpPr>
          <p:cNvPr id="4" name="A frame"/>
          <p:cNvSpPr/>
          <p:nvPr/>
        </p:nvSpPr>
        <p:spPr>
          <a:xfrm>
            <a:off x="484632" y="1536192"/>
            <a:ext cx="5843016" cy="4795266"/>
          </a:xfrm>
          <a:prstGeom prst="roundRect">
            <a:avLst>
              <a:gd name="adj" fmla="val 2288"/>
            </a:avLst>
          </a:prstGeom>
          <a:solidFill>
            <a:schemeClr val="bg1"/>
          </a:solidFill>
          <a:ln w="12700">
            <a:solidFill>
              <a:schemeClr val="accent5"/>
            </a:solidFill>
            <a:prstDash val="solid"/>
          </a:ln>
        </p:spPr>
      </p:sp>
      <p:pic>
        <p:nvPicPr>
          <p:cNvPr id="5" name="A photo" descr="Screws, white plastic parts and a capacitor on a conveyor belt">    </p:cNvPr>
          <p:cNvPicPr>
            <a:picLocks noChangeAspect="1"/>
          </p:cNvPicPr>
          <p:nvPr/>
        </p:nvPicPr>
        <p:blipFill>
          <a:blip r:embed="rId1"/>
          <a:stretch>
            <a:fillRect/>
          </a:stretch>
        </p:blipFill>
        <p:spPr>
          <a:xfrm>
            <a:off x="548640" y="1600200"/>
            <a:ext cx="5715000" cy="4667250"/>
          </a:xfrm>
          <a:prstGeom prst="rect">
            <a:avLst/>
          </a:prstGeom>
        </p:spPr>
      </p:pic>
      <p:sp>
        <p:nvSpPr>
          <p:cNvPr id="6" name="A s0 a box"/>
          <p:cNvSpPr/>
          <p:nvPr/>
        </p:nvSpPr>
        <p:spPr>
          <a:xfrm>
            <a:off x="953453" y="1885950"/>
            <a:ext cx="1619250" cy="976312"/>
          </a:xfrm>
          <a:prstGeom prst="rect">
            <a:avLst/>
          </a:prstGeom>
          <a:solidFill>
            <a:srgbClr val="FFFFFF">
              <a:alpha val="0"/>
            </a:srgbClr>
          </a:solidFill>
          <a:ln w="28575">
            <a:solidFill>
              <a:srgbClr val="2F5D8A"/>
            </a:solidFill>
            <a:prstDash val="solid"/>
          </a:ln>
        </p:spPr>
      </p:sp>
      <p:sp>
        <p:nvSpPr>
          <p:cNvPr id="7" name="A s0 a tag"/>
          <p:cNvSpPr txBox="1"/>
          <p:nvPr/>
        </p:nvSpPr>
        <p:spPr>
          <a:xfrm>
            <a:off x="953453" y="1611630"/>
            <a:ext cx="594360" cy="246888"/>
          </a:xfrm>
          <a:prstGeom prst="rect">
            <a:avLst/>
          </a:prstGeom>
          <a:solidFill>
            <a:srgbClr val="2F5D8A"/>
          </a:solidFill>
          <a:ln/>
        </p:spPr>
        <p:txBody>
          <a:bodyPr wrap="square" lIns="25400" tIns="25400" rIns="25400" bIns="25400" rtlCol="0" anchor="ctr"/>
          <a:lstStyle/>
          <a:p>
            <a:pPr algn="ctr" indent="0" marL="0">
              <a:buNone/>
            </a:pPr>
            <a:r>
              <a:rPr lang="en-US" sz="1100" b="1" dirty="0">
                <a:solidFill>
                  <a:schemeClr val="bg1"/>
                </a:solidFill>
              </a:rPr>
              <a:t>M4×20</a:t>
            </a:r>
            <a:endParaRPr lang="en-US" sz="1100" dirty="0"/>
          </a:p>
        </p:txBody>
      </p:sp>
      <p:sp>
        <p:nvSpPr>
          <p:cNvPr id="8" name="A s0 f box"/>
          <p:cNvSpPr/>
          <p:nvPr/>
        </p:nvSpPr>
        <p:spPr>
          <a:xfrm>
            <a:off x="3406140" y="4362450"/>
            <a:ext cx="1000125" cy="1595437"/>
          </a:xfrm>
          <a:prstGeom prst="rect">
            <a:avLst/>
          </a:prstGeom>
          <a:solidFill>
            <a:srgbClr val="FFFFFF">
              <a:alpha val="0"/>
            </a:srgbClr>
          </a:solidFill>
          <a:ln w="28575">
            <a:solidFill>
              <a:srgbClr val="2F5D8A"/>
            </a:solidFill>
            <a:prstDash val="solid"/>
          </a:ln>
        </p:spPr>
      </p:sp>
      <p:sp>
        <p:nvSpPr>
          <p:cNvPr id="9" name="A s0 f tag"/>
          <p:cNvSpPr txBox="1"/>
          <p:nvPr/>
        </p:nvSpPr>
        <p:spPr>
          <a:xfrm>
            <a:off x="3406140" y="4088130"/>
            <a:ext cx="594360" cy="246888"/>
          </a:xfrm>
          <a:prstGeom prst="rect">
            <a:avLst/>
          </a:prstGeom>
          <a:solidFill>
            <a:srgbClr val="2F5D8A"/>
          </a:solidFill>
          <a:ln/>
        </p:spPr>
        <p:txBody>
          <a:bodyPr wrap="square" lIns="25400" tIns="25400" rIns="25400" bIns="25400" rtlCol="0" anchor="ctr"/>
          <a:lstStyle/>
          <a:p>
            <a:pPr algn="ctr" indent="0" marL="0">
              <a:buNone/>
            </a:pPr>
            <a:r>
              <a:rPr lang="en-US" sz="1100" b="1" dirty="0">
                <a:solidFill>
                  <a:schemeClr val="bg1"/>
                </a:solidFill>
              </a:rPr>
              <a:t>M4×20</a:t>
            </a:r>
            <a:endParaRPr lang="en-US" sz="1100" dirty="0"/>
          </a:p>
        </p:txBody>
      </p:sp>
      <p:sp>
        <p:nvSpPr>
          <p:cNvPr id="10" name="A s0 e box"/>
          <p:cNvSpPr/>
          <p:nvPr/>
        </p:nvSpPr>
        <p:spPr>
          <a:xfrm>
            <a:off x="2572703" y="4886325"/>
            <a:ext cx="604837" cy="561975"/>
          </a:xfrm>
          <a:prstGeom prst="rect">
            <a:avLst/>
          </a:prstGeom>
          <a:solidFill>
            <a:srgbClr val="FFFFFF">
              <a:alpha val="0"/>
            </a:srgbClr>
          </a:solidFill>
          <a:ln w="28575">
            <a:solidFill>
              <a:srgbClr val="2F5D8A"/>
            </a:solidFill>
            <a:prstDash val="solid"/>
          </a:ln>
        </p:spPr>
      </p:sp>
      <p:sp>
        <p:nvSpPr>
          <p:cNvPr id="11" name="A s0 e tag"/>
          <p:cNvSpPr txBox="1"/>
          <p:nvPr/>
        </p:nvSpPr>
        <p:spPr>
          <a:xfrm>
            <a:off x="2572703" y="5475732"/>
            <a:ext cx="526694" cy="246888"/>
          </a:xfrm>
          <a:prstGeom prst="rect">
            <a:avLst/>
          </a:prstGeom>
          <a:solidFill>
            <a:srgbClr val="2F5D8A"/>
          </a:solidFill>
          <a:ln/>
        </p:spPr>
        <p:txBody>
          <a:bodyPr wrap="square" lIns="25400" tIns="25400" rIns="25400" bIns="25400" rtlCol="0" anchor="ctr"/>
          <a:lstStyle/>
          <a:p>
            <a:pPr algn="ctr" indent="0" marL="0">
              <a:buNone/>
            </a:pPr>
            <a:r>
              <a:rPr lang="en-US" sz="1100" b="1" dirty="0">
                <a:solidFill>
                  <a:schemeClr val="bg1"/>
                </a:solidFill>
              </a:rPr>
              <a:t>M3×6</a:t>
            </a:r>
            <a:endParaRPr lang="en-US" sz="1100" dirty="0"/>
          </a:p>
        </p:txBody>
      </p:sp>
      <p:sp>
        <p:nvSpPr>
          <p:cNvPr id="12" name="A s0 c box"/>
          <p:cNvSpPr/>
          <p:nvPr/>
        </p:nvSpPr>
        <p:spPr>
          <a:xfrm>
            <a:off x="1896427" y="3448050"/>
            <a:ext cx="566738" cy="571500"/>
          </a:xfrm>
          <a:prstGeom prst="rect">
            <a:avLst/>
          </a:prstGeom>
          <a:solidFill>
            <a:srgbClr val="FFFFFF">
              <a:alpha val="0"/>
            </a:srgbClr>
          </a:solidFill>
          <a:ln w="28575">
            <a:solidFill>
              <a:srgbClr val="2F5D8A"/>
            </a:solidFill>
            <a:prstDash val="solid"/>
          </a:ln>
        </p:spPr>
      </p:sp>
      <p:sp>
        <p:nvSpPr>
          <p:cNvPr id="13" name="A s0 c tag"/>
          <p:cNvSpPr txBox="1"/>
          <p:nvPr/>
        </p:nvSpPr>
        <p:spPr>
          <a:xfrm>
            <a:off x="1896427" y="3173730"/>
            <a:ext cx="729691" cy="246888"/>
          </a:xfrm>
          <a:prstGeom prst="rect">
            <a:avLst/>
          </a:prstGeom>
          <a:solidFill>
            <a:srgbClr val="2F5D8A"/>
          </a:solidFill>
          <a:ln/>
        </p:spPr>
        <p:txBody>
          <a:bodyPr wrap="square" lIns="25400" tIns="25400" rIns="25400" bIns="25400" rtlCol="0" anchor="ctr"/>
          <a:lstStyle/>
          <a:p>
            <a:pPr algn="ctr" indent="0" marL="0">
              <a:buNone/>
            </a:pPr>
            <a:r>
              <a:rPr lang="en-US" sz="1100" b="1" dirty="0">
                <a:solidFill>
                  <a:schemeClr val="bg1"/>
                </a:solidFill>
              </a:rPr>
              <a:t>Plastic</a:t>
            </a:r>
            <a:endParaRPr lang="en-US" sz="1100" dirty="0"/>
          </a:p>
        </p:txBody>
      </p:sp>
      <p:sp>
        <p:nvSpPr>
          <p:cNvPr id="14" name="A s0 d box"/>
          <p:cNvSpPr/>
          <p:nvPr/>
        </p:nvSpPr>
        <p:spPr>
          <a:xfrm>
            <a:off x="2777490" y="4162425"/>
            <a:ext cx="590550" cy="571500"/>
          </a:xfrm>
          <a:prstGeom prst="rect">
            <a:avLst/>
          </a:prstGeom>
          <a:solidFill>
            <a:srgbClr val="FFFFFF">
              <a:alpha val="0"/>
            </a:srgbClr>
          </a:solidFill>
          <a:ln w="28575">
            <a:solidFill>
              <a:srgbClr val="2F5D8A"/>
            </a:solidFill>
            <a:prstDash val="solid"/>
          </a:ln>
        </p:spPr>
      </p:sp>
      <p:sp>
        <p:nvSpPr>
          <p:cNvPr id="15" name="A s0 d tag"/>
          <p:cNvSpPr txBox="1"/>
          <p:nvPr/>
        </p:nvSpPr>
        <p:spPr>
          <a:xfrm>
            <a:off x="2777490" y="3888105"/>
            <a:ext cx="729691" cy="246888"/>
          </a:xfrm>
          <a:prstGeom prst="rect">
            <a:avLst/>
          </a:prstGeom>
          <a:solidFill>
            <a:srgbClr val="2F5D8A"/>
          </a:solidFill>
          <a:ln/>
        </p:spPr>
        <p:txBody>
          <a:bodyPr wrap="square" lIns="25400" tIns="25400" rIns="25400" bIns="25400" rtlCol="0" anchor="ctr"/>
          <a:lstStyle/>
          <a:p>
            <a:pPr algn="ctr" indent="0" marL="0">
              <a:buNone/>
            </a:pPr>
            <a:r>
              <a:rPr lang="en-US" sz="1100" b="1" dirty="0">
                <a:solidFill>
                  <a:schemeClr val="bg1"/>
                </a:solidFill>
              </a:rPr>
              <a:t>Plastic</a:t>
            </a:r>
            <a:endParaRPr lang="en-US" sz="1100" dirty="0"/>
          </a:p>
        </p:txBody>
      </p:sp>
      <p:sp>
        <p:nvSpPr>
          <p:cNvPr id="16" name="A s0 g box"/>
          <p:cNvSpPr/>
          <p:nvPr/>
        </p:nvSpPr>
        <p:spPr>
          <a:xfrm>
            <a:off x="1015365" y="5233988"/>
            <a:ext cx="628650" cy="500063"/>
          </a:xfrm>
          <a:prstGeom prst="rect">
            <a:avLst/>
          </a:prstGeom>
          <a:solidFill>
            <a:srgbClr val="FFFFFF">
              <a:alpha val="0"/>
            </a:srgbClr>
          </a:solidFill>
          <a:ln w="28575">
            <a:solidFill>
              <a:srgbClr val="2F5D8A"/>
            </a:solidFill>
            <a:prstDash val="solid"/>
          </a:ln>
        </p:spPr>
      </p:sp>
      <p:sp>
        <p:nvSpPr>
          <p:cNvPr id="17" name="A s0 g tag"/>
          <p:cNvSpPr txBox="1"/>
          <p:nvPr/>
        </p:nvSpPr>
        <p:spPr>
          <a:xfrm>
            <a:off x="1015365" y="4959668"/>
            <a:ext cx="729691" cy="246888"/>
          </a:xfrm>
          <a:prstGeom prst="rect">
            <a:avLst/>
          </a:prstGeom>
          <a:solidFill>
            <a:srgbClr val="2F5D8A"/>
          </a:solidFill>
          <a:ln/>
        </p:spPr>
        <p:txBody>
          <a:bodyPr wrap="square" lIns="25400" tIns="25400" rIns="25400" bIns="25400" rtlCol="0" anchor="ctr"/>
          <a:lstStyle/>
          <a:p>
            <a:pPr algn="ctr" indent="0" marL="0">
              <a:buNone/>
            </a:pPr>
            <a:r>
              <a:rPr lang="en-US" sz="1100" b="1" dirty="0">
                <a:solidFill>
                  <a:schemeClr val="bg1"/>
                </a:solidFill>
              </a:rPr>
              <a:t>Plastic</a:t>
            </a:r>
            <a:endParaRPr lang="en-US" sz="1100" dirty="0"/>
          </a:p>
        </p:txBody>
      </p:sp>
      <p:sp>
        <p:nvSpPr>
          <p:cNvPr id="18" name="A s0 b box"/>
          <p:cNvSpPr/>
          <p:nvPr/>
        </p:nvSpPr>
        <p:spPr>
          <a:xfrm>
            <a:off x="3158490" y="2838450"/>
            <a:ext cx="2676525" cy="942975"/>
          </a:xfrm>
          <a:prstGeom prst="rect">
            <a:avLst/>
          </a:prstGeom>
          <a:solidFill>
            <a:srgbClr val="FFFFFF">
              <a:alpha val="0"/>
            </a:srgbClr>
          </a:solidFill>
          <a:ln w="28575">
            <a:solidFill>
              <a:srgbClr val="2F5D8A"/>
            </a:solidFill>
            <a:prstDash val="solid"/>
          </a:ln>
        </p:spPr>
      </p:sp>
      <p:sp>
        <p:nvSpPr>
          <p:cNvPr id="19" name="A s0 b tag"/>
          <p:cNvSpPr txBox="1"/>
          <p:nvPr/>
        </p:nvSpPr>
        <p:spPr>
          <a:xfrm>
            <a:off x="3158490" y="2564130"/>
            <a:ext cx="729691" cy="246888"/>
          </a:xfrm>
          <a:prstGeom prst="rect">
            <a:avLst/>
          </a:prstGeom>
          <a:solidFill>
            <a:srgbClr val="2F5D8A"/>
          </a:solidFill>
          <a:ln/>
        </p:spPr>
        <p:txBody>
          <a:bodyPr wrap="square" lIns="25400" tIns="25400" rIns="25400" bIns="25400" rtlCol="0" anchor="ctr"/>
          <a:lstStyle/>
          <a:p>
            <a:pPr algn="ctr" indent="0" marL="0">
              <a:buNone/>
            </a:pPr>
            <a:r>
              <a:rPr lang="en-US" sz="1100" b="1" dirty="0">
                <a:solidFill>
                  <a:schemeClr val="bg1"/>
                </a:solidFill>
              </a:rPr>
              <a:t>Unknown</a:t>
            </a:r>
            <a:endParaRPr lang="en-US" sz="1100" dirty="0"/>
          </a:p>
        </p:txBody>
      </p:sp>
      <p:sp>
        <p:nvSpPr>
          <p:cNvPr id="20" name="A s1 a dim"/>
          <p:cNvSpPr/>
          <p:nvPr/>
        </p:nvSpPr>
        <p:spPr>
          <a:xfrm flipV="1">
            <a:off x="915353" y="2066925"/>
            <a:ext cx="1071563" cy="428625"/>
          </a:xfrm>
          <a:prstGeom prst="line">
            <a:avLst/>
          </a:prstGeom>
          <a:noFill/>
          <a:ln w="22225">
            <a:solidFill>
              <a:srgbClr val="2F5D8A"/>
            </a:solidFill>
            <a:prstDash val="solid"/>
            <a:headEnd type="triangle"/>
            <a:tailEnd type="triangle"/>
          </a:ln>
        </p:spPr>
      </p:sp>
      <p:sp>
        <p:nvSpPr>
          <p:cNvPr id="21" name="A s1 a len"/>
          <p:cNvSpPr txBox="1"/>
          <p:nvPr/>
        </p:nvSpPr>
        <p:spPr>
          <a:xfrm>
            <a:off x="1024890" y="1909762"/>
            <a:ext cx="729691" cy="246888"/>
          </a:xfrm>
          <a:prstGeom prst="rect">
            <a:avLst/>
          </a:prstGeom>
          <a:solidFill>
            <a:srgbClr val="1D2D3D"/>
          </a:solidFill>
          <a:ln/>
        </p:spPr>
        <p:txBody>
          <a:bodyPr wrap="square" lIns="25400" tIns="25400" rIns="25400" bIns="25400" rtlCol="0" anchor="ctr"/>
          <a:lstStyle/>
          <a:p>
            <a:pPr algn="ctr" indent="0" marL="0">
              <a:buNone/>
            </a:pPr>
            <a:r>
              <a:rPr lang="en-US" sz="1100" b="1" dirty="0">
                <a:solidFill>
                  <a:schemeClr val="bg1"/>
                </a:solidFill>
              </a:rPr>
              <a:t>20.1 mm</a:t>
            </a:r>
            <a:endParaRPr lang="en-US" sz="1100" dirty="0"/>
          </a:p>
        </p:txBody>
      </p:sp>
      <p:sp>
        <p:nvSpPr>
          <p:cNvPr id="22" name="A s1 f dim"/>
          <p:cNvSpPr/>
          <p:nvPr/>
        </p:nvSpPr>
        <p:spPr>
          <a:xfrm>
            <a:off x="4025265" y="4738687"/>
            <a:ext cx="476250" cy="1023938"/>
          </a:xfrm>
          <a:prstGeom prst="line">
            <a:avLst/>
          </a:prstGeom>
          <a:noFill/>
          <a:ln w="22225">
            <a:solidFill>
              <a:srgbClr val="2F5D8A"/>
            </a:solidFill>
            <a:prstDash val="solid"/>
            <a:headEnd type="triangle"/>
            <a:tailEnd type="triangle"/>
          </a:ln>
        </p:spPr>
      </p:sp>
      <p:sp>
        <p:nvSpPr>
          <p:cNvPr id="23" name="A s1 f len"/>
          <p:cNvSpPr txBox="1"/>
          <p:nvPr/>
        </p:nvSpPr>
        <p:spPr>
          <a:xfrm>
            <a:off x="4596765" y="5124450"/>
            <a:ext cx="729691" cy="246888"/>
          </a:xfrm>
          <a:prstGeom prst="rect">
            <a:avLst/>
          </a:prstGeom>
          <a:solidFill>
            <a:srgbClr val="1D2D3D"/>
          </a:solidFill>
          <a:ln/>
        </p:spPr>
        <p:txBody>
          <a:bodyPr wrap="square" lIns="25400" tIns="25400" rIns="25400" bIns="25400" rtlCol="0" anchor="ctr"/>
          <a:lstStyle/>
          <a:p>
            <a:pPr algn="ctr" indent="0" marL="0">
              <a:buNone/>
            </a:pPr>
            <a:r>
              <a:rPr lang="en-US" sz="1100" b="1" dirty="0">
                <a:solidFill>
                  <a:schemeClr val="bg1"/>
                </a:solidFill>
              </a:rPr>
              <a:t>19.9 mm</a:t>
            </a:r>
            <a:endParaRPr lang="en-US" sz="1100" dirty="0"/>
          </a:p>
        </p:txBody>
      </p:sp>
      <p:sp>
        <p:nvSpPr>
          <p:cNvPr id="24" name="A s1 e dim"/>
          <p:cNvSpPr/>
          <p:nvPr/>
        </p:nvSpPr>
        <p:spPr>
          <a:xfrm flipV="1">
            <a:off x="2758440" y="5257800"/>
            <a:ext cx="276225" cy="247650"/>
          </a:xfrm>
          <a:prstGeom prst="line">
            <a:avLst/>
          </a:prstGeom>
          <a:noFill/>
          <a:ln w="22225">
            <a:solidFill>
              <a:srgbClr val="2F5D8A"/>
            </a:solidFill>
            <a:prstDash val="solid"/>
            <a:headEnd type="triangle"/>
            <a:tailEnd type="triangle"/>
          </a:ln>
        </p:spPr>
      </p:sp>
      <p:sp>
        <p:nvSpPr>
          <p:cNvPr id="25" name="A s1 e len"/>
          <p:cNvSpPr txBox="1"/>
          <p:nvPr/>
        </p:nvSpPr>
        <p:spPr>
          <a:xfrm>
            <a:off x="3144203" y="5386388"/>
            <a:ext cx="662026" cy="246888"/>
          </a:xfrm>
          <a:prstGeom prst="rect">
            <a:avLst/>
          </a:prstGeom>
          <a:solidFill>
            <a:srgbClr val="1D2D3D"/>
          </a:solidFill>
          <a:ln/>
        </p:spPr>
        <p:txBody>
          <a:bodyPr wrap="square" lIns="25400" tIns="25400" rIns="25400" bIns="25400" rtlCol="0" anchor="ctr"/>
          <a:lstStyle/>
          <a:p>
            <a:pPr algn="ctr" indent="0" marL="0">
              <a:buNone/>
            </a:pPr>
            <a:r>
              <a:rPr lang="en-US" sz="1100" b="1" dirty="0">
                <a:solidFill>
                  <a:schemeClr val="bg1"/>
                </a:solidFill>
              </a:rPr>
              <a:t>6.0 mm</a:t>
            </a:r>
            <a:endParaRPr lang="en-US" sz="1100" dirty="0"/>
          </a:p>
        </p:txBody>
      </p:sp>
      <p:sp>
        <p:nvSpPr>
          <p:cNvPr id="26" name="A s2 a cbox"/>
          <p:cNvSpPr/>
          <p:nvPr/>
        </p:nvSpPr>
        <p:spPr>
          <a:xfrm>
            <a:off x="953453" y="1885950"/>
            <a:ext cx="1619250" cy="976312"/>
          </a:xfrm>
          <a:prstGeom prst="rect">
            <a:avLst/>
          </a:prstGeom>
          <a:solidFill>
            <a:srgbClr val="FFFFFF">
              <a:alpha val="0"/>
            </a:srgbClr>
          </a:solidFill>
          <a:ln w="28575">
            <a:solidFill>
              <a:srgbClr val="2F7D52"/>
            </a:solidFill>
            <a:prstDash val="solid"/>
          </a:ln>
        </p:spPr>
      </p:sp>
      <p:sp>
        <p:nvSpPr>
          <p:cNvPr id="27" name="A s2 a de"/>
          <p:cNvSpPr txBox="1"/>
          <p:nvPr/>
        </p:nvSpPr>
        <p:spPr>
          <a:xfrm>
            <a:off x="953453" y="2889694"/>
            <a:ext cx="662026" cy="246888"/>
          </a:xfrm>
          <a:prstGeom prst="rect">
            <a:avLst/>
          </a:prstGeom>
          <a:solidFill>
            <a:srgbClr val="2F7D52"/>
          </a:solidFill>
          <a:ln/>
        </p:spPr>
        <p:txBody>
          <a:bodyPr wrap="square" lIns="25400" tIns="25400" rIns="25400" bIns="25400" rtlCol="0" anchor="ctr"/>
          <a:lstStyle/>
          <a:p>
            <a:pPr algn="ctr" indent="0" marL="0">
              <a:buNone/>
            </a:pPr>
            <a:r>
              <a:rPr lang="en-US" sz="1100" b="1" dirty="0">
                <a:solidFill>
                  <a:schemeClr val="bg1"/>
                </a:solidFill>
              </a:rPr>
              <a:t>ΔE 1.2</a:t>
            </a:r>
            <a:endParaRPr lang="en-US" sz="1100" dirty="0"/>
          </a:p>
        </p:txBody>
      </p:sp>
      <p:sp>
        <p:nvSpPr>
          <p:cNvPr id="28" name="A s2 f cbox"/>
          <p:cNvSpPr/>
          <p:nvPr/>
        </p:nvSpPr>
        <p:spPr>
          <a:xfrm>
            <a:off x="3406140" y="4362450"/>
            <a:ext cx="1000125" cy="1595437"/>
          </a:xfrm>
          <a:prstGeom prst="rect">
            <a:avLst/>
          </a:prstGeom>
          <a:solidFill>
            <a:srgbClr val="FFFFFF">
              <a:alpha val="0"/>
            </a:srgbClr>
          </a:solidFill>
          <a:ln w="28575">
            <a:solidFill>
              <a:srgbClr val="2F7D52"/>
            </a:solidFill>
            <a:prstDash val="solid"/>
          </a:ln>
        </p:spPr>
      </p:sp>
      <p:sp>
        <p:nvSpPr>
          <p:cNvPr id="29" name="A s2 f de"/>
          <p:cNvSpPr txBox="1"/>
          <p:nvPr/>
        </p:nvSpPr>
        <p:spPr>
          <a:xfrm>
            <a:off x="4430077" y="5219700"/>
            <a:ext cx="662026" cy="246888"/>
          </a:xfrm>
          <a:prstGeom prst="rect">
            <a:avLst/>
          </a:prstGeom>
          <a:solidFill>
            <a:srgbClr val="2F7D52"/>
          </a:solidFill>
          <a:ln/>
        </p:spPr>
        <p:txBody>
          <a:bodyPr wrap="square" lIns="25400" tIns="25400" rIns="25400" bIns="25400" rtlCol="0" anchor="ctr"/>
          <a:lstStyle/>
          <a:p>
            <a:pPr algn="ctr" indent="0" marL="0">
              <a:buNone/>
            </a:pPr>
            <a:r>
              <a:rPr lang="en-US" sz="1100" b="1" dirty="0">
                <a:solidFill>
                  <a:schemeClr val="bg1"/>
                </a:solidFill>
              </a:rPr>
              <a:t>ΔE 0.9</a:t>
            </a:r>
            <a:endParaRPr lang="en-US" sz="1100" dirty="0"/>
          </a:p>
        </p:txBody>
      </p:sp>
      <p:sp>
        <p:nvSpPr>
          <p:cNvPr id="30" name="A s2 e cbox"/>
          <p:cNvSpPr/>
          <p:nvPr/>
        </p:nvSpPr>
        <p:spPr>
          <a:xfrm>
            <a:off x="2572703" y="4886325"/>
            <a:ext cx="604837" cy="561975"/>
          </a:xfrm>
          <a:prstGeom prst="rect">
            <a:avLst/>
          </a:prstGeom>
          <a:solidFill>
            <a:srgbClr val="FFFFFF">
              <a:alpha val="0"/>
            </a:srgbClr>
          </a:solidFill>
          <a:ln w="28575">
            <a:solidFill>
              <a:srgbClr val="2F7D52"/>
            </a:solidFill>
            <a:prstDash val="solid"/>
          </a:ln>
        </p:spPr>
      </p:sp>
      <p:sp>
        <p:nvSpPr>
          <p:cNvPr id="31" name="A s2 e de"/>
          <p:cNvSpPr txBox="1"/>
          <p:nvPr/>
        </p:nvSpPr>
        <p:spPr>
          <a:xfrm>
            <a:off x="2572703" y="5475732"/>
            <a:ext cx="662026" cy="246888"/>
          </a:xfrm>
          <a:prstGeom prst="rect">
            <a:avLst/>
          </a:prstGeom>
          <a:solidFill>
            <a:srgbClr val="2F7D52"/>
          </a:solidFill>
          <a:ln/>
        </p:spPr>
        <p:txBody>
          <a:bodyPr wrap="square" lIns="25400" tIns="25400" rIns="25400" bIns="25400" rtlCol="0" anchor="ctr"/>
          <a:lstStyle/>
          <a:p>
            <a:pPr algn="ctr" indent="0" marL="0">
              <a:buNone/>
            </a:pPr>
            <a:r>
              <a:rPr lang="en-US" sz="1100" b="1" dirty="0">
                <a:solidFill>
                  <a:schemeClr val="bg1"/>
                </a:solidFill>
              </a:rPr>
              <a:t>ΔE 1.4</a:t>
            </a:r>
            <a:endParaRPr lang="en-US" sz="1100" dirty="0"/>
          </a:p>
        </p:txBody>
      </p:sp>
      <p:sp>
        <p:nvSpPr>
          <p:cNvPr id="32" name="A s2 c cbox"/>
          <p:cNvSpPr/>
          <p:nvPr/>
        </p:nvSpPr>
        <p:spPr>
          <a:xfrm>
            <a:off x="1896427" y="3448050"/>
            <a:ext cx="566738" cy="571500"/>
          </a:xfrm>
          <a:prstGeom prst="rect">
            <a:avLst/>
          </a:prstGeom>
          <a:solidFill>
            <a:srgbClr val="FFFFFF">
              <a:alpha val="0"/>
            </a:srgbClr>
          </a:solidFill>
          <a:ln w="28575">
            <a:solidFill>
              <a:srgbClr val="E5463D"/>
            </a:solidFill>
            <a:prstDash val="solid"/>
          </a:ln>
        </p:spPr>
      </p:sp>
      <p:sp>
        <p:nvSpPr>
          <p:cNvPr id="33" name="A s2 c de"/>
          <p:cNvSpPr txBox="1"/>
          <p:nvPr/>
        </p:nvSpPr>
        <p:spPr>
          <a:xfrm>
            <a:off x="1896427" y="3173730"/>
            <a:ext cx="729691" cy="246888"/>
          </a:xfrm>
          <a:prstGeom prst="rect">
            <a:avLst/>
          </a:prstGeom>
          <a:solidFill>
            <a:srgbClr val="E5463D"/>
          </a:solidFill>
          <a:ln/>
        </p:spPr>
        <p:txBody>
          <a:bodyPr wrap="square" lIns="25400" tIns="25400" rIns="25400" bIns="25400" rtlCol="0" anchor="ctr"/>
          <a:lstStyle/>
          <a:p>
            <a:pPr algn="ctr" indent="0" marL="0">
              <a:buNone/>
            </a:pPr>
            <a:r>
              <a:rPr lang="en-US" sz="1100" b="1" dirty="0">
                <a:solidFill>
                  <a:schemeClr val="bg1"/>
                </a:solidFill>
              </a:rPr>
              <a:t>ΔE 63.8</a:t>
            </a:r>
            <a:endParaRPr lang="en-US" sz="1100" dirty="0"/>
          </a:p>
        </p:txBody>
      </p:sp>
      <p:sp>
        <p:nvSpPr>
          <p:cNvPr id="34" name="A s2 d cbox"/>
          <p:cNvSpPr/>
          <p:nvPr/>
        </p:nvSpPr>
        <p:spPr>
          <a:xfrm>
            <a:off x="2777490" y="4162425"/>
            <a:ext cx="590550" cy="571500"/>
          </a:xfrm>
          <a:prstGeom prst="rect">
            <a:avLst/>
          </a:prstGeom>
          <a:solidFill>
            <a:srgbClr val="FFFFFF">
              <a:alpha val="0"/>
            </a:srgbClr>
          </a:solidFill>
          <a:ln w="28575">
            <a:solidFill>
              <a:srgbClr val="E5463D"/>
            </a:solidFill>
            <a:prstDash val="solid"/>
          </a:ln>
        </p:spPr>
      </p:sp>
      <p:sp>
        <p:nvSpPr>
          <p:cNvPr id="35" name="A s2 d de"/>
          <p:cNvSpPr txBox="1"/>
          <p:nvPr/>
        </p:nvSpPr>
        <p:spPr>
          <a:xfrm>
            <a:off x="2777490" y="3886200"/>
            <a:ext cx="729691" cy="246888"/>
          </a:xfrm>
          <a:prstGeom prst="rect">
            <a:avLst/>
          </a:prstGeom>
          <a:solidFill>
            <a:srgbClr val="E5463D"/>
          </a:solidFill>
          <a:ln/>
        </p:spPr>
        <p:txBody>
          <a:bodyPr wrap="square" lIns="25400" tIns="25400" rIns="25400" bIns="25400" rtlCol="0" anchor="ctr"/>
          <a:lstStyle/>
          <a:p>
            <a:pPr algn="ctr" indent="0" marL="0">
              <a:buNone/>
            </a:pPr>
            <a:r>
              <a:rPr lang="en-US" sz="1100" b="1" dirty="0">
                <a:solidFill>
                  <a:schemeClr val="bg1"/>
                </a:solidFill>
              </a:rPr>
              <a:t>ΔE 64.1</a:t>
            </a:r>
            <a:endParaRPr lang="en-US" sz="1100" dirty="0"/>
          </a:p>
        </p:txBody>
      </p:sp>
      <p:sp>
        <p:nvSpPr>
          <p:cNvPr id="36" name="A s2 g cbox"/>
          <p:cNvSpPr/>
          <p:nvPr/>
        </p:nvSpPr>
        <p:spPr>
          <a:xfrm>
            <a:off x="1015365" y="5233988"/>
            <a:ext cx="628650" cy="500063"/>
          </a:xfrm>
          <a:prstGeom prst="rect">
            <a:avLst/>
          </a:prstGeom>
          <a:solidFill>
            <a:srgbClr val="FFFFFF">
              <a:alpha val="0"/>
            </a:srgbClr>
          </a:solidFill>
          <a:ln w="28575">
            <a:solidFill>
              <a:srgbClr val="E5463D"/>
            </a:solidFill>
            <a:prstDash val="solid"/>
          </a:ln>
        </p:spPr>
      </p:sp>
      <p:sp>
        <p:nvSpPr>
          <p:cNvPr id="37" name="A s2 g de"/>
          <p:cNvSpPr txBox="1"/>
          <p:nvPr/>
        </p:nvSpPr>
        <p:spPr>
          <a:xfrm>
            <a:off x="1015365" y="5761482"/>
            <a:ext cx="729691" cy="246888"/>
          </a:xfrm>
          <a:prstGeom prst="rect">
            <a:avLst/>
          </a:prstGeom>
          <a:solidFill>
            <a:srgbClr val="E5463D"/>
          </a:solidFill>
          <a:ln/>
        </p:spPr>
        <p:txBody>
          <a:bodyPr wrap="square" lIns="25400" tIns="25400" rIns="25400" bIns="25400" rtlCol="0" anchor="ctr"/>
          <a:lstStyle/>
          <a:p>
            <a:pPr algn="ctr" indent="0" marL="0">
              <a:buNone/>
            </a:pPr>
            <a:r>
              <a:rPr lang="en-US" sz="1100" b="1" dirty="0">
                <a:solidFill>
                  <a:schemeClr val="bg1"/>
                </a:solidFill>
              </a:rPr>
              <a:t>ΔE 62.5</a:t>
            </a:r>
            <a:endParaRPr lang="en-US" sz="1100" dirty="0"/>
          </a:p>
        </p:txBody>
      </p:sp>
      <p:sp>
        <p:nvSpPr>
          <p:cNvPr id="38" name="A s3 c box"/>
          <p:cNvSpPr/>
          <p:nvPr/>
        </p:nvSpPr>
        <p:spPr>
          <a:xfrm>
            <a:off x="1896427" y="3448050"/>
            <a:ext cx="566738" cy="571500"/>
          </a:xfrm>
          <a:prstGeom prst="rect">
            <a:avLst/>
          </a:prstGeom>
          <a:solidFill>
            <a:srgbClr val="FFFFFF">
              <a:alpha val="0"/>
            </a:srgbClr>
          </a:solidFill>
          <a:ln w="28575">
            <a:solidFill>
              <a:srgbClr val="E5463D"/>
            </a:solidFill>
            <a:prstDash val="solid"/>
          </a:ln>
        </p:spPr>
      </p:sp>
      <p:sp>
        <p:nvSpPr>
          <p:cNvPr id="39" name="A s3 c tag"/>
          <p:cNvSpPr txBox="1"/>
          <p:nvPr/>
        </p:nvSpPr>
        <p:spPr>
          <a:xfrm>
            <a:off x="1896427" y="3173730"/>
            <a:ext cx="1000354" cy="246888"/>
          </a:xfrm>
          <a:prstGeom prst="rect">
            <a:avLst/>
          </a:prstGeom>
          <a:solidFill>
            <a:srgbClr val="E5463D"/>
          </a:solidFill>
          <a:ln/>
        </p:spPr>
        <p:txBody>
          <a:bodyPr wrap="square" lIns="25400" tIns="25400" rIns="25400" bIns="25400" rtlCol="0" anchor="ctr"/>
          <a:lstStyle/>
          <a:p>
            <a:pPr algn="ctr" indent="0" marL="0">
              <a:buNone/>
            </a:pPr>
            <a:r>
              <a:rPr lang="en-US" sz="1100" b="1" dirty="0">
                <a:solidFill>
                  <a:schemeClr val="bg1"/>
                </a:solidFill>
              </a:rPr>
              <a:t>Broken bolt</a:t>
            </a:r>
            <a:endParaRPr lang="en-US" sz="1100" dirty="0"/>
          </a:p>
        </p:txBody>
      </p:sp>
      <p:sp>
        <p:nvSpPr>
          <p:cNvPr id="40" name="A s3 d box"/>
          <p:cNvSpPr/>
          <p:nvPr/>
        </p:nvSpPr>
        <p:spPr>
          <a:xfrm>
            <a:off x="2777490" y="4162425"/>
            <a:ext cx="590550" cy="571500"/>
          </a:xfrm>
          <a:prstGeom prst="rect">
            <a:avLst/>
          </a:prstGeom>
          <a:solidFill>
            <a:srgbClr val="FFFFFF">
              <a:alpha val="0"/>
            </a:srgbClr>
          </a:solidFill>
          <a:ln w="28575">
            <a:solidFill>
              <a:srgbClr val="E5463D"/>
            </a:solidFill>
            <a:prstDash val="solid"/>
          </a:ln>
        </p:spPr>
      </p:sp>
      <p:sp>
        <p:nvSpPr>
          <p:cNvPr id="41" name="A s3 d tag"/>
          <p:cNvSpPr txBox="1"/>
          <p:nvPr/>
        </p:nvSpPr>
        <p:spPr>
          <a:xfrm>
            <a:off x="2777490" y="3886200"/>
            <a:ext cx="1000354" cy="246888"/>
          </a:xfrm>
          <a:prstGeom prst="rect">
            <a:avLst/>
          </a:prstGeom>
          <a:solidFill>
            <a:srgbClr val="E5463D"/>
          </a:solidFill>
          <a:ln/>
        </p:spPr>
        <p:txBody>
          <a:bodyPr wrap="square" lIns="25400" tIns="25400" rIns="25400" bIns="25400" rtlCol="0" anchor="ctr"/>
          <a:lstStyle/>
          <a:p>
            <a:pPr algn="ctr" indent="0" marL="0">
              <a:buNone/>
            </a:pPr>
            <a:r>
              <a:rPr lang="en-US" sz="1100" b="1" dirty="0">
                <a:solidFill>
                  <a:schemeClr val="bg1"/>
                </a:solidFill>
              </a:rPr>
              <a:t>Broken bolt</a:t>
            </a:r>
            <a:endParaRPr lang="en-US" sz="1100" dirty="0"/>
          </a:p>
        </p:txBody>
      </p:sp>
      <p:sp>
        <p:nvSpPr>
          <p:cNvPr id="42" name="A s3 g box"/>
          <p:cNvSpPr/>
          <p:nvPr/>
        </p:nvSpPr>
        <p:spPr>
          <a:xfrm>
            <a:off x="1015365" y="5233988"/>
            <a:ext cx="628650" cy="500063"/>
          </a:xfrm>
          <a:prstGeom prst="rect">
            <a:avLst/>
          </a:prstGeom>
          <a:solidFill>
            <a:srgbClr val="FFFFFF">
              <a:alpha val="0"/>
            </a:srgbClr>
          </a:solidFill>
          <a:ln w="28575">
            <a:solidFill>
              <a:srgbClr val="E5463D"/>
            </a:solidFill>
            <a:prstDash val="solid"/>
          </a:ln>
        </p:spPr>
      </p:sp>
      <p:sp>
        <p:nvSpPr>
          <p:cNvPr id="43" name="A s3 g tag"/>
          <p:cNvSpPr txBox="1"/>
          <p:nvPr/>
        </p:nvSpPr>
        <p:spPr>
          <a:xfrm>
            <a:off x="1015365" y="4959668"/>
            <a:ext cx="1406347" cy="246888"/>
          </a:xfrm>
          <a:prstGeom prst="rect">
            <a:avLst/>
          </a:prstGeom>
          <a:solidFill>
            <a:srgbClr val="E5463D"/>
          </a:solidFill>
          <a:ln/>
        </p:spPr>
        <p:txBody>
          <a:bodyPr wrap="square" lIns="25400" tIns="25400" rIns="25400" bIns="25400" rtlCol="0" anchor="ctr"/>
          <a:lstStyle/>
          <a:p>
            <a:pPr algn="ctr" indent="0" marL="0">
              <a:buNone/>
            </a:pPr>
            <a:r>
              <a:rPr lang="en-US" sz="1100" b="1" dirty="0">
                <a:solidFill>
                  <a:schemeClr val="bg1"/>
                </a:solidFill>
              </a:rPr>
              <a:t>Wrong orientation</a:t>
            </a:r>
            <a:endParaRPr lang="en-US" sz="1100" dirty="0"/>
          </a:p>
        </p:txBody>
      </p:sp>
      <p:sp>
        <p:nvSpPr>
          <p:cNvPr id="44" name="A s4 b box"/>
          <p:cNvSpPr/>
          <p:nvPr/>
        </p:nvSpPr>
        <p:spPr>
          <a:xfrm>
            <a:off x="3158490" y="2838450"/>
            <a:ext cx="2676525" cy="942975"/>
          </a:xfrm>
          <a:prstGeom prst="rect">
            <a:avLst/>
          </a:prstGeom>
          <a:solidFill>
            <a:srgbClr val="FFFFFF">
              <a:alpha val="0"/>
            </a:srgbClr>
          </a:solidFill>
          <a:ln w="28575">
            <a:solidFill>
              <a:srgbClr val="B7791F"/>
            </a:solidFill>
            <a:prstDash val="solid"/>
          </a:ln>
        </p:spPr>
      </p:sp>
      <p:sp>
        <p:nvSpPr>
          <p:cNvPr id="45" name="A s4 b tag"/>
          <p:cNvSpPr txBox="1"/>
          <p:nvPr/>
        </p:nvSpPr>
        <p:spPr>
          <a:xfrm>
            <a:off x="3158490" y="2564130"/>
            <a:ext cx="1203350" cy="246888"/>
          </a:xfrm>
          <a:prstGeom prst="rect">
            <a:avLst/>
          </a:prstGeom>
          <a:solidFill>
            <a:srgbClr val="B7791F"/>
          </a:solidFill>
          <a:ln/>
        </p:spPr>
        <p:txBody>
          <a:bodyPr wrap="square" lIns="25400" tIns="25400" rIns="25400" bIns="25400" rtlCol="0" anchor="ctr"/>
          <a:lstStyle/>
          <a:p>
            <a:pPr algn="ctr" indent="0" marL="0">
              <a:buNone/>
            </a:pPr>
            <a:r>
              <a:rPr lang="en-US" sz="1100" b="1" dirty="0">
                <a:solidFill>
                  <a:schemeClr val="bg1"/>
                </a:solidFill>
              </a:rPr>
              <a:t>Foreign object</a:t>
            </a:r>
            <a:endParaRPr lang="en-US" sz="1100" dirty="0"/>
          </a:p>
        </p:txBody>
      </p:sp>
      <p:sp>
        <p:nvSpPr>
          <p:cNvPr id="46" name="A s5 a box"/>
          <p:cNvSpPr/>
          <p:nvPr/>
        </p:nvSpPr>
        <p:spPr>
          <a:xfrm>
            <a:off x="953453" y="1885950"/>
            <a:ext cx="1619250" cy="976312"/>
          </a:xfrm>
          <a:prstGeom prst="rect">
            <a:avLst/>
          </a:prstGeom>
          <a:solidFill>
            <a:srgbClr val="FFFFFF">
              <a:alpha val="0"/>
            </a:srgbClr>
          </a:solidFill>
          <a:ln w="28575">
            <a:solidFill>
              <a:srgbClr val="2F7D52"/>
            </a:solidFill>
            <a:prstDash val="solid"/>
          </a:ln>
        </p:spPr>
      </p:sp>
      <p:sp>
        <p:nvSpPr>
          <p:cNvPr id="47" name="A s5 a tag"/>
          <p:cNvSpPr txBox="1"/>
          <p:nvPr/>
        </p:nvSpPr>
        <p:spPr>
          <a:xfrm>
            <a:off x="953453" y="1611630"/>
            <a:ext cx="526694" cy="246888"/>
          </a:xfrm>
          <a:prstGeom prst="rect">
            <a:avLst/>
          </a:prstGeom>
          <a:solidFill>
            <a:srgbClr val="2F7D52"/>
          </a:solidFill>
          <a:ln/>
        </p:spPr>
        <p:txBody>
          <a:bodyPr wrap="square" lIns="25400" tIns="25400" rIns="25400" bIns="25400" rtlCol="0" anchor="ctr"/>
          <a:lstStyle/>
          <a:p>
            <a:pPr algn="ctr" indent="0" marL="0">
              <a:buNone/>
            </a:pPr>
            <a:r>
              <a:rPr lang="en-US" sz="1100" b="1" dirty="0">
                <a:solidFill>
                  <a:schemeClr val="bg1"/>
                </a:solidFill>
              </a:rPr>
              <a:t>Pass</a:t>
            </a:r>
            <a:endParaRPr lang="en-US" sz="1100" dirty="0"/>
          </a:p>
        </p:txBody>
      </p:sp>
      <p:sp>
        <p:nvSpPr>
          <p:cNvPr id="48" name="A s5 f box"/>
          <p:cNvSpPr/>
          <p:nvPr/>
        </p:nvSpPr>
        <p:spPr>
          <a:xfrm>
            <a:off x="3406140" y="4362450"/>
            <a:ext cx="1000125" cy="1595437"/>
          </a:xfrm>
          <a:prstGeom prst="rect">
            <a:avLst/>
          </a:prstGeom>
          <a:solidFill>
            <a:srgbClr val="FFFFFF">
              <a:alpha val="0"/>
            </a:srgbClr>
          </a:solidFill>
          <a:ln w="28575">
            <a:solidFill>
              <a:srgbClr val="2F7D52"/>
            </a:solidFill>
            <a:prstDash val="solid"/>
          </a:ln>
        </p:spPr>
      </p:sp>
      <p:sp>
        <p:nvSpPr>
          <p:cNvPr id="49" name="A s5 f tag"/>
          <p:cNvSpPr txBox="1"/>
          <p:nvPr/>
        </p:nvSpPr>
        <p:spPr>
          <a:xfrm>
            <a:off x="3406140" y="4088130"/>
            <a:ext cx="526694" cy="246888"/>
          </a:xfrm>
          <a:prstGeom prst="rect">
            <a:avLst/>
          </a:prstGeom>
          <a:solidFill>
            <a:srgbClr val="2F7D52"/>
          </a:solidFill>
          <a:ln/>
        </p:spPr>
        <p:txBody>
          <a:bodyPr wrap="square" lIns="25400" tIns="25400" rIns="25400" bIns="25400" rtlCol="0" anchor="ctr"/>
          <a:lstStyle/>
          <a:p>
            <a:pPr algn="ctr" indent="0" marL="0">
              <a:buNone/>
            </a:pPr>
            <a:r>
              <a:rPr lang="en-US" sz="1100" b="1" dirty="0">
                <a:solidFill>
                  <a:schemeClr val="bg1"/>
                </a:solidFill>
              </a:rPr>
              <a:t>Pass</a:t>
            </a:r>
            <a:endParaRPr lang="en-US" sz="1100" dirty="0"/>
          </a:p>
        </p:txBody>
      </p:sp>
      <p:sp>
        <p:nvSpPr>
          <p:cNvPr id="50" name="A s5 e box"/>
          <p:cNvSpPr/>
          <p:nvPr/>
        </p:nvSpPr>
        <p:spPr>
          <a:xfrm>
            <a:off x="2572703" y="4886325"/>
            <a:ext cx="604837" cy="561975"/>
          </a:xfrm>
          <a:prstGeom prst="rect">
            <a:avLst/>
          </a:prstGeom>
          <a:solidFill>
            <a:srgbClr val="FFFFFF">
              <a:alpha val="0"/>
            </a:srgbClr>
          </a:solidFill>
          <a:ln w="28575">
            <a:solidFill>
              <a:srgbClr val="2F7D52"/>
            </a:solidFill>
            <a:prstDash val="solid"/>
          </a:ln>
        </p:spPr>
      </p:sp>
      <p:sp>
        <p:nvSpPr>
          <p:cNvPr id="51" name="A s5 e tag"/>
          <p:cNvSpPr txBox="1"/>
          <p:nvPr/>
        </p:nvSpPr>
        <p:spPr>
          <a:xfrm>
            <a:off x="2572703" y="5475732"/>
            <a:ext cx="526694" cy="246888"/>
          </a:xfrm>
          <a:prstGeom prst="rect">
            <a:avLst/>
          </a:prstGeom>
          <a:solidFill>
            <a:srgbClr val="2F7D52"/>
          </a:solidFill>
          <a:ln/>
        </p:spPr>
        <p:txBody>
          <a:bodyPr wrap="square" lIns="25400" tIns="25400" rIns="25400" bIns="25400" rtlCol="0" anchor="ctr"/>
          <a:lstStyle/>
          <a:p>
            <a:pPr algn="ctr" indent="0" marL="0">
              <a:buNone/>
            </a:pPr>
            <a:r>
              <a:rPr lang="en-US" sz="1100" b="1" dirty="0">
                <a:solidFill>
                  <a:schemeClr val="bg1"/>
                </a:solidFill>
              </a:rPr>
              <a:t>Pass</a:t>
            </a:r>
            <a:endParaRPr lang="en-US" sz="1100" dirty="0"/>
          </a:p>
        </p:txBody>
      </p:sp>
      <p:sp>
        <p:nvSpPr>
          <p:cNvPr id="52" name="A s5 c box"/>
          <p:cNvSpPr/>
          <p:nvPr/>
        </p:nvSpPr>
        <p:spPr>
          <a:xfrm>
            <a:off x="1896427" y="3448050"/>
            <a:ext cx="566738" cy="571500"/>
          </a:xfrm>
          <a:prstGeom prst="rect">
            <a:avLst/>
          </a:prstGeom>
          <a:solidFill>
            <a:srgbClr val="FFFFFF">
              <a:alpha val="0"/>
            </a:srgbClr>
          </a:solidFill>
          <a:ln w="28575">
            <a:solidFill>
              <a:srgbClr val="E5463D"/>
            </a:solidFill>
            <a:prstDash val="solid"/>
          </a:ln>
        </p:spPr>
      </p:sp>
      <p:sp>
        <p:nvSpPr>
          <p:cNvPr id="53" name="A s5 c tag"/>
          <p:cNvSpPr txBox="1"/>
          <p:nvPr/>
        </p:nvSpPr>
        <p:spPr>
          <a:xfrm>
            <a:off x="1896427" y="3173730"/>
            <a:ext cx="662026" cy="246888"/>
          </a:xfrm>
          <a:prstGeom prst="rect">
            <a:avLst/>
          </a:prstGeom>
          <a:solidFill>
            <a:srgbClr val="E5463D"/>
          </a:solidFill>
          <a:ln/>
        </p:spPr>
        <p:txBody>
          <a:bodyPr wrap="square" lIns="25400" tIns="25400" rIns="25400" bIns="25400" rtlCol="0" anchor="ctr"/>
          <a:lstStyle/>
          <a:p>
            <a:pPr algn="ctr" indent="0" marL="0">
              <a:buNone/>
            </a:pPr>
            <a:r>
              <a:rPr lang="en-US" sz="1100" b="1" dirty="0">
                <a:solidFill>
                  <a:schemeClr val="bg1"/>
                </a:solidFill>
              </a:rPr>
              <a:t>Reject</a:t>
            </a:r>
            <a:endParaRPr lang="en-US" sz="1100" dirty="0"/>
          </a:p>
        </p:txBody>
      </p:sp>
      <p:sp>
        <p:nvSpPr>
          <p:cNvPr id="54" name="A s5 d box"/>
          <p:cNvSpPr/>
          <p:nvPr/>
        </p:nvSpPr>
        <p:spPr>
          <a:xfrm>
            <a:off x="2777490" y="4162425"/>
            <a:ext cx="590550" cy="571500"/>
          </a:xfrm>
          <a:prstGeom prst="rect">
            <a:avLst/>
          </a:prstGeom>
          <a:solidFill>
            <a:srgbClr val="FFFFFF">
              <a:alpha val="0"/>
            </a:srgbClr>
          </a:solidFill>
          <a:ln w="28575">
            <a:solidFill>
              <a:srgbClr val="E5463D"/>
            </a:solidFill>
            <a:prstDash val="solid"/>
          </a:ln>
        </p:spPr>
      </p:sp>
      <p:sp>
        <p:nvSpPr>
          <p:cNvPr id="55" name="A s5 d tag"/>
          <p:cNvSpPr txBox="1"/>
          <p:nvPr/>
        </p:nvSpPr>
        <p:spPr>
          <a:xfrm>
            <a:off x="2777490" y="3886200"/>
            <a:ext cx="662026" cy="246888"/>
          </a:xfrm>
          <a:prstGeom prst="rect">
            <a:avLst/>
          </a:prstGeom>
          <a:solidFill>
            <a:srgbClr val="E5463D"/>
          </a:solidFill>
          <a:ln/>
        </p:spPr>
        <p:txBody>
          <a:bodyPr wrap="square" lIns="25400" tIns="25400" rIns="25400" bIns="25400" rtlCol="0" anchor="ctr"/>
          <a:lstStyle/>
          <a:p>
            <a:pPr algn="ctr" indent="0" marL="0">
              <a:buNone/>
            </a:pPr>
            <a:r>
              <a:rPr lang="en-US" sz="1100" b="1" dirty="0">
                <a:solidFill>
                  <a:schemeClr val="bg1"/>
                </a:solidFill>
              </a:rPr>
              <a:t>Reject</a:t>
            </a:r>
            <a:endParaRPr lang="en-US" sz="1100" dirty="0"/>
          </a:p>
        </p:txBody>
      </p:sp>
      <p:sp>
        <p:nvSpPr>
          <p:cNvPr id="56" name="A s5 g box"/>
          <p:cNvSpPr/>
          <p:nvPr/>
        </p:nvSpPr>
        <p:spPr>
          <a:xfrm>
            <a:off x="1015365" y="5233988"/>
            <a:ext cx="628650" cy="500063"/>
          </a:xfrm>
          <a:prstGeom prst="rect">
            <a:avLst/>
          </a:prstGeom>
          <a:solidFill>
            <a:srgbClr val="FFFFFF">
              <a:alpha val="0"/>
            </a:srgbClr>
          </a:solidFill>
          <a:ln w="28575">
            <a:solidFill>
              <a:srgbClr val="E5463D"/>
            </a:solidFill>
            <a:prstDash val="solid"/>
          </a:ln>
        </p:spPr>
      </p:sp>
      <p:sp>
        <p:nvSpPr>
          <p:cNvPr id="57" name="A s5 g tag"/>
          <p:cNvSpPr txBox="1"/>
          <p:nvPr/>
        </p:nvSpPr>
        <p:spPr>
          <a:xfrm>
            <a:off x="1015365" y="4959668"/>
            <a:ext cx="662026" cy="246888"/>
          </a:xfrm>
          <a:prstGeom prst="rect">
            <a:avLst/>
          </a:prstGeom>
          <a:solidFill>
            <a:srgbClr val="E5463D"/>
          </a:solidFill>
          <a:ln/>
        </p:spPr>
        <p:txBody>
          <a:bodyPr wrap="square" lIns="25400" tIns="25400" rIns="25400" bIns="25400" rtlCol="0" anchor="ctr"/>
          <a:lstStyle/>
          <a:p>
            <a:pPr algn="ctr" indent="0" marL="0">
              <a:buNone/>
            </a:pPr>
            <a:r>
              <a:rPr lang="en-US" sz="1100" b="1" dirty="0">
                <a:solidFill>
                  <a:schemeClr val="bg1"/>
                </a:solidFill>
              </a:rPr>
              <a:t>Reject</a:t>
            </a:r>
            <a:endParaRPr lang="en-US" sz="1100" dirty="0"/>
          </a:p>
        </p:txBody>
      </p:sp>
      <p:sp>
        <p:nvSpPr>
          <p:cNvPr id="58" name="A s5 b box"/>
          <p:cNvSpPr/>
          <p:nvPr/>
        </p:nvSpPr>
        <p:spPr>
          <a:xfrm>
            <a:off x="3158490" y="2838450"/>
            <a:ext cx="2676525" cy="942975"/>
          </a:xfrm>
          <a:prstGeom prst="rect">
            <a:avLst/>
          </a:prstGeom>
          <a:solidFill>
            <a:srgbClr val="FFFFFF">
              <a:alpha val="0"/>
            </a:srgbClr>
          </a:solidFill>
          <a:ln w="28575">
            <a:solidFill>
              <a:srgbClr val="E5463D"/>
            </a:solidFill>
            <a:prstDash val="solid"/>
          </a:ln>
        </p:spPr>
      </p:sp>
      <p:sp>
        <p:nvSpPr>
          <p:cNvPr id="59" name="A s5 b tag"/>
          <p:cNvSpPr txBox="1"/>
          <p:nvPr/>
        </p:nvSpPr>
        <p:spPr>
          <a:xfrm>
            <a:off x="3158490" y="2564130"/>
            <a:ext cx="662026" cy="246888"/>
          </a:xfrm>
          <a:prstGeom prst="rect">
            <a:avLst/>
          </a:prstGeom>
          <a:solidFill>
            <a:srgbClr val="E5463D"/>
          </a:solidFill>
          <a:ln/>
        </p:spPr>
        <p:txBody>
          <a:bodyPr wrap="square" lIns="25400" tIns="25400" rIns="25400" bIns="25400" rtlCol="0" anchor="ctr"/>
          <a:lstStyle/>
          <a:p>
            <a:pPr algn="ctr" indent="0" marL="0">
              <a:buNone/>
            </a:pPr>
            <a:r>
              <a:rPr lang="en-US" sz="1100" b="1" dirty="0">
                <a:solidFill>
                  <a:schemeClr val="bg1"/>
                </a:solidFill>
              </a:rPr>
              <a:t>Reject</a:t>
            </a:r>
            <a:endParaRPr lang="en-US" sz="1100" dirty="0"/>
          </a:p>
        </p:txBody>
      </p:sp>
      <p:sp>
        <p:nvSpPr>
          <p:cNvPr id="60" name="A s5 sum"/>
          <p:cNvSpPr txBox="1"/>
          <p:nvPr/>
        </p:nvSpPr>
        <p:spPr>
          <a:xfrm>
            <a:off x="4549140" y="1695450"/>
            <a:ext cx="2177270" cy="365760"/>
          </a:xfrm>
          <a:prstGeom prst="rect">
            <a:avLst/>
          </a:prstGeom>
          <a:solidFill>
            <a:srgbClr val="1D2D3D"/>
          </a:solidFill>
          <a:ln/>
        </p:spPr>
        <p:txBody>
          <a:bodyPr wrap="square" lIns="25400" tIns="25400" rIns="25400" bIns="25400" rtlCol="0" anchor="ctr"/>
          <a:lstStyle/>
          <a:p>
            <a:pPr algn="ctr" indent="0" marL="0">
              <a:buNone/>
            </a:pPr>
            <a:r>
              <a:rPr lang="en-US" sz="1400" b="1" dirty="0">
                <a:solidFill>
                  <a:schemeClr val="bg1"/>
                </a:solidFill>
              </a:rPr>
              <a:t>Pass 3 · Reject 4</a:t>
            </a:r>
            <a:endParaRPr lang="en-US" sz="1400" dirty="0"/>
          </a:p>
        </p:txBody>
      </p:sp>
      <p:sp>
        <p:nvSpPr>
          <p:cNvPr id="61" name="A row 0 dot"/>
          <p:cNvSpPr/>
          <p:nvPr/>
        </p:nvSpPr>
        <p:spPr>
          <a:xfrm>
            <a:off x="6629400" y="1728216"/>
            <a:ext cx="402336" cy="402336"/>
          </a:xfrm>
          <a:prstGeom prst="ellipse">
            <a:avLst/>
          </a:prstGeom>
          <a:solidFill>
            <a:schemeClr val="tx2"/>
          </a:solidFill>
          <a:ln/>
        </p:spPr>
      </p:sp>
      <p:pic>
        <p:nvPicPr>
          <p:cNvPr id="62" name="A row 0 icon" descr="preencoded.png">    </p:cNvPr>
          <p:cNvPicPr>
            <a:picLocks noChangeAspect="1"/>
          </p:cNvPicPr>
          <p:nvPr/>
        </p:nvPicPr>
        <p:blipFill>
          <a:blip r:embed="rId2"/>
          <a:stretch>
            <a:fillRect/>
          </a:stretch>
        </p:blipFill>
        <p:spPr>
          <a:xfrm>
            <a:off x="6729984" y="1828800"/>
            <a:ext cx="201168" cy="201168"/>
          </a:xfrm>
          <a:prstGeom prst="rect">
            <a:avLst/>
          </a:prstGeom>
        </p:spPr>
      </p:pic>
      <p:sp>
        <p:nvSpPr>
          <p:cNvPr id="63" name="A row 0 text"/>
          <p:cNvSpPr txBox="1"/>
          <p:nvPr/>
        </p:nvSpPr>
        <p:spPr>
          <a:xfrm>
            <a:off x="7178040" y="1673352"/>
            <a:ext cx="4480560" cy="658368"/>
          </a:xfrm>
          <a:prstGeom prst="rect">
            <a:avLst/>
          </a:prstGeom>
          <a:noFill/>
          <a:ln/>
        </p:spPr>
        <p:txBody>
          <a:bodyPr wrap="square" lIns="0" tIns="0" rIns="0" bIns="0" rtlCol="0" anchor="t"/>
          <a:lstStyle/>
          <a:p>
            <a:pPr indent="0" marL="0">
              <a:buNone/>
            </a:pPr>
            <a:r>
              <a:rPr lang="en-US" sz="1600" b="1" dirty="0">
                <a:solidFill>
                  <a:schemeClr val="tx2"/>
                </a:solidFill>
              </a:rPr>
              <a:t>Count &amp; identify</a:t>
            </a:r>
            <a:endParaRPr lang="en-US" sz="1600" dirty="0"/>
          </a:p>
          <a:p>
            <a:pPr indent="0" marL="0">
              <a:buNone/>
            </a:pPr>
            <a:r>
              <a:rPr lang="en-US" sz="1300" dirty="0">
                <a:solidFill>
                  <a:schemeClr val="accent4"/>
                </a:solidFill>
              </a:rPr>
              <a:t>7 parts: 2 M4×20, 1 M3×6, 3 plastic, 1 unknown.</a:t>
            </a:r>
            <a:endParaRPr lang="en-US" sz="1600" dirty="0"/>
          </a:p>
        </p:txBody>
      </p:sp>
      <p:sp>
        <p:nvSpPr>
          <p:cNvPr id="64" name="A row 1 dot"/>
          <p:cNvSpPr/>
          <p:nvPr/>
        </p:nvSpPr>
        <p:spPr>
          <a:xfrm>
            <a:off x="6629400" y="2459736"/>
            <a:ext cx="402336" cy="402336"/>
          </a:xfrm>
          <a:prstGeom prst="ellipse">
            <a:avLst/>
          </a:prstGeom>
          <a:solidFill>
            <a:schemeClr val="tx2"/>
          </a:solidFill>
          <a:ln/>
        </p:spPr>
      </p:sp>
      <p:pic>
        <p:nvPicPr>
          <p:cNvPr id="65" name="A row 1 icon" descr="preencoded.png">    </p:cNvPr>
          <p:cNvPicPr>
            <a:picLocks noChangeAspect="1"/>
          </p:cNvPicPr>
          <p:nvPr/>
        </p:nvPicPr>
        <p:blipFill>
          <a:blip r:embed="rId3"/>
          <a:stretch>
            <a:fillRect/>
          </a:stretch>
        </p:blipFill>
        <p:spPr>
          <a:xfrm>
            <a:off x="6729984" y="2560320"/>
            <a:ext cx="201168" cy="201168"/>
          </a:xfrm>
          <a:prstGeom prst="rect">
            <a:avLst/>
          </a:prstGeom>
        </p:spPr>
      </p:pic>
      <p:sp>
        <p:nvSpPr>
          <p:cNvPr id="66" name="A row 1 text"/>
          <p:cNvSpPr txBox="1"/>
          <p:nvPr/>
        </p:nvSpPr>
        <p:spPr>
          <a:xfrm>
            <a:off x="7178040" y="2404872"/>
            <a:ext cx="4480560" cy="658368"/>
          </a:xfrm>
          <a:prstGeom prst="rect">
            <a:avLst/>
          </a:prstGeom>
          <a:noFill/>
          <a:ln/>
        </p:spPr>
        <p:txBody>
          <a:bodyPr wrap="square" lIns="0" tIns="0" rIns="0" bIns="0" rtlCol="0" anchor="t"/>
          <a:lstStyle/>
          <a:p>
            <a:pPr indent="0" marL="0">
              <a:buNone/>
            </a:pPr>
            <a:r>
              <a:rPr lang="en-US" sz="1600" b="1" dirty="0">
                <a:solidFill>
                  <a:schemeClr val="tx2"/>
                </a:solidFill>
              </a:rPr>
              <a:t>Measure</a:t>
            </a:r>
            <a:endParaRPr lang="en-US" sz="1600" dirty="0"/>
          </a:p>
          <a:p>
            <a:pPr indent="0" marL="0">
              <a:buNone/>
            </a:pPr>
            <a:r>
              <a:rPr lang="en-US" sz="1300" dirty="0">
                <a:solidFill>
                  <a:schemeClr val="accent4"/>
                </a:solidFill>
              </a:rPr>
              <a:t>Length of every screw, in mm.</a:t>
            </a:r>
            <a:endParaRPr lang="en-US" sz="1600" dirty="0"/>
          </a:p>
        </p:txBody>
      </p:sp>
      <p:sp>
        <p:nvSpPr>
          <p:cNvPr id="67" name="A row 2 dot"/>
          <p:cNvSpPr/>
          <p:nvPr/>
        </p:nvSpPr>
        <p:spPr>
          <a:xfrm>
            <a:off x="6629400" y="3191256"/>
            <a:ext cx="402336" cy="402336"/>
          </a:xfrm>
          <a:prstGeom prst="ellipse">
            <a:avLst/>
          </a:prstGeom>
          <a:solidFill>
            <a:schemeClr val="tx2"/>
          </a:solidFill>
          <a:ln/>
        </p:spPr>
      </p:sp>
      <p:pic>
        <p:nvPicPr>
          <p:cNvPr id="68" name="A row 2 icon" descr="preencoded.png">    </p:cNvPr>
          <p:cNvPicPr>
            <a:picLocks noChangeAspect="1"/>
          </p:cNvPicPr>
          <p:nvPr/>
        </p:nvPicPr>
        <p:blipFill>
          <a:blip r:embed="rId4"/>
          <a:stretch>
            <a:fillRect/>
          </a:stretch>
        </p:blipFill>
        <p:spPr>
          <a:xfrm>
            <a:off x="6729984" y="3291840"/>
            <a:ext cx="201168" cy="201168"/>
          </a:xfrm>
          <a:prstGeom prst="rect">
            <a:avLst/>
          </a:prstGeom>
        </p:spPr>
      </p:pic>
      <p:sp>
        <p:nvSpPr>
          <p:cNvPr id="69" name="A row 2 text"/>
          <p:cNvSpPr txBox="1"/>
          <p:nvPr/>
        </p:nvSpPr>
        <p:spPr>
          <a:xfrm>
            <a:off x="7178040" y="3136392"/>
            <a:ext cx="4480560" cy="658368"/>
          </a:xfrm>
          <a:prstGeom prst="rect">
            <a:avLst/>
          </a:prstGeom>
          <a:noFill/>
          <a:ln/>
        </p:spPr>
        <p:txBody>
          <a:bodyPr wrap="square" lIns="0" tIns="0" rIns="0" bIns="0" rtlCol="0" anchor="t"/>
          <a:lstStyle/>
          <a:p>
            <a:pPr indent="0" marL="0">
              <a:buNone/>
            </a:pPr>
            <a:r>
              <a:rPr lang="en-US" sz="1600" b="1" dirty="0">
                <a:solidFill>
                  <a:schemeClr val="tx2"/>
                </a:solidFill>
              </a:rPr>
              <a:t>Colour</a:t>
            </a:r>
            <a:endParaRPr lang="en-US" sz="1600" dirty="0"/>
          </a:p>
          <a:p>
            <a:pPr indent="0" marL="0">
              <a:buNone/>
            </a:pPr>
            <a:r>
              <a:rPr lang="en-US" sz="1300" dirty="0">
                <a:solidFill>
                  <a:schemeClr val="accent4"/>
                </a:solidFill>
              </a:rPr>
              <a:t>Finish against the black-oxide reference.</a:t>
            </a:r>
            <a:endParaRPr lang="en-US" sz="1600" dirty="0"/>
          </a:p>
        </p:txBody>
      </p:sp>
      <p:sp>
        <p:nvSpPr>
          <p:cNvPr id="70" name="A row 3 dot"/>
          <p:cNvSpPr/>
          <p:nvPr/>
        </p:nvSpPr>
        <p:spPr>
          <a:xfrm>
            <a:off x="6629400" y="3922776"/>
            <a:ext cx="402336" cy="402336"/>
          </a:xfrm>
          <a:prstGeom prst="ellipse">
            <a:avLst/>
          </a:prstGeom>
          <a:solidFill>
            <a:schemeClr val="tx2"/>
          </a:solidFill>
          <a:ln/>
        </p:spPr>
      </p:sp>
      <p:pic>
        <p:nvPicPr>
          <p:cNvPr id="71" name="A row 3 icon" descr="preencoded.png">    </p:cNvPr>
          <p:cNvPicPr>
            <a:picLocks noChangeAspect="1"/>
          </p:cNvPicPr>
          <p:nvPr/>
        </p:nvPicPr>
        <p:blipFill>
          <a:blip r:embed="rId5"/>
          <a:stretch>
            <a:fillRect/>
          </a:stretch>
        </p:blipFill>
        <p:spPr>
          <a:xfrm>
            <a:off x="6729984" y="4023360"/>
            <a:ext cx="201168" cy="201168"/>
          </a:xfrm>
          <a:prstGeom prst="rect">
            <a:avLst/>
          </a:prstGeom>
        </p:spPr>
      </p:pic>
      <p:sp>
        <p:nvSpPr>
          <p:cNvPr id="72" name="A row 3 text"/>
          <p:cNvSpPr txBox="1"/>
          <p:nvPr/>
        </p:nvSpPr>
        <p:spPr>
          <a:xfrm>
            <a:off x="7178040" y="3867912"/>
            <a:ext cx="4480560" cy="658368"/>
          </a:xfrm>
          <a:prstGeom prst="rect">
            <a:avLst/>
          </a:prstGeom>
          <a:noFill/>
          <a:ln/>
        </p:spPr>
        <p:txBody>
          <a:bodyPr wrap="square" lIns="0" tIns="0" rIns="0" bIns="0" rtlCol="0" anchor="t"/>
          <a:lstStyle/>
          <a:p>
            <a:pPr indent="0" marL="0">
              <a:buNone/>
            </a:pPr>
            <a:r>
              <a:rPr lang="en-US" sz="1600" b="1" dirty="0">
                <a:solidFill>
                  <a:schemeClr val="tx2"/>
                </a:solidFill>
              </a:rPr>
              <a:t>Defects</a:t>
            </a:r>
            <a:endParaRPr lang="en-US" sz="1600" dirty="0"/>
          </a:p>
          <a:p>
            <a:pPr indent="0" marL="0">
              <a:buNone/>
            </a:pPr>
            <a:r>
              <a:rPr lang="en-US" sz="1300" dirty="0">
                <a:solidFill>
                  <a:schemeClr val="accent4"/>
                </a:solidFill>
              </a:rPr>
              <a:t>2 broken bolts, 1 in the wrong orientation.</a:t>
            </a:r>
            <a:endParaRPr lang="en-US" sz="1600" dirty="0"/>
          </a:p>
        </p:txBody>
      </p:sp>
      <p:sp>
        <p:nvSpPr>
          <p:cNvPr id="73" name="A row 4 dot"/>
          <p:cNvSpPr/>
          <p:nvPr/>
        </p:nvSpPr>
        <p:spPr>
          <a:xfrm>
            <a:off x="6629400" y="4654296"/>
            <a:ext cx="402336" cy="402336"/>
          </a:xfrm>
          <a:prstGeom prst="ellipse">
            <a:avLst/>
          </a:prstGeom>
          <a:solidFill>
            <a:schemeClr val="tx2"/>
          </a:solidFill>
          <a:ln/>
        </p:spPr>
      </p:sp>
      <p:pic>
        <p:nvPicPr>
          <p:cNvPr id="74" name="A row 4 icon" descr="preencoded.png">    </p:cNvPr>
          <p:cNvPicPr>
            <a:picLocks noChangeAspect="1"/>
          </p:cNvPicPr>
          <p:nvPr/>
        </p:nvPicPr>
        <p:blipFill>
          <a:blip r:embed="rId6"/>
          <a:stretch>
            <a:fillRect/>
          </a:stretch>
        </p:blipFill>
        <p:spPr>
          <a:xfrm>
            <a:off x="6729984" y="4754880"/>
            <a:ext cx="201168" cy="201168"/>
          </a:xfrm>
          <a:prstGeom prst="rect">
            <a:avLst/>
          </a:prstGeom>
        </p:spPr>
      </p:pic>
      <p:sp>
        <p:nvSpPr>
          <p:cNvPr id="75" name="A row 4 text"/>
          <p:cNvSpPr txBox="1"/>
          <p:nvPr/>
        </p:nvSpPr>
        <p:spPr>
          <a:xfrm>
            <a:off x="7178040" y="4599432"/>
            <a:ext cx="4480560" cy="658368"/>
          </a:xfrm>
          <a:prstGeom prst="rect">
            <a:avLst/>
          </a:prstGeom>
          <a:noFill/>
          <a:ln/>
        </p:spPr>
        <p:txBody>
          <a:bodyPr wrap="square" lIns="0" tIns="0" rIns="0" bIns="0" rtlCol="0" anchor="t"/>
          <a:lstStyle/>
          <a:p>
            <a:pPr indent="0" marL="0">
              <a:buNone/>
            </a:pPr>
            <a:r>
              <a:rPr lang="en-US" sz="1600" b="1" dirty="0">
                <a:solidFill>
                  <a:schemeClr val="tx2"/>
                </a:solidFill>
              </a:rPr>
              <a:t>Anomalies</a:t>
            </a:r>
            <a:endParaRPr lang="en-US" sz="1600" dirty="0"/>
          </a:p>
          <a:p>
            <a:pPr indent="0" marL="0">
              <a:buNone/>
            </a:pPr>
            <a:r>
              <a:rPr lang="en-US" sz="1300" dirty="0">
                <a:solidFill>
                  <a:schemeClr val="accent4"/>
                </a:solidFill>
              </a:rPr>
              <a:t>1 object it was never shown.</a:t>
            </a:r>
            <a:endParaRPr lang="en-US" sz="1600" dirty="0"/>
          </a:p>
        </p:txBody>
      </p:sp>
      <p:sp>
        <p:nvSpPr>
          <p:cNvPr id="76" name="A row 5 dot"/>
          <p:cNvSpPr/>
          <p:nvPr/>
        </p:nvSpPr>
        <p:spPr>
          <a:xfrm>
            <a:off x="6629400" y="5385816"/>
            <a:ext cx="402336" cy="402336"/>
          </a:xfrm>
          <a:prstGeom prst="ellipse">
            <a:avLst/>
          </a:prstGeom>
          <a:solidFill>
            <a:schemeClr val="tx2"/>
          </a:solidFill>
          <a:ln/>
        </p:spPr>
      </p:sp>
      <p:pic>
        <p:nvPicPr>
          <p:cNvPr id="77" name="A row 5 icon" descr="preencoded.png">    </p:cNvPr>
          <p:cNvPicPr>
            <a:picLocks noChangeAspect="1"/>
          </p:cNvPicPr>
          <p:nvPr/>
        </p:nvPicPr>
        <p:blipFill>
          <a:blip r:embed="rId7"/>
          <a:stretch>
            <a:fillRect/>
          </a:stretch>
        </p:blipFill>
        <p:spPr>
          <a:xfrm>
            <a:off x="6729984" y="5486400"/>
            <a:ext cx="201168" cy="201168"/>
          </a:xfrm>
          <a:prstGeom prst="rect">
            <a:avLst/>
          </a:prstGeom>
        </p:spPr>
      </p:pic>
      <p:sp>
        <p:nvSpPr>
          <p:cNvPr id="78" name="A row 5 text"/>
          <p:cNvSpPr txBox="1"/>
          <p:nvPr/>
        </p:nvSpPr>
        <p:spPr>
          <a:xfrm>
            <a:off x="7178040" y="5330952"/>
            <a:ext cx="4480560" cy="658368"/>
          </a:xfrm>
          <a:prstGeom prst="rect">
            <a:avLst/>
          </a:prstGeom>
          <a:noFill/>
          <a:ln/>
        </p:spPr>
        <p:txBody>
          <a:bodyPr wrap="square" lIns="0" tIns="0" rIns="0" bIns="0" rtlCol="0" anchor="t"/>
          <a:lstStyle/>
          <a:p>
            <a:pPr indent="0" marL="0">
              <a:buNone/>
            </a:pPr>
            <a:r>
              <a:rPr lang="en-US" sz="1600" b="1" dirty="0">
                <a:solidFill>
                  <a:schemeClr val="tx2"/>
                </a:solidFill>
              </a:rPr>
              <a:t>Verdict</a:t>
            </a:r>
            <a:endParaRPr lang="en-US" sz="1600" dirty="0"/>
          </a:p>
          <a:p>
            <a:pPr indent="0" marL="0">
              <a:buNone/>
            </a:pPr>
            <a:r>
              <a:rPr lang="en-US" sz="1300" dirty="0">
                <a:solidFill>
                  <a:schemeClr val="accent4"/>
                </a:solidFill>
              </a:rPr>
              <a:t>3 pass, 4 rejected. Logged to the shift report.</a:t>
            </a:r>
            <a:endParaRPr lang="en-US" sz="1600" dirty="0"/>
          </a:p>
        </p:txBody>
      </p:sp>
      <p:sp>
        <p:nvSpPr>
          <p:cNvPr id="79" name="Text 70"/>
          <p:cNvSpPr txBox="1"/>
          <p:nvPr/>
        </p:nvSpPr>
        <p:spPr>
          <a:xfrm>
            <a:off x="6629400" y="6172200"/>
            <a:ext cx="5029200" cy="228600"/>
          </a:xfrm>
          <a:prstGeom prst="rect">
            <a:avLst/>
          </a:prstGeom>
          <a:noFill/>
          <a:ln/>
        </p:spPr>
        <p:txBody>
          <a:bodyPr wrap="square" lIns="0" tIns="0" rIns="0" bIns="0" rtlCol="0" anchor="ctr"/>
          <a:lstStyle/>
          <a:p>
            <a:pPr indent="0" marL="0">
              <a:buNone/>
            </a:pPr>
            <a:r>
              <a:rPr lang="en-US" sz="900" dirty="0">
                <a:solidFill>
                  <a:schemeClr val="accent6"/>
                </a:solidFill>
              </a:rPr>
              <a:t>Option A · real frame, MetriQ readings drawn for illustration.</a:t>
            </a:r>
            <a:endParaRPr lang="en-US" sz="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50"/>
                                        <p:tgtEl>
                                          <p:spTgt spid="6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2"/>
                                        </p:tgtEl>
                                        <p:attrNameLst>
                                          <p:attrName>style.visibility</p:attrName>
                                        </p:attrNameLst>
                                      </p:cBhvr>
                                      <p:to>
                                        <p:strVal val="visible"/>
                                      </p:to>
                                    </p:set>
                                    <p:animEffect transition="in" filter="fade">
                                      <p:cBhvr>
                                        <p:cTn id="10" dur="450"/>
                                        <p:tgtEl>
                                          <p:spTgt spid="6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3"/>
                                        </p:tgtEl>
                                        <p:attrNameLst>
                                          <p:attrName>style.visibility</p:attrName>
                                        </p:attrNameLst>
                                      </p:cBhvr>
                                      <p:to>
                                        <p:strVal val="visible"/>
                                      </p:to>
                                    </p:set>
                                    <p:animEffect transition="in" filter="fade">
                                      <p:cBhvr>
                                        <p:cTn id="13" dur="450"/>
                                        <p:tgtEl>
                                          <p:spTgt spid="6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5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5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5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5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5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5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50"/>
                                        <p:tgtEl>
                                          <p:spTgt spid="19"/>
                                        </p:tgtEl>
                                      </p:cBhvr>
                                    </p:animEffect>
                                  </p:childTnLst>
                                </p:cTn>
                              </p:par>
                              <p:par>
                                <p:cTn id="56" presetID="10" presetClass="exit" presetSubtype="0" fill="hold" grpId="1" nodeType="withEffect">
                                  <p:stCondLst>
                                    <p:cond delay="2600"/>
                                  </p:stCondLst>
                                  <p:childTnLst>
                                    <p:animEffect transition="out" filter="fade">
                                      <p:cBhvr>
                                        <p:cTn id="57" dur="450"/>
                                        <p:tgtEl>
                                          <p:spTgt spid="6"/>
                                        </p:tgtEl>
                                      </p:cBhvr>
                                    </p:animEffect>
                                    <p:set>
                                      <p:cBhvr>
                                        <p:cTn id="58" dur="1" fill="hold">
                                          <p:stCondLst>
                                            <p:cond delay="449"/>
                                          </p:stCondLst>
                                        </p:cTn>
                                        <p:tgtEl>
                                          <p:spTgt spid="6"/>
                                        </p:tgtEl>
                                        <p:attrNameLst>
                                          <p:attrName>style.visibility</p:attrName>
                                        </p:attrNameLst>
                                      </p:cBhvr>
                                      <p:to>
                                        <p:strVal val="hidden"/>
                                      </p:to>
                                    </p:set>
                                  </p:childTnLst>
                                </p:cTn>
                              </p:par>
                              <p:par>
                                <p:cTn id="59" presetID="10" presetClass="exit" presetSubtype="0" fill="hold" grpId="1" nodeType="withEffect">
                                  <p:stCondLst>
                                    <p:cond delay="2600"/>
                                  </p:stCondLst>
                                  <p:childTnLst>
                                    <p:animEffect transition="out" filter="fade">
                                      <p:cBhvr>
                                        <p:cTn id="60" dur="450"/>
                                        <p:tgtEl>
                                          <p:spTgt spid="7"/>
                                        </p:tgtEl>
                                      </p:cBhvr>
                                    </p:animEffect>
                                    <p:set>
                                      <p:cBhvr>
                                        <p:cTn id="61" dur="1" fill="hold">
                                          <p:stCondLst>
                                            <p:cond delay="449"/>
                                          </p:stCondLst>
                                        </p:cTn>
                                        <p:tgtEl>
                                          <p:spTgt spid="7"/>
                                        </p:tgtEl>
                                        <p:attrNameLst>
                                          <p:attrName>style.visibility</p:attrName>
                                        </p:attrNameLst>
                                      </p:cBhvr>
                                      <p:to>
                                        <p:strVal val="hidden"/>
                                      </p:to>
                                    </p:set>
                                  </p:childTnLst>
                                </p:cTn>
                              </p:par>
                              <p:par>
                                <p:cTn id="62" presetID="10" presetClass="exit" presetSubtype="0" fill="hold" grpId="1" nodeType="withEffect">
                                  <p:stCondLst>
                                    <p:cond delay="2600"/>
                                  </p:stCondLst>
                                  <p:childTnLst>
                                    <p:animEffect transition="out" filter="fade">
                                      <p:cBhvr>
                                        <p:cTn id="63" dur="450"/>
                                        <p:tgtEl>
                                          <p:spTgt spid="8"/>
                                        </p:tgtEl>
                                      </p:cBhvr>
                                    </p:animEffect>
                                    <p:set>
                                      <p:cBhvr>
                                        <p:cTn id="64" dur="1" fill="hold">
                                          <p:stCondLst>
                                            <p:cond delay="449"/>
                                          </p:stCondLst>
                                        </p:cTn>
                                        <p:tgtEl>
                                          <p:spTgt spid="8"/>
                                        </p:tgtEl>
                                        <p:attrNameLst>
                                          <p:attrName>style.visibility</p:attrName>
                                        </p:attrNameLst>
                                      </p:cBhvr>
                                      <p:to>
                                        <p:strVal val="hidden"/>
                                      </p:to>
                                    </p:set>
                                  </p:childTnLst>
                                </p:cTn>
                              </p:par>
                              <p:par>
                                <p:cTn id="65" presetID="10" presetClass="exit" presetSubtype="0" fill="hold" grpId="1" nodeType="withEffect">
                                  <p:stCondLst>
                                    <p:cond delay="2600"/>
                                  </p:stCondLst>
                                  <p:childTnLst>
                                    <p:animEffect transition="out" filter="fade">
                                      <p:cBhvr>
                                        <p:cTn id="66" dur="450"/>
                                        <p:tgtEl>
                                          <p:spTgt spid="9"/>
                                        </p:tgtEl>
                                      </p:cBhvr>
                                    </p:animEffect>
                                    <p:set>
                                      <p:cBhvr>
                                        <p:cTn id="67" dur="1" fill="hold">
                                          <p:stCondLst>
                                            <p:cond delay="449"/>
                                          </p:stCondLst>
                                        </p:cTn>
                                        <p:tgtEl>
                                          <p:spTgt spid="9"/>
                                        </p:tgtEl>
                                        <p:attrNameLst>
                                          <p:attrName>style.visibility</p:attrName>
                                        </p:attrNameLst>
                                      </p:cBhvr>
                                      <p:to>
                                        <p:strVal val="hidden"/>
                                      </p:to>
                                    </p:set>
                                  </p:childTnLst>
                                </p:cTn>
                              </p:par>
                              <p:par>
                                <p:cTn id="68" presetID="10" presetClass="exit" presetSubtype="0" fill="hold" grpId="1" nodeType="withEffect">
                                  <p:stCondLst>
                                    <p:cond delay="2600"/>
                                  </p:stCondLst>
                                  <p:childTnLst>
                                    <p:animEffect transition="out" filter="fade">
                                      <p:cBhvr>
                                        <p:cTn id="69" dur="450"/>
                                        <p:tgtEl>
                                          <p:spTgt spid="10"/>
                                        </p:tgtEl>
                                      </p:cBhvr>
                                    </p:animEffect>
                                    <p:set>
                                      <p:cBhvr>
                                        <p:cTn id="70" dur="1" fill="hold">
                                          <p:stCondLst>
                                            <p:cond delay="449"/>
                                          </p:stCondLst>
                                        </p:cTn>
                                        <p:tgtEl>
                                          <p:spTgt spid="10"/>
                                        </p:tgtEl>
                                        <p:attrNameLst>
                                          <p:attrName>style.visibility</p:attrName>
                                        </p:attrNameLst>
                                      </p:cBhvr>
                                      <p:to>
                                        <p:strVal val="hidden"/>
                                      </p:to>
                                    </p:set>
                                  </p:childTnLst>
                                </p:cTn>
                              </p:par>
                              <p:par>
                                <p:cTn id="71" presetID="10" presetClass="exit" presetSubtype="0" fill="hold" grpId="1" nodeType="withEffect">
                                  <p:stCondLst>
                                    <p:cond delay="2600"/>
                                  </p:stCondLst>
                                  <p:childTnLst>
                                    <p:animEffect transition="out" filter="fade">
                                      <p:cBhvr>
                                        <p:cTn id="72" dur="450"/>
                                        <p:tgtEl>
                                          <p:spTgt spid="11"/>
                                        </p:tgtEl>
                                      </p:cBhvr>
                                    </p:animEffect>
                                    <p:set>
                                      <p:cBhvr>
                                        <p:cTn id="73" dur="1" fill="hold">
                                          <p:stCondLst>
                                            <p:cond delay="449"/>
                                          </p:stCondLst>
                                        </p:cTn>
                                        <p:tgtEl>
                                          <p:spTgt spid="11"/>
                                        </p:tgtEl>
                                        <p:attrNameLst>
                                          <p:attrName>style.visibility</p:attrName>
                                        </p:attrNameLst>
                                      </p:cBhvr>
                                      <p:to>
                                        <p:strVal val="hidden"/>
                                      </p:to>
                                    </p:set>
                                  </p:childTnLst>
                                </p:cTn>
                              </p:par>
                              <p:par>
                                <p:cTn id="74" presetID="10" presetClass="exit" presetSubtype="0" fill="hold" grpId="1" nodeType="withEffect">
                                  <p:stCondLst>
                                    <p:cond delay="2600"/>
                                  </p:stCondLst>
                                  <p:childTnLst>
                                    <p:animEffect transition="out" filter="fade">
                                      <p:cBhvr>
                                        <p:cTn id="75" dur="450"/>
                                        <p:tgtEl>
                                          <p:spTgt spid="12"/>
                                        </p:tgtEl>
                                      </p:cBhvr>
                                    </p:animEffect>
                                    <p:set>
                                      <p:cBhvr>
                                        <p:cTn id="76" dur="1" fill="hold">
                                          <p:stCondLst>
                                            <p:cond delay="449"/>
                                          </p:stCondLst>
                                        </p:cTn>
                                        <p:tgtEl>
                                          <p:spTgt spid="12"/>
                                        </p:tgtEl>
                                        <p:attrNameLst>
                                          <p:attrName>style.visibility</p:attrName>
                                        </p:attrNameLst>
                                      </p:cBhvr>
                                      <p:to>
                                        <p:strVal val="hidden"/>
                                      </p:to>
                                    </p:set>
                                  </p:childTnLst>
                                </p:cTn>
                              </p:par>
                              <p:par>
                                <p:cTn id="77" presetID="10" presetClass="exit" presetSubtype="0" fill="hold" grpId="1" nodeType="withEffect">
                                  <p:stCondLst>
                                    <p:cond delay="2600"/>
                                  </p:stCondLst>
                                  <p:childTnLst>
                                    <p:animEffect transition="out" filter="fade">
                                      <p:cBhvr>
                                        <p:cTn id="78" dur="450"/>
                                        <p:tgtEl>
                                          <p:spTgt spid="13"/>
                                        </p:tgtEl>
                                      </p:cBhvr>
                                    </p:animEffect>
                                    <p:set>
                                      <p:cBhvr>
                                        <p:cTn id="79" dur="1" fill="hold">
                                          <p:stCondLst>
                                            <p:cond delay="449"/>
                                          </p:stCondLst>
                                        </p:cTn>
                                        <p:tgtEl>
                                          <p:spTgt spid="13"/>
                                        </p:tgtEl>
                                        <p:attrNameLst>
                                          <p:attrName>style.visibility</p:attrName>
                                        </p:attrNameLst>
                                      </p:cBhvr>
                                      <p:to>
                                        <p:strVal val="hidden"/>
                                      </p:to>
                                    </p:set>
                                  </p:childTnLst>
                                </p:cTn>
                              </p:par>
                              <p:par>
                                <p:cTn id="80" presetID="10" presetClass="exit" presetSubtype="0" fill="hold" grpId="1" nodeType="withEffect">
                                  <p:stCondLst>
                                    <p:cond delay="2600"/>
                                  </p:stCondLst>
                                  <p:childTnLst>
                                    <p:animEffect transition="out" filter="fade">
                                      <p:cBhvr>
                                        <p:cTn id="81" dur="450"/>
                                        <p:tgtEl>
                                          <p:spTgt spid="14"/>
                                        </p:tgtEl>
                                      </p:cBhvr>
                                    </p:animEffect>
                                    <p:set>
                                      <p:cBhvr>
                                        <p:cTn id="82" dur="1" fill="hold">
                                          <p:stCondLst>
                                            <p:cond delay="449"/>
                                          </p:stCondLst>
                                        </p:cTn>
                                        <p:tgtEl>
                                          <p:spTgt spid="14"/>
                                        </p:tgtEl>
                                        <p:attrNameLst>
                                          <p:attrName>style.visibility</p:attrName>
                                        </p:attrNameLst>
                                      </p:cBhvr>
                                      <p:to>
                                        <p:strVal val="hidden"/>
                                      </p:to>
                                    </p:set>
                                  </p:childTnLst>
                                </p:cTn>
                              </p:par>
                              <p:par>
                                <p:cTn id="83" presetID="10" presetClass="exit" presetSubtype="0" fill="hold" grpId="1" nodeType="withEffect">
                                  <p:stCondLst>
                                    <p:cond delay="2600"/>
                                  </p:stCondLst>
                                  <p:childTnLst>
                                    <p:animEffect transition="out" filter="fade">
                                      <p:cBhvr>
                                        <p:cTn id="84" dur="450"/>
                                        <p:tgtEl>
                                          <p:spTgt spid="15"/>
                                        </p:tgtEl>
                                      </p:cBhvr>
                                    </p:animEffect>
                                    <p:set>
                                      <p:cBhvr>
                                        <p:cTn id="85" dur="1" fill="hold">
                                          <p:stCondLst>
                                            <p:cond delay="449"/>
                                          </p:stCondLst>
                                        </p:cTn>
                                        <p:tgtEl>
                                          <p:spTgt spid="15"/>
                                        </p:tgtEl>
                                        <p:attrNameLst>
                                          <p:attrName>style.visibility</p:attrName>
                                        </p:attrNameLst>
                                      </p:cBhvr>
                                      <p:to>
                                        <p:strVal val="hidden"/>
                                      </p:to>
                                    </p:set>
                                  </p:childTnLst>
                                </p:cTn>
                              </p:par>
                              <p:par>
                                <p:cTn id="86" presetID="10" presetClass="exit" presetSubtype="0" fill="hold" grpId="1" nodeType="withEffect">
                                  <p:stCondLst>
                                    <p:cond delay="2600"/>
                                  </p:stCondLst>
                                  <p:childTnLst>
                                    <p:animEffect transition="out" filter="fade">
                                      <p:cBhvr>
                                        <p:cTn id="87" dur="450"/>
                                        <p:tgtEl>
                                          <p:spTgt spid="16"/>
                                        </p:tgtEl>
                                      </p:cBhvr>
                                    </p:animEffect>
                                    <p:set>
                                      <p:cBhvr>
                                        <p:cTn id="88" dur="1" fill="hold">
                                          <p:stCondLst>
                                            <p:cond delay="449"/>
                                          </p:stCondLst>
                                        </p:cTn>
                                        <p:tgtEl>
                                          <p:spTgt spid="16"/>
                                        </p:tgtEl>
                                        <p:attrNameLst>
                                          <p:attrName>style.visibility</p:attrName>
                                        </p:attrNameLst>
                                      </p:cBhvr>
                                      <p:to>
                                        <p:strVal val="hidden"/>
                                      </p:to>
                                    </p:set>
                                  </p:childTnLst>
                                </p:cTn>
                              </p:par>
                              <p:par>
                                <p:cTn id="89" presetID="10" presetClass="exit" presetSubtype="0" fill="hold" grpId="1" nodeType="withEffect">
                                  <p:stCondLst>
                                    <p:cond delay="2600"/>
                                  </p:stCondLst>
                                  <p:childTnLst>
                                    <p:animEffect transition="out" filter="fade">
                                      <p:cBhvr>
                                        <p:cTn id="90" dur="450"/>
                                        <p:tgtEl>
                                          <p:spTgt spid="17"/>
                                        </p:tgtEl>
                                      </p:cBhvr>
                                    </p:animEffect>
                                    <p:set>
                                      <p:cBhvr>
                                        <p:cTn id="91" dur="1" fill="hold">
                                          <p:stCondLst>
                                            <p:cond delay="449"/>
                                          </p:stCondLst>
                                        </p:cTn>
                                        <p:tgtEl>
                                          <p:spTgt spid="17"/>
                                        </p:tgtEl>
                                        <p:attrNameLst>
                                          <p:attrName>style.visibility</p:attrName>
                                        </p:attrNameLst>
                                      </p:cBhvr>
                                      <p:to>
                                        <p:strVal val="hidden"/>
                                      </p:to>
                                    </p:set>
                                  </p:childTnLst>
                                </p:cTn>
                              </p:par>
                              <p:par>
                                <p:cTn id="92" presetID="10" presetClass="exit" presetSubtype="0" fill="hold" grpId="1" nodeType="withEffect">
                                  <p:stCondLst>
                                    <p:cond delay="2600"/>
                                  </p:stCondLst>
                                  <p:childTnLst>
                                    <p:animEffect transition="out" filter="fade">
                                      <p:cBhvr>
                                        <p:cTn id="93" dur="450"/>
                                        <p:tgtEl>
                                          <p:spTgt spid="18"/>
                                        </p:tgtEl>
                                      </p:cBhvr>
                                    </p:animEffect>
                                    <p:set>
                                      <p:cBhvr>
                                        <p:cTn id="94" dur="1" fill="hold">
                                          <p:stCondLst>
                                            <p:cond delay="449"/>
                                          </p:stCondLst>
                                        </p:cTn>
                                        <p:tgtEl>
                                          <p:spTgt spid="18"/>
                                        </p:tgtEl>
                                        <p:attrNameLst>
                                          <p:attrName>style.visibility</p:attrName>
                                        </p:attrNameLst>
                                      </p:cBhvr>
                                      <p:to>
                                        <p:strVal val="hidden"/>
                                      </p:to>
                                    </p:set>
                                  </p:childTnLst>
                                </p:cTn>
                              </p:par>
                              <p:par>
                                <p:cTn id="95" presetID="10" presetClass="exit" presetSubtype="0" fill="hold" grpId="1" nodeType="withEffect">
                                  <p:stCondLst>
                                    <p:cond delay="2600"/>
                                  </p:stCondLst>
                                  <p:childTnLst>
                                    <p:animEffect transition="out" filter="fade">
                                      <p:cBhvr>
                                        <p:cTn id="96" dur="450"/>
                                        <p:tgtEl>
                                          <p:spTgt spid="19"/>
                                        </p:tgtEl>
                                      </p:cBhvr>
                                    </p:animEffect>
                                    <p:set>
                                      <p:cBhvr>
                                        <p:cTn id="97" dur="1" fill="hold">
                                          <p:stCondLst>
                                            <p:cond delay="449"/>
                                          </p:stCondLst>
                                        </p:cTn>
                                        <p:tgtEl>
                                          <p:spTgt spid="19"/>
                                        </p:tgtEl>
                                        <p:attrNameLst>
                                          <p:attrName>style.visibility</p:attrName>
                                        </p:attrNameLst>
                                      </p:cBhvr>
                                      <p:to>
                                        <p:strVal val="hidden"/>
                                      </p:to>
                                    </p:set>
                                  </p:childTnLst>
                                </p:cTn>
                              </p:par>
                              <p:par>
                                <p:cTn id="98" presetID="10" presetClass="entr" presetSubtype="0" fill="hold" grpId="0" nodeType="withEffect">
                                  <p:stCondLst>
                                    <p:cond delay="2600"/>
                                  </p:stCondLst>
                                  <p:childTnLst>
                                    <p:set>
                                      <p:cBhvr>
                                        <p:cTn id="99" dur="1" fill="hold">
                                          <p:stCondLst>
                                            <p:cond delay="0"/>
                                          </p:stCondLst>
                                        </p:cTn>
                                        <p:tgtEl>
                                          <p:spTgt spid="64"/>
                                        </p:tgtEl>
                                        <p:attrNameLst>
                                          <p:attrName>style.visibility</p:attrName>
                                        </p:attrNameLst>
                                      </p:cBhvr>
                                      <p:to>
                                        <p:strVal val="visible"/>
                                      </p:to>
                                    </p:set>
                                    <p:animEffect transition="in" filter="fade">
                                      <p:cBhvr>
                                        <p:cTn id="100" dur="450"/>
                                        <p:tgtEl>
                                          <p:spTgt spid="64"/>
                                        </p:tgtEl>
                                      </p:cBhvr>
                                    </p:animEffect>
                                  </p:childTnLst>
                                </p:cTn>
                              </p:par>
                              <p:par>
                                <p:cTn id="101" presetID="10" presetClass="entr" presetSubtype="0" fill="hold" grpId="0" nodeType="withEffect">
                                  <p:stCondLst>
                                    <p:cond delay="2600"/>
                                  </p:stCondLst>
                                  <p:childTnLst>
                                    <p:set>
                                      <p:cBhvr>
                                        <p:cTn id="102" dur="1" fill="hold">
                                          <p:stCondLst>
                                            <p:cond delay="0"/>
                                          </p:stCondLst>
                                        </p:cTn>
                                        <p:tgtEl>
                                          <p:spTgt spid="65"/>
                                        </p:tgtEl>
                                        <p:attrNameLst>
                                          <p:attrName>style.visibility</p:attrName>
                                        </p:attrNameLst>
                                      </p:cBhvr>
                                      <p:to>
                                        <p:strVal val="visible"/>
                                      </p:to>
                                    </p:set>
                                    <p:animEffect transition="in" filter="fade">
                                      <p:cBhvr>
                                        <p:cTn id="103" dur="450"/>
                                        <p:tgtEl>
                                          <p:spTgt spid="65"/>
                                        </p:tgtEl>
                                      </p:cBhvr>
                                    </p:animEffect>
                                  </p:childTnLst>
                                </p:cTn>
                              </p:par>
                              <p:par>
                                <p:cTn id="104" presetID="10" presetClass="entr" presetSubtype="0" fill="hold" grpId="0" nodeType="withEffect">
                                  <p:stCondLst>
                                    <p:cond delay="2600"/>
                                  </p:stCondLst>
                                  <p:childTnLst>
                                    <p:set>
                                      <p:cBhvr>
                                        <p:cTn id="105" dur="1" fill="hold">
                                          <p:stCondLst>
                                            <p:cond delay="0"/>
                                          </p:stCondLst>
                                        </p:cTn>
                                        <p:tgtEl>
                                          <p:spTgt spid="66"/>
                                        </p:tgtEl>
                                        <p:attrNameLst>
                                          <p:attrName>style.visibility</p:attrName>
                                        </p:attrNameLst>
                                      </p:cBhvr>
                                      <p:to>
                                        <p:strVal val="visible"/>
                                      </p:to>
                                    </p:set>
                                    <p:animEffect transition="in" filter="fade">
                                      <p:cBhvr>
                                        <p:cTn id="106" dur="450"/>
                                        <p:tgtEl>
                                          <p:spTgt spid="66"/>
                                        </p:tgtEl>
                                      </p:cBhvr>
                                    </p:animEffect>
                                  </p:childTnLst>
                                </p:cTn>
                              </p:par>
                              <p:par>
                                <p:cTn id="107" presetID="10" presetClass="entr" presetSubtype="0" fill="hold" grpId="0" nodeType="withEffect">
                                  <p:stCondLst>
                                    <p:cond delay="2600"/>
                                  </p:stCondLst>
                                  <p:childTnLst>
                                    <p:set>
                                      <p:cBhvr>
                                        <p:cTn id="108" dur="1" fill="hold">
                                          <p:stCondLst>
                                            <p:cond delay="0"/>
                                          </p:stCondLst>
                                        </p:cTn>
                                        <p:tgtEl>
                                          <p:spTgt spid="20"/>
                                        </p:tgtEl>
                                        <p:attrNameLst>
                                          <p:attrName>style.visibility</p:attrName>
                                        </p:attrNameLst>
                                      </p:cBhvr>
                                      <p:to>
                                        <p:strVal val="visible"/>
                                      </p:to>
                                    </p:set>
                                    <p:animEffect transition="in" filter="fade">
                                      <p:cBhvr>
                                        <p:cTn id="109" dur="450"/>
                                        <p:tgtEl>
                                          <p:spTgt spid="20"/>
                                        </p:tgtEl>
                                      </p:cBhvr>
                                    </p:animEffect>
                                  </p:childTnLst>
                                </p:cTn>
                              </p:par>
                              <p:par>
                                <p:cTn id="110" presetID="10" presetClass="entr" presetSubtype="0" fill="hold" grpId="0" nodeType="withEffect">
                                  <p:stCondLst>
                                    <p:cond delay="2600"/>
                                  </p:stCondLst>
                                  <p:childTnLst>
                                    <p:set>
                                      <p:cBhvr>
                                        <p:cTn id="111" dur="1" fill="hold">
                                          <p:stCondLst>
                                            <p:cond delay="0"/>
                                          </p:stCondLst>
                                        </p:cTn>
                                        <p:tgtEl>
                                          <p:spTgt spid="21"/>
                                        </p:tgtEl>
                                        <p:attrNameLst>
                                          <p:attrName>style.visibility</p:attrName>
                                        </p:attrNameLst>
                                      </p:cBhvr>
                                      <p:to>
                                        <p:strVal val="visible"/>
                                      </p:to>
                                    </p:set>
                                    <p:animEffect transition="in" filter="fade">
                                      <p:cBhvr>
                                        <p:cTn id="112" dur="450"/>
                                        <p:tgtEl>
                                          <p:spTgt spid="21"/>
                                        </p:tgtEl>
                                      </p:cBhvr>
                                    </p:animEffect>
                                  </p:childTnLst>
                                </p:cTn>
                              </p:par>
                              <p:par>
                                <p:cTn id="113" presetID="10" presetClass="entr" presetSubtype="0" fill="hold" grpId="0" nodeType="withEffect">
                                  <p:stCondLst>
                                    <p:cond delay="2600"/>
                                  </p:stCondLst>
                                  <p:childTnLst>
                                    <p:set>
                                      <p:cBhvr>
                                        <p:cTn id="114" dur="1" fill="hold">
                                          <p:stCondLst>
                                            <p:cond delay="0"/>
                                          </p:stCondLst>
                                        </p:cTn>
                                        <p:tgtEl>
                                          <p:spTgt spid="22"/>
                                        </p:tgtEl>
                                        <p:attrNameLst>
                                          <p:attrName>style.visibility</p:attrName>
                                        </p:attrNameLst>
                                      </p:cBhvr>
                                      <p:to>
                                        <p:strVal val="visible"/>
                                      </p:to>
                                    </p:set>
                                    <p:animEffect transition="in" filter="fade">
                                      <p:cBhvr>
                                        <p:cTn id="115" dur="450"/>
                                        <p:tgtEl>
                                          <p:spTgt spid="22"/>
                                        </p:tgtEl>
                                      </p:cBhvr>
                                    </p:animEffect>
                                  </p:childTnLst>
                                </p:cTn>
                              </p:par>
                              <p:par>
                                <p:cTn id="116" presetID="10" presetClass="entr" presetSubtype="0" fill="hold" grpId="0" nodeType="withEffect">
                                  <p:stCondLst>
                                    <p:cond delay="2600"/>
                                  </p:stCondLst>
                                  <p:childTnLst>
                                    <p:set>
                                      <p:cBhvr>
                                        <p:cTn id="117" dur="1" fill="hold">
                                          <p:stCondLst>
                                            <p:cond delay="0"/>
                                          </p:stCondLst>
                                        </p:cTn>
                                        <p:tgtEl>
                                          <p:spTgt spid="23"/>
                                        </p:tgtEl>
                                        <p:attrNameLst>
                                          <p:attrName>style.visibility</p:attrName>
                                        </p:attrNameLst>
                                      </p:cBhvr>
                                      <p:to>
                                        <p:strVal val="visible"/>
                                      </p:to>
                                    </p:set>
                                    <p:animEffect transition="in" filter="fade">
                                      <p:cBhvr>
                                        <p:cTn id="118" dur="450"/>
                                        <p:tgtEl>
                                          <p:spTgt spid="23"/>
                                        </p:tgtEl>
                                      </p:cBhvr>
                                    </p:animEffect>
                                  </p:childTnLst>
                                </p:cTn>
                              </p:par>
                              <p:par>
                                <p:cTn id="119" presetID="10" presetClass="entr" presetSubtype="0" fill="hold" grpId="0" nodeType="withEffect">
                                  <p:stCondLst>
                                    <p:cond delay="2600"/>
                                  </p:stCondLst>
                                  <p:childTnLst>
                                    <p:set>
                                      <p:cBhvr>
                                        <p:cTn id="120" dur="1" fill="hold">
                                          <p:stCondLst>
                                            <p:cond delay="0"/>
                                          </p:stCondLst>
                                        </p:cTn>
                                        <p:tgtEl>
                                          <p:spTgt spid="24"/>
                                        </p:tgtEl>
                                        <p:attrNameLst>
                                          <p:attrName>style.visibility</p:attrName>
                                        </p:attrNameLst>
                                      </p:cBhvr>
                                      <p:to>
                                        <p:strVal val="visible"/>
                                      </p:to>
                                    </p:set>
                                    <p:animEffect transition="in" filter="fade">
                                      <p:cBhvr>
                                        <p:cTn id="121" dur="450"/>
                                        <p:tgtEl>
                                          <p:spTgt spid="24"/>
                                        </p:tgtEl>
                                      </p:cBhvr>
                                    </p:animEffect>
                                  </p:childTnLst>
                                </p:cTn>
                              </p:par>
                              <p:par>
                                <p:cTn id="122" presetID="10" presetClass="entr" presetSubtype="0" fill="hold" grpId="0" nodeType="withEffect">
                                  <p:stCondLst>
                                    <p:cond delay="2600"/>
                                  </p:stCondLst>
                                  <p:childTnLst>
                                    <p:set>
                                      <p:cBhvr>
                                        <p:cTn id="123" dur="1" fill="hold">
                                          <p:stCondLst>
                                            <p:cond delay="0"/>
                                          </p:stCondLst>
                                        </p:cTn>
                                        <p:tgtEl>
                                          <p:spTgt spid="25"/>
                                        </p:tgtEl>
                                        <p:attrNameLst>
                                          <p:attrName>style.visibility</p:attrName>
                                        </p:attrNameLst>
                                      </p:cBhvr>
                                      <p:to>
                                        <p:strVal val="visible"/>
                                      </p:to>
                                    </p:set>
                                    <p:animEffect transition="in" filter="fade">
                                      <p:cBhvr>
                                        <p:cTn id="124" dur="450"/>
                                        <p:tgtEl>
                                          <p:spTgt spid="25"/>
                                        </p:tgtEl>
                                      </p:cBhvr>
                                    </p:animEffect>
                                  </p:childTnLst>
                                </p:cTn>
                              </p:par>
                              <p:par>
                                <p:cTn id="125" presetID="10" presetClass="exit" presetSubtype="0" fill="hold" grpId="1" nodeType="withEffect">
                                  <p:stCondLst>
                                    <p:cond delay="5200"/>
                                  </p:stCondLst>
                                  <p:childTnLst>
                                    <p:animEffect transition="out" filter="fade">
                                      <p:cBhvr>
                                        <p:cTn id="126" dur="450"/>
                                        <p:tgtEl>
                                          <p:spTgt spid="20"/>
                                        </p:tgtEl>
                                      </p:cBhvr>
                                    </p:animEffect>
                                    <p:set>
                                      <p:cBhvr>
                                        <p:cTn id="127" dur="1" fill="hold">
                                          <p:stCondLst>
                                            <p:cond delay="449"/>
                                          </p:stCondLst>
                                        </p:cTn>
                                        <p:tgtEl>
                                          <p:spTgt spid="20"/>
                                        </p:tgtEl>
                                        <p:attrNameLst>
                                          <p:attrName>style.visibility</p:attrName>
                                        </p:attrNameLst>
                                      </p:cBhvr>
                                      <p:to>
                                        <p:strVal val="hidden"/>
                                      </p:to>
                                    </p:set>
                                  </p:childTnLst>
                                </p:cTn>
                              </p:par>
                              <p:par>
                                <p:cTn id="128" presetID="10" presetClass="exit" presetSubtype="0" fill="hold" grpId="1" nodeType="withEffect">
                                  <p:stCondLst>
                                    <p:cond delay="5200"/>
                                  </p:stCondLst>
                                  <p:childTnLst>
                                    <p:animEffect transition="out" filter="fade">
                                      <p:cBhvr>
                                        <p:cTn id="129" dur="450"/>
                                        <p:tgtEl>
                                          <p:spTgt spid="21"/>
                                        </p:tgtEl>
                                      </p:cBhvr>
                                    </p:animEffect>
                                    <p:set>
                                      <p:cBhvr>
                                        <p:cTn id="130" dur="1" fill="hold">
                                          <p:stCondLst>
                                            <p:cond delay="449"/>
                                          </p:stCondLst>
                                        </p:cTn>
                                        <p:tgtEl>
                                          <p:spTgt spid="21"/>
                                        </p:tgtEl>
                                        <p:attrNameLst>
                                          <p:attrName>style.visibility</p:attrName>
                                        </p:attrNameLst>
                                      </p:cBhvr>
                                      <p:to>
                                        <p:strVal val="hidden"/>
                                      </p:to>
                                    </p:set>
                                  </p:childTnLst>
                                </p:cTn>
                              </p:par>
                              <p:par>
                                <p:cTn id="131" presetID="10" presetClass="exit" presetSubtype="0" fill="hold" grpId="1" nodeType="withEffect">
                                  <p:stCondLst>
                                    <p:cond delay="5200"/>
                                  </p:stCondLst>
                                  <p:childTnLst>
                                    <p:animEffect transition="out" filter="fade">
                                      <p:cBhvr>
                                        <p:cTn id="132" dur="450"/>
                                        <p:tgtEl>
                                          <p:spTgt spid="22"/>
                                        </p:tgtEl>
                                      </p:cBhvr>
                                    </p:animEffect>
                                    <p:set>
                                      <p:cBhvr>
                                        <p:cTn id="133" dur="1" fill="hold">
                                          <p:stCondLst>
                                            <p:cond delay="449"/>
                                          </p:stCondLst>
                                        </p:cTn>
                                        <p:tgtEl>
                                          <p:spTgt spid="22"/>
                                        </p:tgtEl>
                                        <p:attrNameLst>
                                          <p:attrName>style.visibility</p:attrName>
                                        </p:attrNameLst>
                                      </p:cBhvr>
                                      <p:to>
                                        <p:strVal val="hidden"/>
                                      </p:to>
                                    </p:set>
                                  </p:childTnLst>
                                </p:cTn>
                              </p:par>
                              <p:par>
                                <p:cTn id="134" presetID="10" presetClass="exit" presetSubtype="0" fill="hold" grpId="1" nodeType="withEffect">
                                  <p:stCondLst>
                                    <p:cond delay="5200"/>
                                  </p:stCondLst>
                                  <p:childTnLst>
                                    <p:animEffect transition="out" filter="fade">
                                      <p:cBhvr>
                                        <p:cTn id="135" dur="450"/>
                                        <p:tgtEl>
                                          <p:spTgt spid="23"/>
                                        </p:tgtEl>
                                      </p:cBhvr>
                                    </p:animEffect>
                                    <p:set>
                                      <p:cBhvr>
                                        <p:cTn id="136" dur="1" fill="hold">
                                          <p:stCondLst>
                                            <p:cond delay="449"/>
                                          </p:stCondLst>
                                        </p:cTn>
                                        <p:tgtEl>
                                          <p:spTgt spid="23"/>
                                        </p:tgtEl>
                                        <p:attrNameLst>
                                          <p:attrName>style.visibility</p:attrName>
                                        </p:attrNameLst>
                                      </p:cBhvr>
                                      <p:to>
                                        <p:strVal val="hidden"/>
                                      </p:to>
                                    </p:set>
                                  </p:childTnLst>
                                </p:cTn>
                              </p:par>
                              <p:par>
                                <p:cTn id="137" presetID="10" presetClass="exit" presetSubtype="0" fill="hold" grpId="1" nodeType="withEffect">
                                  <p:stCondLst>
                                    <p:cond delay="5200"/>
                                  </p:stCondLst>
                                  <p:childTnLst>
                                    <p:animEffect transition="out" filter="fade">
                                      <p:cBhvr>
                                        <p:cTn id="138" dur="450"/>
                                        <p:tgtEl>
                                          <p:spTgt spid="24"/>
                                        </p:tgtEl>
                                      </p:cBhvr>
                                    </p:animEffect>
                                    <p:set>
                                      <p:cBhvr>
                                        <p:cTn id="139" dur="1" fill="hold">
                                          <p:stCondLst>
                                            <p:cond delay="449"/>
                                          </p:stCondLst>
                                        </p:cTn>
                                        <p:tgtEl>
                                          <p:spTgt spid="24"/>
                                        </p:tgtEl>
                                        <p:attrNameLst>
                                          <p:attrName>style.visibility</p:attrName>
                                        </p:attrNameLst>
                                      </p:cBhvr>
                                      <p:to>
                                        <p:strVal val="hidden"/>
                                      </p:to>
                                    </p:set>
                                  </p:childTnLst>
                                </p:cTn>
                              </p:par>
                              <p:par>
                                <p:cTn id="140" presetID="10" presetClass="exit" presetSubtype="0" fill="hold" grpId="1" nodeType="withEffect">
                                  <p:stCondLst>
                                    <p:cond delay="5200"/>
                                  </p:stCondLst>
                                  <p:childTnLst>
                                    <p:animEffect transition="out" filter="fade">
                                      <p:cBhvr>
                                        <p:cTn id="141" dur="450"/>
                                        <p:tgtEl>
                                          <p:spTgt spid="25"/>
                                        </p:tgtEl>
                                      </p:cBhvr>
                                    </p:animEffect>
                                    <p:set>
                                      <p:cBhvr>
                                        <p:cTn id="142" dur="1" fill="hold">
                                          <p:stCondLst>
                                            <p:cond delay="449"/>
                                          </p:stCondLst>
                                        </p:cTn>
                                        <p:tgtEl>
                                          <p:spTgt spid="25"/>
                                        </p:tgtEl>
                                        <p:attrNameLst>
                                          <p:attrName>style.visibility</p:attrName>
                                        </p:attrNameLst>
                                      </p:cBhvr>
                                      <p:to>
                                        <p:strVal val="hidden"/>
                                      </p:to>
                                    </p:set>
                                  </p:childTnLst>
                                </p:cTn>
                              </p:par>
                              <p:par>
                                <p:cTn id="143" presetID="10" presetClass="entr" presetSubtype="0" fill="hold" grpId="0" nodeType="withEffect">
                                  <p:stCondLst>
                                    <p:cond delay="5200"/>
                                  </p:stCondLst>
                                  <p:childTnLst>
                                    <p:set>
                                      <p:cBhvr>
                                        <p:cTn id="144" dur="1" fill="hold">
                                          <p:stCondLst>
                                            <p:cond delay="0"/>
                                          </p:stCondLst>
                                        </p:cTn>
                                        <p:tgtEl>
                                          <p:spTgt spid="67"/>
                                        </p:tgtEl>
                                        <p:attrNameLst>
                                          <p:attrName>style.visibility</p:attrName>
                                        </p:attrNameLst>
                                      </p:cBhvr>
                                      <p:to>
                                        <p:strVal val="visible"/>
                                      </p:to>
                                    </p:set>
                                    <p:animEffect transition="in" filter="fade">
                                      <p:cBhvr>
                                        <p:cTn id="145" dur="450"/>
                                        <p:tgtEl>
                                          <p:spTgt spid="67"/>
                                        </p:tgtEl>
                                      </p:cBhvr>
                                    </p:animEffect>
                                  </p:childTnLst>
                                </p:cTn>
                              </p:par>
                              <p:par>
                                <p:cTn id="146" presetID="10" presetClass="entr" presetSubtype="0" fill="hold" grpId="0" nodeType="withEffect">
                                  <p:stCondLst>
                                    <p:cond delay="5200"/>
                                  </p:stCondLst>
                                  <p:childTnLst>
                                    <p:set>
                                      <p:cBhvr>
                                        <p:cTn id="147" dur="1" fill="hold">
                                          <p:stCondLst>
                                            <p:cond delay="0"/>
                                          </p:stCondLst>
                                        </p:cTn>
                                        <p:tgtEl>
                                          <p:spTgt spid="68"/>
                                        </p:tgtEl>
                                        <p:attrNameLst>
                                          <p:attrName>style.visibility</p:attrName>
                                        </p:attrNameLst>
                                      </p:cBhvr>
                                      <p:to>
                                        <p:strVal val="visible"/>
                                      </p:to>
                                    </p:set>
                                    <p:animEffect transition="in" filter="fade">
                                      <p:cBhvr>
                                        <p:cTn id="148" dur="450"/>
                                        <p:tgtEl>
                                          <p:spTgt spid="68"/>
                                        </p:tgtEl>
                                      </p:cBhvr>
                                    </p:animEffect>
                                  </p:childTnLst>
                                </p:cTn>
                              </p:par>
                              <p:par>
                                <p:cTn id="149" presetID="10" presetClass="entr" presetSubtype="0" fill="hold" grpId="0" nodeType="withEffect">
                                  <p:stCondLst>
                                    <p:cond delay="5200"/>
                                  </p:stCondLst>
                                  <p:childTnLst>
                                    <p:set>
                                      <p:cBhvr>
                                        <p:cTn id="150" dur="1" fill="hold">
                                          <p:stCondLst>
                                            <p:cond delay="0"/>
                                          </p:stCondLst>
                                        </p:cTn>
                                        <p:tgtEl>
                                          <p:spTgt spid="69"/>
                                        </p:tgtEl>
                                        <p:attrNameLst>
                                          <p:attrName>style.visibility</p:attrName>
                                        </p:attrNameLst>
                                      </p:cBhvr>
                                      <p:to>
                                        <p:strVal val="visible"/>
                                      </p:to>
                                    </p:set>
                                    <p:animEffect transition="in" filter="fade">
                                      <p:cBhvr>
                                        <p:cTn id="151" dur="450"/>
                                        <p:tgtEl>
                                          <p:spTgt spid="69"/>
                                        </p:tgtEl>
                                      </p:cBhvr>
                                    </p:animEffect>
                                  </p:childTnLst>
                                </p:cTn>
                              </p:par>
                              <p:par>
                                <p:cTn id="152" presetID="10" presetClass="entr" presetSubtype="0" fill="hold" grpId="0" nodeType="withEffect">
                                  <p:stCondLst>
                                    <p:cond delay="5200"/>
                                  </p:stCondLst>
                                  <p:childTnLst>
                                    <p:set>
                                      <p:cBhvr>
                                        <p:cTn id="153" dur="1" fill="hold">
                                          <p:stCondLst>
                                            <p:cond delay="0"/>
                                          </p:stCondLst>
                                        </p:cTn>
                                        <p:tgtEl>
                                          <p:spTgt spid="26"/>
                                        </p:tgtEl>
                                        <p:attrNameLst>
                                          <p:attrName>style.visibility</p:attrName>
                                        </p:attrNameLst>
                                      </p:cBhvr>
                                      <p:to>
                                        <p:strVal val="visible"/>
                                      </p:to>
                                    </p:set>
                                    <p:animEffect transition="in" filter="fade">
                                      <p:cBhvr>
                                        <p:cTn id="154" dur="450"/>
                                        <p:tgtEl>
                                          <p:spTgt spid="26"/>
                                        </p:tgtEl>
                                      </p:cBhvr>
                                    </p:animEffect>
                                  </p:childTnLst>
                                </p:cTn>
                              </p:par>
                              <p:par>
                                <p:cTn id="155" presetID="10" presetClass="entr" presetSubtype="0" fill="hold" grpId="0" nodeType="withEffect">
                                  <p:stCondLst>
                                    <p:cond delay="5200"/>
                                  </p:stCondLst>
                                  <p:childTnLst>
                                    <p:set>
                                      <p:cBhvr>
                                        <p:cTn id="156" dur="1" fill="hold">
                                          <p:stCondLst>
                                            <p:cond delay="0"/>
                                          </p:stCondLst>
                                        </p:cTn>
                                        <p:tgtEl>
                                          <p:spTgt spid="27"/>
                                        </p:tgtEl>
                                        <p:attrNameLst>
                                          <p:attrName>style.visibility</p:attrName>
                                        </p:attrNameLst>
                                      </p:cBhvr>
                                      <p:to>
                                        <p:strVal val="visible"/>
                                      </p:to>
                                    </p:set>
                                    <p:animEffect transition="in" filter="fade">
                                      <p:cBhvr>
                                        <p:cTn id="157" dur="450"/>
                                        <p:tgtEl>
                                          <p:spTgt spid="27"/>
                                        </p:tgtEl>
                                      </p:cBhvr>
                                    </p:animEffect>
                                  </p:childTnLst>
                                </p:cTn>
                              </p:par>
                              <p:par>
                                <p:cTn id="158" presetID="10" presetClass="entr" presetSubtype="0" fill="hold" grpId="0" nodeType="withEffect">
                                  <p:stCondLst>
                                    <p:cond delay="5200"/>
                                  </p:stCondLst>
                                  <p:childTnLst>
                                    <p:set>
                                      <p:cBhvr>
                                        <p:cTn id="159" dur="1" fill="hold">
                                          <p:stCondLst>
                                            <p:cond delay="0"/>
                                          </p:stCondLst>
                                        </p:cTn>
                                        <p:tgtEl>
                                          <p:spTgt spid="28"/>
                                        </p:tgtEl>
                                        <p:attrNameLst>
                                          <p:attrName>style.visibility</p:attrName>
                                        </p:attrNameLst>
                                      </p:cBhvr>
                                      <p:to>
                                        <p:strVal val="visible"/>
                                      </p:to>
                                    </p:set>
                                    <p:animEffect transition="in" filter="fade">
                                      <p:cBhvr>
                                        <p:cTn id="160" dur="450"/>
                                        <p:tgtEl>
                                          <p:spTgt spid="28"/>
                                        </p:tgtEl>
                                      </p:cBhvr>
                                    </p:animEffect>
                                  </p:childTnLst>
                                </p:cTn>
                              </p:par>
                              <p:par>
                                <p:cTn id="161" presetID="10" presetClass="entr" presetSubtype="0" fill="hold" grpId="0" nodeType="withEffect">
                                  <p:stCondLst>
                                    <p:cond delay="5200"/>
                                  </p:stCondLst>
                                  <p:childTnLst>
                                    <p:set>
                                      <p:cBhvr>
                                        <p:cTn id="162" dur="1" fill="hold">
                                          <p:stCondLst>
                                            <p:cond delay="0"/>
                                          </p:stCondLst>
                                        </p:cTn>
                                        <p:tgtEl>
                                          <p:spTgt spid="29"/>
                                        </p:tgtEl>
                                        <p:attrNameLst>
                                          <p:attrName>style.visibility</p:attrName>
                                        </p:attrNameLst>
                                      </p:cBhvr>
                                      <p:to>
                                        <p:strVal val="visible"/>
                                      </p:to>
                                    </p:set>
                                    <p:animEffect transition="in" filter="fade">
                                      <p:cBhvr>
                                        <p:cTn id="163" dur="450"/>
                                        <p:tgtEl>
                                          <p:spTgt spid="29"/>
                                        </p:tgtEl>
                                      </p:cBhvr>
                                    </p:animEffect>
                                  </p:childTnLst>
                                </p:cTn>
                              </p:par>
                              <p:par>
                                <p:cTn id="164" presetID="10" presetClass="entr" presetSubtype="0" fill="hold" grpId="0" nodeType="withEffect">
                                  <p:stCondLst>
                                    <p:cond delay="5200"/>
                                  </p:stCondLst>
                                  <p:childTnLst>
                                    <p:set>
                                      <p:cBhvr>
                                        <p:cTn id="165" dur="1" fill="hold">
                                          <p:stCondLst>
                                            <p:cond delay="0"/>
                                          </p:stCondLst>
                                        </p:cTn>
                                        <p:tgtEl>
                                          <p:spTgt spid="30"/>
                                        </p:tgtEl>
                                        <p:attrNameLst>
                                          <p:attrName>style.visibility</p:attrName>
                                        </p:attrNameLst>
                                      </p:cBhvr>
                                      <p:to>
                                        <p:strVal val="visible"/>
                                      </p:to>
                                    </p:set>
                                    <p:animEffect transition="in" filter="fade">
                                      <p:cBhvr>
                                        <p:cTn id="166" dur="450"/>
                                        <p:tgtEl>
                                          <p:spTgt spid="30"/>
                                        </p:tgtEl>
                                      </p:cBhvr>
                                    </p:animEffect>
                                  </p:childTnLst>
                                </p:cTn>
                              </p:par>
                              <p:par>
                                <p:cTn id="167" presetID="10" presetClass="entr" presetSubtype="0" fill="hold" grpId="0" nodeType="withEffect">
                                  <p:stCondLst>
                                    <p:cond delay="5200"/>
                                  </p:stCondLst>
                                  <p:childTnLst>
                                    <p:set>
                                      <p:cBhvr>
                                        <p:cTn id="168" dur="1" fill="hold">
                                          <p:stCondLst>
                                            <p:cond delay="0"/>
                                          </p:stCondLst>
                                        </p:cTn>
                                        <p:tgtEl>
                                          <p:spTgt spid="31"/>
                                        </p:tgtEl>
                                        <p:attrNameLst>
                                          <p:attrName>style.visibility</p:attrName>
                                        </p:attrNameLst>
                                      </p:cBhvr>
                                      <p:to>
                                        <p:strVal val="visible"/>
                                      </p:to>
                                    </p:set>
                                    <p:animEffect transition="in" filter="fade">
                                      <p:cBhvr>
                                        <p:cTn id="169" dur="450"/>
                                        <p:tgtEl>
                                          <p:spTgt spid="31"/>
                                        </p:tgtEl>
                                      </p:cBhvr>
                                    </p:animEffect>
                                  </p:childTnLst>
                                </p:cTn>
                              </p:par>
                              <p:par>
                                <p:cTn id="170" presetID="10" presetClass="entr" presetSubtype="0" fill="hold" grpId="0" nodeType="withEffect">
                                  <p:stCondLst>
                                    <p:cond delay="5200"/>
                                  </p:stCondLst>
                                  <p:childTnLst>
                                    <p:set>
                                      <p:cBhvr>
                                        <p:cTn id="171" dur="1" fill="hold">
                                          <p:stCondLst>
                                            <p:cond delay="0"/>
                                          </p:stCondLst>
                                        </p:cTn>
                                        <p:tgtEl>
                                          <p:spTgt spid="32"/>
                                        </p:tgtEl>
                                        <p:attrNameLst>
                                          <p:attrName>style.visibility</p:attrName>
                                        </p:attrNameLst>
                                      </p:cBhvr>
                                      <p:to>
                                        <p:strVal val="visible"/>
                                      </p:to>
                                    </p:set>
                                    <p:animEffect transition="in" filter="fade">
                                      <p:cBhvr>
                                        <p:cTn id="172" dur="450"/>
                                        <p:tgtEl>
                                          <p:spTgt spid="32"/>
                                        </p:tgtEl>
                                      </p:cBhvr>
                                    </p:animEffect>
                                  </p:childTnLst>
                                </p:cTn>
                              </p:par>
                              <p:par>
                                <p:cTn id="173" presetID="10" presetClass="entr" presetSubtype="0" fill="hold" grpId="0" nodeType="withEffect">
                                  <p:stCondLst>
                                    <p:cond delay="5200"/>
                                  </p:stCondLst>
                                  <p:childTnLst>
                                    <p:set>
                                      <p:cBhvr>
                                        <p:cTn id="174" dur="1" fill="hold">
                                          <p:stCondLst>
                                            <p:cond delay="0"/>
                                          </p:stCondLst>
                                        </p:cTn>
                                        <p:tgtEl>
                                          <p:spTgt spid="33"/>
                                        </p:tgtEl>
                                        <p:attrNameLst>
                                          <p:attrName>style.visibility</p:attrName>
                                        </p:attrNameLst>
                                      </p:cBhvr>
                                      <p:to>
                                        <p:strVal val="visible"/>
                                      </p:to>
                                    </p:set>
                                    <p:animEffect transition="in" filter="fade">
                                      <p:cBhvr>
                                        <p:cTn id="175" dur="450"/>
                                        <p:tgtEl>
                                          <p:spTgt spid="33"/>
                                        </p:tgtEl>
                                      </p:cBhvr>
                                    </p:animEffect>
                                  </p:childTnLst>
                                </p:cTn>
                              </p:par>
                              <p:par>
                                <p:cTn id="176" presetID="10" presetClass="entr" presetSubtype="0" fill="hold" grpId="0" nodeType="withEffect">
                                  <p:stCondLst>
                                    <p:cond delay="5200"/>
                                  </p:stCondLst>
                                  <p:childTnLst>
                                    <p:set>
                                      <p:cBhvr>
                                        <p:cTn id="177" dur="1" fill="hold">
                                          <p:stCondLst>
                                            <p:cond delay="0"/>
                                          </p:stCondLst>
                                        </p:cTn>
                                        <p:tgtEl>
                                          <p:spTgt spid="34"/>
                                        </p:tgtEl>
                                        <p:attrNameLst>
                                          <p:attrName>style.visibility</p:attrName>
                                        </p:attrNameLst>
                                      </p:cBhvr>
                                      <p:to>
                                        <p:strVal val="visible"/>
                                      </p:to>
                                    </p:set>
                                    <p:animEffect transition="in" filter="fade">
                                      <p:cBhvr>
                                        <p:cTn id="178" dur="450"/>
                                        <p:tgtEl>
                                          <p:spTgt spid="34"/>
                                        </p:tgtEl>
                                      </p:cBhvr>
                                    </p:animEffect>
                                  </p:childTnLst>
                                </p:cTn>
                              </p:par>
                              <p:par>
                                <p:cTn id="179" presetID="10" presetClass="entr" presetSubtype="0" fill="hold" grpId="0" nodeType="withEffect">
                                  <p:stCondLst>
                                    <p:cond delay="5200"/>
                                  </p:stCondLst>
                                  <p:childTnLst>
                                    <p:set>
                                      <p:cBhvr>
                                        <p:cTn id="180" dur="1" fill="hold">
                                          <p:stCondLst>
                                            <p:cond delay="0"/>
                                          </p:stCondLst>
                                        </p:cTn>
                                        <p:tgtEl>
                                          <p:spTgt spid="35"/>
                                        </p:tgtEl>
                                        <p:attrNameLst>
                                          <p:attrName>style.visibility</p:attrName>
                                        </p:attrNameLst>
                                      </p:cBhvr>
                                      <p:to>
                                        <p:strVal val="visible"/>
                                      </p:to>
                                    </p:set>
                                    <p:animEffect transition="in" filter="fade">
                                      <p:cBhvr>
                                        <p:cTn id="181" dur="450"/>
                                        <p:tgtEl>
                                          <p:spTgt spid="35"/>
                                        </p:tgtEl>
                                      </p:cBhvr>
                                    </p:animEffect>
                                  </p:childTnLst>
                                </p:cTn>
                              </p:par>
                              <p:par>
                                <p:cTn id="182" presetID="10" presetClass="entr" presetSubtype="0" fill="hold" grpId="0" nodeType="withEffect">
                                  <p:stCondLst>
                                    <p:cond delay="5200"/>
                                  </p:stCondLst>
                                  <p:childTnLst>
                                    <p:set>
                                      <p:cBhvr>
                                        <p:cTn id="183" dur="1" fill="hold">
                                          <p:stCondLst>
                                            <p:cond delay="0"/>
                                          </p:stCondLst>
                                        </p:cTn>
                                        <p:tgtEl>
                                          <p:spTgt spid="36"/>
                                        </p:tgtEl>
                                        <p:attrNameLst>
                                          <p:attrName>style.visibility</p:attrName>
                                        </p:attrNameLst>
                                      </p:cBhvr>
                                      <p:to>
                                        <p:strVal val="visible"/>
                                      </p:to>
                                    </p:set>
                                    <p:animEffect transition="in" filter="fade">
                                      <p:cBhvr>
                                        <p:cTn id="184" dur="450"/>
                                        <p:tgtEl>
                                          <p:spTgt spid="36"/>
                                        </p:tgtEl>
                                      </p:cBhvr>
                                    </p:animEffect>
                                  </p:childTnLst>
                                </p:cTn>
                              </p:par>
                              <p:par>
                                <p:cTn id="185" presetID="10" presetClass="entr" presetSubtype="0" fill="hold" grpId="0" nodeType="withEffect">
                                  <p:stCondLst>
                                    <p:cond delay="5200"/>
                                  </p:stCondLst>
                                  <p:childTnLst>
                                    <p:set>
                                      <p:cBhvr>
                                        <p:cTn id="186" dur="1" fill="hold">
                                          <p:stCondLst>
                                            <p:cond delay="0"/>
                                          </p:stCondLst>
                                        </p:cTn>
                                        <p:tgtEl>
                                          <p:spTgt spid="37"/>
                                        </p:tgtEl>
                                        <p:attrNameLst>
                                          <p:attrName>style.visibility</p:attrName>
                                        </p:attrNameLst>
                                      </p:cBhvr>
                                      <p:to>
                                        <p:strVal val="visible"/>
                                      </p:to>
                                    </p:set>
                                    <p:animEffect transition="in" filter="fade">
                                      <p:cBhvr>
                                        <p:cTn id="187" dur="450"/>
                                        <p:tgtEl>
                                          <p:spTgt spid="37"/>
                                        </p:tgtEl>
                                      </p:cBhvr>
                                    </p:animEffect>
                                  </p:childTnLst>
                                </p:cTn>
                              </p:par>
                              <p:par>
                                <p:cTn id="188" presetID="10" presetClass="exit" presetSubtype="0" fill="hold" grpId="1" nodeType="withEffect">
                                  <p:stCondLst>
                                    <p:cond delay="7800"/>
                                  </p:stCondLst>
                                  <p:childTnLst>
                                    <p:animEffect transition="out" filter="fade">
                                      <p:cBhvr>
                                        <p:cTn id="189" dur="450"/>
                                        <p:tgtEl>
                                          <p:spTgt spid="26"/>
                                        </p:tgtEl>
                                      </p:cBhvr>
                                    </p:animEffect>
                                    <p:set>
                                      <p:cBhvr>
                                        <p:cTn id="190" dur="1" fill="hold">
                                          <p:stCondLst>
                                            <p:cond delay="449"/>
                                          </p:stCondLst>
                                        </p:cTn>
                                        <p:tgtEl>
                                          <p:spTgt spid="26"/>
                                        </p:tgtEl>
                                        <p:attrNameLst>
                                          <p:attrName>style.visibility</p:attrName>
                                        </p:attrNameLst>
                                      </p:cBhvr>
                                      <p:to>
                                        <p:strVal val="hidden"/>
                                      </p:to>
                                    </p:set>
                                  </p:childTnLst>
                                </p:cTn>
                              </p:par>
                              <p:par>
                                <p:cTn id="191" presetID="10" presetClass="exit" presetSubtype="0" fill="hold" grpId="1" nodeType="withEffect">
                                  <p:stCondLst>
                                    <p:cond delay="7800"/>
                                  </p:stCondLst>
                                  <p:childTnLst>
                                    <p:animEffect transition="out" filter="fade">
                                      <p:cBhvr>
                                        <p:cTn id="192" dur="450"/>
                                        <p:tgtEl>
                                          <p:spTgt spid="27"/>
                                        </p:tgtEl>
                                      </p:cBhvr>
                                    </p:animEffect>
                                    <p:set>
                                      <p:cBhvr>
                                        <p:cTn id="193" dur="1" fill="hold">
                                          <p:stCondLst>
                                            <p:cond delay="449"/>
                                          </p:stCondLst>
                                        </p:cTn>
                                        <p:tgtEl>
                                          <p:spTgt spid="27"/>
                                        </p:tgtEl>
                                        <p:attrNameLst>
                                          <p:attrName>style.visibility</p:attrName>
                                        </p:attrNameLst>
                                      </p:cBhvr>
                                      <p:to>
                                        <p:strVal val="hidden"/>
                                      </p:to>
                                    </p:set>
                                  </p:childTnLst>
                                </p:cTn>
                              </p:par>
                              <p:par>
                                <p:cTn id="194" presetID="10" presetClass="exit" presetSubtype="0" fill="hold" grpId="1" nodeType="withEffect">
                                  <p:stCondLst>
                                    <p:cond delay="7800"/>
                                  </p:stCondLst>
                                  <p:childTnLst>
                                    <p:animEffect transition="out" filter="fade">
                                      <p:cBhvr>
                                        <p:cTn id="195" dur="450"/>
                                        <p:tgtEl>
                                          <p:spTgt spid="28"/>
                                        </p:tgtEl>
                                      </p:cBhvr>
                                    </p:animEffect>
                                    <p:set>
                                      <p:cBhvr>
                                        <p:cTn id="196" dur="1" fill="hold">
                                          <p:stCondLst>
                                            <p:cond delay="449"/>
                                          </p:stCondLst>
                                        </p:cTn>
                                        <p:tgtEl>
                                          <p:spTgt spid="28"/>
                                        </p:tgtEl>
                                        <p:attrNameLst>
                                          <p:attrName>style.visibility</p:attrName>
                                        </p:attrNameLst>
                                      </p:cBhvr>
                                      <p:to>
                                        <p:strVal val="hidden"/>
                                      </p:to>
                                    </p:set>
                                  </p:childTnLst>
                                </p:cTn>
                              </p:par>
                              <p:par>
                                <p:cTn id="197" presetID="10" presetClass="exit" presetSubtype="0" fill="hold" grpId="1" nodeType="withEffect">
                                  <p:stCondLst>
                                    <p:cond delay="7800"/>
                                  </p:stCondLst>
                                  <p:childTnLst>
                                    <p:animEffect transition="out" filter="fade">
                                      <p:cBhvr>
                                        <p:cTn id="198" dur="450"/>
                                        <p:tgtEl>
                                          <p:spTgt spid="29"/>
                                        </p:tgtEl>
                                      </p:cBhvr>
                                    </p:animEffect>
                                    <p:set>
                                      <p:cBhvr>
                                        <p:cTn id="199" dur="1" fill="hold">
                                          <p:stCondLst>
                                            <p:cond delay="449"/>
                                          </p:stCondLst>
                                        </p:cTn>
                                        <p:tgtEl>
                                          <p:spTgt spid="29"/>
                                        </p:tgtEl>
                                        <p:attrNameLst>
                                          <p:attrName>style.visibility</p:attrName>
                                        </p:attrNameLst>
                                      </p:cBhvr>
                                      <p:to>
                                        <p:strVal val="hidden"/>
                                      </p:to>
                                    </p:set>
                                  </p:childTnLst>
                                </p:cTn>
                              </p:par>
                              <p:par>
                                <p:cTn id="200" presetID="10" presetClass="exit" presetSubtype="0" fill="hold" grpId="1" nodeType="withEffect">
                                  <p:stCondLst>
                                    <p:cond delay="7800"/>
                                  </p:stCondLst>
                                  <p:childTnLst>
                                    <p:animEffect transition="out" filter="fade">
                                      <p:cBhvr>
                                        <p:cTn id="201" dur="450"/>
                                        <p:tgtEl>
                                          <p:spTgt spid="30"/>
                                        </p:tgtEl>
                                      </p:cBhvr>
                                    </p:animEffect>
                                    <p:set>
                                      <p:cBhvr>
                                        <p:cTn id="202" dur="1" fill="hold">
                                          <p:stCondLst>
                                            <p:cond delay="449"/>
                                          </p:stCondLst>
                                        </p:cTn>
                                        <p:tgtEl>
                                          <p:spTgt spid="30"/>
                                        </p:tgtEl>
                                        <p:attrNameLst>
                                          <p:attrName>style.visibility</p:attrName>
                                        </p:attrNameLst>
                                      </p:cBhvr>
                                      <p:to>
                                        <p:strVal val="hidden"/>
                                      </p:to>
                                    </p:set>
                                  </p:childTnLst>
                                </p:cTn>
                              </p:par>
                              <p:par>
                                <p:cTn id="203" presetID="10" presetClass="exit" presetSubtype="0" fill="hold" grpId="1" nodeType="withEffect">
                                  <p:stCondLst>
                                    <p:cond delay="7800"/>
                                  </p:stCondLst>
                                  <p:childTnLst>
                                    <p:animEffect transition="out" filter="fade">
                                      <p:cBhvr>
                                        <p:cTn id="204" dur="450"/>
                                        <p:tgtEl>
                                          <p:spTgt spid="31"/>
                                        </p:tgtEl>
                                      </p:cBhvr>
                                    </p:animEffect>
                                    <p:set>
                                      <p:cBhvr>
                                        <p:cTn id="205" dur="1" fill="hold">
                                          <p:stCondLst>
                                            <p:cond delay="449"/>
                                          </p:stCondLst>
                                        </p:cTn>
                                        <p:tgtEl>
                                          <p:spTgt spid="31"/>
                                        </p:tgtEl>
                                        <p:attrNameLst>
                                          <p:attrName>style.visibility</p:attrName>
                                        </p:attrNameLst>
                                      </p:cBhvr>
                                      <p:to>
                                        <p:strVal val="hidden"/>
                                      </p:to>
                                    </p:set>
                                  </p:childTnLst>
                                </p:cTn>
                              </p:par>
                              <p:par>
                                <p:cTn id="206" presetID="10" presetClass="exit" presetSubtype="0" fill="hold" grpId="1" nodeType="withEffect">
                                  <p:stCondLst>
                                    <p:cond delay="7800"/>
                                  </p:stCondLst>
                                  <p:childTnLst>
                                    <p:animEffect transition="out" filter="fade">
                                      <p:cBhvr>
                                        <p:cTn id="207" dur="450"/>
                                        <p:tgtEl>
                                          <p:spTgt spid="32"/>
                                        </p:tgtEl>
                                      </p:cBhvr>
                                    </p:animEffect>
                                    <p:set>
                                      <p:cBhvr>
                                        <p:cTn id="208" dur="1" fill="hold">
                                          <p:stCondLst>
                                            <p:cond delay="449"/>
                                          </p:stCondLst>
                                        </p:cTn>
                                        <p:tgtEl>
                                          <p:spTgt spid="32"/>
                                        </p:tgtEl>
                                        <p:attrNameLst>
                                          <p:attrName>style.visibility</p:attrName>
                                        </p:attrNameLst>
                                      </p:cBhvr>
                                      <p:to>
                                        <p:strVal val="hidden"/>
                                      </p:to>
                                    </p:set>
                                  </p:childTnLst>
                                </p:cTn>
                              </p:par>
                              <p:par>
                                <p:cTn id="209" presetID="10" presetClass="exit" presetSubtype="0" fill="hold" grpId="1" nodeType="withEffect">
                                  <p:stCondLst>
                                    <p:cond delay="7800"/>
                                  </p:stCondLst>
                                  <p:childTnLst>
                                    <p:animEffect transition="out" filter="fade">
                                      <p:cBhvr>
                                        <p:cTn id="210" dur="450"/>
                                        <p:tgtEl>
                                          <p:spTgt spid="33"/>
                                        </p:tgtEl>
                                      </p:cBhvr>
                                    </p:animEffect>
                                    <p:set>
                                      <p:cBhvr>
                                        <p:cTn id="211" dur="1" fill="hold">
                                          <p:stCondLst>
                                            <p:cond delay="449"/>
                                          </p:stCondLst>
                                        </p:cTn>
                                        <p:tgtEl>
                                          <p:spTgt spid="33"/>
                                        </p:tgtEl>
                                        <p:attrNameLst>
                                          <p:attrName>style.visibility</p:attrName>
                                        </p:attrNameLst>
                                      </p:cBhvr>
                                      <p:to>
                                        <p:strVal val="hidden"/>
                                      </p:to>
                                    </p:set>
                                  </p:childTnLst>
                                </p:cTn>
                              </p:par>
                              <p:par>
                                <p:cTn id="212" presetID="10" presetClass="exit" presetSubtype="0" fill="hold" grpId="1" nodeType="withEffect">
                                  <p:stCondLst>
                                    <p:cond delay="7800"/>
                                  </p:stCondLst>
                                  <p:childTnLst>
                                    <p:animEffect transition="out" filter="fade">
                                      <p:cBhvr>
                                        <p:cTn id="213" dur="450"/>
                                        <p:tgtEl>
                                          <p:spTgt spid="34"/>
                                        </p:tgtEl>
                                      </p:cBhvr>
                                    </p:animEffect>
                                    <p:set>
                                      <p:cBhvr>
                                        <p:cTn id="214" dur="1" fill="hold">
                                          <p:stCondLst>
                                            <p:cond delay="449"/>
                                          </p:stCondLst>
                                        </p:cTn>
                                        <p:tgtEl>
                                          <p:spTgt spid="34"/>
                                        </p:tgtEl>
                                        <p:attrNameLst>
                                          <p:attrName>style.visibility</p:attrName>
                                        </p:attrNameLst>
                                      </p:cBhvr>
                                      <p:to>
                                        <p:strVal val="hidden"/>
                                      </p:to>
                                    </p:set>
                                  </p:childTnLst>
                                </p:cTn>
                              </p:par>
                              <p:par>
                                <p:cTn id="215" presetID="10" presetClass="exit" presetSubtype="0" fill="hold" grpId="1" nodeType="withEffect">
                                  <p:stCondLst>
                                    <p:cond delay="7800"/>
                                  </p:stCondLst>
                                  <p:childTnLst>
                                    <p:animEffect transition="out" filter="fade">
                                      <p:cBhvr>
                                        <p:cTn id="216" dur="450"/>
                                        <p:tgtEl>
                                          <p:spTgt spid="35"/>
                                        </p:tgtEl>
                                      </p:cBhvr>
                                    </p:animEffect>
                                    <p:set>
                                      <p:cBhvr>
                                        <p:cTn id="217" dur="1" fill="hold">
                                          <p:stCondLst>
                                            <p:cond delay="449"/>
                                          </p:stCondLst>
                                        </p:cTn>
                                        <p:tgtEl>
                                          <p:spTgt spid="35"/>
                                        </p:tgtEl>
                                        <p:attrNameLst>
                                          <p:attrName>style.visibility</p:attrName>
                                        </p:attrNameLst>
                                      </p:cBhvr>
                                      <p:to>
                                        <p:strVal val="hidden"/>
                                      </p:to>
                                    </p:set>
                                  </p:childTnLst>
                                </p:cTn>
                              </p:par>
                              <p:par>
                                <p:cTn id="218" presetID="10" presetClass="exit" presetSubtype="0" fill="hold" grpId="1" nodeType="withEffect">
                                  <p:stCondLst>
                                    <p:cond delay="7800"/>
                                  </p:stCondLst>
                                  <p:childTnLst>
                                    <p:animEffect transition="out" filter="fade">
                                      <p:cBhvr>
                                        <p:cTn id="219" dur="450"/>
                                        <p:tgtEl>
                                          <p:spTgt spid="36"/>
                                        </p:tgtEl>
                                      </p:cBhvr>
                                    </p:animEffect>
                                    <p:set>
                                      <p:cBhvr>
                                        <p:cTn id="220" dur="1" fill="hold">
                                          <p:stCondLst>
                                            <p:cond delay="449"/>
                                          </p:stCondLst>
                                        </p:cTn>
                                        <p:tgtEl>
                                          <p:spTgt spid="36"/>
                                        </p:tgtEl>
                                        <p:attrNameLst>
                                          <p:attrName>style.visibility</p:attrName>
                                        </p:attrNameLst>
                                      </p:cBhvr>
                                      <p:to>
                                        <p:strVal val="hidden"/>
                                      </p:to>
                                    </p:set>
                                  </p:childTnLst>
                                </p:cTn>
                              </p:par>
                              <p:par>
                                <p:cTn id="221" presetID="10" presetClass="exit" presetSubtype="0" fill="hold" grpId="1" nodeType="withEffect">
                                  <p:stCondLst>
                                    <p:cond delay="7800"/>
                                  </p:stCondLst>
                                  <p:childTnLst>
                                    <p:animEffect transition="out" filter="fade">
                                      <p:cBhvr>
                                        <p:cTn id="222" dur="450"/>
                                        <p:tgtEl>
                                          <p:spTgt spid="37"/>
                                        </p:tgtEl>
                                      </p:cBhvr>
                                    </p:animEffect>
                                    <p:set>
                                      <p:cBhvr>
                                        <p:cTn id="223" dur="1" fill="hold">
                                          <p:stCondLst>
                                            <p:cond delay="449"/>
                                          </p:stCondLst>
                                        </p:cTn>
                                        <p:tgtEl>
                                          <p:spTgt spid="37"/>
                                        </p:tgtEl>
                                        <p:attrNameLst>
                                          <p:attrName>style.visibility</p:attrName>
                                        </p:attrNameLst>
                                      </p:cBhvr>
                                      <p:to>
                                        <p:strVal val="hidden"/>
                                      </p:to>
                                    </p:set>
                                  </p:childTnLst>
                                </p:cTn>
                              </p:par>
                              <p:par>
                                <p:cTn id="224" presetID="10" presetClass="entr" presetSubtype="0" fill="hold" grpId="0" nodeType="withEffect">
                                  <p:stCondLst>
                                    <p:cond delay="7800"/>
                                  </p:stCondLst>
                                  <p:childTnLst>
                                    <p:set>
                                      <p:cBhvr>
                                        <p:cTn id="225" dur="1" fill="hold">
                                          <p:stCondLst>
                                            <p:cond delay="0"/>
                                          </p:stCondLst>
                                        </p:cTn>
                                        <p:tgtEl>
                                          <p:spTgt spid="70"/>
                                        </p:tgtEl>
                                        <p:attrNameLst>
                                          <p:attrName>style.visibility</p:attrName>
                                        </p:attrNameLst>
                                      </p:cBhvr>
                                      <p:to>
                                        <p:strVal val="visible"/>
                                      </p:to>
                                    </p:set>
                                    <p:animEffect transition="in" filter="fade">
                                      <p:cBhvr>
                                        <p:cTn id="226" dur="450"/>
                                        <p:tgtEl>
                                          <p:spTgt spid="70"/>
                                        </p:tgtEl>
                                      </p:cBhvr>
                                    </p:animEffect>
                                  </p:childTnLst>
                                </p:cTn>
                              </p:par>
                              <p:par>
                                <p:cTn id="227" presetID="10" presetClass="entr" presetSubtype="0" fill="hold" grpId="0" nodeType="withEffect">
                                  <p:stCondLst>
                                    <p:cond delay="7800"/>
                                  </p:stCondLst>
                                  <p:childTnLst>
                                    <p:set>
                                      <p:cBhvr>
                                        <p:cTn id="228" dur="1" fill="hold">
                                          <p:stCondLst>
                                            <p:cond delay="0"/>
                                          </p:stCondLst>
                                        </p:cTn>
                                        <p:tgtEl>
                                          <p:spTgt spid="71"/>
                                        </p:tgtEl>
                                        <p:attrNameLst>
                                          <p:attrName>style.visibility</p:attrName>
                                        </p:attrNameLst>
                                      </p:cBhvr>
                                      <p:to>
                                        <p:strVal val="visible"/>
                                      </p:to>
                                    </p:set>
                                    <p:animEffect transition="in" filter="fade">
                                      <p:cBhvr>
                                        <p:cTn id="229" dur="450"/>
                                        <p:tgtEl>
                                          <p:spTgt spid="71"/>
                                        </p:tgtEl>
                                      </p:cBhvr>
                                    </p:animEffect>
                                  </p:childTnLst>
                                </p:cTn>
                              </p:par>
                              <p:par>
                                <p:cTn id="230" presetID="10" presetClass="entr" presetSubtype="0" fill="hold" grpId="0" nodeType="withEffect">
                                  <p:stCondLst>
                                    <p:cond delay="7800"/>
                                  </p:stCondLst>
                                  <p:childTnLst>
                                    <p:set>
                                      <p:cBhvr>
                                        <p:cTn id="231" dur="1" fill="hold">
                                          <p:stCondLst>
                                            <p:cond delay="0"/>
                                          </p:stCondLst>
                                        </p:cTn>
                                        <p:tgtEl>
                                          <p:spTgt spid="72"/>
                                        </p:tgtEl>
                                        <p:attrNameLst>
                                          <p:attrName>style.visibility</p:attrName>
                                        </p:attrNameLst>
                                      </p:cBhvr>
                                      <p:to>
                                        <p:strVal val="visible"/>
                                      </p:to>
                                    </p:set>
                                    <p:animEffect transition="in" filter="fade">
                                      <p:cBhvr>
                                        <p:cTn id="232" dur="450"/>
                                        <p:tgtEl>
                                          <p:spTgt spid="72"/>
                                        </p:tgtEl>
                                      </p:cBhvr>
                                    </p:animEffect>
                                  </p:childTnLst>
                                </p:cTn>
                              </p:par>
                              <p:par>
                                <p:cTn id="233" presetID="10" presetClass="entr" presetSubtype="0" fill="hold" grpId="0" nodeType="withEffect">
                                  <p:stCondLst>
                                    <p:cond delay="7800"/>
                                  </p:stCondLst>
                                  <p:childTnLst>
                                    <p:set>
                                      <p:cBhvr>
                                        <p:cTn id="234" dur="1" fill="hold">
                                          <p:stCondLst>
                                            <p:cond delay="0"/>
                                          </p:stCondLst>
                                        </p:cTn>
                                        <p:tgtEl>
                                          <p:spTgt spid="38"/>
                                        </p:tgtEl>
                                        <p:attrNameLst>
                                          <p:attrName>style.visibility</p:attrName>
                                        </p:attrNameLst>
                                      </p:cBhvr>
                                      <p:to>
                                        <p:strVal val="visible"/>
                                      </p:to>
                                    </p:set>
                                    <p:animEffect transition="in" filter="fade">
                                      <p:cBhvr>
                                        <p:cTn id="235" dur="450"/>
                                        <p:tgtEl>
                                          <p:spTgt spid="38"/>
                                        </p:tgtEl>
                                      </p:cBhvr>
                                    </p:animEffect>
                                  </p:childTnLst>
                                </p:cTn>
                              </p:par>
                              <p:par>
                                <p:cTn id="236" presetID="10" presetClass="entr" presetSubtype="0" fill="hold" grpId="0" nodeType="withEffect">
                                  <p:stCondLst>
                                    <p:cond delay="7800"/>
                                  </p:stCondLst>
                                  <p:childTnLst>
                                    <p:set>
                                      <p:cBhvr>
                                        <p:cTn id="237" dur="1" fill="hold">
                                          <p:stCondLst>
                                            <p:cond delay="0"/>
                                          </p:stCondLst>
                                        </p:cTn>
                                        <p:tgtEl>
                                          <p:spTgt spid="39"/>
                                        </p:tgtEl>
                                        <p:attrNameLst>
                                          <p:attrName>style.visibility</p:attrName>
                                        </p:attrNameLst>
                                      </p:cBhvr>
                                      <p:to>
                                        <p:strVal val="visible"/>
                                      </p:to>
                                    </p:set>
                                    <p:animEffect transition="in" filter="fade">
                                      <p:cBhvr>
                                        <p:cTn id="238" dur="450"/>
                                        <p:tgtEl>
                                          <p:spTgt spid="39"/>
                                        </p:tgtEl>
                                      </p:cBhvr>
                                    </p:animEffect>
                                  </p:childTnLst>
                                </p:cTn>
                              </p:par>
                              <p:par>
                                <p:cTn id="239" presetID="10" presetClass="entr" presetSubtype="0" fill="hold" grpId="0" nodeType="withEffect">
                                  <p:stCondLst>
                                    <p:cond delay="7800"/>
                                  </p:stCondLst>
                                  <p:childTnLst>
                                    <p:set>
                                      <p:cBhvr>
                                        <p:cTn id="240" dur="1" fill="hold">
                                          <p:stCondLst>
                                            <p:cond delay="0"/>
                                          </p:stCondLst>
                                        </p:cTn>
                                        <p:tgtEl>
                                          <p:spTgt spid="40"/>
                                        </p:tgtEl>
                                        <p:attrNameLst>
                                          <p:attrName>style.visibility</p:attrName>
                                        </p:attrNameLst>
                                      </p:cBhvr>
                                      <p:to>
                                        <p:strVal val="visible"/>
                                      </p:to>
                                    </p:set>
                                    <p:animEffect transition="in" filter="fade">
                                      <p:cBhvr>
                                        <p:cTn id="241" dur="450"/>
                                        <p:tgtEl>
                                          <p:spTgt spid="40"/>
                                        </p:tgtEl>
                                      </p:cBhvr>
                                    </p:animEffect>
                                  </p:childTnLst>
                                </p:cTn>
                              </p:par>
                              <p:par>
                                <p:cTn id="242" presetID="10" presetClass="entr" presetSubtype="0" fill="hold" grpId="0" nodeType="withEffect">
                                  <p:stCondLst>
                                    <p:cond delay="7800"/>
                                  </p:stCondLst>
                                  <p:childTnLst>
                                    <p:set>
                                      <p:cBhvr>
                                        <p:cTn id="243" dur="1" fill="hold">
                                          <p:stCondLst>
                                            <p:cond delay="0"/>
                                          </p:stCondLst>
                                        </p:cTn>
                                        <p:tgtEl>
                                          <p:spTgt spid="41"/>
                                        </p:tgtEl>
                                        <p:attrNameLst>
                                          <p:attrName>style.visibility</p:attrName>
                                        </p:attrNameLst>
                                      </p:cBhvr>
                                      <p:to>
                                        <p:strVal val="visible"/>
                                      </p:to>
                                    </p:set>
                                    <p:animEffect transition="in" filter="fade">
                                      <p:cBhvr>
                                        <p:cTn id="244" dur="450"/>
                                        <p:tgtEl>
                                          <p:spTgt spid="41"/>
                                        </p:tgtEl>
                                      </p:cBhvr>
                                    </p:animEffect>
                                  </p:childTnLst>
                                </p:cTn>
                              </p:par>
                              <p:par>
                                <p:cTn id="245" presetID="10" presetClass="entr" presetSubtype="0" fill="hold" grpId="0" nodeType="withEffect">
                                  <p:stCondLst>
                                    <p:cond delay="7800"/>
                                  </p:stCondLst>
                                  <p:childTnLst>
                                    <p:set>
                                      <p:cBhvr>
                                        <p:cTn id="246" dur="1" fill="hold">
                                          <p:stCondLst>
                                            <p:cond delay="0"/>
                                          </p:stCondLst>
                                        </p:cTn>
                                        <p:tgtEl>
                                          <p:spTgt spid="42"/>
                                        </p:tgtEl>
                                        <p:attrNameLst>
                                          <p:attrName>style.visibility</p:attrName>
                                        </p:attrNameLst>
                                      </p:cBhvr>
                                      <p:to>
                                        <p:strVal val="visible"/>
                                      </p:to>
                                    </p:set>
                                    <p:animEffect transition="in" filter="fade">
                                      <p:cBhvr>
                                        <p:cTn id="247" dur="450"/>
                                        <p:tgtEl>
                                          <p:spTgt spid="42"/>
                                        </p:tgtEl>
                                      </p:cBhvr>
                                    </p:animEffect>
                                  </p:childTnLst>
                                </p:cTn>
                              </p:par>
                              <p:par>
                                <p:cTn id="248" presetID="10" presetClass="entr" presetSubtype="0" fill="hold" grpId="0" nodeType="withEffect">
                                  <p:stCondLst>
                                    <p:cond delay="7800"/>
                                  </p:stCondLst>
                                  <p:childTnLst>
                                    <p:set>
                                      <p:cBhvr>
                                        <p:cTn id="249" dur="1" fill="hold">
                                          <p:stCondLst>
                                            <p:cond delay="0"/>
                                          </p:stCondLst>
                                        </p:cTn>
                                        <p:tgtEl>
                                          <p:spTgt spid="43"/>
                                        </p:tgtEl>
                                        <p:attrNameLst>
                                          <p:attrName>style.visibility</p:attrName>
                                        </p:attrNameLst>
                                      </p:cBhvr>
                                      <p:to>
                                        <p:strVal val="visible"/>
                                      </p:to>
                                    </p:set>
                                    <p:animEffect transition="in" filter="fade">
                                      <p:cBhvr>
                                        <p:cTn id="250" dur="450"/>
                                        <p:tgtEl>
                                          <p:spTgt spid="43"/>
                                        </p:tgtEl>
                                      </p:cBhvr>
                                    </p:animEffect>
                                  </p:childTnLst>
                                </p:cTn>
                              </p:par>
                              <p:par>
                                <p:cTn id="251" presetID="10" presetClass="exit" presetSubtype="0" fill="hold" grpId="1" nodeType="withEffect">
                                  <p:stCondLst>
                                    <p:cond delay="10400"/>
                                  </p:stCondLst>
                                  <p:childTnLst>
                                    <p:animEffect transition="out" filter="fade">
                                      <p:cBhvr>
                                        <p:cTn id="252" dur="450"/>
                                        <p:tgtEl>
                                          <p:spTgt spid="38"/>
                                        </p:tgtEl>
                                      </p:cBhvr>
                                    </p:animEffect>
                                    <p:set>
                                      <p:cBhvr>
                                        <p:cTn id="253" dur="1" fill="hold">
                                          <p:stCondLst>
                                            <p:cond delay="449"/>
                                          </p:stCondLst>
                                        </p:cTn>
                                        <p:tgtEl>
                                          <p:spTgt spid="38"/>
                                        </p:tgtEl>
                                        <p:attrNameLst>
                                          <p:attrName>style.visibility</p:attrName>
                                        </p:attrNameLst>
                                      </p:cBhvr>
                                      <p:to>
                                        <p:strVal val="hidden"/>
                                      </p:to>
                                    </p:set>
                                  </p:childTnLst>
                                </p:cTn>
                              </p:par>
                              <p:par>
                                <p:cTn id="254" presetID="10" presetClass="exit" presetSubtype="0" fill="hold" grpId="1" nodeType="withEffect">
                                  <p:stCondLst>
                                    <p:cond delay="10400"/>
                                  </p:stCondLst>
                                  <p:childTnLst>
                                    <p:animEffect transition="out" filter="fade">
                                      <p:cBhvr>
                                        <p:cTn id="255" dur="450"/>
                                        <p:tgtEl>
                                          <p:spTgt spid="39"/>
                                        </p:tgtEl>
                                      </p:cBhvr>
                                    </p:animEffect>
                                    <p:set>
                                      <p:cBhvr>
                                        <p:cTn id="256" dur="1" fill="hold">
                                          <p:stCondLst>
                                            <p:cond delay="449"/>
                                          </p:stCondLst>
                                        </p:cTn>
                                        <p:tgtEl>
                                          <p:spTgt spid="39"/>
                                        </p:tgtEl>
                                        <p:attrNameLst>
                                          <p:attrName>style.visibility</p:attrName>
                                        </p:attrNameLst>
                                      </p:cBhvr>
                                      <p:to>
                                        <p:strVal val="hidden"/>
                                      </p:to>
                                    </p:set>
                                  </p:childTnLst>
                                </p:cTn>
                              </p:par>
                              <p:par>
                                <p:cTn id="257" presetID="10" presetClass="exit" presetSubtype="0" fill="hold" grpId="1" nodeType="withEffect">
                                  <p:stCondLst>
                                    <p:cond delay="10400"/>
                                  </p:stCondLst>
                                  <p:childTnLst>
                                    <p:animEffect transition="out" filter="fade">
                                      <p:cBhvr>
                                        <p:cTn id="258" dur="450"/>
                                        <p:tgtEl>
                                          <p:spTgt spid="40"/>
                                        </p:tgtEl>
                                      </p:cBhvr>
                                    </p:animEffect>
                                    <p:set>
                                      <p:cBhvr>
                                        <p:cTn id="259" dur="1" fill="hold">
                                          <p:stCondLst>
                                            <p:cond delay="449"/>
                                          </p:stCondLst>
                                        </p:cTn>
                                        <p:tgtEl>
                                          <p:spTgt spid="40"/>
                                        </p:tgtEl>
                                        <p:attrNameLst>
                                          <p:attrName>style.visibility</p:attrName>
                                        </p:attrNameLst>
                                      </p:cBhvr>
                                      <p:to>
                                        <p:strVal val="hidden"/>
                                      </p:to>
                                    </p:set>
                                  </p:childTnLst>
                                </p:cTn>
                              </p:par>
                              <p:par>
                                <p:cTn id="260" presetID="10" presetClass="exit" presetSubtype="0" fill="hold" grpId="1" nodeType="withEffect">
                                  <p:stCondLst>
                                    <p:cond delay="10400"/>
                                  </p:stCondLst>
                                  <p:childTnLst>
                                    <p:animEffect transition="out" filter="fade">
                                      <p:cBhvr>
                                        <p:cTn id="261" dur="450"/>
                                        <p:tgtEl>
                                          <p:spTgt spid="41"/>
                                        </p:tgtEl>
                                      </p:cBhvr>
                                    </p:animEffect>
                                    <p:set>
                                      <p:cBhvr>
                                        <p:cTn id="262" dur="1" fill="hold">
                                          <p:stCondLst>
                                            <p:cond delay="449"/>
                                          </p:stCondLst>
                                        </p:cTn>
                                        <p:tgtEl>
                                          <p:spTgt spid="41"/>
                                        </p:tgtEl>
                                        <p:attrNameLst>
                                          <p:attrName>style.visibility</p:attrName>
                                        </p:attrNameLst>
                                      </p:cBhvr>
                                      <p:to>
                                        <p:strVal val="hidden"/>
                                      </p:to>
                                    </p:set>
                                  </p:childTnLst>
                                </p:cTn>
                              </p:par>
                              <p:par>
                                <p:cTn id="263" presetID="10" presetClass="exit" presetSubtype="0" fill="hold" grpId="1" nodeType="withEffect">
                                  <p:stCondLst>
                                    <p:cond delay="10400"/>
                                  </p:stCondLst>
                                  <p:childTnLst>
                                    <p:animEffect transition="out" filter="fade">
                                      <p:cBhvr>
                                        <p:cTn id="264" dur="450"/>
                                        <p:tgtEl>
                                          <p:spTgt spid="42"/>
                                        </p:tgtEl>
                                      </p:cBhvr>
                                    </p:animEffect>
                                    <p:set>
                                      <p:cBhvr>
                                        <p:cTn id="265" dur="1" fill="hold">
                                          <p:stCondLst>
                                            <p:cond delay="449"/>
                                          </p:stCondLst>
                                        </p:cTn>
                                        <p:tgtEl>
                                          <p:spTgt spid="42"/>
                                        </p:tgtEl>
                                        <p:attrNameLst>
                                          <p:attrName>style.visibility</p:attrName>
                                        </p:attrNameLst>
                                      </p:cBhvr>
                                      <p:to>
                                        <p:strVal val="hidden"/>
                                      </p:to>
                                    </p:set>
                                  </p:childTnLst>
                                </p:cTn>
                              </p:par>
                              <p:par>
                                <p:cTn id="266" presetID="10" presetClass="exit" presetSubtype="0" fill="hold" grpId="1" nodeType="withEffect">
                                  <p:stCondLst>
                                    <p:cond delay="10400"/>
                                  </p:stCondLst>
                                  <p:childTnLst>
                                    <p:animEffect transition="out" filter="fade">
                                      <p:cBhvr>
                                        <p:cTn id="267" dur="450"/>
                                        <p:tgtEl>
                                          <p:spTgt spid="43"/>
                                        </p:tgtEl>
                                      </p:cBhvr>
                                    </p:animEffect>
                                    <p:set>
                                      <p:cBhvr>
                                        <p:cTn id="268" dur="1" fill="hold">
                                          <p:stCondLst>
                                            <p:cond delay="449"/>
                                          </p:stCondLst>
                                        </p:cTn>
                                        <p:tgtEl>
                                          <p:spTgt spid="43"/>
                                        </p:tgtEl>
                                        <p:attrNameLst>
                                          <p:attrName>style.visibility</p:attrName>
                                        </p:attrNameLst>
                                      </p:cBhvr>
                                      <p:to>
                                        <p:strVal val="hidden"/>
                                      </p:to>
                                    </p:set>
                                  </p:childTnLst>
                                </p:cTn>
                              </p:par>
                              <p:par>
                                <p:cTn id="269" presetID="10" presetClass="entr" presetSubtype="0" fill="hold" grpId="0" nodeType="withEffect">
                                  <p:stCondLst>
                                    <p:cond delay="10400"/>
                                  </p:stCondLst>
                                  <p:childTnLst>
                                    <p:set>
                                      <p:cBhvr>
                                        <p:cTn id="270" dur="1" fill="hold">
                                          <p:stCondLst>
                                            <p:cond delay="0"/>
                                          </p:stCondLst>
                                        </p:cTn>
                                        <p:tgtEl>
                                          <p:spTgt spid="73"/>
                                        </p:tgtEl>
                                        <p:attrNameLst>
                                          <p:attrName>style.visibility</p:attrName>
                                        </p:attrNameLst>
                                      </p:cBhvr>
                                      <p:to>
                                        <p:strVal val="visible"/>
                                      </p:to>
                                    </p:set>
                                    <p:animEffect transition="in" filter="fade">
                                      <p:cBhvr>
                                        <p:cTn id="271" dur="450"/>
                                        <p:tgtEl>
                                          <p:spTgt spid="73"/>
                                        </p:tgtEl>
                                      </p:cBhvr>
                                    </p:animEffect>
                                  </p:childTnLst>
                                </p:cTn>
                              </p:par>
                              <p:par>
                                <p:cTn id="272" presetID="10" presetClass="entr" presetSubtype="0" fill="hold" grpId="0" nodeType="withEffect">
                                  <p:stCondLst>
                                    <p:cond delay="10400"/>
                                  </p:stCondLst>
                                  <p:childTnLst>
                                    <p:set>
                                      <p:cBhvr>
                                        <p:cTn id="273" dur="1" fill="hold">
                                          <p:stCondLst>
                                            <p:cond delay="0"/>
                                          </p:stCondLst>
                                        </p:cTn>
                                        <p:tgtEl>
                                          <p:spTgt spid="74"/>
                                        </p:tgtEl>
                                        <p:attrNameLst>
                                          <p:attrName>style.visibility</p:attrName>
                                        </p:attrNameLst>
                                      </p:cBhvr>
                                      <p:to>
                                        <p:strVal val="visible"/>
                                      </p:to>
                                    </p:set>
                                    <p:animEffect transition="in" filter="fade">
                                      <p:cBhvr>
                                        <p:cTn id="274" dur="450"/>
                                        <p:tgtEl>
                                          <p:spTgt spid="74"/>
                                        </p:tgtEl>
                                      </p:cBhvr>
                                    </p:animEffect>
                                  </p:childTnLst>
                                </p:cTn>
                              </p:par>
                              <p:par>
                                <p:cTn id="275" presetID="10" presetClass="entr" presetSubtype="0" fill="hold" grpId="0" nodeType="withEffect">
                                  <p:stCondLst>
                                    <p:cond delay="10400"/>
                                  </p:stCondLst>
                                  <p:childTnLst>
                                    <p:set>
                                      <p:cBhvr>
                                        <p:cTn id="276" dur="1" fill="hold">
                                          <p:stCondLst>
                                            <p:cond delay="0"/>
                                          </p:stCondLst>
                                        </p:cTn>
                                        <p:tgtEl>
                                          <p:spTgt spid="75"/>
                                        </p:tgtEl>
                                        <p:attrNameLst>
                                          <p:attrName>style.visibility</p:attrName>
                                        </p:attrNameLst>
                                      </p:cBhvr>
                                      <p:to>
                                        <p:strVal val="visible"/>
                                      </p:to>
                                    </p:set>
                                    <p:animEffect transition="in" filter="fade">
                                      <p:cBhvr>
                                        <p:cTn id="277" dur="450"/>
                                        <p:tgtEl>
                                          <p:spTgt spid="75"/>
                                        </p:tgtEl>
                                      </p:cBhvr>
                                    </p:animEffect>
                                  </p:childTnLst>
                                </p:cTn>
                              </p:par>
                              <p:par>
                                <p:cTn id="278" presetID="10" presetClass="entr" presetSubtype="0" fill="hold" grpId="0" nodeType="withEffect">
                                  <p:stCondLst>
                                    <p:cond delay="10400"/>
                                  </p:stCondLst>
                                  <p:childTnLst>
                                    <p:set>
                                      <p:cBhvr>
                                        <p:cTn id="279" dur="1" fill="hold">
                                          <p:stCondLst>
                                            <p:cond delay="0"/>
                                          </p:stCondLst>
                                        </p:cTn>
                                        <p:tgtEl>
                                          <p:spTgt spid="44"/>
                                        </p:tgtEl>
                                        <p:attrNameLst>
                                          <p:attrName>style.visibility</p:attrName>
                                        </p:attrNameLst>
                                      </p:cBhvr>
                                      <p:to>
                                        <p:strVal val="visible"/>
                                      </p:to>
                                    </p:set>
                                    <p:animEffect transition="in" filter="fade">
                                      <p:cBhvr>
                                        <p:cTn id="280" dur="450"/>
                                        <p:tgtEl>
                                          <p:spTgt spid="44"/>
                                        </p:tgtEl>
                                      </p:cBhvr>
                                    </p:animEffect>
                                  </p:childTnLst>
                                </p:cTn>
                              </p:par>
                              <p:par>
                                <p:cTn id="281" presetID="10" presetClass="entr" presetSubtype="0" fill="hold" grpId="0" nodeType="withEffect">
                                  <p:stCondLst>
                                    <p:cond delay="10400"/>
                                  </p:stCondLst>
                                  <p:childTnLst>
                                    <p:set>
                                      <p:cBhvr>
                                        <p:cTn id="282" dur="1" fill="hold">
                                          <p:stCondLst>
                                            <p:cond delay="0"/>
                                          </p:stCondLst>
                                        </p:cTn>
                                        <p:tgtEl>
                                          <p:spTgt spid="45"/>
                                        </p:tgtEl>
                                        <p:attrNameLst>
                                          <p:attrName>style.visibility</p:attrName>
                                        </p:attrNameLst>
                                      </p:cBhvr>
                                      <p:to>
                                        <p:strVal val="visible"/>
                                      </p:to>
                                    </p:set>
                                    <p:animEffect transition="in" filter="fade">
                                      <p:cBhvr>
                                        <p:cTn id="283" dur="450"/>
                                        <p:tgtEl>
                                          <p:spTgt spid="45"/>
                                        </p:tgtEl>
                                      </p:cBhvr>
                                    </p:animEffect>
                                  </p:childTnLst>
                                </p:cTn>
                              </p:par>
                              <p:par>
                                <p:cTn id="284" presetID="10" presetClass="exit" presetSubtype="0" fill="hold" grpId="1" nodeType="withEffect">
                                  <p:stCondLst>
                                    <p:cond delay="13000"/>
                                  </p:stCondLst>
                                  <p:childTnLst>
                                    <p:animEffect transition="out" filter="fade">
                                      <p:cBhvr>
                                        <p:cTn id="285" dur="450"/>
                                        <p:tgtEl>
                                          <p:spTgt spid="44"/>
                                        </p:tgtEl>
                                      </p:cBhvr>
                                    </p:animEffect>
                                    <p:set>
                                      <p:cBhvr>
                                        <p:cTn id="286" dur="1" fill="hold">
                                          <p:stCondLst>
                                            <p:cond delay="449"/>
                                          </p:stCondLst>
                                        </p:cTn>
                                        <p:tgtEl>
                                          <p:spTgt spid="44"/>
                                        </p:tgtEl>
                                        <p:attrNameLst>
                                          <p:attrName>style.visibility</p:attrName>
                                        </p:attrNameLst>
                                      </p:cBhvr>
                                      <p:to>
                                        <p:strVal val="hidden"/>
                                      </p:to>
                                    </p:set>
                                  </p:childTnLst>
                                </p:cTn>
                              </p:par>
                              <p:par>
                                <p:cTn id="287" presetID="10" presetClass="exit" presetSubtype="0" fill="hold" grpId="1" nodeType="withEffect">
                                  <p:stCondLst>
                                    <p:cond delay="13000"/>
                                  </p:stCondLst>
                                  <p:childTnLst>
                                    <p:animEffect transition="out" filter="fade">
                                      <p:cBhvr>
                                        <p:cTn id="288" dur="450"/>
                                        <p:tgtEl>
                                          <p:spTgt spid="45"/>
                                        </p:tgtEl>
                                      </p:cBhvr>
                                    </p:animEffect>
                                    <p:set>
                                      <p:cBhvr>
                                        <p:cTn id="289" dur="1" fill="hold">
                                          <p:stCondLst>
                                            <p:cond delay="449"/>
                                          </p:stCondLst>
                                        </p:cTn>
                                        <p:tgtEl>
                                          <p:spTgt spid="45"/>
                                        </p:tgtEl>
                                        <p:attrNameLst>
                                          <p:attrName>style.visibility</p:attrName>
                                        </p:attrNameLst>
                                      </p:cBhvr>
                                      <p:to>
                                        <p:strVal val="hidden"/>
                                      </p:to>
                                    </p:set>
                                  </p:childTnLst>
                                </p:cTn>
                              </p:par>
                              <p:par>
                                <p:cTn id="290" presetID="10" presetClass="entr" presetSubtype="0" fill="hold" grpId="0" nodeType="withEffect">
                                  <p:stCondLst>
                                    <p:cond delay="13000"/>
                                  </p:stCondLst>
                                  <p:childTnLst>
                                    <p:set>
                                      <p:cBhvr>
                                        <p:cTn id="291" dur="1" fill="hold">
                                          <p:stCondLst>
                                            <p:cond delay="0"/>
                                          </p:stCondLst>
                                        </p:cTn>
                                        <p:tgtEl>
                                          <p:spTgt spid="76"/>
                                        </p:tgtEl>
                                        <p:attrNameLst>
                                          <p:attrName>style.visibility</p:attrName>
                                        </p:attrNameLst>
                                      </p:cBhvr>
                                      <p:to>
                                        <p:strVal val="visible"/>
                                      </p:to>
                                    </p:set>
                                    <p:animEffect transition="in" filter="fade">
                                      <p:cBhvr>
                                        <p:cTn id="292" dur="450"/>
                                        <p:tgtEl>
                                          <p:spTgt spid="76"/>
                                        </p:tgtEl>
                                      </p:cBhvr>
                                    </p:animEffect>
                                  </p:childTnLst>
                                </p:cTn>
                              </p:par>
                              <p:par>
                                <p:cTn id="293" presetID="10" presetClass="entr" presetSubtype="0" fill="hold" grpId="0" nodeType="withEffect">
                                  <p:stCondLst>
                                    <p:cond delay="13000"/>
                                  </p:stCondLst>
                                  <p:childTnLst>
                                    <p:set>
                                      <p:cBhvr>
                                        <p:cTn id="294" dur="1" fill="hold">
                                          <p:stCondLst>
                                            <p:cond delay="0"/>
                                          </p:stCondLst>
                                        </p:cTn>
                                        <p:tgtEl>
                                          <p:spTgt spid="77"/>
                                        </p:tgtEl>
                                        <p:attrNameLst>
                                          <p:attrName>style.visibility</p:attrName>
                                        </p:attrNameLst>
                                      </p:cBhvr>
                                      <p:to>
                                        <p:strVal val="visible"/>
                                      </p:to>
                                    </p:set>
                                    <p:animEffect transition="in" filter="fade">
                                      <p:cBhvr>
                                        <p:cTn id="295" dur="450"/>
                                        <p:tgtEl>
                                          <p:spTgt spid="77"/>
                                        </p:tgtEl>
                                      </p:cBhvr>
                                    </p:animEffect>
                                  </p:childTnLst>
                                </p:cTn>
                              </p:par>
                              <p:par>
                                <p:cTn id="296" presetID="10" presetClass="entr" presetSubtype="0" fill="hold" grpId="0" nodeType="withEffect">
                                  <p:stCondLst>
                                    <p:cond delay="13000"/>
                                  </p:stCondLst>
                                  <p:childTnLst>
                                    <p:set>
                                      <p:cBhvr>
                                        <p:cTn id="297" dur="1" fill="hold">
                                          <p:stCondLst>
                                            <p:cond delay="0"/>
                                          </p:stCondLst>
                                        </p:cTn>
                                        <p:tgtEl>
                                          <p:spTgt spid="78"/>
                                        </p:tgtEl>
                                        <p:attrNameLst>
                                          <p:attrName>style.visibility</p:attrName>
                                        </p:attrNameLst>
                                      </p:cBhvr>
                                      <p:to>
                                        <p:strVal val="visible"/>
                                      </p:to>
                                    </p:set>
                                    <p:animEffect transition="in" filter="fade">
                                      <p:cBhvr>
                                        <p:cTn id="298" dur="450"/>
                                        <p:tgtEl>
                                          <p:spTgt spid="78"/>
                                        </p:tgtEl>
                                      </p:cBhvr>
                                    </p:animEffect>
                                  </p:childTnLst>
                                </p:cTn>
                              </p:par>
                              <p:par>
                                <p:cTn id="299" presetID="10" presetClass="entr" presetSubtype="0" fill="hold" grpId="0" nodeType="withEffect">
                                  <p:stCondLst>
                                    <p:cond delay="13000"/>
                                  </p:stCondLst>
                                  <p:childTnLst>
                                    <p:set>
                                      <p:cBhvr>
                                        <p:cTn id="300" dur="1" fill="hold">
                                          <p:stCondLst>
                                            <p:cond delay="0"/>
                                          </p:stCondLst>
                                        </p:cTn>
                                        <p:tgtEl>
                                          <p:spTgt spid="46"/>
                                        </p:tgtEl>
                                        <p:attrNameLst>
                                          <p:attrName>style.visibility</p:attrName>
                                        </p:attrNameLst>
                                      </p:cBhvr>
                                      <p:to>
                                        <p:strVal val="visible"/>
                                      </p:to>
                                    </p:set>
                                    <p:animEffect transition="in" filter="fade">
                                      <p:cBhvr>
                                        <p:cTn id="301" dur="450"/>
                                        <p:tgtEl>
                                          <p:spTgt spid="46"/>
                                        </p:tgtEl>
                                      </p:cBhvr>
                                    </p:animEffect>
                                  </p:childTnLst>
                                </p:cTn>
                              </p:par>
                              <p:par>
                                <p:cTn id="302" presetID="10" presetClass="entr" presetSubtype="0" fill="hold" grpId="0" nodeType="withEffect">
                                  <p:stCondLst>
                                    <p:cond delay="13000"/>
                                  </p:stCondLst>
                                  <p:childTnLst>
                                    <p:set>
                                      <p:cBhvr>
                                        <p:cTn id="303" dur="1" fill="hold">
                                          <p:stCondLst>
                                            <p:cond delay="0"/>
                                          </p:stCondLst>
                                        </p:cTn>
                                        <p:tgtEl>
                                          <p:spTgt spid="47"/>
                                        </p:tgtEl>
                                        <p:attrNameLst>
                                          <p:attrName>style.visibility</p:attrName>
                                        </p:attrNameLst>
                                      </p:cBhvr>
                                      <p:to>
                                        <p:strVal val="visible"/>
                                      </p:to>
                                    </p:set>
                                    <p:animEffect transition="in" filter="fade">
                                      <p:cBhvr>
                                        <p:cTn id="304" dur="450"/>
                                        <p:tgtEl>
                                          <p:spTgt spid="47"/>
                                        </p:tgtEl>
                                      </p:cBhvr>
                                    </p:animEffect>
                                  </p:childTnLst>
                                </p:cTn>
                              </p:par>
                              <p:par>
                                <p:cTn id="305" presetID="10" presetClass="entr" presetSubtype="0" fill="hold" grpId="0" nodeType="withEffect">
                                  <p:stCondLst>
                                    <p:cond delay="13000"/>
                                  </p:stCondLst>
                                  <p:childTnLst>
                                    <p:set>
                                      <p:cBhvr>
                                        <p:cTn id="306" dur="1" fill="hold">
                                          <p:stCondLst>
                                            <p:cond delay="0"/>
                                          </p:stCondLst>
                                        </p:cTn>
                                        <p:tgtEl>
                                          <p:spTgt spid="48"/>
                                        </p:tgtEl>
                                        <p:attrNameLst>
                                          <p:attrName>style.visibility</p:attrName>
                                        </p:attrNameLst>
                                      </p:cBhvr>
                                      <p:to>
                                        <p:strVal val="visible"/>
                                      </p:to>
                                    </p:set>
                                    <p:animEffect transition="in" filter="fade">
                                      <p:cBhvr>
                                        <p:cTn id="307" dur="450"/>
                                        <p:tgtEl>
                                          <p:spTgt spid="48"/>
                                        </p:tgtEl>
                                      </p:cBhvr>
                                    </p:animEffect>
                                  </p:childTnLst>
                                </p:cTn>
                              </p:par>
                              <p:par>
                                <p:cTn id="308" presetID="10" presetClass="entr" presetSubtype="0" fill="hold" grpId="0" nodeType="withEffect">
                                  <p:stCondLst>
                                    <p:cond delay="13000"/>
                                  </p:stCondLst>
                                  <p:childTnLst>
                                    <p:set>
                                      <p:cBhvr>
                                        <p:cTn id="309" dur="1" fill="hold">
                                          <p:stCondLst>
                                            <p:cond delay="0"/>
                                          </p:stCondLst>
                                        </p:cTn>
                                        <p:tgtEl>
                                          <p:spTgt spid="49"/>
                                        </p:tgtEl>
                                        <p:attrNameLst>
                                          <p:attrName>style.visibility</p:attrName>
                                        </p:attrNameLst>
                                      </p:cBhvr>
                                      <p:to>
                                        <p:strVal val="visible"/>
                                      </p:to>
                                    </p:set>
                                    <p:animEffect transition="in" filter="fade">
                                      <p:cBhvr>
                                        <p:cTn id="310" dur="450"/>
                                        <p:tgtEl>
                                          <p:spTgt spid="49"/>
                                        </p:tgtEl>
                                      </p:cBhvr>
                                    </p:animEffect>
                                  </p:childTnLst>
                                </p:cTn>
                              </p:par>
                              <p:par>
                                <p:cTn id="311" presetID="10" presetClass="entr" presetSubtype="0" fill="hold" grpId="0" nodeType="withEffect">
                                  <p:stCondLst>
                                    <p:cond delay="13000"/>
                                  </p:stCondLst>
                                  <p:childTnLst>
                                    <p:set>
                                      <p:cBhvr>
                                        <p:cTn id="312" dur="1" fill="hold">
                                          <p:stCondLst>
                                            <p:cond delay="0"/>
                                          </p:stCondLst>
                                        </p:cTn>
                                        <p:tgtEl>
                                          <p:spTgt spid="50"/>
                                        </p:tgtEl>
                                        <p:attrNameLst>
                                          <p:attrName>style.visibility</p:attrName>
                                        </p:attrNameLst>
                                      </p:cBhvr>
                                      <p:to>
                                        <p:strVal val="visible"/>
                                      </p:to>
                                    </p:set>
                                    <p:animEffect transition="in" filter="fade">
                                      <p:cBhvr>
                                        <p:cTn id="313" dur="450"/>
                                        <p:tgtEl>
                                          <p:spTgt spid="50"/>
                                        </p:tgtEl>
                                      </p:cBhvr>
                                    </p:animEffect>
                                  </p:childTnLst>
                                </p:cTn>
                              </p:par>
                              <p:par>
                                <p:cTn id="314" presetID="10" presetClass="entr" presetSubtype="0" fill="hold" grpId="0" nodeType="withEffect">
                                  <p:stCondLst>
                                    <p:cond delay="13000"/>
                                  </p:stCondLst>
                                  <p:childTnLst>
                                    <p:set>
                                      <p:cBhvr>
                                        <p:cTn id="315" dur="1" fill="hold">
                                          <p:stCondLst>
                                            <p:cond delay="0"/>
                                          </p:stCondLst>
                                        </p:cTn>
                                        <p:tgtEl>
                                          <p:spTgt spid="51"/>
                                        </p:tgtEl>
                                        <p:attrNameLst>
                                          <p:attrName>style.visibility</p:attrName>
                                        </p:attrNameLst>
                                      </p:cBhvr>
                                      <p:to>
                                        <p:strVal val="visible"/>
                                      </p:to>
                                    </p:set>
                                    <p:animEffect transition="in" filter="fade">
                                      <p:cBhvr>
                                        <p:cTn id="316" dur="450"/>
                                        <p:tgtEl>
                                          <p:spTgt spid="51"/>
                                        </p:tgtEl>
                                      </p:cBhvr>
                                    </p:animEffect>
                                  </p:childTnLst>
                                </p:cTn>
                              </p:par>
                              <p:par>
                                <p:cTn id="317" presetID="10" presetClass="entr" presetSubtype="0" fill="hold" grpId="0" nodeType="withEffect">
                                  <p:stCondLst>
                                    <p:cond delay="13000"/>
                                  </p:stCondLst>
                                  <p:childTnLst>
                                    <p:set>
                                      <p:cBhvr>
                                        <p:cTn id="318" dur="1" fill="hold">
                                          <p:stCondLst>
                                            <p:cond delay="0"/>
                                          </p:stCondLst>
                                        </p:cTn>
                                        <p:tgtEl>
                                          <p:spTgt spid="52"/>
                                        </p:tgtEl>
                                        <p:attrNameLst>
                                          <p:attrName>style.visibility</p:attrName>
                                        </p:attrNameLst>
                                      </p:cBhvr>
                                      <p:to>
                                        <p:strVal val="visible"/>
                                      </p:to>
                                    </p:set>
                                    <p:animEffect transition="in" filter="fade">
                                      <p:cBhvr>
                                        <p:cTn id="319" dur="450"/>
                                        <p:tgtEl>
                                          <p:spTgt spid="52"/>
                                        </p:tgtEl>
                                      </p:cBhvr>
                                    </p:animEffect>
                                  </p:childTnLst>
                                </p:cTn>
                              </p:par>
                              <p:par>
                                <p:cTn id="320" presetID="10" presetClass="entr" presetSubtype="0" fill="hold" grpId="0" nodeType="withEffect">
                                  <p:stCondLst>
                                    <p:cond delay="13000"/>
                                  </p:stCondLst>
                                  <p:childTnLst>
                                    <p:set>
                                      <p:cBhvr>
                                        <p:cTn id="321" dur="1" fill="hold">
                                          <p:stCondLst>
                                            <p:cond delay="0"/>
                                          </p:stCondLst>
                                        </p:cTn>
                                        <p:tgtEl>
                                          <p:spTgt spid="53"/>
                                        </p:tgtEl>
                                        <p:attrNameLst>
                                          <p:attrName>style.visibility</p:attrName>
                                        </p:attrNameLst>
                                      </p:cBhvr>
                                      <p:to>
                                        <p:strVal val="visible"/>
                                      </p:to>
                                    </p:set>
                                    <p:animEffect transition="in" filter="fade">
                                      <p:cBhvr>
                                        <p:cTn id="322" dur="450"/>
                                        <p:tgtEl>
                                          <p:spTgt spid="53"/>
                                        </p:tgtEl>
                                      </p:cBhvr>
                                    </p:animEffect>
                                  </p:childTnLst>
                                </p:cTn>
                              </p:par>
                              <p:par>
                                <p:cTn id="323" presetID="10" presetClass="entr" presetSubtype="0" fill="hold" grpId="0" nodeType="withEffect">
                                  <p:stCondLst>
                                    <p:cond delay="13000"/>
                                  </p:stCondLst>
                                  <p:childTnLst>
                                    <p:set>
                                      <p:cBhvr>
                                        <p:cTn id="324" dur="1" fill="hold">
                                          <p:stCondLst>
                                            <p:cond delay="0"/>
                                          </p:stCondLst>
                                        </p:cTn>
                                        <p:tgtEl>
                                          <p:spTgt spid="54"/>
                                        </p:tgtEl>
                                        <p:attrNameLst>
                                          <p:attrName>style.visibility</p:attrName>
                                        </p:attrNameLst>
                                      </p:cBhvr>
                                      <p:to>
                                        <p:strVal val="visible"/>
                                      </p:to>
                                    </p:set>
                                    <p:animEffect transition="in" filter="fade">
                                      <p:cBhvr>
                                        <p:cTn id="325" dur="450"/>
                                        <p:tgtEl>
                                          <p:spTgt spid="54"/>
                                        </p:tgtEl>
                                      </p:cBhvr>
                                    </p:animEffect>
                                  </p:childTnLst>
                                </p:cTn>
                              </p:par>
                              <p:par>
                                <p:cTn id="326" presetID="10" presetClass="entr" presetSubtype="0" fill="hold" grpId="0" nodeType="withEffect">
                                  <p:stCondLst>
                                    <p:cond delay="13000"/>
                                  </p:stCondLst>
                                  <p:childTnLst>
                                    <p:set>
                                      <p:cBhvr>
                                        <p:cTn id="327" dur="1" fill="hold">
                                          <p:stCondLst>
                                            <p:cond delay="0"/>
                                          </p:stCondLst>
                                        </p:cTn>
                                        <p:tgtEl>
                                          <p:spTgt spid="55"/>
                                        </p:tgtEl>
                                        <p:attrNameLst>
                                          <p:attrName>style.visibility</p:attrName>
                                        </p:attrNameLst>
                                      </p:cBhvr>
                                      <p:to>
                                        <p:strVal val="visible"/>
                                      </p:to>
                                    </p:set>
                                    <p:animEffect transition="in" filter="fade">
                                      <p:cBhvr>
                                        <p:cTn id="328" dur="450"/>
                                        <p:tgtEl>
                                          <p:spTgt spid="55"/>
                                        </p:tgtEl>
                                      </p:cBhvr>
                                    </p:animEffect>
                                  </p:childTnLst>
                                </p:cTn>
                              </p:par>
                              <p:par>
                                <p:cTn id="329" presetID="10" presetClass="entr" presetSubtype="0" fill="hold" grpId="0" nodeType="withEffect">
                                  <p:stCondLst>
                                    <p:cond delay="13000"/>
                                  </p:stCondLst>
                                  <p:childTnLst>
                                    <p:set>
                                      <p:cBhvr>
                                        <p:cTn id="330" dur="1" fill="hold">
                                          <p:stCondLst>
                                            <p:cond delay="0"/>
                                          </p:stCondLst>
                                        </p:cTn>
                                        <p:tgtEl>
                                          <p:spTgt spid="56"/>
                                        </p:tgtEl>
                                        <p:attrNameLst>
                                          <p:attrName>style.visibility</p:attrName>
                                        </p:attrNameLst>
                                      </p:cBhvr>
                                      <p:to>
                                        <p:strVal val="visible"/>
                                      </p:to>
                                    </p:set>
                                    <p:animEffect transition="in" filter="fade">
                                      <p:cBhvr>
                                        <p:cTn id="331" dur="450"/>
                                        <p:tgtEl>
                                          <p:spTgt spid="56"/>
                                        </p:tgtEl>
                                      </p:cBhvr>
                                    </p:animEffect>
                                  </p:childTnLst>
                                </p:cTn>
                              </p:par>
                              <p:par>
                                <p:cTn id="332" presetID="10" presetClass="entr" presetSubtype="0" fill="hold" grpId="0" nodeType="withEffect">
                                  <p:stCondLst>
                                    <p:cond delay="13000"/>
                                  </p:stCondLst>
                                  <p:childTnLst>
                                    <p:set>
                                      <p:cBhvr>
                                        <p:cTn id="333" dur="1" fill="hold">
                                          <p:stCondLst>
                                            <p:cond delay="0"/>
                                          </p:stCondLst>
                                        </p:cTn>
                                        <p:tgtEl>
                                          <p:spTgt spid="57"/>
                                        </p:tgtEl>
                                        <p:attrNameLst>
                                          <p:attrName>style.visibility</p:attrName>
                                        </p:attrNameLst>
                                      </p:cBhvr>
                                      <p:to>
                                        <p:strVal val="visible"/>
                                      </p:to>
                                    </p:set>
                                    <p:animEffect transition="in" filter="fade">
                                      <p:cBhvr>
                                        <p:cTn id="334" dur="450"/>
                                        <p:tgtEl>
                                          <p:spTgt spid="57"/>
                                        </p:tgtEl>
                                      </p:cBhvr>
                                    </p:animEffect>
                                  </p:childTnLst>
                                </p:cTn>
                              </p:par>
                              <p:par>
                                <p:cTn id="335" presetID="10" presetClass="entr" presetSubtype="0" fill="hold" grpId="0" nodeType="withEffect">
                                  <p:stCondLst>
                                    <p:cond delay="13000"/>
                                  </p:stCondLst>
                                  <p:childTnLst>
                                    <p:set>
                                      <p:cBhvr>
                                        <p:cTn id="336" dur="1" fill="hold">
                                          <p:stCondLst>
                                            <p:cond delay="0"/>
                                          </p:stCondLst>
                                        </p:cTn>
                                        <p:tgtEl>
                                          <p:spTgt spid="58"/>
                                        </p:tgtEl>
                                        <p:attrNameLst>
                                          <p:attrName>style.visibility</p:attrName>
                                        </p:attrNameLst>
                                      </p:cBhvr>
                                      <p:to>
                                        <p:strVal val="visible"/>
                                      </p:to>
                                    </p:set>
                                    <p:animEffect transition="in" filter="fade">
                                      <p:cBhvr>
                                        <p:cTn id="337" dur="450"/>
                                        <p:tgtEl>
                                          <p:spTgt spid="58"/>
                                        </p:tgtEl>
                                      </p:cBhvr>
                                    </p:animEffect>
                                  </p:childTnLst>
                                </p:cTn>
                              </p:par>
                              <p:par>
                                <p:cTn id="338" presetID="10" presetClass="entr" presetSubtype="0" fill="hold" grpId="0" nodeType="withEffect">
                                  <p:stCondLst>
                                    <p:cond delay="13000"/>
                                  </p:stCondLst>
                                  <p:childTnLst>
                                    <p:set>
                                      <p:cBhvr>
                                        <p:cTn id="339" dur="1" fill="hold">
                                          <p:stCondLst>
                                            <p:cond delay="0"/>
                                          </p:stCondLst>
                                        </p:cTn>
                                        <p:tgtEl>
                                          <p:spTgt spid="59"/>
                                        </p:tgtEl>
                                        <p:attrNameLst>
                                          <p:attrName>style.visibility</p:attrName>
                                        </p:attrNameLst>
                                      </p:cBhvr>
                                      <p:to>
                                        <p:strVal val="visible"/>
                                      </p:to>
                                    </p:set>
                                    <p:animEffect transition="in" filter="fade">
                                      <p:cBhvr>
                                        <p:cTn id="340" dur="450"/>
                                        <p:tgtEl>
                                          <p:spTgt spid="59"/>
                                        </p:tgtEl>
                                      </p:cBhvr>
                                    </p:animEffect>
                                  </p:childTnLst>
                                </p:cTn>
                              </p:par>
                              <p:par>
                                <p:cTn id="341" presetID="10" presetClass="entr" presetSubtype="0" fill="hold" grpId="0" nodeType="withEffect">
                                  <p:stCondLst>
                                    <p:cond delay="13000"/>
                                  </p:stCondLst>
                                  <p:childTnLst>
                                    <p:set>
                                      <p:cBhvr>
                                        <p:cTn id="342" dur="1" fill="hold">
                                          <p:stCondLst>
                                            <p:cond delay="0"/>
                                          </p:stCondLst>
                                        </p:cTn>
                                        <p:tgtEl>
                                          <p:spTgt spid="60"/>
                                        </p:tgtEl>
                                        <p:attrNameLst>
                                          <p:attrName>style.visibility</p:attrName>
                                        </p:attrNameLst>
                                      </p:cBhvr>
                                      <p:to>
                                        <p:strVal val="visible"/>
                                      </p:to>
                                    </p:set>
                                    <p:animEffect transition="in" filter="fade">
                                      <p:cBhvr>
                                        <p:cTn id="343" dur="45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3"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64" grpId="0" animBg="1"/>
      <p:bldP spid="66" grpId="0" animBg="1"/>
      <p:bldP spid="20" grpId="0" animBg="1"/>
      <p:bldP spid="21" grpId="0" animBg="1"/>
      <p:bldP spid="22" grpId="0" animBg="1"/>
      <p:bldP spid="23" grpId="0" animBg="1"/>
      <p:bldP spid="24" grpId="0" animBg="1"/>
      <p:bldP spid="25" grpId="0" animBg="1"/>
      <p:bldP spid="67" grpId="0" animBg="1"/>
      <p:bldP spid="69"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70" grpId="0" animBg="1"/>
      <p:bldP spid="72" grpId="0" animBg="1"/>
      <p:bldP spid="38" grpId="0" animBg="1"/>
      <p:bldP spid="39" grpId="0" animBg="1"/>
      <p:bldP spid="40" grpId="0" animBg="1"/>
      <p:bldP spid="41" grpId="0" animBg="1"/>
      <p:bldP spid="42" grpId="0" animBg="1"/>
      <p:bldP spid="43" grpId="0" animBg="1"/>
      <p:bldP spid="73" grpId="0" animBg="1"/>
      <p:bldP spid="75" grpId="0" animBg="1"/>
      <p:bldP spid="44" grpId="0" animBg="1"/>
      <p:bldP spid="45" grpId="0" animBg="1"/>
      <p:bldP spid="76" grpId="0" animBg="1"/>
      <p:bldP spid="78"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 grpId="1" animBg="1"/>
      <p:bldP spid="7" grpId="1" animBg="1"/>
      <p:bldP spid="8" grpId="1" animBg="1"/>
      <p:bldP spid="9" grpId="1" animBg="1"/>
      <p:bldP spid="10" grpId="1" animBg="1"/>
      <p:bldP spid="11" grpId="1" animBg="1"/>
      <p:bldP spid="12" grpId="1" animBg="1"/>
      <p:bldP spid="13" grpId="1" animBg="1"/>
      <p:bldP spid="14" grpId="1" animBg="1"/>
      <p:bldP spid="15" grpId="1" animBg="1"/>
      <p:bldP spid="16" grpId="1" animBg="1"/>
      <p:bldP spid="17" grpId="1" animBg="1"/>
      <p:bldP spid="18" grpId="1" animBg="1"/>
      <p:bldP spid="19" grpId="1" animBg="1"/>
      <p:bldP spid="20" grpId="1" animBg="1"/>
      <p:bldP spid="21" grpId="1" animBg="1"/>
      <p:bldP spid="22" grpId="1" animBg="1"/>
      <p:bldP spid="23" grpId="1" animBg="1"/>
      <p:bldP spid="24" grpId="1" animBg="1"/>
      <p:bldP spid="25" grpId="1" animBg="1"/>
      <p:bldP spid="26" grpId="1" animBg="1"/>
      <p:bldP spid="27" grpId="1" animBg="1"/>
      <p:bldP spid="28" grpId="1" animBg="1"/>
      <p:bldP spid="29" grpId="1" animBg="1"/>
      <p:bldP spid="30" grpId="1" animBg="1"/>
      <p:bldP spid="31" grpId="1" animBg="1"/>
      <p:bldP spid="32" grpId="1" animBg="1"/>
      <p:bldP spid="33" grpId="1" animBg="1"/>
      <p:bldP spid="34" grpId="1" animBg="1"/>
      <p:bldP spid="35" grpId="1" animBg="1"/>
      <p:bldP spid="36" grpId="1" animBg="1"/>
      <p:bldP spid="37" grpId="1" animBg="1"/>
      <p:bldP spid="38" grpId="1" animBg="1"/>
      <p:bldP spid="39" grpId="1" animBg="1"/>
      <p:bldP spid="40" grpId="1" animBg="1"/>
      <p:bldP spid="41" grpId="1" animBg="1"/>
      <p:bldP spid="42" grpId="1" animBg="1"/>
      <p:bldP spid="43" grpId="1" animBg="1"/>
      <p:bldP spid="44" grpId="1" animBg="1"/>
      <p:bldP spid="45" grpId="1"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8229600" cy="274320"/>
          </a:xfrm>
          <a:prstGeom prst="rect">
            <a:avLst/>
          </a:prstGeom>
          <a:noFill/>
          <a:ln/>
        </p:spPr>
        <p:txBody>
          <a:bodyPr wrap="square" lIns="0" tIns="0" rIns="0" bIns="0" rtlCol="0"/>
          <a:lstStyle/>
          <a:p>
            <a:pPr indent="0" marL="0">
              <a:buNone/>
            </a:pPr>
            <a:r>
              <a:rPr lang="en-US" sz="1100" b="1" spc="300" kern="0" dirty="0">
                <a:solidFill>
                  <a:schemeClr val="accent1"/>
                </a:solidFill>
              </a:rPr>
              <a:t>WHAT IT DOES</a:t>
            </a:r>
            <a:endParaRPr lang="en-US" sz="1100" dirty="0"/>
          </a:p>
        </p:txBody>
      </p:sp>
      <p:sp>
        <p:nvSpPr>
          <p:cNvPr id="3" name="Text 1"/>
          <p:cNvSpPr/>
          <p:nvPr>
            <p:ph idx="102" type="title" hasCustomPrompt="1"/>
          </p:nvPr>
        </p:nvSpPr>
        <p:spPr>
          <a:xfrm>
            <a:off x="548640" y="713232"/>
            <a:ext cx="11094415" cy="731520"/>
          </a:xfrm>
          <a:prstGeom prst="rect">
            <a:avLst/>
          </a:prstGeom>
          <a:noFill/>
          <a:ln/>
        </p:spPr>
        <p:txBody>
          <a:bodyPr wrap="square" lIns="0" tIns="0" rIns="0" bIns="0" rtlCol="0" anchor="t"/>
          <a:lstStyle/>
          <a:p>
            <a:pPr algn="l" indent="0" marL="0">
              <a:buNone/>
            </a:pPr>
            <a:r>
              <a:rPr lang="en-US" sz="3600" b="1" dirty="0">
                <a:solidFill>
                  <a:schemeClr val="tx2"/>
                </a:solidFill>
              </a:rPr>
              <a:t>Every check on every unit.</a:t>
            </a:r>
            <a:endParaRPr lang="en-US" sz="3600" dirty="0"/>
          </a:p>
        </p:txBody>
      </p:sp>
      <p:sp>
        <p:nvSpPr>
          <p:cNvPr id="4" name="B frame"/>
          <p:cNvSpPr/>
          <p:nvPr/>
        </p:nvSpPr>
        <p:spPr>
          <a:xfrm>
            <a:off x="484632" y="1536192"/>
            <a:ext cx="5843016" cy="4792885"/>
          </a:xfrm>
          <a:prstGeom prst="roundRect">
            <a:avLst>
              <a:gd name="adj" fmla="val 2289"/>
            </a:avLst>
          </a:prstGeom>
          <a:solidFill>
            <a:schemeClr val="bg1"/>
          </a:solidFill>
          <a:ln w="12700">
            <a:solidFill>
              <a:schemeClr val="accent5"/>
            </a:solidFill>
            <a:prstDash val="solid"/>
          </a:ln>
        </p:spPr>
      </p:sp>
      <p:pic>
        <p:nvPicPr>
          <p:cNvPr id="5" name="B scene" descr="Three cartons on a conveyor belt, seen from above">    </p:cNvPr>
          <p:cNvPicPr>
            <a:picLocks noChangeAspect="1"/>
          </p:cNvPicPr>
          <p:nvPr/>
        </p:nvPicPr>
        <p:blipFill>
          <a:blip r:embed="rId1"/>
          <a:stretch>
            <a:fillRect/>
          </a:stretch>
        </p:blipFill>
        <p:spPr>
          <a:xfrm>
            <a:off x="548640" y="1600200"/>
            <a:ext cx="5715000" cy="4664869"/>
          </a:xfrm>
          <a:prstGeom prst="rect">
            <a:avLst/>
          </a:prstGeom>
        </p:spPr>
      </p:pic>
      <p:pic>
        <p:nvPicPr>
          <p:cNvPr id="6" name="B scene 3D" descr="The same cartons in 3D; carton 2 has a crushed corner">    </p:cNvPr>
          <p:cNvPicPr>
            <a:picLocks noChangeAspect="1"/>
          </p:cNvPicPr>
          <p:nvPr/>
        </p:nvPicPr>
        <p:blipFill>
          <a:blip r:embed="rId2"/>
          <a:stretch>
            <a:fillRect/>
          </a:stretch>
        </p:blipFill>
        <p:spPr>
          <a:xfrm>
            <a:off x="548640" y="1600200"/>
            <a:ext cx="5715000" cy="4664869"/>
          </a:xfrm>
          <a:prstGeom prst="rect">
            <a:avLst/>
          </a:prstGeom>
        </p:spPr>
      </p:pic>
      <p:sp>
        <p:nvSpPr>
          <p:cNvPr id="7" name="B s0 c1"/>
          <p:cNvSpPr/>
          <p:nvPr/>
        </p:nvSpPr>
        <p:spPr>
          <a:xfrm>
            <a:off x="1075492" y="3461861"/>
            <a:ext cx="1258372" cy="941546"/>
          </a:xfrm>
          <a:prstGeom prst="rect">
            <a:avLst/>
          </a:prstGeom>
          <a:solidFill>
            <a:srgbClr val="FFFFFF">
              <a:alpha val="0"/>
            </a:srgbClr>
          </a:solidFill>
          <a:ln w="28575">
            <a:solidFill>
              <a:srgbClr val="2F5D8A"/>
            </a:solidFill>
            <a:prstDash val="solid"/>
          </a:ln>
        </p:spPr>
      </p:sp>
      <p:sp>
        <p:nvSpPr>
          <p:cNvPr id="8" name="B s0 t1"/>
          <p:cNvSpPr txBox="1"/>
          <p:nvPr/>
        </p:nvSpPr>
        <p:spPr>
          <a:xfrm>
            <a:off x="1075492" y="3254693"/>
            <a:ext cx="797357" cy="246888"/>
          </a:xfrm>
          <a:prstGeom prst="rect">
            <a:avLst/>
          </a:prstGeom>
          <a:solidFill>
            <a:srgbClr val="2F5D8A"/>
          </a:solidFill>
          <a:ln/>
        </p:spPr>
        <p:txBody>
          <a:bodyPr wrap="square" lIns="25400" tIns="25400" rIns="25400" bIns="25400" rtlCol="0" anchor="ctr"/>
          <a:lstStyle/>
          <a:p>
            <a:pPr algn="ctr" indent="0" marL="0">
              <a:buNone/>
            </a:pPr>
            <a:r>
              <a:rPr lang="en-US" sz="1100" b="1" dirty="0">
                <a:solidFill>
                  <a:schemeClr val="bg1"/>
                </a:solidFill>
              </a:rPr>
              <a:t>Carton 1</a:t>
            </a:r>
            <a:endParaRPr lang="en-US" sz="1100" dirty="0"/>
          </a:p>
        </p:txBody>
      </p:sp>
      <p:sp>
        <p:nvSpPr>
          <p:cNvPr id="9" name="B s0 c2"/>
          <p:cNvSpPr/>
          <p:nvPr/>
        </p:nvSpPr>
        <p:spPr>
          <a:xfrm>
            <a:off x="2816423" y="3461861"/>
            <a:ext cx="1258372" cy="941546"/>
          </a:xfrm>
          <a:prstGeom prst="rect">
            <a:avLst/>
          </a:prstGeom>
          <a:solidFill>
            <a:srgbClr val="FFFFFF">
              <a:alpha val="0"/>
            </a:srgbClr>
          </a:solidFill>
          <a:ln w="28575">
            <a:solidFill>
              <a:srgbClr val="2F5D8A"/>
            </a:solidFill>
            <a:prstDash val="solid"/>
          </a:ln>
        </p:spPr>
      </p:sp>
      <p:sp>
        <p:nvSpPr>
          <p:cNvPr id="10" name="B s0 t2"/>
          <p:cNvSpPr txBox="1"/>
          <p:nvPr/>
        </p:nvSpPr>
        <p:spPr>
          <a:xfrm>
            <a:off x="2816423" y="3254693"/>
            <a:ext cx="797357" cy="246888"/>
          </a:xfrm>
          <a:prstGeom prst="rect">
            <a:avLst/>
          </a:prstGeom>
          <a:solidFill>
            <a:srgbClr val="2F5D8A"/>
          </a:solidFill>
          <a:ln/>
        </p:spPr>
        <p:txBody>
          <a:bodyPr wrap="square" lIns="25400" tIns="25400" rIns="25400" bIns="25400" rtlCol="0" anchor="ctr"/>
          <a:lstStyle/>
          <a:p>
            <a:pPr algn="ctr" indent="0" marL="0">
              <a:buNone/>
            </a:pPr>
            <a:r>
              <a:rPr lang="en-US" sz="1100" b="1" dirty="0">
                <a:solidFill>
                  <a:schemeClr val="bg1"/>
                </a:solidFill>
              </a:rPr>
              <a:t>Carton 2</a:t>
            </a:r>
            <a:endParaRPr lang="en-US" sz="1100" dirty="0"/>
          </a:p>
        </p:txBody>
      </p:sp>
      <p:sp>
        <p:nvSpPr>
          <p:cNvPr id="11" name="B s0 c3"/>
          <p:cNvSpPr/>
          <p:nvPr/>
        </p:nvSpPr>
        <p:spPr>
          <a:xfrm>
            <a:off x="4557355" y="3461861"/>
            <a:ext cx="1258372" cy="941546"/>
          </a:xfrm>
          <a:prstGeom prst="rect">
            <a:avLst/>
          </a:prstGeom>
          <a:solidFill>
            <a:srgbClr val="FFFFFF">
              <a:alpha val="0"/>
            </a:srgbClr>
          </a:solidFill>
          <a:ln w="28575">
            <a:solidFill>
              <a:srgbClr val="2F5D8A"/>
            </a:solidFill>
            <a:prstDash val="solid"/>
          </a:ln>
        </p:spPr>
      </p:sp>
      <p:sp>
        <p:nvSpPr>
          <p:cNvPr id="12" name="B s0 t3"/>
          <p:cNvSpPr txBox="1"/>
          <p:nvPr/>
        </p:nvSpPr>
        <p:spPr>
          <a:xfrm>
            <a:off x="4557355" y="3254693"/>
            <a:ext cx="797357" cy="246888"/>
          </a:xfrm>
          <a:prstGeom prst="rect">
            <a:avLst/>
          </a:prstGeom>
          <a:solidFill>
            <a:srgbClr val="2F5D8A"/>
          </a:solidFill>
          <a:ln/>
        </p:spPr>
        <p:txBody>
          <a:bodyPr wrap="square" lIns="25400" tIns="25400" rIns="25400" bIns="25400" rtlCol="0" anchor="ctr"/>
          <a:lstStyle/>
          <a:p>
            <a:pPr algn="ctr" indent="0" marL="0">
              <a:buNone/>
            </a:pPr>
            <a:r>
              <a:rPr lang="en-US" sz="1100" b="1" dirty="0">
                <a:solidFill>
                  <a:schemeClr val="bg1"/>
                </a:solidFill>
              </a:rPr>
              <a:t>Carton 3</a:t>
            </a:r>
            <a:endParaRPr lang="en-US" sz="1100" dirty="0"/>
          </a:p>
        </p:txBody>
      </p:sp>
      <p:sp>
        <p:nvSpPr>
          <p:cNvPr id="13" name="B s1 L"/>
          <p:cNvSpPr/>
          <p:nvPr/>
        </p:nvSpPr>
        <p:spPr>
          <a:xfrm>
            <a:off x="1111210" y="4526280"/>
            <a:ext cx="1186934" cy="914"/>
          </a:xfrm>
          <a:prstGeom prst="line">
            <a:avLst/>
          </a:prstGeom>
          <a:noFill/>
          <a:ln w="22225">
            <a:solidFill>
              <a:srgbClr val="2F5D8A"/>
            </a:solidFill>
            <a:prstDash val="solid"/>
            <a:headEnd type="triangle"/>
            <a:tailEnd type="triangle"/>
          </a:ln>
        </p:spPr>
      </p:sp>
      <p:sp>
        <p:nvSpPr>
          <p:cNvPr id="14" name="B s1 L t"/>
          <p:cNvSpPr txBox="1"/>
          <p:nvPr/>
        </p:nvSpPr>
        <p:spPr>
          <a:xfrm>
            <a:off x="1543943" y="4569143"/>
            <a:ext cx="729691" cy="246888"/>
          </a:xfrm>
          <a:prstGeom prst="rect">
            <a:avLst/>
          </a:prstGeom>
          <a:solidFill>
            <a:srgbClr val="1D2D3D"/>
          </a:solidFill>
          <a:ln/>
        </p:spPr>
        <p:txBody>
          <a:bodyPr wrap="square" lIns="25400" tIns="25400" rIns="25400" bIns="25400" rtlCol="0" anchor="ctr"/>
          <a:lstStyle/>
          <a:p>
            <a:pPr algn="ctr" indent="0" marL="0">
              <a:buNone/>
            </a:pPr>
            <a:r>
              <a:rPr lang="en-US" sz="1100" b="1" dirty="0">
                <a:solidFill>
                  <a:schemeClr val="bg1"/>
                </a:solidFill>
              </a:rPr>
              <a:t>L 30 cm</a:t>
            </a:r>
            <a:endParaRPr lang="en-US" sz="1100" dirty="0"/>
          </a:p>
        </p:txBody>
      </p:sp>
      <p:sp>
        <p:nvSpPr>
          <p:cNvPr id="15" name="B s1 W"/>
          <p:cNvSpPr/>
          <p:nvPr/>
        </p:nvSpPr>
        <p:spPr>
          <a:xfrm>
            <a:off x="2456736" y="3497580"/>
            <a:ext cx="914" cy="870109"/>
          </a:xfrm>
          <a:prstGeom prst="line">
            <a:avLst/>
          </a:prstGeom>
          <a:noFill/>
          <a:ln w="22225">
            <a:solidFill>
              <a:srgbClr val="2F5D8A"/>
            </a:solidFill>
            <a:prstDash val="solid"/>
            <a:headEnd type="triangle"/>
            <a:tailEnd type="triangle"/>
          </a:ln>
        </p:spPr>
      </p:sp>
      <p:sp>
        <p:nvSpPr>
          <p:cNvPr id="16" name="B s1 W t"/>
          <p:cNvSpPr txBox="1"/>
          <p:nvPr/>
        </p:nvSpPr>
        <p:spPr>
          <a:xfrm>
            <a:off x="2528173" y="3861197"/>
            <a:ext cx="729691" cy="246888"/>
          </a:xfrm>
          <a:prstGeom prst="rect">
            <a:avLst/>
          </a:prstGeom>
          <a:solidFill>
            <a:srgbClr val="1D2D3D"/>
          </a:solidFill>
          <a:ln/>
        </p:spPr>
        <p:txBody>
          <a:bodyPr wrap="square" lIns="25400" tIns="25400" rIns="25400" bIns="25400" rtlCol="0" anchor="ctr"/>
          <a:lstStyle/>
          <a:p>
            <a:pPr algn="ctr" indent="0" marL="0">
              <a:buNone/>
            </a:pPr>
            <a:r>
              <a:rPr lang="en-US" sz="1100" b="1" dirty="0">
                <a:solidFill>
                  <a:schemeClr val="bg1"/>
                </a:solidFill>
              </a:rPr>
              <a:t>W 22 cm</a:t>
            </a:r>
            <a:endParaRPr lang="en-US" sz="1100" dirty="0"/>
          </a:p>
        </p:txBody>
      </p:sp>
      <p:sp>
        <p:nvSpPr>
          <p:cNvPr id="17" name="B s2 l1"/>
          <p:cNvSpPr/>
          <p:nvPr/>
        </p:nvSpPr>
        <p:spPr>
          <a:xfrm>
            <a:off x="1208723" y="3523298"/>
            <a:ext cx="557213" cy="320040"/>
          </a:xfrm>
          <a:prstGeom prst="rect">
            <a:avLst/>
          </a:prstGeom>
          <a:solidFill>
            <a:srgbClr val="FFFFFF">
              <a:alpha val="0"/>
            </a:srgbClr>
          </a:solidFill>
          <a:ln w="28575">
            <a:solidFill>
              <a:srgbClr val="2F7D52"/>
            </a:solidFill>
            <a:prstDash val="solid"/>
          </a:ln>
        </p:spPr>
      </p:sp>
      <p:sp>
        <p:nvSpPr>
          <p:cNvPr id="18" name="B s2 l1 t"/>
          <p:cNvSpPr txBox="1"/>
          <p:nvPr/>
        </p:nvSpPr>
        <p:spPr>
          <a:xfrm>
            <a:off x="1208723" y="3316129"/>
            <a:ext cx="662026" cy="246888"/>
          </a:xfrm>
          <a:prstGeom prst="rect">
            <a:avLst/>
          </a:prstGeom>
          <a:solidFill>
            <a:srgbClr val="2F7D52"/>
          </a:solidFill>
          <a:ln/>
        </p:spPr>
        <p:txBody>
          <a:bodyPr wrap="square" lIns="25400" tIns="25400" rIns="25400" bIns="25400" rtlCol="0" anchor="ctr"/>
          <a:lstStyle/>
          <a:p>
            <a:pPr algn="ctr" indent="0" marL="0">
              <a:buNone/>
            </a:pPr>
            <a:r>
              <a:rPr lang="en-US" sz="1100" b="1" dirty="0">
                <a:solidFill>
                  <a:schemeClr val="bg1"/>
                </a:solidFill>
              </a:rPr>
              <a:t>ΔE 1.3</a:t>
            </a:r>
            <a:endParaRPr lang="en-US" sz="1100" dirty="0"/>
          </a:p>
        </p:txBody>
      </p:sp>
      <p:sp>
        <p:nvSpPr>
          <p:cNvPr id="19" name="B s2 l2"/>
          <p:cNvSpPr/>
          <p:nvPr/>
        </p:nvSpPr>
        <p:spPr>
          <a:xfrm>
            <a:off x="2949654" y="3523298"/>
            <a:ext cx="557213" cy="320040"/>
          </a:xfrm>
          <a:prstGeom prst="rect">
            <a:avLst/>
          </a:prstGeom>
          <a:solidFill>
            <a:srgbClr val="FFFFFF">
              <a:alpha val="0"/>
            </a:srgbClr>
          </a:solidFill>
          <a:ln w="28575">
            <a:solidFill>
              <a:srgbClr val="2F7D52"/>
            </a:solidFill>
            <a:prstDash val="solid"/>
          </a:ln>
        </p:spPr>
      </p:sp>
      <p:sp>
        <p:nvSpPr>
          <p:cNvPr id="20" name="B s2 l2 t"/>
          <p:cNvSpPr txBox="1"/>
          <p:nvPr/>
        </p:nvSpPr>
        <p:spPr>
          <a:xfrm>
            <a:off x="2949654" y="3316129"/>
            <a:ext cx="662026" cy="246888"/>
          </a:xfrm>
          <a:prstGeom prst="rect">
            <a:avLst/>
          </a:prstGeom>
          <a:solidFill>
            <a:srgbClr val="2F7D52"/>
          </a:solidFill>
          <a:ln/>
        </p:spPr>
        <p:txBody>
          <a:bodyPr wrap="square" lIns="25400" tIns="25400" rIns="25400" bIns="25400" rtlCol="0" anchor="ctr"/>
          <a:lstStyle/>
          <a:p>
            <a:pPr algn="ctr" indent="0" marL="0">
              <a:buNone/>
            </a:pPr>
            <a:r>
              <a:rPr lang="en-US" sz="1100" b="1" dirty="0">
                <a:solidFill>
                  <a:schemeClr val="bg1"/>
                </a:solidFill>
              </a:rPr>
              <a:t>ΔE 1.1</a:t>
            </a:r>
            <a:endParaRPr lang="en-US" sz="1100" dirty="0"/>
          </a:p>
        </p:txBody>
      </p:sp>
      <p:sp>
        <p:nvSpPr>
          <p:cNvPr id="21" name="B s2 l3"/>
          <p:cNvSpPr/>
          <p:nvPr/>
        </p:nvSpPr>
        <p:spPr>
          <a:xfrm>
            <a:off x="4690229" y="3523298"/>
            <a:ext cx="557213" cy="320040"/>
          </a:xfrm>
          <a:prstGeom prst="rect">
            <a:avLst/>
          </a:prstGeom>
          <a:solidFill>
            <a:srgbClr val="FFFFFF">
              <a:alpha val="0"/>
            </a:srgbClr>
          </a:solidFill>
          <a:ln w="28575">
            <a:solidFill>
              <a:srgbClr val="E5463D"/>
            </a:solidFill>
            <a:prstDash val="solid"/>
          </a:ln>
        </p:spPr>
      </p:sp>
      <p:sp>
        <p:nvSpPr>
          <p:cNvPr id="22" name="B s2 l3 t"/>
          <p:cNvSpPr txBox="1"/>
          <p:nvPr/>
        </p:nvSpPr>
        <p:spPr>
          <a:xfrm>
            <a:off x="4690229" y="3316129"/>
            <a:ext cx="729691" cy="246888"/>
          </a:xfrm>
          <a:prstGeom prst="rect">
            <a:avLst/>
          </a:prstGeom>
          <a:solidFill>
            <a:srgbClr val="E5463D"/>
          </a:solidFill>
          <a:ln/>
        </p:spPr>
        <p:txBody>
          <a:bodyPr wrap="square" lIns="25400" tIns="25400" rIns="25400" bIns="25400" rtlCol="0" anchor="ctr"/>
          <a:lstStyle/>
          <a:p>
            <a:pPr algn="ctr" indent="0" marL="0">
              <a:buNone/>
            </a:pPr>
            <a:r>
              <a:rPr lang="en-US" sz="1100" b="1" dirty="0">
                <a:solidFill>
                  <a:schemeClr val="bg1"/>
                </a:solidFill>
              </a:rPr>
              <a:t>ΔE 41.0</a:t>
            </a:r>
            <a:endParaRPr lang="en-US" sz="1100" dirty="0"/>
          </a:p>
        </p:txBody>
      </p:sp>
      <p:sp>
        <p:nvSpPr>
          <p:cNvPr id="23" name="B s3 cub1-0"/>
          <p:cNvSpPr/>
          <p:nvPr/>
        </p:nvSpPr>
        <p:spPr>
          <a:xfrm>
            <a:off x="2000607" y="2791420"/>
            <a:ext cx="945118" cy="545425"/>
          </a:xfrm>
          <a:prstGeom prst="line">
            <a:avLst/>
          </a:prstGeom>
          <a:noFill/>
          <a:ln w="19050">
            <a:solidFill>
              <a:srgbClr val="2F5D8A"/>
            </a:solidFill>
            <a:prstDash val="dash"/>
          </a:ln>
        </p:spPr>
      </p:sp>
      <p:sp>
        <p:nvSpPr>
          <p:cNvPr id="24" name="B s3 cub1-1"/>
          <p:cNvSpPr/>
          <p:nvPr/>
        </p:nvSpPr>
        <p:spPr>
          <a:xfrm>
            <a:off x="1294805" y="3198971"/>
            <a:ext cx="945118" cy="545425"/>
          </a:xfrm>
          <a:prstGeom prst="line">
            <a:avLst/>
          </a:prstGeom>
          <a:noFill/>
          <a:ln w="19050">
            <a:solidFill>
              <a:srgbClr val="2F5D8A"/>
            </a:solidFill>
            <a:prstDash val="dash"/>
          </a:ln>
        </p:spPr>
      </p:sp>
      <p:sp>
        <p:nvSpPr>
          <p:cNvPr id="25" name="B s3 cub1-2"/>
          <p:cNvSpPr/>
          <p:nvPr/>
        </p:nvSpPr>
        <p:spPr>
          <a:xfrm>
            <a:off x="2000607" y="2176701"/>
            <a:ext cx="945118" cy="545783"/>
          </a:xfrm>
          <a:prstGeom prst="line">
            <a:avLst/>
          </a:prstGeom>
          <a:noFill/>
          <a:ln w="19050">
            <a:solidFill>
              <a:srgbClr val="2F5D8A"/>
            </a:solidFill>
            <a:prstDash val="dash"/>
          </a:ln>
        </p:spPr>
      </p:sp>
      <p:sp>
        <p:nvSpPr>
          <p:cNvPr id="26" name="B s3 cub1-3"/>
          <p:cNvSpPr/>
          <p:nvPr/>
        </p:nvSpPr>
        <p:spPr>
          <a:xfrm>
            <a:off x="1294805" y="2584252"/>
            <a:ext cx="945118" cy="545425"/>
          </a:xfrm>
          <a:prstGeom prst="line">
            <a:avLst/>
          </a:prstGeom>
          <a:noFill/>
          <a:ln w="19050">
            <a:solidFill>
              <a:srgbClr val="2F5D8A"/>
            </a:solidFill>
            <a:prstDash val="dash"/>
          </a:ln>
        </p:spPr>
      </p:sp>
      <p:sp>
        <p:nvSpPr>
          <p:cNvPr id="27" name="B s3 cub1-4"/>
          <p:cNvSpPr/>
          <p:nvPr/>
        </p:nvSpPr>
        <p:spPr>
          <a:xfrm flipV="1">
            <a:off x="1294805" y="2791420"/>
            <a:ext cx="705803" cy="407551"/>
          </a:xfrm>
          <a:prstGeom prst="line">
            <a:avLst/>
          </a:prstGeom>
          <a:noFill/>
          <a:ln w="19050">
            <a:solidFill>
              <a:srgbClr val="2F5D8A"/>
            </a:solidFill>
            <a:prstDash val="dash"/>
          </a:ln>
        </p:spPr>
      </p:sp>
      <p:sp>
        <p:nvSpPr>
          <p:cNvPr id="28" name="B s3 cub1-5"/>
          <p:cNvSpPr/>
          <p:nvPr/>
        </p:nvSpPr>
        <p:spPr>
          <a:xfrm flipV="1">
            <a:off x="2239923" y="3336846"/>
            <a:ext cx="705803" cy="407551"/>
          </a:xfrm>
          <a:prstGeom prst="line">
            <a:avLst/>
          </a:prstGeom>
          <a:noFill/>
          <a:ln w="19050">
            <a:solidFill>
              <a:srgbClr val="2F5D8A"/>
            </a:solidFill>
            <a:prstDash val="dash"/>
          </a:ln>
        </p:spPr>
      </p:sp>
      <p:sp>
        <p:nvSpPr>
          <p:cNvPr id="29" name="B s3 cub1-6"/>
          <p:cNvSpPr/>
          <p:nvPr/>
        </p:nvSpPr>
        <p:spPr>
          <a:xfrm flipV="1">
            <a:off x="1294805" y="2176701"/>
            <a:ext cx="705803" cy="407551"/>
          </a:xfrm>
          <a:prstGeom prst="line">
            <a:avLst/>
          </a:prstGeom>
          <a:noFill/>
          <a:ln w="19050">
            <a:solidFill>
              <a:srgbClr val="2F5D8A"/>
            </a:solidFill>
            <a:prstDash val="dash"/>
          </a:ln>
        </p:spPr>
      </p:sp>
      <p:sp>
        <p:nvSpPr>
          <p:cNvPr id="30" name="B s3 cub1-7"/>
          <p:cNvSpPr/>
          <p:nvPr/>
        </p:nvSpPr>
        <p:spPr>
          <a:xfrm flipV="1">
            <a:off x="2239923" y="2722483"/>
            <a:ext cx="705803" cy="407194"/>
          </a:xfrm>
          <a:prstGeom prst="line">
            <a:avLst/>
          </a:prstGeom>
          <a:noFill/>
          <a:ln w="19050">
            <a:solidFill>
              <a:srgbClr val="2F5D8A"/>
            </a:solidFill>
            <a:prstDash val="dash"/>
          </a:ln>
        </p:spPr>
      </p:sp>
      <p:sp>
        <p:nvSpPr>
          <p:cNvPr id="31" name="B s3 cub1-8"/>
          <p:cNvSpPr/>
          <p:nvPr/>
        </p:nvSpPr>
        <p:spPr>
          <a:xfrm>
            <a:off x="2000607" y="2176701"/>
            <a:ext cx="914" cy="614720"/>
          </a:xfrm>
          <a:prstGeom prst="line">
            <a:avLst/>
          </a:prstGeom>
          <a:noFill/>
          <a:ln w="19050">
            <a:solidFill>
              <a:srgbClr val="2F5D8A"/>
            </a:solidFill>
            <a:prstDash val="dash"/>
          </a:ln>
        </p:spPr>
      </p:sp>
      <p:sp>
        <p:nvSpPr>
          <p:cNvPr id="32" name="B s3 cub1-9"/>
          <p:cNvSpPr/>
          <p:nvPr/>
        </p:nvSpPr>
        <p:spPr>
          <a:xfrm>
            <a:off x="2945725" y="2722483"/>
            <a:ext cx="914" cy="614363"/>
          </a:xfrm>
          <a:prstGeom prst="line">
            <a:avLst/>
          </a:prstGeom>
          <a:noFill/>
          <a:ln w="19050">
            <a:solidFill>
              <a:srgbClr val="2F5D8A"/>
            </a:solidFill>
            <a:prstDash val="dash"/>
          </a:ln>
        </p:spPr>
      </p:sp>
      <p:sp>
        <p:nvSpPr>
          <p:cNvPr id="33" name="B s3 cub1-10"/>
          <p:cNvSpPr/>
          <p:nvPr/>
        </p:nvSpPr>
        <p:spPr>
          <a:xfrm>
            <a:off x="1294805" y="2584252"/>
            <a:ext cx="914" cy="614720"/>
          </a:xfrm>
          <a:prstGeom prst="line">
            <a:avLst/>
          </a:prstGeom>
          <a:noFill/>
          <a:ln w="19050">
            <a:solidFill>
              <a:srgbClr val="2F5D8A"/>
            </a:solidFill>
            <a:prstDash val="dash"/>
          </a:ln>
        </p:spPr>
      </p:sp>
      <p:sp>
        <p:nvSpPr>
          <p:cNvPr id="34" name="B s3 cub1-11"/>
          <p:cNvSpPr/>
          <p:nvPr/>
        </p:nvSpPr>
        <p:spPr>
          <a:xfrm>
            <a:off x="2239923" y="3129677"/>
            <a:ext cx="914" cy="614720"/>
          </a:xfrm>
          <a:prstGeom prst="line">
            <a:avLst/>
          </a:prstGeom>
          <a:noFill/>
          <a:ln w="19050">
            <a:solidFill>
              <a:srgbClr val="2F5D8A"/>
            </a:solidFill>
            <a:prstDash val="dash"/>
          </a:ln>
        </p:spPr>
      </p:sp>
      <p:sp>
        <p:nvSpPr>
          <p:cNvPr id="35" name="B s3 cub2-0"/>
          <p:cNvSpPr/>
          <p:nvPr/>
        </p:nvSpPr>
        <p:spPr>
          <a:xfrm>
            <a:off x="3316486" y="3551158"/>
            <a:ext cx="944761" cy="545425"/>
          </a:xfrm>
          <a:prstGeom prst="line">
            <a:avLst/>
          </a:prstGeom>
          <a:noFill/>
          <a:ln w="19050">
            <a:solidFill>
              <a:srgbClr val="2F5D8A"/>
            </a:solidFill>
            <a:prstDash val="dash"/>
          </a:ln>
        </p:spPr>
      </p:sp>
      <p:sp>
        <p:nvSpPr>
          <p:cNvPr id="36" name="B s3 cub2-1"/>
          <p:cNvSpPr/>
          <p:nvPr/>
        </p:nvSpPr>
        <p:spPr>
          <a:xfrm>
            <a:off x="2610683" y="3958709"/>
            <a:ext cx="945118" cy="545425"/>
          </a:xfrm>
          <a:prstGeom prst="line">
            <a:avLst/>
          </a:prstGeom>
          <a:noFill/>
          <a:ln w="19050">
            <a:solidFill>
              <a:srgbClr val="2F5D8A"/>
            </a:solidFill>
            <a:prstDash val="dash"/>
          </a:ln>
        </p:spPr>
      </p:sp>
      <p:sp>
        <p:nvSpPr>
          <p:cNvPr id="37" name="B s3 cub2-2"/>
          <p:cNvSpPr/>
          <p:nvPr/>
        </p:nvSpPr>
        <p:spPr>
          <a:xfrm>
            <a:off x="3316486" y="2936438"/>
            <a:ext cx="944761" cy="545425"/>
          </a:xfrm>
          <a:prstGeom prst="line">
            <a:avLst/>
          </a:prstGeom>
          <a:noFill/>
          <a:ln w="19050">
            <a:solidFill>
              <a:srgbClr val="2F5D8A"/>
            </a:solidFill>
            <a:prstDash val="dash"/>
          </a:ln>
        </p:spPr>
      </p:sp>
      <p:sp>
        <p:nvSpPr>
          <p:cNvPr id="38" name="B s3 cub2-3"/>
          <p:cNvSpPr/>
          <p:nvPr/>
        </p:nvSpPr>
        <p:spPr>
          <a:xfrm>
            <a:off x="2610683" y="3343989"/>
            <a:ext cx="945118" cy="545425"/>
          </a:xfrm>
          <a:prstGeom prst="line">
            <a:avLst/>
          </a:prstGeom>
          <a:noFill/>
          <a:ln w="19050">
            <a:solidFill>
              <a:srgbClr val="2F5D8A"/>
            </a:solidFill>
            <a:prstDash val="dash"/>
          </a:ln>
        </p:spPr>
      </p:sp>
      <p:sp>
        <p:nvSpPr>
          <p:cNvPr id="39" name="B s3 cub2-4"/>
          <p:cNvSpPr/>
          <p:nvPr/>
        </p:nvSpPr>
        <p:spPr>
          <a:xfrm flipV="1">
            <a:off x="2610683" y="3551158"/>
            <a:ext cx="705803" cy="407551"/>
          </a:xfrm>
          <a:prstGeom prst="line">
            <a:avLst/>
          </a:prstGeom>
          <a:noFill/>
          <a:ln w="19050">
            <a:solidFill>
              <a:srgbClr val="2F5D8A"/>
            </a:solidFill>
            <a:prstDash val="dash"/>
          </a:ln>
        </p:spPr>
      </p:sp>
      <p:sp>
        <p:nvSpPr>
          <p:cNvPr id="40" name="B s3 cub2-5"/>
          <p:cNvSpPr/>
          <p:nvPr/>
        </p:nvSpPr>
        <p:spPr>
          <a:xfrm flipV="1">
            <a:off x="3555802" y="4096583"/>
            <a:ext cx="705445" cy="407551"/>
          </a:xfrm>
          <a:prstGeom prst="line">
            <a:avLst/>
          </a:prstGeom>
          <a:noFill/>
          <a:ln w="19050">
            <a:solidFill>
              <a:srgbClr val="2F5D8A"/>
            </a:solidFill>
            <a:prstDash val="dash"/>
          </a:ln>
        </p:spPr>
      </p:sp>
      <p:sp>
        <p:nvSpPr>
          <p:cNvPr id="41" name="B s3 cub2-6"/>
          <p:cNvSpPr/>
          <p:nvPr/>
        </p:nvSpPr>
        <p:spPr>
          <a:xfrm flipV="1">
            <a:off x="2610683" y="2936438"/>
            <a:ext cx="705803" cy="407551"/>
          </a:xfrm>
          <a:prstGeom prst="line">
            <a:avLst/>
          </a:prstGeom>
          <a:noFill/>
          <a:ln w="19050">
            <a:solidFill>
              <a:srgbClr val="2F5D8A"/>
            </a:solidFill>
            <a:prstDash val="dash"/>
          </a:ln>
        </p:spPr>
      </p:sp>
      <p:sp>
        <p:nvSpPr>
          <p:cNvPr id="42" name="B s3 cub2-7"/>
          <p:cNvSpPr/>
          <p:nvPr/>
        </p:nvSpPr>
        <p:spPr>
          <a:xfrm flipV="1">
            <a:off x="3555802" y="3481864"/>
            <a:ext cx="705445" cy="407551"/>
          </a:xfrm>
          <a:prstGeom prst="line">
            <a:avLst/>
          </a:prstGeom>
          <a:noFill/>
          <a:ln w="19050">
            <a:solidFill>
              <a:srgbClr val="2F5D8A"/>
            </a:solidFill>
            <a:prstDash val="dash"/>
          </a:ln>
        </p:spPr>
      </p:sp>
      <p:sp>
        <p:nvSpPr>
          <p:cNvPr id="43" name="B s3 cub2-8"/>
          <p:cNvSpPr/>
          <p:nvPr/>
        </p:nvSpPr>
        <p:spPr>
          <a:xfrm>
            <a:off x="3316486" y="2936438"/>
            <a:ext cx="914" cy="614720"/>
          </a:xfrm>
          <a:prstGeom prst="line">
            <a:avLst/>
          </a:prstGeom>
          <a:noFill/>
          <a:ln w="19050">
            <a:solidFill>
              <a:srgbClr val="2F5D8A"/>
            </a:solidFill>
            <a:prstDash val="dash"/>
          </a:ln>
        </p:spPr>
      </p:sp>
      <p:sp>
        <p:nvSpPr>
          <p:cNvPr id="44" name="B s3 cub2-9"/>
          <p:cNvSpPr/>
          <p:nvPr/>
        </p:nvSpPr>
        <p:spPr>
          <a:xfrm>
            <a:off x="4261247" y="3481864"/>
            <a:ext cx="914" cy="614720"/>
          </a:xfrm>
          <a:prstGeom prst="line">
            <a:avLst/>
          </a:prstGeom>
          <a:noFill/>
          <a:ln w="19050">
            <a:solidFill>
              <a:srgbClr val="2F5D8A"/>
            </a:solidFill>
            <a:prstDash val="dash"/>
          </a:ln>
        </p:spPr>
      </p:sp>
      <p:sp>
        <p:nvSpPr>
          <p:cNvPr id="45" name="B s3 cub2-10"/>
          <p:cNvSpPr/>
          <p:nvPr/>
        </p:nvSpPr>
        <p:spPr>
          <a:xfrm>
            <a:off x="2610683" y="3343989"/>
            <a:ext cx="914" cy="614720"/>
          </a:xfrm>
          <a:prstGeom prst="line">
            <a:avLst/>
          </a:prstGeom>
          <a:noFill/>
          <a:ln w="19050">
            <a:solidFill>
              <a:srgbClr val="2F5D8A"/>
            </a:solidFill>
            <a:prstDash val="dash"/>
          </a:ln>
        </p:spPr>
      </p:sp>
      <p:sp>
        <p:nvSpPr>
          <p:cNvPr id="46" name="B s3 cub2-11"/>
          <p:cNvSpPr/>
          <p:nvPr/>
        </p:nvSpPr>
        <p:spPr>
          <a:xfrm>
            <a:off x="3555802" y="3889415"/>
            <a:ext cx="914" cy="614720"/>
          </a:xfrm>
          <a:prstGeom prst="line">
            <a:avLst/>
          </a:prstGeom>
          <a:noFill/>
          <a:ln w="19050">
            <a:solidFill>
              <a:srgbClr val="2F5D8A"/>
            </a:solidFill>
            <a:prstDash val="dash"/>
          </a:ln>
        </p:spPr>
      </p:sp>
      <p:sp>
        <p:nvSpPr>
          <p:cNvPr id="47" name="B s3 cub3-0"/>
          <p:cNvSpPr/>
          <p:nvPr/>
        </p:nvSpPr>
        <p:spPr>
          <a:xfrm>
            <a:off x="4632365" y="4310896"/>
            <a:ext cx="944761" cy="545425"/>
          </a:xfrm>
          <a:prstGeom prst="line">
            <a:avLst/>
          </a:prstGeom>
          <a:noFill/>
          <a:ln w="19050">
            <a:solidFill>
              <a:srgbClr val="2F5D8A"/>
            </a:solidFill>
            <a:prstDash val="dash"/>
          </a:ln>
        </p:spPr>
      </p:sp>
      <p:sp>
        <p:nvSpPr>
          <p:cNvPr id="48" name="B s3 cub3-1"/>
          <p:cNvSpPr/>
          <p:nvPr/>
        </p:nvSpPr>
        <p:spPr>
          <a:xfrm>
            <a:off x="3926562" y="4718090"/>
            <a:ext cx="944761" cy="545782"/>
          </a:xfrm>
          <a:prstGeom prst="line">
            <a:avLst/>
          </a:prstGeom>
          <a:noFill/>
          <a:ln w="19050">
            <a:solidFill>
              <a:srgbClr val="2F5D8A"/>
            </a:solidFill>
            <a:prstDash val="dash"/>
          </a:ln>
        </p:spPr>
      </p:sp>
      <p:sp>
        <p:nvSpPr>
          <p:cNvPr id="49" name="B s3 cub3-2"/>
          <p:cNvSpPr/>
          <p:nvPr/>
        </p:nvSpPr>
        <p:spPr>
          <a:xfrm>
            <a:off x="4632365" y="3696176"/>
            <a:ext cx="944761" cy="545425"/>
          </a:xfrm>
          <a:prstGeom prst="line">
            <a:avLst/>
          </a:prstGeom>
          <a:noFill/>
          <a:ln w="19050">
            <a:solidFill>
              <a:srgbClr val="2F5D8A"/>
            </a:solidFill>
            <a:prstDash val="dash"/>
          </a:ln>
        </p:spPr>
      </p:sp>
      <p:sp>
        <p:nvSpPr>
          <p:cNvPr id="50" name="B s3 cub3-3"/>
          <p:cNvSpPr/>
          <p:nvPr/>
        </p:nvSpPr>
        <p:spPr>
          <a:xfrm>
            <a:off x="3926562" y="4103727"/>
            <a:ext cx="944761" cy="545425"/>
          </a:xfrm>
          <a:prstGeom prst="line">
            <a:avLst/>
          </a:prstGeom>
          <a:noFill/>
          <a:ln w="19050">
            <a:solidFill>
              <a:srgbClr val="2F5D8A"/>
            </a:solidFill>
            <a:prstDash val="dash"/>
          </a:ln>
        </p:spPr>
      </p:sp>
      <p:sp>
        <p:nvSpPr>
          <p:cNvPr id="51" name="B s3 cub3-4"/>
          <p:cNvSpPr/>
          <p:nvPr/>
        </p:nvSpPr>
        <p:spPr>
          <a:xfrm flipV="1">
            <a:off x="3926562" y="4310896"/>
            <a:ext cx="705802" cy="407194"/>
          </a:xfrm>
          <a:prstGeom prst="line">
            <a:avLst/>
          </a:prstGeom>
          <a:noFill/>
          <a:ln w="19050">
            <a:solidFill>
              <a:srgbClr val="2F5D8A"/>
            </a:solidFill>
            <a:prstDash val="dash"/>
          </a:ln>
        </p:spPr>
      </p:sp>
      <p:sp>
        <p:nvSpPr>
          <p:cNvPr id="52" name="B s3 cub3-5"/>
          <p:cNvSpPr/>
          <p:nvPr/>
        </p:nvSpPr>
        <p:spPr>
          <a:xfrm flipV="1">
            <a:off x="4871323" y="4856321"/>
            <a:ext cx="705802" cy="407551"/>
          </a:xfrm>
          <a:prstGeom prst="line">
            <a:avLst/>
          </a:prstGeom>
          <a:noFill/>
          <a:ln w="19050">
            <a:solidFill>
              <a:srgbClr val="2F5D8A"/>
            </a:solidFill>
            <a:prstDash val="dash"/>
          </a:ln>
        </p:spPr>
      </p:sp>
      <p:sp>
        <p:nvSpPr>
          <p:cNvPr id="53" name="B s3 cub3-6"/>
          <p:cNvSpPr/>
          <p:nvPr/>
        </p:nvSpPr>
        <p:spPr>
          <a:xfrm flipV="1">
            <a:off x="3926562" y="3696176"/>
            <a:ext cx="705802" cy="407551"/>
          </a:xfrm>
          <a:prstGeom prst="line">
            <a:avLst/>
          </a:prstGeom>
          <a:noFill/>
          <a:ln w="19050">
            <a:solidFill>
              <a:srgbClr val="2F5D8A"/>
            </a:solidFill>
            <a:prstDash val="dash"/>
          </a:ln>
        </p:spPr>
      </p:sp>
      <p:sp>
        <p:nvSpPr>
          <p:cNvPr id="54" name="B s3 cub3-7"/>
          <p:cNvSpPr/>
          <p:nvPr/>
        </p:nvSpPr>
        <p:spPr>
          <a:xfrm flipV="1">
            <a:off x="4871323" y="4241602"/>
            <a:ext cx="705802" cy="407551"/>
          </a:xfrm>
          <a:prstGeom prst="line">
            <a:avLst/>
          </a:prstGeom>
          <a:noFill/>
          <a:ln w="19050">
            <a:solidFill>
              <a:srgbClr val="2F5D8A"/>
            </a:solidFill>
            <a:prstDash val="dash"/>
          </a:ln>
        </p:spPr>
      </p:sp>
      <p:sp>
        <p:nvSpPr>
          <p:cNvPr id="55" name="B s3 cub3-8"/>
          <p:cNvSpPr/>
          <p:nvPr/>
        </p:nvSpPr>
        <p:spPr>
          <a:xfrm>
            <a:off x="4632365" y="3696176"/>
            <a:ext cx="914" cy="614720"/>
          </a:xfrm>
          <a:prstGeom prst="line">
            <a:avLst/>
          </a:prstGeom>
          <a:noFill/>
          <a:ln w="19050">
            <a:solidFill>
              <a:srgbClr val="2F5D8A"/>
            </a:solidFill>
            <a:prstDash val="dash"/>
          </a:ln>
        </p:spPr>
      </p:sp>
      <p:sp>
        <p:nvSpPr>
          <p:cNvPr id="56" name="B s3 cub3-9"/>
          <p:cNvSpPr/>
          <p:nvPr/>
        </p:nvSpPr>
        <p:spPr>
          <a:xfrm>
            <a:off x="5577126" y="4241602"/>
            <a:ext cx="914" cy="614720"/>
          </a:xfrm>
          <a:prstGeom prst="line">
            <a:avLst/>
          </a:prstGeom>
          <a:noFill/>
          <a:ln w="19050">
            <a:solidFill>
              <a:srgbClr val="2F5D8A"/>
            </a:solidFill>
            <a:prstDash val="dash"/>
          </a:ln>
        </p:spPr>
      </p:sp>
      <p:sp>
        <p:nvSpPr>
          <p:cNvPr id="57" name="B s3 cub3-10"/>
          <p:cNvSpPr/>
          <p:nvPr/>
        </p:nvSpPr>
        <p:spPr>
          <a:xfrm>
            <a:off x="3926562" y="4103727"/>
            <a:ext cx="914" cy="614363"/>
          </a:xfrm>
          <a:prstGeom prst="line">
            <a:avLst/>
          </a:prstGeom>
          <a:noFill/>
          <a:ln w="19050">
            <a:solidFill>
              <a:srgbClr val="2F5D8A"/>
            </a:solidFill>
            <a:prstDash val="dash"/>
          </a:ln>
        </p:spPr>
      </p:sp>
      <p:sp>
        <p:nvSpPr>
          <p:cNvPr id="58" name="B s3 cub3-11"/>
          <p:cNvSpPr/>
          <p:nvPr/>
        </p:nvSpPr>
        <p:spPr>
          <a:xfrm>
            <a:off x="4871323" y="4649153"/>
            <a:ext cx="914" cy="614720"/>
          </a:xfrm>
          <a:prstGeom prst="line">
            <a:avLst/>
          </a:prstGeom>
          <a:noFill/>
          <a:ln w="19050">
            <a:solidFill>
              <a:srgbClr val="2F5D8A"/>
            </a:solidFill>
            <a:prstDash val="dash"/>
          </a:ln>
        </p:spPr>
      </p:sp>
      <p:sp>
        <p:nvSpPr>
          <p:cNvPr id="59" name="B s3 h1"/>
          <p:cNvSpPr/>
          <p:nvPr/>
        </p:nvSpPr>
        <p:spPr>
          <a:xfrm>
            <a:off x="1163360" y="2611755"/>
            <a:ext cx="914" cy="587216"/>
          </a:xfrm>
          <a:prstGeom prst="line">
            <a:avLst/>
          </a:prstGeom>
          <a:noFill/>
          <a:ln w="22225">
            <a:solidFill>
              <a:srgbClr val="2F5D8A"/>
            </a:solidFill>
            <a:prstDash val="solid"/>
            <a:headEnd type="triangle"/>
            <a:tailEnd type="triangle"/>
          </a:ln>
        </p:spPr>
      </p:sp>
      <p:sp>
        <p:nvSpPr>
          <p:cNvPr id="60" name="B s3 h1 t"/>
          <p:cNvSpPr txBox="1"/>
          <p:nvPr/>
        </p:nvSpPr>
        <p:spPr>
          <a:xfrm>
            <a:off x="627578" y="2851785"/>
            <a:ext cx="729691" cy="246888"/>
          </a:xfrm>
          <a:prstGeom prst="rect">
            <a:avLst/>
          </a:prstGeom>
          <a:solidFill>
            <a:srgbClr val="1D2D3D"/>
          </a:solidFill>
          <a:ln/>
        </p:spPr>
        <p:txBody>
          <a:bodyPr wrap="square" lIns="25400" tIns="25400" rIns="25400" bIns="25400" rtlCol="0" anchor="ctr"/>
          <a:lstStyle/>
          <a:p>
            <a:pPr algn="ctr" indent="0" marL="0">
              <a:buNone/>
            </a:pPr>
            <a:r>
              <a:rPr lang="en-US" sz="1100" b="1" dirty="0">
                <a:solidFill>
                  <a:schemeClr val="bg1"/>
                </a:solidFill>
              </a:rPr>
              <a:t>H 17 cm</a:t>
            </a:r>
            <a:endParaRPr lang="en-US" sz="1100" dirty="0"/>
          </a:p>
        </p:txBody>
      </p:sp>
      <p:sp>
        <p:nvSpPr>
          <p:cNvPr id="61" name="B s4 dent"/>
          <p:cNvSpPr/>
          <p:nvPr/>
        </p:nvSpPr>
        <p:spPr>
          <a:xfrm>
            <a:off x="3228618" y="3682603"/>
            <a:ext cx="624007" cy="508635"/>
          </a:xfrm>
          <a:prstGeom prst="rect">
            <a:avLst/>
          </a:prstGeom>
          <a:solidFill>
            <a:srgbClr val="FFFFFF">
              <a:alpha val="0"/>
            </a:srgbClr>
          </a:solidFill>
          <a:ln w="28575">
            <a:solidFill>
              <a:srgbClr val="E5463D"/>
            </a:solidFill>
            <a:prstDash val="solid"/>
          </a:ln>
        </p:spPr>
      </p:sp>
      <p:sp>
        <p:nvSpPr>
          <p:cNvPr id="62" name="B s4 dent t"/>
          <p:cNvSpPr txBox="1"/>
          <p:nvPr/>
        </p:nvSpPr>
        <p:spPr>
          <a:xfrm>
            <a:off x="3228618" y="3475434"/>
            <a:ext cx="1947672" cy="246888"/>
          </a:xfrm>
          <a:prstGeom prst="rect">
            <a:avLst/>
          </a:prstGeom>
          <a:solidFill>
            <a:srgbClr val="E5463D"/>
          </a:solidFill>
          <a:ln/>
        </p:spPr>
        <p:txBody>
          <a:bodyPr wrap="square" lIns="25400" tIns="25400" rIns="25400" bIns="25400" rtlCol="0" anchor="ctr"/>
          <a:lstStyle/>
          <a:p>
            <a:pPr algn="ctr" indent="0" marL="0">
              <a:buNone/>
            </a:pPr>
            <a:r>
              <a:rPr lang="en-US" sz="1100" b="1" dirty="0">
                <a:solidFill>
                  <a:schemeClr val="bg1"/>
                </a:solidFill>
              </a:rPr>
              <a:t>Crushed corner · 7 cm low</a:t>
            </a:r>
            <a:endParaRPr lang="en-US" sz="1100" dirty="0"/>
          </a:p>
        </p:txBody>
      </p:sp>
      <p:sp>
        <p:nvSpPr>
          <p:cNvPr id="63" name="B s5 c1"/>
          <p:cNvSpPr/>
          <p:nvPr/>
        </p:nvSpPr>
        <p:spPr>
          <a:xfrm>
            <a:off x="1314093" y="2203490"/>
            <a:ext cx="1612344" cy="1541978"/>
          </a:xfrm>
          <a:prstGeom prst="rect">
            <a:avLst/>
          </a:prstGeom>
          <a:solidFill>
            <a:srgbClr val="FFFFFF">
              <a:alpha val="0"/>
            </a:srgbClr>
          </a:solidFill>
          <a:ln w="28575">
            <a:solidFill>
              <a:srgbClr val="2F7D52"/>
            </a:solidFill>
            <a:prstDash val="solid"/>
          </a:ln>
        </p:spPr>
      </p:sp>
      <p:sp>
        <p:nvSpPr>
          <p:cNvPr id="64" name="B s5 t1"/>
          <p:cNvSpPr txBox="1"/>
          <p:nvPr/>
        </p:nvSpPr>
        <p:spPr>
          <a:xfrm>
            <a:off x="1314093" y="1996321"/>
            <a:ext cx="526694" cy="246888"/>
          </a:xfrm>
          <a:prstGeom prst="rect">
            <a:avLst/>
          </a:prstGeom>
          <a:solidFill>
            <a:srgbClr val="2F7D52"/>
          </a:solidFill>
          <a:ln/>
        </p:spPr>
        <p:txBody>
          <a:bodyPr wrap="square" lIns="25400" tIns="25400" rIns="25400" bIns="25400" rtlCol="0" anchor="ctr"/>
          <a:lstStyle/>
          <a:p>
            <a:pPr algn="ctr" indent="0" marL="0">
              <a:buNone/>
            </a:pPr>
            <a:r>
              <a:rPr lang="en-US" sz="1100" b="1" dirty="0">
                <a:solidFill>
                  <a:schemeClr val="bg1"/>
                </a:solidFill>
              </a:rPr>
              <a:t>Pass</a:t>
            </a:r>
            <a:endParaRPr lang="en-US" sz="1100" dirty="0"/>
          </a:p>
        </p:txBody>
      </p:sp>
      <p:sp>
        <p:nvSpPr>
          <p:cNvPr id="65" name="B s5 c2"/>
          <p:cNvSpPr/>
          <p:nvPr/>
        </p:nvSpPr>
        <p:spPr>
          <a:xfrm>
            <a:off x="2629972" y="2963228"/>
            <a:ext cx="1611987" cy="1541978"/>
          </a:xfrm>
          <a:prstGeom prst="rect">
            <a:avLst/>
          </a:prstGeom>
          <a:solidFill>
            <a:srgbClr val="FFFFFF">
              <a:alpha val="0"/>
            </a:srgbClr>
          </a:solidFill>
          <a:ln w="28575">
            <a:solidFill>
              <a:srgbClr val="E5463D"/>
            </a:solidFill>
            <a:prstDash val="solid"/>
          </a:ln>
        </p:spPr>
      </p:sp>
      <p:sp>
        <p:nvSpPr>
          <p:cNvPr id="66" name="B s5 t2"/>
          <p:cNvSpPr txBox="1"/>
          <p:nvPr/>
        </p:nvSpPr>
        <p:spPr>
          <a:xfrm>
            <a:off x="2629972" y="2756059"/>
            <a:ext cx="1338682" cy="246888"/>
          </a:xfrm>
          <a:prstGeom prst="rect">
            <a:avLst/>
          </a:prstGeom>
          <a:solidFill>
            <a:srgbClr val="E5463D"/>
          </a:solidFill>
          <a:ln/>
        </p:spPr>
        <p:txBody>
          <a:bodyPr wrap="square" lIns="25400" tIns="25400" rIns="25400" bIns="25400" rtlCol="0" anchor="ctr"/>
          <a:lstStyle/>
          <a:p>
            <a:pPr algn="ctr" indent="0" marL="0">
              <a:buNone/>
            </a:pPr>
            <a:r>
              <a:rPr lang="en-US" sz="1100" b="1" dirty="0">
                <a:solidFill>
                  <a:schemeClr val="bg1"/>
                </a:solidFill>
              </a:rPr>
              <a:t>Reject · crushed</a:t>
            </a:r>
            <a:endParaRPr lang="en-US" sz="1100" dirty="0"/>
          </a:p>
        </p:txBody>
      </p:sp>
      <p:sp>
        <p:nvSpPr>
          <p:cNvPr id="67" name="B s5 c3"/>
          <p:cNvSpPr/>
          <p:nvPr/>
        </p:nvSpPr>
        <p:spPr>
          <a:xfrm>
            <a:off x="3945850" y="3722608"/>
            <a:ext cx="1611987" cy="1541978"/>
          </a:xfrm>
          <a:prstGeom prst="rect">
            <a:avLst/>
          </a:prstGeom>
          <a:solidFill>
            <a:srgbClr val="FFFFFF">
              <a:alpha val="0"/>
            </a:srgbClr>
          </a:solidFill>
          <a:ln w="28575">
            <a:solidFill>
              <a:srgbClr val="E5463D"/>
            </a:solidFill>
            <a:prstDash val="solid"/>
          </a:ln>
        </p:spPr>
      </p:sp>
      <p:sp>
        <p:nvSpPr>
          <p:cNvPr id="68" name="B s5 t3"/>
          <p:cNvSpPr txBox="1"/>
          <p:nvPr/>
        </p:nvSpPr>
        <p:spPr>
          <a:xfrm>
            <a:off x="3945850" y="3515439"/>
            <a:ext cx="1609344" cy="246888"/>
          </a:xfrm>
          <a:prstGeom prst="rect">
            <a:avLst/>
          </a:prstGeom>
          <a:solidFill>
            <a:srgbClr val="E5463D"/>
          </a:solidFill>
          <a:ln/>
        </p:spPr>
        <p:txBody>
          <a:bodyPr wrap="square" lIns="25400" tIns="25400" rIns="25400" bIns="25400" rtlCol="0" anchor="ctr"/>
          <a:lstStyle/>
          <a:p>
            <a:pPr algn="ctr" indent="0" marL="0">
              <a:buNone/>
            </a:pPr>
            <a:r>
              <a:rPr lang="en-US" sz="1100" b="1" dirty="0">
                <a:solidFill>
                  <a:schemeClr val="bg1"/>
                </a:solidFill>
              </a:rPr>
              <a:t>Reject · wrong label</a:t>
            </a:r>
            <a:endParaRPr lang="en-US" sz="1100" dirty="0"/>
          </a:p>
        </p:txBody>
      </p:sp>
      <p:sp>
        <p:nvSpPr>
          <p:cNvPr id="69" name="B s5 sum"/>
          <p:cNvSpPr txBox="1"/>
          <p:nvPr/>
        </p:nvSpPr>
        <p:spPr>
          <a:xfrm>
            <a:off x="3870484" y="1743075"/>
            <a:ext cx="2177270" cy="365760"/>
          </a:xfrm>
          <a:prstGeom prst="rect">
            <a:avLst/>
          </a:prstGeom>
          <a:solidFill>
            <a:srgbClr val="1D2D3D"/>
          </a:solidFill>
          <a:ln/>
        </p:spPr>
        <p:txBody>
          <a:bodyPr wrap="square" lIns="25400" tIns="25400" rIns="25400" bIns="25400" rtlCol="0" anchor="ctr"/>
          <a:lstStyle/>
          <a:p>
            <a:pPr algn="ctr" indent="0" marL="0">
              <a:buNone/>
            </a:pPr>
            <a:r>
              <a:rPr lang="en-US" sz="1400" b="1" dirty="0">
                <a:solidFill>
                  <a:schemeClr val="bg1"/>
                </a:solidFill>
              </a:rPr>
              <a:t>Pass 1 · Reject 2</a:t>
            </a:r>
            <a:endParaRPr lang="en-US" sz="1400" dirty="0"/>
          </a:p>
        </p:txBody>
      </p:sp>
      <p:sp>
        <p:nvSpPr>
          <p:cNvPr id="70" name="B row 0 dot"/>
          <p:cNvSpPr/>
          <p:nvPr/>
        </p:nvSpPr>
        <p:spPr>
          <a:xfrm>
            <a:off x="6629400" y="1728216"/>
            <a:ext cx="402336" cy="402336"/>
          </a:xfrm>
          <a:prstGeom prst="ellipse">
            <a:avLst/>
          </a:prstGeom>
          <a:solidFill>
            <a:schemeClr val="tx2"/>
          </a:solidFill>
          <a:ln/>
        </p:spPr>
      </p:sp>
      <p:pic>
        <p:nvPicPr>
          <p:cNvPr id="71" name="B row 0 icon" descr="preencoded.png">    </p:cNvPr>
          <p:cNvPicPr>
            <a:picLocks noChangeAspect="1"/>
          </p:cNvPicPr>
          <p:nvPr/>
        </p:nvPicPr>
        <p:blipFill>
          <a:blip r:embed="rId3"/>
          <a:stretch>
            <a:fillRect/>
          </a:stretch>
        </p:blipFill>
        <p:spPr>
          <a:xfrm>
            <a:off x="6729984" y="1828800"/>
            <a:ext cx="201168" cy="201168"/>
          </a:xfrm>
          <a:prstGeom prst="rect">
            <a:avLst/>
          </a:prstGeom>
        </p:spPr>
      </p:pic>
      <p:sp>
        <p:nvSpPr>
          <p:cNvPr id="72" name="B row 0 text"/>
          <p:cNvSpPr txBox="1"/>
          <p:nvPr/>
        </p:nvSpPr>
        <p:spPr>
          <a:xfrm>
            <a:off x="7178040" y="1673352"/>
            <a:ext cx="4480560" cy="658368"/>
          </a:xfrm>
          <a:prstGeom prst="rect">
            <a:avLst/>
          </a:prstGeom>
          <a:noFill/>
          <a:ln/>
        </p:spPr>
        <p:txBody>
          <a:bodyPr wrap="square" lIns="0" tIns="0" rIns="0" bIns="0" rtlCol="0" anchor="t"/>
          <a:lstStyle/>
          <a:p>
            <a:pPr indent="0" marL="0">
              <a:buNone/>
            </a:pPr>
            <a:r>
              <a:rPr lang="en-US" sz="1600" b="1" dirty="0">
                <a:solidFill>
                  <a:schemeClr val="tx2"/>
                </a:solidFill>
              </a:rPr>
              <a:t>Count &amp; identify</a:t>
            </a:r>
            <a:endParaRPr lang="en-US" sz="1600" dirty="0"/>
          </a:p>
          <a:p>
            <a:pPr indent="0" marL="0">
              <a:buNone/>
            </a:pPr>
            <a:r>
              <a:rPr lang="en-US" sz="1300" dirty="0">
                <a:solidFill>
                  <a:schemeClr val="accent4"/>
                </a:solidFill>
              </a:rPr>
              <a:t>3 cartons, an ID each.</a:t>
            </a:r>
            <a:endParaRPr lang="en-US" sz="1600" dirty="0"/>
          </a:p>
        </p:txBody>
      </p:sp>
      <p:sp>
        <p:nvSpPr>
          <p:cNvPr id="73" name="B row 1 dot"/>
          <p:cNvSpPr/>
          <p:nvPr/>
        </p:nvSpPr>
        <p:spPr>
          <a:xfrm>
            <a:off x="6629400" y="2459736"/>
            <a:ext cx="402336" cy="402336"/>
          </a:xfrm>
          <a:prstGeom prst="ellipse">
            <a:avLst/>
          </a:prstGeom>
          <a:solidFill>
            <a:schemeClr val="tx2"/>
          </a:solidFill>
          <a:ln/>
        </p:spPr>
      </p:sp>
      <p:pic>
        <p:nvPicPr>
          <p:cNvPr id="74" name="B row 1 icon" descr="preencoded.png">    </p:cNvPr>
          <p:cNvPicPr>
            <a:picLocks noChangeAspect="1"/>
          </p:cNvPicPr>
          <p:nvPr/>
        </p:nvPicPr>
        <p:blipFill>
          <a:blip r:embed="rId4"/>
          <a:stretch>
            <a:fillRect/>
          </a:stretch>
        </p:blipFill>
        <p:spPr>
          <a:xfrm>
            <a:off x="6729984" y="2560320"/>
            <a:ext cx="201168" cy="201168"/>
          </a:xfrm>
          <a:prstGeom prst="rect">
            <a:avLst/>
          </a:prstGeom>
        </p:spPr>
      </p:pic>
      <p:sp>
        <p:nvSpPr>
          <p:cNvPr id="75" name="B row 1 text"/>
          <p:cNvSpPr txBox="1"/>
          <p:nvPr/>
        </p:nvSpPr>
        <p:spPr>
          <a:xfrm>
            <a:off x="7178040" y="2404872"/>
            <a:ext cx="4480560" cy="658368"/>
          </a:xfrm>
          <a:prstGeom prst="rect">
            <a:avLst/>
          </a:prstGeom>
          <a:noFill/>
          <a:ln/>
        </p:spPr>
        <p:txBody>
          <a:bodyPr wrap="square" lIns="0" tIns="0" rIns="0" bIns="0" rtlCol="0" anchor="t"/>
          <a:lstStyle/>
          <a:p>
            <a:pPr indent="0" marL="0">
              <a:buNone/>
            </a:pPr>
            <a:r>
              <a:rPr lang="en-US" sz="1600" b="1" dirty="0">
                <a:solidFill>
                  <a:schemeClr val="tx2"/>
                </a:solidFill>
              </a:rPr>
              <a:t>Length &amp; width</a:t>
            </a:r>
            <a:endParaRPr lang="en-US" sz="1600" dirty="0"/>
          </a:p>
          <a:p>
            <a:pPr indent="0" marL="0">
              <a:buNone/>
            </a:pPr>
            <a:r>
              <a:rPr lang="en-US" sz="1300" dirty="0">
                <a:solidFill>
                  <a:schemeClr val="accent4"/>
                </a:solidFill>
              </a:rPr>
              <a:t>From above: 30 × 22 cm, in range.</a:t>
            </a:r>
            <a:endParaRPr lang="en-US" sz="1600" dirty="0"/>
          </a:p>
        </p:txBody>
      </p:sp>
      <p:sp>
        <p:nvSpPr>
          <p:cNvPr id="76" name="B row 2 dot"/>
          <p:cNvSpPr/>
          <p:nvPr/>
        </p:nvSpPr>
        <p:spPr>
          <a:xfrm>
            <a:off x="6629400" y="3191256"/>
            <a:ext cx="402336" cy="402336"/>
          </a:xfrm>
          <a:prstGeom prst="ellipse">
            <a:avLst/>
          </a:prstGeom>
          <a:solidFill>
            <a:schemeClr val="tx2"/>
          </a:solidFill>
          <a:ln/>
        </p:spPr>
      </p:sp>
      <p:pic>
        <p:nvPicPr>
          <p:cNvPr id="77" name="B row 2 icon" descr="preencoded.png">    </p:cNvPr>
          <p:cNvPicPr>
            <a:picLocks noChangeAspect="1"/>
          </p:cNvPicPr>
          <p:nvPr/>
        </p:nvPicPr>
        <p:blipFill>
          <a:blip r:embed="rId5"/>
          <a:stretch>
            <a:fillRect/>
          </a:stretch>
        </p:blipFill>
        <p:spPr>
          <a:xfrm>
            <a:off x="6729984" y="3291840"/>
            <a:ext cx="201168" cy="201168"/>
          </a:xfrm>
          <a:prstGeom prst="rect">
            <a:avLst/>
          </a:prstGeom>
        </p:spPr>
      </p:pic>
      <p:sp>
        <p:nvSpPr>
          <p:cNvPr id="78" name="B row 2 text"/>
          <p:cNvSpPr txBox="1"/>
          <p:nvPr/>
        </p:nvSpPr>
        <p:spPr>
          <a:xfrm>
            <a:off x="7178040" y="3136392"/>
            <a:ext cx="4480560" cy="658368"/>
          </a:xfrm>
          <a:prstGeom prst="rect">
            <a:avLst/>
          </a:prstGeom>
          <a:noFill/>
          <a:ln/>
        </p:spPr>
        <p:txBody>
          <a:bodyPr wrap="square" lIns="0" tIns="0" rIns="0" bIns="0" rtlCol="0" anchor="t"/>
          <a:lstStyle/>
          <a:p>
            <a:pPr indent="0" marL="0">
              <a:buNone/>
            </a:pPr>
            <a:r>
              <a:rPr lang="en-US" sz="1600" b="1" dirty="0">
                <a:solidFill>
                  <a:schemeClr val="tx2"/>
                </a:solidFill>
              </a:rPr>
              <a:t>Label</a:t>
            </a:r>
            <a:endParaRPr lang="en-US" sz="1600" dirty="0"/>
          </a:p>
          <a:p>
            <a:pPr indent="0" marL="0">
              <a:buNone/>
            </a:pPr>
            <a:r>
              <a:rPr lang="en-US" sz="1300" dirty="0">
                <a:solidFill>
                  <a:schemeClr val="accent4"/>
                </a:solidFill>
              </a:rPr>
              <a:t>Label colour against the brand reference.</a:t>
            </a:r>
            <a:endParaRPr lang="en-US" sz="1600" dirty="0"/>
          </a:p>
        </p:txBody>
      </p:sp>
      <p:sp>
        <p:nvSpPr>
          <p:cNvPr id="79" name="B row 3 dot"/>
          <p:cNvSpPr/>
          <p:nvPr/>
        </p:nvSpPr>
        <p:spPr>
          <a:xfrm>
            <a:off x="6629400" y="3922776"/>
            <a:ext cx="402336" cy="402336"/>
          </a:xfrm>
          <a:prstGeom prst="ellipse">
            <a:avLst/>
          </a:prstGeom>
          <a:solidFill>
            <a:schemeClr val="tx2"/>
          </a:solidFill>
          <a:ln/>
        </p:spPr>
      </p:sp>
      <p:pic>
        <p:nvPicPr>
          <p:cNvPr id="80" name="B row 3 icon" descr="preencoded.png">    </p:cNvPr>
          <p:cNvPicPr>
            <a:picLocks noChangeAspect="1"/>
          </p:cNvPicPr>
          <p:nvPr/>
        </p:nvPicPr>
        <p:blipFill>
          <a:blip r:embed="rId6"/>
          <a:stretch>
            <a:fillRect/>
          </a:stretch>
        </p:blipFill>
        <p:spPr>
          <a:xfrm>
            <a:off x="6729984" y="4023360"/>
            <a:ext cx="201168" cy="201168"/>
          </a:xfrm>
          <a:prstGeom prst="rect">
            <a:avLst/>
          </a:prstGeom>
        </p:spPr>
      </p:pic>
      <p:sp>
        <p:nvSpPr>
          <p:cNvPr id="81" name="B row 3 text"/>
          <p:cNvSpPr txBox="1"/>
          <p:nvPr/>
        </p:nvSpPr>
        <p:spPr>
          <a:xfrm>
            <a:off x="7178040" y="3867912"/>
            <a:ext cx="4480560" cy="658368"/>
          </a:xfrm>
          <a:prstGeom prst="rect">
            <a:avLst/>
          </a:prstGeom>
          <a:noFill/>
          <a:ln/>
        </p:spPr>
        <p:txBody>
          <a:bodyPr wrap="square" lIns="0" tIns="0" rIns="0" bIns="0" rtlCol="0" anchor="t"/>
          <a:lstStyle/>
          <a:p>
            <a:pPr indent="0" marL="0">
              <a:buNone/>
            </a:pPr>
            <a:r>
              <a:rPr lang="en-US" sz="1600" b="1" dirty="0">
                <a:solidFill>
                  <a:schemeClr val="tx2"/>
                </a:solidFill>
              </a:rPr>
              <a:t>Height, in 3D</a:t>
            </a:r>
            <a:endParaRPr lang="en-US" sz="1600" dirty="0"/>
          </a:p>
          <a:p>
            <a:pPr indent="0" marL="0">
              <a:buNone/>
            </a:pPr>
            <a:r>
              <a:rPr lang="en-US" sz="1300" dirty="0">
                <a:solidFill>
                  <a:schemeClr val="accent4"/>
                </a:solidFill>
              </a:rPr>
              <a:t>17 cm, in range.</a:t>
            </a:r>
            <a:endParaRPr lang="en-US" sz="1600" dirty="0"/>
          </a:p>
        </p:txBody>
      </p:sp>
      <p:sp>
        <p:nvSpPr>
          <p:cNvPr id="82" name="B row 4 dot"/>
          <p:cNvSpPr/>
          <p:nvPr/>
        </p:nvSpPr>
        <p:spPr>
          <a:xfrm>
            <a:off x="6629400" y="4654296"/>
            <a:ext cx="402336" cy="402336"/>
          </a:xfrm>
          <a:prstGeom prst="ellipse">
            <a:avLst/>
          </a:prstGeom>
          <a:solidFill>
            <a:schemeClr val="tx2"/>
          </a:solidFill>
          <a:ln/>
        </p:spPr>
      </p:sp>
      <p:pic>
        <p:nvPicPr>
          <p:cNvPr id="83" name="B row 4 icon" descr="preencoded.png">    </p:cNvPr>
          <p:cNvPicPr>
            <a:picLocks noChangeAspect="1"/>
          </p:cNvPicPr>
          <p:nvPr/>
        </p:nvPicPr>
        <p:blipFill>
          <a:blip r:embed="rId7"/>
          <a:stretch>
            <a:fillRect/>
          </a:stretch>
        </p:blipFill>
        <p:spPr>
          <a:xfrm>
            <a:off x="6729984" y="4754880"/>
            <a:ext cx="201168" cy="201168"/>
          </a:xfrm>
          <a:prstGeom prst="rect">
            <a:avLst/>
          </a:prstGeom>
        </p:spPr>
      </p:pic>
      <p:sp>
        <p:nvSpPr>
          <p:cNvPr id="84" name="B row 4 text"/>
          <p:cNvSpPr txBox="1"/>
          <p:nvPr/>
        </p:nvSpPr>
        <p:spPr>
          <a:xfrm>
            <a:off x="7178040" y="4599432"/>
            <a:ext cx="4480560" cy="658368"/>
          </a:xfrm>
          <a:prstGeom prst="rect">
            <a:avLst/>
          </a:prstGeom>
          <a:noFill/>
          <a:ln/>
        </p:spPr>
        <p:txBody>
          <a:bodyPr wrap="square" lIns="0" tIns="0" rIns="0" bIns="0" rtlCol="0" anchor="t"/>
          <a:lstStyle/>
          <a:p>
            <a:pPr indent="0" marL="0">
              <a:buNone/>
            </a:pPr>
            <a:r>
              <a:rPr lang="en-US" sz="1600" b="1" dirty="0">
                <a:solidFill>
                  <a:schemeClr val="tx2"/>
                </a:solidFill>
              </a:rPr>
              <a:t>Crushed corner</a:t>
            </a:r>
            <a:endParaRPr lang="en-US" sz="1600" dirty="0"/>
          </a:p>
          <a:p>
            <a:pPr indent="0" marL="0">
              <a:buNone/>
            </a:pPr>
            <a:r>
              <a:rPr lang="en-US" sz="1300" dirty="0">
                <a:solidFill>
                  <a:schemeClr val="accent4"/>
                </a:solidFill>
              </a:rPr>
              <a:t>Found by height: one corner 7 cm low.</a:t>
            </a:r>
            <a:endParaRPr lang="en-US" sz="1600" dirty="0"/>
          </a:p>
        </p:txBody>
      </p:sp>
      <p:sp>
        <p:nvSpPr>
          <p:cNvPr id="85" name="B row 5 dot"/>
          <p:cNvSpPr/>
          <p:nvPr/>
        </p:nvSpPr>
        <p:spPr>
          <a:xfrm>
            <a:off x="6629400" y="5385816"/>
            <a:ext cx="402336" cy="402336"/>
          </a:xfrm>
          <a:prstGeom prst="ellipse">
            <a:avLst/>
          </a:prstGeom>
          <a:solidFill>
            <a:schemeClr val="tx2"/>
          </a:solidFill>
          <a:ln/>
        </p:spPr>
      </p:sp>
      <p:pic>
        <p:nvPicPr>
          <p:cNvPr id="86" name="B row 5 icon" descr="preencoded.png">    </p:cNvPr>
          <p:cNvPicPr>
            <a:picLocks noChangeAspect="1"/>
          </p:cNvPicPr>
          <p:nvPr/>
        </p:nvPicPr>
        <p:blipFill>
          <a:blip r:embed="rId8"/>
          <a:stretch>
            <a:fillRect/>
          </a:stretch>
        </p:blipFill>
        <p:spPr>
          <a:xfrm>
            <a:off x="6729984" y="5486400"/>
            <a:ext cx="201168" cy="201168"/>
          </a:xfrm>
          <a:prstGeom prst="rect">
            <a:avLst/>
          </a:prstGeom>
        </p:spPr>
      </p:pic>
      <p:sp>
        <p:nvSpPr>
          <p:cNvPr id="87" name="B row 5 text"/>
          <p:cNvSpPr txBox="1"/>
          <p:nvPr/>
        </p:nvSpPr>
        <p:spPr>
          <a:xfrm>
            <a:off x="7178040" y="5330952"/>
            <a:ext cx="4480560" cy="658368"/>
          </a:xfrm>
          <a:prstGeom prst="rect">
            <a:avLst/>
          </a:prstGeom>
          <a:noFill/>
          <a:ln/>
        </p:spPr>
        <p:txBody>
          <a:bodyPr wrap="square" lIns="0" tIns="0" rIns="0" bIns="0" rtlCol="0" anchor="t"/>
          <a:lstStyle/>
          <a:p>
            <a:pPr indent="0" marL="0">
              <a:buNone/>
            </a:pPr>
            <a:r>
              <a:rPr lang="en-US" sz="1600" b="1" dirty="0">
                <a:solidFill>
                  <a:schemeClr val="tx2"/>
                </a:solidFill>
              </a:rPr>
              <a:t>Verdict</a:t>
            </a:r>
            <a:endParaRPr lang="en-US" sz="1600" dirty="0"/>
          </a:p>
          <a:p>
            <a:pPr indent="0" marL="0">
              <a:buNone/>
            </a:pPr>
            <a:r>
              <a:rPr lang="en-US" sz="1300" dirty="0">
                <a:solidFill>
                  <a:schemeClr val="accent4"/>
                </a:solidFill>
              </a:rPr>
              <a:t>1 pass, 2 rejected. Logged to the shift report.</a:t>
            </a:r>
            <a:endParaRPr lang="en-US" sz="1600" dirty="0"/>
          </a:p>
        </p:txBody>
      </p:sp>
      <p:sp>
        <p:nvSpPr>
          <p:cNvPr id="88" name="Text 78"/>
          <p:cNvSpPr txBox="1"/>
          <p:nvPr/>
        </p:nvSpPr>
        <p:spPr>
          <a:xfrm>
            <a:off x="6629400" y="6172200"/>
            <a:ext cx="5029200" cy="228600"/>
          </a:xfrm>
          <a:prstGeom prst="rect">
            <a:avLst/>
          </a:prstGeom>
          <a:noFill/>
          <a:ln/>
        </p:spPr>
        <p:txBody>
          <a:bodyPr wrap="square" lIns="0" tIns="0" rIns="0" bIns="0" rtlCol="0" anchor="ctr"/>
          <a:lstStyle/>
          <a:p>
            <a:pPr indent="0" marL="0">
              <a:buNone/>
            </a:pPr>
            <a:r>
              <a:rPr lang="en-US" sz="900" dirty="0">
                <a:solidFill>
                  <a:schemeClr val="accent6"/>
                </a:solidFill>
              </a:rPr>
              <a:t>Option B · generated product, MetriQ readings drawn for illustration.</a:t>
            </a:r>
            <a:endParaRPr lang="en-US" sz="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450"/>
                                        <p:tgtEl>
                                          <p:spTgt spid="7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450"/>
                                        <p:tgtEl>
                                          <p:spTgt spid="7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450"/>
                                        <p:tgtEl>
                                          <p:spTgt spid="7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45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par>
                                <p:cTn id="32" presetID="10" presetClass="exit" presetSubtype="0" fill="hold" grpId="1" nodeType="withEffect">
                                  <p:stCondLst>
                                    <p:cond delay="2600"/>
                                  </p:stCondLst>
                                  <p:childTnLst>
                                    <p:animEffect transition="out" filter="fade">
                                      <p:cBhvr>
                                        <p:cTn id="33" dur="450"/>
                                        <p:tgtEl>
                                          <p:spTgt spid="7"/>
                                        </p:tgtEl>
                                      </p:cBhvr>
                                    </p:animEffect>
                                    <p:set>
                                      <p:cBhvr>
                                        <p:cTn id="34" dur="1" fill="hold">
                                          <p:stCondLst>
                                            <p:cond delay="449"/>
                                          </p:stCondLst>
                                        </p:cTn>
                                        <p:tgtEl>
                                          <p:spTgt spid="7"/>
                                        </p:tgtEl>
                                        <p:attrNameLst>
                                          <p:attrName>style.visibility</p:attrName>
                                        </p:attrNameLst>
                                      </p:cBhvr>
                                      <p:to>
                                        <p:strVal val="hidden"/>
                                      </p:to>
                                    </p:set>
                                  </p:childTnLst>
                                </p:cTn>
                              </p:par>
                              <p:par>
                                <p:cTn id="35" presetID="10" presetClass="exit" presetSubtype="0" fill="hold" grpId="1" nodeType="withEffect">
                                  <p:stCondLst>
                                    <p:cond delay="2600"/>
                                  </p:stCondLst>
                                  <p:childTnLst>
                                    <p:animEffect transition="out" filter="fade">
                                      <p:cBhvr>
                                        <p:cTn id="36" dur="450"/>
                                        <p:tgtEl>
                                          <p:spTgt spid="8"/>
                                        </p:tgtEl>
                                      </p:cBhvr>
                                    </p:animEffect>
                                    <p:set>
                                      <p:cBhvr>
                                        <p:cTn id="37" dur="1" fill="hold">
                                          <p:stCondLst>
                                            <p:cond delay="449"/>
                                          </p:stCondLst>
                                        </p:cTn>
                                        <p:tgtEl>
                                          <p:spTgt spid="8"/>
                                        </p:tgtEl>
                                        <p:attrNameLst>
                                          <p:attrName>style.visibility</p:attrName>
                                        </p:attrNameLst>
                                      </p:cBhvr>
                                      <p:to>
                                        <p:strVal val="hidden"/>
                                      </p:to>
                                    </p:set>
                                  </p:childTnLst>
                                </p:cTn>
                              </p:par>
                              <p:par>
                                <p:cTn id="38" presetID="10" presetClass="exit" presetSubtype="0" fill="hold" grpId="1" nodeType="withEffect">
                                  <p:stCondLst>
                                    <p:cond delay="2600"/>
                                  </p:stCondLst>
                                  <p:childTnLst>
                                    <p:animEffect transition="out" filter="fade">
                                      <p:cBhvr>
                                        <p:cTn id="39" dur="450"/>
                                        <p:tgtEl>
                                          <p:spTgt spid="9"/>
                                        </p:tgtEl>
                                      </p:cBhvr>
                                    </p:animEffect>
                                    <p:set>
                                      <p:cBhvr>
                                        <p:cTn id="40" dur="1" fill="hold">
                                          <p:stCondLst>
                                            <p:cond delay="449"/>
                                          </p:stCondLst>
                                        </p:cTn>
                                        <p:tgtEl>
                                          <p:spTgt spid="9"/>
                                        </p:tgtEl>
                                        <p:attrNameLst>
                                          <p:attrName>style.visibility</p:attrName>
                                        </p:attrNameLst>
                                      </p:cBhvr>
                                      <p:to>
                                        <p:strVal val="hidden"/>
                                      </p:to>
                                    </p:set>
                                  </p:childTnLst>
                                </p:cTn>
                              </p:par>
                              <p:par>
                                <p:cTn id="41" presetID="10" presetClass="exit" presetSubtype="0" fill="hold" grpId="1" nodeType="withEffect">
                                  <p:stCondLst>
                                    <p:cond delay="2600"/>
                                  </p:stCondLst>
                                  <p:childTnLst>
                                    <p:animEffect transition="out" filter="fade">
                                      <p:cBhvr>
                                        <p:cTn id="42" dur="450"/>
                                        <p:tgtEl>
                                          <p:spTgt spid="10"/>
                                        </p:tgtEl>
                                      </p:cBhvr>
                                    </p:animEffect>
                                    <p:set>
                                      <p:cBhvr>
                                        <p:cTn id="43" dur="1" fill="hold">
                                          <p:stCondLst>
                                            <p:cond delay="449"/>
                                          </p:stCondLst>
                                        </p:cTn>
                                        <p:tgtEl>
                                          <p:spTgt spid="10"/>
                                        </p:tgtEl>
                                        <p:attrNameLst>
                                          <p:attrName>style.visibility</p:attrName>
                                        </p:attrNameLst>
                                      </p:cBhvr>
                                      <p:to>
                                        <p:strVal val="hidden"/>
                                      </p:to>
                                    </p:set>
                                  </p:childTnLst>
                                </p:cTn>
                              </p:par>
                              <p:par>
                                <p:cTn id="44" presetID="10" presetClass="exit" presetSubtype="0" fill="hold" grpId="1" nodeType="withEffect">
                                  <p:stCondLst>
                                    <p:cond delay="2600"/>
                                  </p:stCondLst>
                                  <p:childTnLst>
                                    <p:animEffect transition="out" filter="fade">
                                      <p:cBhvr>
                                        <p:cTn id="45" dur="450"/>
                                        <p:tgtEl>
                                          <p:spTgt spid="11"/>
                                        </p:tgtEl>
                                      </p:cBhvr>
                                    </p:animEffect>
                                    <p:set>
                                      <p:cBhvr>
                                        <p:cTn id="46" dur="1" fill="hold">
                                          <p:stCondLst>
                                            <p:cond delay="449"/>
                                          </p:stCondLst>
                                        </p:cTn>
                                        <p:tgtEl>
                                          <p:spTgt spid="11"/>
                                        </p:tgtEl>
                                        <p:attrNameLst>
                                          <p:attrName>style.visibility</p:attrName>
                                        </p:attrNameLst>
                                      </p:cBhvr>
                                      <p:to>
                                        <p:strVal val="hidden"/>
                                      </p:to>
                                    </p:set>
                                  </p:childTnLst>
                                </p:cTn>
                              </p:par>
                              <p:par>
                                <p:cTn id="47" presetID="10" presetClass="exit" presetSubtype="0" fill="hold" grpId="1" nodeType="withEffect">
                                  <p:stCondLst>
                                    <p:cond delay="2600"/>
                                  </p:stCondLst>
                                  <p:childTnLst>
                                    <p:animEffect transition="out" filter="fade">
                                      <p:cBhvr>
                                        <p:cTn id="48" dur="450"/>
                                        <p:tgtEl>
                                          <p:spTgt spid="12"/>
                                        </p:tgtEl>
                                      </p:cBhvr>
                                    </p:animEffect>
                                    <p:set>
                                      <p:cBhvr>
                                        <p:cTn id="49" dur="1" fill="hold">
                                          <p:stCondLst>
                                            <p:cond delay="449"/>
                                          </p:stCondLst>
                                        </p:cTn>
                                        <p:tgtEl>
                                          <p:spTgt spid="12"/>
                                        </p:tgtEl>
                                        <p:attrNameLst>
                                          <p:attrName>style.visibility</p:attrName>
                                        </p:attrNameLst>
                                      </p:cBhvr>
                                      <p:to>
                                        <p:strVal val="hidden"/>
                                      </p:to>
                                    </p:set>
                                  </p:childTnLst>
                                </p:cTn>
                              </p:par>
                              <p:par>
                                <p:cTn id="50" presetID="10" presetClass="entr" presetSubtype="0" fill="hold" grpId="0" nodeType="withEffect">
                                  <p:stCondLst>
                                    <p:cond delay="2600"/>
                                  </p:stCondLst>
                                  <p:childTnLst>
                                    <p:set>
                                      <p:cBhvr>
                                        <p:cTn id="51" dur="1" fill="hold">
                                          <p:stCondLst>
                                            <p:cond delay="0"/>
                                          </p:stCondLst>
                                        </p:cTn>
                                        <p:tgtEl>
                                          <p:spTgt spid="73"/>
                                        </p:tgtEl>
                                        <p:attrNameLst>
                                          <p:attrName>style.visibility</p:attrName>
                                        </p:attrNameLst>
                                      </p:cBhvr>
                                      <p:to>
                                        <p:strVal val="visible"/>
                                      </p:to>
                                    </p:set>
                                    <p:animEffect transition="in" filter="fade">
                                      <p:cBhvr>
                                        <p:cTn id="52" dur="450"/>
                                        <p:tgtEl>
                                          <p:spTgt spid="73"/>
                                        </p:tgtEl>
                                      </p:cBhvr>
                                    </p:animEffect>
                                  </p:childTnLst>
                                </p:cTn>
                              </p:par>
                              <p:par>
                                <p:cTn id="53" presetID="10" presetClass="entr" presetSubtype="0" fill="hold" grpId="0" nodeType="withEffect">
                                  <p:stCondLst>
                                    <p:cond delay="2600"/>
                                  </p:stCondLst>
                                  <p:childTnLst>
                                    <p:set>
                                      <p:cBhvr>
                                        <p:cTn id="54" dur="1" fill="hold">
                                          <p:stCondLst>
                                            <p:cond delay="0"/>
                                          </p:stCondLst>
                                        </p:cTn>
                                        <p:tgtEl>
                                          <p:spTgt spid="74"/>
                                        </p:tgtEl>
                                        <p:attrNameLst>
                                          <p:attrName>style.visibility</p:attrName>
                                        </p:attrNameLst>
                                      </p:cBhvr>
                                      <p:to>
                                        <p:strVal val="visible"/>
                                      </p:to>
                                    </p:set>
                                    <p:animEffect transition="in" filter="fade">
                                      <p:cBhvr>
                                        <p:cTn id="55" dur="450"/>
                                        <p:tgtEl>
                                          <p:spTgt spid="74"/>
                                        </p:tgtEl>
                                      </p:cBhvr>
                                    </p:animEffect>
                                  </p:childTnLst>
                                </p:cTn>
                              </p:par>
                              <p:par>
                                <p:cTn id="56" presetID="10" presetClass="entr" presetSubtype="0" fill="hold" grpId="0" nodeType="withEffect">
                                  <p:stCondLst>
                                    <p:cond delay="2600"/>
                                  </p:stCondLst>
                                  <p:childTnLst>
                                    <p:set>
                                      <p:cBhvr>
                                        <p:cTn id="57" dur="1" fill="hold">
                                          <p:stCondLst>
                                            <p:cond delay="0"/>
                                          </p:stCondLst>
                                        </p:cTn>
                                        <p:tgtEl>
                                          <p:spTgt spid="75"/>
                                        </p:tgtEl>
                                        <p:attrNameLst>
                                          <p:attrName>style.visibility</p:attrName>
                                        </p:attrNameLst>
                                      </p:cBhvr>
                                      <p:to>
                                        <p:strVal val="visible"/>
                                      </p:to>
                                    </p:set>
                                    <p:animEffect transition="in" filter="fade">
                                      <p:cBhvr>
                                        <p:cTn id="58" dur="450"/>
                                        <p:tgtEl>
                                          <p:spTgt spid="75"/>
                                        </p:tgtEl>
                                      </p:cBhvr>
                                    </p:animEffect>
                                  </p:childTnLst>
                                </p:cTn>
                              </p:par>
                              <p:par>
                                <p:cTn id="59" presetID="10" presetClass="entr" presetSubtype="0" fill="hold" grpId="0" nodeType="withEffect">
                                  <p:stCondLst>
                                    <p:cond delay="260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450"/>
                                        <p:tgtEl>
                                          <p:spTgt spid="13"/>
                                        </p:tgtEl>
                                      </p:cBhvr>
                                    </p:animEffect>
                                  </p:childTnLst>
                                </p:cTn>
                              </p:par>
                              <p:par>
                                <p:cTn id="62" presetID="10" presetClass="entr" presetSubtype="0" fill="hold" grpId="0" nodeType="withEffect">
                                  <p:stCondLst>
                                    <p:cond delay="260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450"/>
                                        <p:tgtEl>
                                          <p:spTgt spid="14"/>
                                        </p:tgtEl>
                                      </p:cBhvr>
                                    </p:animEffect>
                                  </p:childTnLst>
                                </p:cTn>
                              </p:par>
                              <p:par>
                                <p:cTn id="65" presetID="10" presetClass="entr" presetSubtype="0" fill="hold" grpId="0" nodeType="withEffect">
                                  <p:stCondLst>
                                    <p:cond delay="260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450"/>
                                        <p:tgtEl>
                                          <p:spTgt spid="15"/>
                                        </p:tgtEl>
                                      </p:cBhvr>
                                    </p:animEffect>
                                  </p:childTnLst>
                                </p:cTn>
                              </p:par>
                              <p:par>
                                <p:cTn id="68" presetID="10" presetClass="entr" presetSubtype="0" fill="hold" grpId="0" nodeType="withEffect">
                                  <p:stCondLst>
                                    <p:cond delay="260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450"/>
                                        <p:tgtEl>
                                          <p:spTgt spid="16"/>
                                        </p:tgtEl>
                                      </p:cBhvr>
                                    </p:animEffect>
                                  </p:childTnLst>
                                </p:cTn>
                              </p:par>
                              <p:par>
                                <p:cTn id="71" presetID="10" presetClass="exit" presetSubtype="0" fill="hold" grpId="1" nodeType="withEffect">
                                  <p:stCondLst>
                                    <p:cond delay="5200"/>
                                  </p:stCondLst>
                                  <p:childTnLst>
                                    <p:animEffect transition="out" filter="fade">
                                      <p:cBhvr>
                                        <p:cTn id="72" dur="450"/>
                                        <p:tgtEl>
                                          <p:spTgt spid="13"/>
                                        </p:tgtEl>
                                      </p:cBhvr>
                                    </p:animEffect>
                                    <p:set>
                                      <p:cBhvr>
                                        <p:cTn id="73" dur="1" fill="hold">
                                          <p:stCondLst>
                                            <p:cond delay="449"/>
                                          </p:stCondLst>
                                        </p:cTn>
                                        <p:tgtEl>
                                          <p:spTgt spid="13"/>
                                        </p:tgtEl>
                                        <p:attrNameLst>
                                          <p:attrName>style.visibility</p:attrName>
                                        </p:attrNameLst>
                                      </p:cBhvr>
                                      <p:to>
                                        <p:strVal val="hidden"/>
                                      </p:to>
                                    </p:set>
                                  </p:childTnLst>
                                </p:cTn>
                              </p:par>
                              <p:par>
                                <p:cTn id="74" presetID="10" presetClass="exit" presetSubtype="0" fill="hold" grpId="1" nodeType="withEffect">
                                  <p:stCondLst>
                                    <p:cond delay="5200"/>
                                  </p:stCondLst>
                                  <p:childTnLst>
                                    <p:animEffect transition="out" filter="fade">
                                      <p:cBhvr>
                                        <p:cTn id="75" dur="450"/>
                                        <p:tgtEl>
                                          <p:spTgt spid="14"/>
                                        </p:tgtEl>
                                      </p:cBhvr>
                                    </p:animEffect>
                                    <p:set>
                                      <p:cBhvr>
                                        <p:cTn id="76" dur="1" fill="hold">
                                          <p:stCondLst>
                                            <p:cond delay="449"/>
                                          </p:stCondLst>
                                        </p:cTn>
                                        <p:tgtEl>
                                          <p:spTgt spid="14"/>
                                        </p:tgtEl>
                                        <p:attrNameLst>
                                          <p:attrName>style.visibility</p:attrName>
                                        </p:attrNameLst>
                                      </p:cBhvr>
                                      <p:to>
                                        <p:strVal val="hidden"/>
                                      </p:to>
                                    </p:set>
                                  </p:childTnLst>
                                </p:cTn>
                              </p:par>
                              <p:par>
                                <p:cTn id="77" presetID="10" presetClass="exit" presetSubtype="0" fill="hold" grpId="1" nodeType="withEffect">
                                  <p:stCondLst>
                                    <p:cond delay="5200"/>
                                  </p:stCondLst>
                                  <p:childTnLst>
                                    <p:animEffect transition="out" filter="fade">
                                      <p:cBhvr>
                                        <p:cTn id="78" dur="450"/>
                                        <p:tgtEl>
                                          <p:spTgt spid="15"/>
                                        </p:tgtEl>
                                      </p:cBhvr>
                                    </p:animEffect>
                                    <p:set>
                                      <p:cBhvr>
                                        <p:cTn id="79" dur="1" fill="hold">
                                          <p:stCondLst>
                                            <p:cond delay="449"/>
                                          </p:stCondLst>
                                        </p:cTn>
                                        <p:tgtEl>
                                          <p:spTgt spid="15"/>
                                        </p:tgtEl>
                                        <p:attrNameLst>
                                          <p:attrName>style.visibility</p:attrName>
                                        </p:attrNameLst>
                                      </p:cBhvr>
                                      <p:to>
                                        <p:strVal val="hidden"/>
                                      </p:to>
                                    </p:set>
                                  </p:childTnLst>
                                </p:cTn>
                              </p:par>
                              <p:par>
                                <p:cTn id="80" presetID="10" presetClass="exit" presetSubtype="0" fill="hold" grpId="1" nodeType="withEffect">
                                  <p:stCondLst>
                                    <p:cond delay="5200"/>
                                  </p:stCondLst>
                                  <p:childTnLst>
                                    <p:animEffect transition="out" filter="fade">
                                      <p:cBhvr>
                                        <p:cTn id="81" dur="450"/>
                                        <p:tgtEl>
                                          <p:spTgt spid="16"/>
                                        </p:tgtEl>
                                      </p:cBhvr>
                                    </p:animEffect>
                                    <p:set>
                                      <p:cBhvr>
                                        <p:cTn id="82" dur="1" fill="hold">
                                          <p:stCondLst>
                                            <p:cond delay="449"/>
                                          </p:stCondLst>
                                        </p:cTn>
                                        <p:tgtEl>
                                          <p:spTgt spid="16"/>
                                        </p:tgtEl>
                                        <p:attrNameLst>
                                          <p:attrName>style.visibility</p:attrName>
                                        </p:attrNameLst>
                                      </p:cBhvr>
                                      <p:to>
                                        <p:strVal val="hidden"/>
                                      </p:to>
                                    </p:set>
                                  </p:childTnLst>
                                </p:cTn>
                              </p:par>
                              <p:par>
                                <p:cTn id="83" presetID="10" presetClass="entr" presetSubtype="0" fill="hold" grpId="0" nodeType="withEffect">
                                  <p:stCondLst>
                                    <p:cond delay="5200"/>
                                  </p:stCondLst>
                                  <p:childTnLst>
                                    <p:set>
                                      <p:cBhvr>
                                        <p:cTn id="84" dur="1" fill="hold">
                                          <p:stCondLst>
                                            <p:cond delay="0"/>
                                          </p:stCondLst>
                                        </p:cTn>
                                        <p:tgtEl>
                                          <p:spTgt spid="76"/>
                                        </p:tgtEl>
                                        <p:attrNameLst>
                                          <p:attrName>style.visibility</p:attrName>
                                        </p:attrNameLst>
                                      </p:cBhvr>
                                      <p:to>
                                        <p:strVal val="visible"/>
                                      </p:to>
                                    </p:set>
                                    <p:animEffect transition="in" filter="fade">
                                      <p:cBhvr>
                                        <p:cTn id="85" dur="450"/>
                                        <p:tgtEl>
                                          <p:spTgt spid="76"/>
                                        </p:tgtEl>
                                      </p:cBhvr>
                                    </p:animEffect>
                                  </p:childTnLst>
                                </p:cTn>
                              </p:par>
                              <p:par>
                                <p:cTn id="86" presetID="10" presetClass="entr" presetSubtype="0" fill="hold" grpId="0" nodeType="withEffect">
                                  <p:stCondLst>
                                    <p:cond delay="5200"/>
                                  </p:stCondLst>
                                  <p:childTnLst>
                                    <p:set>
                                      <p:cBhvr>
                                        <p:cTn id="87" dur="1" fill="hold">
                                          <p:stCondLst>
                                            <p:cond delay="0"/>
                                          </p:stCondLst>
                                        </p:cTn>
                                        <p:tgtEl>
                                          <p:spTgt spid="77"/>
                                        </p:tgtEl>
                                        <p:attrNameLst>
                                          <p:attrName>style.visibility</p:attrName>
                                        </p:attrNameLst>
                                      </p:cBhvr>
                                      <p:to>
                                        <p:strVal val="visible"/>
                                      </p:to>
                                    </p:set>
                                    <p:animEffect transition="in" filter="fade">
                                      <p:cBhvr>
                                        <p:cTn id="88" dur="450"/>
                                        <p:tgtEl>
                                          <p:spTgt spid="77"/>
                                        </p:tgtEl>
                                      </p:cBhvr>
                                    </p:animEffect>
                                  </p:childTnLst>
                                </p:cTn>
                              </p:par>
                              <p:par>
                                <p:cTn id="89" presetID="10" presetClass="entr" presetSubtype="0" fill="hold" grpId="0" nodeType="withEffect">
                                  <p:stCondLst>
                                    <p:cond delay="5200"/>
                                  </p:stCondLst>
                                  <p:childTnLst>
                                    <p:set>
                                      <p:cBhvr>
                                        <p:cTn id="90" dur="1" fill="hold">
                                          <p:stCondLst>
                                            <p:cond delay="0"/>
                                          </p:stCondLst>
                                        </p:cTn>
                                        <p:tgtEl>
                                          <p:spTgt spid="78"/>
                                        </p:tgtEl>
                                        <p:attrNameLst>
                                          <p:attrName>style.visibility</p:attrName>
                                        </p:attrNameLst>
                                      </p:cBhvr>
                                      <p:to>
                                        <p:strVal val="visible"/>
                                      </p:to>
                                    </p:set>
                                    <p:animEffect transition="in" filter="fade">
                                      <p:cBhvr>
                                        <p:cTn id="91" dur="450"/>
                                        <p:tgtEl>
                                          <p:spTgt spid="78"/>
                                        </p:tgtEl>
                                      </p:cBhvr>
                                    </p:animEffect>
                                  </p:childTnLst>
                                </p:cTn>
                              </p:par>
                              <p:par>
                                <p:cTn id="92" presetID="10" presetClass="entr" presetSubtype="0" fill="hold" grpId="0" nodeType="withEffect">
                                  <p:stCondLst>
                                    <p:cond delay="5200"/>
                                  </p:stCondLst>
                                  <p:childTnLst>
                                    <p:set>
                                      <p:cBhvr>
                                        <p:cTn id="93" dur="1" fill="hold">
                                          <p:stCondLst>
                                            <p:cond delay="0"/>
                                          </p:stCondLst>
                                        </p:cTn>
                                        <p:tgtEl>
                                          <p:spTgt spid="17"/>
                                        </p:tgtEl>
                                        <p:attrNameLst>
                                          <p:attrName>style.visibility</p:attrName>
                                        </p:attrNameLst>
                                      </p:cBhvr>
                                      <p:to>
                                        <p:strVal val="visible"/>
                                      </p:to>
                                    </p:set>
                                    <p:animEffect transition="in" filter="fade">
                                      <p:cBhvr>
                                        <p:cTn id="94" dur="450"/>
                                        <p:tgtEl>
                                          <p:spTgt spid="17"/>
                                        </p:tgtEl>
                                      </p:cBhvr>
                                    </p:animEffect>
                                  </p:childTnLst>
                                </p:cTn>
                              </p:par>
                              <p:par>
                                <p:cTn id="95" presetID="10" presetClass="entr" presetSubtype="0" fill="hold" grpId="0" nodeType="withEffect">
                                  <p:stCondLst>
                                    <p:cond delay="5200"/>
                                  </p:stCondLst>
                                  <p:childTnLst>
                                    <p:set>
                                      <p:cBhvr>
                                        <p:cTn id="96" dur="1" fill="hold">
                                          <p:stCondLst>
                                            <p:cond delay="0"/>
                                          </p:stCondLst>
                                        </p:cTn>
                                        <p:tgtEl>
                                          <p:spTgt spid="18"/>
                                        </p:tgtEl>
                                        <p:attrNameLst>
                                          <p:attrName>style.visibility</p:attrName>
                                        </p:attrNameLst>
                                      </p:cBhvr>
                                      <p:to>
                                        <p:strVal val="visible"/>
                                      </p:to>
                                    </p:set>
                                    <p:animEffect transition="in" filter="fade">
                                      <p:cBhvr>
                                        <p:cTn id="97" dur="450"/>
                                        <p:tgtEl>
                                          <p:spTgt spid="18"/>
                                        </p:tgtEl>
                                      </p:cBhvr>
                                    </p:animEffect>
                                  </p:childTnLst>
                                </p:cTn>
                              </p:par>
                              <p:par>
                                <p:cTn id="98" presetID="10" presetClass="entr" presetSubtype="0" fill="hold" grpId="0" nodeType="withEffect">
                                  <p:stCondLst>
                                    <p:cond delay="5200"/>
                                  </p:stCondLst>
                                  <p:childTnLst>
                                    <p:set>
                                      <p:cBhvr>
                                        <p:cTn id="99" dur="1" fill="hold">
                                          <p:stCondLst>
                                            <p:cond delay="0"/>
                                          </p:stCondLst>
                                        </p:cTn>
                                        <p:tgtEl>
                                          <p:spTgt spid="19"/>
                                        </p:tgtEl>
                                        <p:attrNameLst>
                                          <p:attrName>style.visibility</p:attrName>
                                        </p:attrNameLst>
                                      </p:cBhvr>
                                      <p:to>
                                        <p:strVal val="visible"/>
                                      </p:to>
                                    </p:set>
                                    <p:animEffect transition="in" filter="fade">
                                      <p:cBhvr>
                                        <p:cTn id="100" dur="450"/>
                                        <p:tgtEl>
                                          <p:spTgt spid="19"/>
                                        </p:tgtEl>
                                      </p:cBhvr>
                                    </p:animEffect>
                                  </p:childTnLst>
                                </p:cTn>
                              </p:par>
                              <p:par>
                                <p:cTn id="101" presetID="10" presetClass="entr" presetSubtype="0" fill="hold" grpId="0" nodeType="withEffect">
                                  <p:stCondLst>
                                    <p:cond delay="5200"/>
                                  </p:stCondLst>
                                  <p:childTnLst>
                                    <p:set>
                                      <p:cBhvr>
                                        <p:cTn id="102" dur="1" fill="hold">
                                          <p:stCondLst>
                                            <p:cond delay="0"/>
                                          </p:stCondLst>
                                        </p:cTn>
                                        <p:tgtEl>
                                          <p:spTgt spid="20"/>
                                        </p:tgtEl>
                                        <p:attrNameLst>
                                          <p:attrName>style.visibility</p:attrName>
                                        </p:attrNameLst>
                                      </p:cBhvr>
                                      <p:to>
                                        <p:strVal val="visible"/>
                                      </p:to>
                                    </p:set>
                                    <p:animEffect transition="in" filter="fade">
                                      <p:cBhvr>
                                        <p:cTn id="103" dur="450"/>
                                        <p:tgtEl>
                                          <p:spTgt spid="20"/>
                                        </p:tgtEl>
                                      </p:cBhvr>
                                    </p:animEffect>
                                  </p:childTnLst>
                                </p:cTn>
                              </p:par>
                              <p:par>
                                <p:cTn id="104" presetID="10" presetClass="entr" presetSubtype="0" fill="hold" grpId="0" nodeType="withEffect">
                                  <p:stCondLst>
                                    <p:cond delay="5200"/>
                                  </p:stCondLst>
                                  <p:childTnLst>
                                    <p:set>
                                      <p:cBhvr>
                                        <p:cTn id="105" dur="1" fill="hold">
                                          <p:stCondLst>
                                            <p:cond delay="0"/>
                                          </p:stCondLst>
                                        </p:cTn>
                                        <p:tgtEl>
                                          <p:spTgt spid="21"/>
                                        </p:tgtEl>
                                        <p:attrNameLst>
                                          <p:attrName>style.visibility</p:attrName>
                                        </p:attrNameLst>
                                      </p:cBhvr>
                                      <p:to>
                                        <p:strVal val="visible"/>
                                      </p:to>
                                    </p:set>
                                    <p:animEffect transition="in" filter="fade">
                                      <p:cBhvr>
                                        <p:cTn id="106" dur="450"/>
                                        <p:tgtEl>
                                          <p:spTgt spid="21"/>
                                        </p:tgtEl>
                                      </p:cBhvr>
                                    </p:animEffect>
                                  </p:childTnLst>
                                </p:cTn>
                              </p:par>
                              <p:par>
                                <p:cTn id="107" presetID="10" presetClass="entr" presetSubtype="0" fill="hold" grpId="0" nodeType="withEffect">
                                  <p:stCondLst>
                                    <p:cond delay="520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450"/>
                                        <p:tgtEl>
                                          <p:spTgt spid="22"/>
                                        </p:tgtEl>
                                      </p:cBhvr>
                                    </p:animEffect>
                                  </p:childTnLst>
                                </p:cTn>
                              </p:par>
                              <p:par>
                                <p:cTn id="110" presetID="10" presetClass="exit" presetSubtype="0" fill="hold" grpId="1" nodeType="withEffect">
                                  <p:stCondLst>
                                    <p:cond delay="7800"/>
                                  </p:stCondLst>
                                  <p:childTnLst>
                                    <p:animEffect transition="out" filter="fade">
                                      <p:cBhvr>
                                        <p:cTn id="111" dur="450"/>
                                        <p:tgtEl>
                                          <p:spTgt spid="17"/>
                                        </p:tgtEl>
                                      </p:cBhvr>
                                    </p:animEffect>
                                    <p:set>
                                      <p:cBhvr>
                                        <p:cTn id="112" dur="1" fill="hold">
                                          <p:stCondLst>
                                            <p:cond delay="449"/>
                                          </p:stCondLst>
                                        </p:cTn>
                                        <p:tgtEl>
                                          <p:spTgt spid="17"/>
                                        </p:tgtEl>
                                        <p:attrNameLst>
                                          <p:attrName>style.visibility</p:attrName>
                                        </p:attrNameLst>
                                      </p:cBhvr>
                                      <p:to>
                                        <p:strVal val="hidden"/>
                                      </p:to>
                                    </p:set>
                                  </p:childTnLst>
                                </p:cTn>
                              </p:par>
                              <p:par>
                                <p:cTn id="113" presetID="10" presetClass="exit" presetSubtype="0" fill="hold" grpId="1" nodeType="withEffect">
                                  <p:stCondLst>
                                    <p:cond delay="7800"/>
                                  </p:stCondLst>
                                  <p:childTnLst>
                                    <p:animEffect transition="out" filter="fade">
                                      <p:cBhvr>
                                        <p:cTn id="114" dur="450"/>
                                        <p:tgtEl>
                                          <p:spTgt spid="18"/>
                                        </p:tgtEl>
                                      </p:cBhvr>
                                    </p:animEffect>
                                    <p:set>
                                      <p:cBhvr>
                                        <p:cTn id="115" dur="1" fill="hold">
                                          <p:stCondLst>
                                            <p:cond delay="449"/>
                                          </p:stCondLst>
                                        </p:cTn>
                                        <p:tgtEl>
                                          <p:spTgt spid="18"/>
                                        </p:tgtEl>
                                        <p:attrNameLst>
                                          <p:attrName>style.visibility</p:attrName>
                                        </p:attrNameLst>
                                      </p:cBhvr>
                                      <p:to>
                                        <p:strVal val="hidden"/>
                                      </p:to>
                                    </p:set>
                                  </p:childTnLst>
                                </p:cTn>
                              </p:par>
                              <p:par>
                                <p:cTn id="116" presetID="10" presetClass="exit" presetSubtype="0" fill="hold" grpId="1" nodeType="withEffect">
                                  <p:stCondLst>
                                    <p:cond delay="7800"/>
                                  </p:stCondLst>
                                  <p:childTnLst>
                                    <p:animEffect transition="out" filter="fade">
                                      <p:cBhvr>
                                        <p:cTn id="117" dur="450"/>
                                        <p:tgtEl>
                                          <p:spTgt spid="19"/>
                                        </p:tgtEl>
                                      </p:cBhvr>
                                    </p:animEffect>
                                    <p:set>
                                      <p:cBhvr>
                                        <p:cTn id="118" dur="1" fill="hold">
                                          <p:stCondLst>
                                            <p:cond delay="449"/>
                                          </p:stCondLst>
                                        </p:cTn>
                                        <p:tgtEl>
                                          <p:spTgt spid="19"/>
                                        </p:tgtEl>
                                        <p:attrNameLst>
                                          <p:attrName>style.visibility</p:attrName>
                                        </p:attrNameLst>
                                      </p:cBhvr>
                                      <p:to>
                                        <p:strVal val="hidden"/>
                                      </p:to>
                                    </p:set>
                                  </p:childTnLst>
                                </p:cTn>
                              </p:par>
                              <p:par>
                                <p:cTn id="119" presetID="10" presetClass="exit" presetSubtype="0" fill="hold" grpId="1" nodeType="withEffect">
                                  <p:stCondLst>
                                    <p:cond delay="7800"/>
                                  </p:stCondLst>
                                  <p:childTnLst>
                                    <p:animEffect transition="out" filter="fade">
                                      <p:cBhvr>
                                        <p:cTn id="120" dur="450"/>
                                        <p:tgtEl>
                                          <p:spTgt spid="20"/>
                                        </p:tgtEl>
                                      </p:cBhvr>
                                    </p:animEffect>
                                    <p:set>
                                      <p:cBhvr>
                                        <p:cTn id="121" dur="1" fill="hold">
                                          <p:stCondLst>
                                            <p:cond delay="449"/>
                                          </p:stCondLst>
                                        </p:cTn>
                                        <p:tgtEl>
                                          <p:spTgt spid="20"/>
                                        </p:tgtEl>
                                        <p:attrNameLst>
                                          <p:attrName>style.visibility</p:attrName>
                                        </p:attrNameLst>
                                      </p:cBhvr>
                                      <p:to>
                                        <p:strVal val="hidden"/>
                                      </p:to>
                                    </p:set>
                                  </p:childTnLst>
                                </p:cTn>
                              </p:par>
                              <p:par>
                                <p:cTn id="122" presetID="10" presetClass="exit" presetSubtype="0" fill="hold" grpId="1" nodeType="withEffect">
                                  <p:stCondLst>
                                    <p:cond delay="7800"/>
                                  </p:stCondLst>
                                  <p:childTnLst>
                                    <p:animEffect transition="out" filter="fade">
                                      <p:cBhvr>
                                        <p:cTn id="123" dur="450"/>
                                        <p:tgtEl>
                                          <p:spTgt spid="21"/>
                                        </p:tgtEl>
                                      </p:cBhvr>
                                    </p:animEffect>
                                    <p:set>
                                      <p:cBhvr>
                                        <p:cTn id="124" dur="1" fill="hold">
                                          <p:stCondLst>
                                            <p:cond delay="449"/>
                                          </p:stCondLst>
                                        </p:cTn>
                                        <p:tgtEl>
                                          <p:spTgt spid="21"/>
                                        </p:tgtEl>
                                        <p:attrNameLst>
                                          <p:attrName>style.visibility</p:attrName>
                                        </p:attrNameLst>
                                      </p:cBhvr>
                                      <p:to>
                                        <p:strVal val="hidden"/>
                                      </p:to>
                                    </p:set>
                                  </p:childTnLst>
                                </p:cTn>
                              </p:par>
                              <p:par>
                                <p:cTn id="125" presetID="10" presetClass="exit" presetSubtype="0" fill="hold" grpId="1" nodeType="withEffect">
                                  <p:stCondLst>
                                    <p:cond delay="7800"/>
                                  </p:stCondLst>
                                  <p:childTnLst>
                                    <p:animEffect transition="out" filter="fade">
                                      <p:cBhvr>
                                        <p:cTn id="126" dur="450"/>
                                        <p:tgtEl>
                                          <p:spTgt spid="22"/>
                                        </p:tgtEl>
                                      </p:cBhvr>
                                    </p:animEffect>
                                    <p:set>
                                      <p:cBhvr>
                                        <p:cTn id="127" dur="1" fill="hold">
                                          <p:stCondLst>
                                            <p:cond delay="449"/>
                                          </p:stCondLst>
                                        </p:cTn>
                                        <p:tgtEl>
                                          <p:spTgt spid="22"/>
                                        </p:tgtEl>
                                        <p:attrNameLst>
                                          <p:attrName>style.visibility</p:attrName>
                                        </p:attrNameLst>
                                      </p:cBhvr>
                                      <p:to>
                                        <p:strVal val="hidden"/>
                                      </p:to>
                                    </p:set>
                                  </p:childTnLst>
                                </p:cTn>
                              </p:par>
                              <p:par>
                                <p:cTn id="128" presetID="10" presetClass="exit" presetSubtype="0" fill="hold" grpId="1" nodeType="withEffect">
                                  <p:stCondLst>
                                    <p:cond delay="7800"/>
                                  </p:stCondLst>
                                  <p:childTnLst>
                                    <p:animEffect transition="out" filter="fade">
                                      <p:cBhvr>
                                        <p:cTn id="129" dur="450"/>
                                        <p:tgtEl>
                                          <p:spTgt spid="5"/>
                                        </p:tgtEl>
                                      </p:cBhvr>
                                    </p:animEffect>
                                    <p:set>
                                      <p:cBhvr>
                                        <p:cTn id="130" dur="1" fill="hold">
                                          <p:stCondLst>
                                            <p:cond delay="449"/>
                                          </p:stCondLst>
                                        </p:cTn>
                                        <p:tgtEl>
                                          <p:spTgt spid="5"/>
                                        </p:tgtEl>
                                        <p:attrNameLst>
                                          <p:attrName>style.visibility</p:attrName>
                                        </p:attrNameLst>
                                      </p:cBhvr>
                                      <p:to>
                                        <p:strVal val="hidden"/>
                                      </p:to>
                                    </p:set>
                                  </p:childTnLst>
                                </p:cTn>
                              </p:par>
                              <p:par>
                                <p:cTn id="131" presetID="10" presetClass="entr" presetSubtype="0" fill="hold" grpId="0" nodeType="withEffect">
                                  <p:stCondLst>
                                    <p:cond delay="7800"/>
                                  </p:stCondLst>
                                  <p:childTnLst>
                                    <p:set>
                                      <p:cBhvr>
                                        <p:cTn id="132" dur="1" fill="hold">
                                          <p:stCondLst>
                                            <p:cond delay="0"/>
                                          </p:stCondLst>
                                        </p:cTn>
                                        <p:tgtEl>
                                          <p:spTgt spid="6"/>
                                        </p:tgtEl>
                                        <p:attrNameLst>
                                          <p:attrName>style.visibility</p:attrName>
                                        </p:attrNameLst>
                                      </p:cBhvr>
                                      <p:to>
                                        <p:strVal val="visible"/>
                                      </p:to>
                                    </p:set>
                                    <p:animEffect transition="in" filter="fade">
                                      <p:cBhvr>
                                        <p:cTn id="133" dur="450"/>
                                        <p:tgtEl>
                                          <p:spTgt spid="6"/>
                                        </p:tgtEl>
                                      </p:cBhvr>
                                    </p:animEffect>
                                  </p:childTnLst>
                                </p:cTn>
                              </p:par>
                              <p:par>
                                <p:cTn id="134" presetID="10" presetClass="entr" presetSubtype="0" fill="hold" grpId="0" nodeType="withEffect">
                                  <p:stCondLst>
                                    <p:cond delay="7800"/>
                                  </p:stCondLst>
                                  <p:childTnLst>
                                    <p:set>
                                      <p:cBhvr>
                                        <p:cTn id="135" dur="1" fill="hold">
                                          <p:stCondLst>
                                            <p:cond delay="0"/>
                                          </p:stCondLst>
                                        </p:cTn>
                                        <p:tgtEl>
                                          <p:spTgt spid="79"/>
                                        </p:tgtEl>
                                        <p:attrNameLst>
                                          <p:attrName>style.visibility</p:attrName>
                                        </p:attrNameLst>
                                      </p:cBhvr>
                                      <p:to>
                                        <p:strVal val="visible"/>
                                      </p:to>
                                    </p:set>
                                    <p:animEffect transition="in" filter="fade">
                                      <p:cBhvr>
                                        <p:cTn id="136" dur="450"/>
                                        <p:tgtEl>
                                          <p:spTgt spid="79"/>
                                        </p:tgtEl>
                                      </p:cBhvr>
                                    </p:animEffect>
                                  </p:childTnLst>
                                </p:cTn>
                              </p:par>
                              <p:par>
                                <p:cTn id="137" presetID="10" presetClass="entr" presetSubtype="0" fill="hold" grpId="0" nodeType="withEffect">
                                  <p:stCondLst>
                                    <p:cond delay="7800"/>
                                  </p:stCondLst>
                                  <p:childTnLst>
                                    <p:set>
                                      <p:cBhvr>
                                        <p:cTn id="138" dur="1" fill="hold">
                                          <p:stCondLst>
                                            <p:cond delay="0"/>
                                          </p:stCondLst>
                                        </p:cTn>
                                        <p:tgtEl>
                                          <p:spTgt spid="80"/>
                                        </p:tgtEl>
                                        <p:attrNameLst>
                                          <p:attrName>style.visibility</p:attrName>
                                        </p:attrNameLst>
                                      </p:cBhvr>
                                      <p:to>
                                        <p:strVal val="visible"/>
                                      </p:to>
                                    </p:set>
                                    <p:animEffect transition="in" filter="fade">
                                      <p:cBhvr>
                                        <p:cTn id="139" dur="450"/>
                                        <p:tgtEl>
                                          <p:spTgt spid="80"/>
                                        </p:tgtEl>
                                      </p:cBhvr>
                                    </p:animEffect>
                                  </p:childTnLst>
                                </p:cTn>
                              </p:par>
                              <p:par>
                                <p:cTn id="140" presetID="10" presetClass="entr" presetSubtype="0" fill="hold" grpId="0" nodeType="withEffect">
                                  <p:stCondLst>
                                    <p:cond delay="7800"/>
                                  </p:stCondLst>
                                  <p:childTnLst>
                                    <p:set>
                                      <p:cBhvr>
                                        <p:cTn id="141" dur="1" fill="hold">
                                          <p:stCondLst>
                                            <p:cond delay="0"/>
                                          </p:stCondLst>
                                        </p:cTn>
                                        <p:tgtEl>
                                          <p:spTgt spid="81"/>
                                        </p:tgtEl>
                                        <p:attrNameLst>
                                          <p:attrName>style.visibility</p:attrName>
                                        </p:attrNameLst>
                                      </p:cBhvr>
                                      <p:to>
                                        <p:strVal val="visible"/>
                                      </p:to>
                                    </p:set>
                                    <p:animEffect transition="in" filter="fade">
                                      <p:cBhvr>
                                        <p:cTn id="142" dur="450"/>
                                        <p:tgtEl>
                                          <p:spTgt spid="81"/>
                                        </p:tgtEl>
                                      </p:cBhvr>
                                    </p:animEffect>
                                  </p:childTnLst>
                                </p:cTn>
                              </p:par>
                              <p:par>
                                <p:cTn id="143" presetID="10" presetClass="entr" presetSubtype="0" fill="hold" grpId="0" nodeType="withEffect">
                                  <p:stCondLst>
                                    <p:cond delay="7800"/>
                                  </p:stCondLst>
                                  <p:childTnLst>
                                    <p:set>
                                      <p:cBhvr>
                                        <p:cTn id="144" dur="1" fill="hold">
                                          <p:stCondLst>
                                            <p:cond delay="0"/>
                                          </p:stCondLst>
                                        </p:cTn>
                                        <p:tgtEl>
                                          <p:spTgt spid="23"/>
                                        </p:tgtEl>
                                        <p:attrNameLst>
                                          <p:attrName>style.visibility</p:attrName>
                                        </p:attrNameLst>
                                      </p:cBhvr>
                                      <p:to>
                                        <p:strVal val="visible"/>
                                      </p:to>
                                    </p:set>
                                    <p:animEffect transition="in" filter="fade">
                                      <p:cBhvr>
                                        <p:cTn id="145" dur="450"/>
                                        <p:tgtEl>
                                          <p:spTgt spid="23"/>
                                        </p:tgtEl>
                                      </p:cBhvr>
                                    </p:animEffect>
                                  </p:childTnLst>
                                </p:cTn>
                              </p:par>
                              <p:par>
                                <p:cTn id="146" presetID="10" presetClass="entr" presetSubtype="0" fill="hold" grpId="0" nodeType="withEffect">
                                  <p:stCondLst>
                                    <p:cond delay="7800"/>
                                  </p:stCondLst>
                                  <p:childTnLst>
                                    <p:set>
                                      <p:cBhvr>
                                        <p:cTn id="147" dur="1" fill="hold">
                                          <p:stCondLst>
                                            <p:cond delay="0"/>
                                          </p:stCondLst>
                                        </p:cTn>
                                        <p:tgtEl>
                                          <p:spTgt spid="24"/>
                                        </p:tgtEl>
                                        <p:attrNameLst>
                                          <p:attrName>style.visibility</p:attrName>
                                        </p:attrNameLst>
                                      </p:cBhvr>
                                      <p:to>
                                        <p:strVal val="visible"/>
                                      </p:to>
                                    </p:set>
                                    <p:animEffect transition="in" filter="fade">
                                      <p:cBhvr>
                                        <p:cTn id="148" dur="450"/>
                                        <p:tgtEl>
                                          <p:spTgt spid="24"/>
                                        </p:tgtEl>
                                      </p:cBhvr>
                                    </p:animEffect>
                                  </p:childTnLst>
                                </p:cTn>
                              </p:par>
                              <p:par>
                                <p:cTn id="149" presetID="10" presetClass="entr" presetSubtype="0" fill="hold" grpId="0" nodeType="withEffect">
                                  <p:stCondLst>
                                    <p:cond delay="7800"/>
                                  </p:stCondLst>
                                  <p:childTnLst>
                                    <p:set>
                                      <p:cBhvr>
                                        <p:cTn id="150" dur="1" fill="hold">
                                          <p:stCondLst>
                                            <p:cond delay="0"/>
                                          </p:stCondLst>
                                        </p:cTn>
                                        <p:tgtEl>
                                          <p:spTgt spid="25"/>
                                        </p:tgtEl>
                                        <p:attrNameLst>
                                          <p:attrName>style.visibility</p:attrName>
                                        </p:attrNameLst>
                                      </p:cBhvr>
                                      <p:to>
                                        <p:strVal val="visible"/>
                                      </p:to>
                                    </p:set>
                                    <p:animEffect transition="in" filter="fade">
                                      <p:cBhvr>
                                        <p:cTn id="151" dur="450"/>
                                        <p:tgtEl>
                                          <p:spTgt spid="25"/>
                                        </p:tgtEl>
                                      </p:cBhvr>
                                    </p:animEffect>
                                  </p:childTnLst>
                                </p:cTn>
                              </p:par>
                              <p:par>
                                <p:cTn id="152" presetID="10" presetClass="entr" presetSubtype="0" fill="hold" grpId="0" nodeType="withEffect">
                                  <p:stCondLst>
                                    <p:cond delay="7800"/>
                                  </p:stCondLst>
                                  <p:childTnLst>
                                    <p:set>
                                      <p:cBhvr>
                                        <p:cTn id="153" dur="1" fill="hold">
                                          <p:stCondLst>
                                            <p:cond delay="0"/>
                                          </p:stCondLst>
                                        </p:cTn>
                                        <p:tgtEl>
                                          <p:spTgt spid="26"/>
                                        </p:tgtEl>
                                        <p:attrNameLst>
                                          <p:attrName>style.visibility</p:attrName>
                                        </p:attrNameLst>
                                      </p:cBhvr>
                                      <p:to>
                                        <p:strVal val="visible"/>
                                      </p:to>
                                    </p:set>
                                    <p:animEffect transition="in" filter="fade">
                                      <p:cBhvr>
                                        <p:cTn id="154" dur="450"/>
                                        <p:tgtEl>
                                          <p:spTgt spid="26"/>
                                        </p:tgtEl>
                                      </p:cBhvr>
                                    </p:animEffect>
                                  </p:childTnLst>
                                </p:cTn>
                              </p:par>
                              <p:par>
                                <p:cTn id="155" presetID="10" presetClass="entr" presetSubtype="0" fill="hold" grpId="0" nodeType="withEffect">
                                  <p:stCondLst>
                                    <p:cond delay="7800"/>
                                  </p:stCondLst>
                                  <p:childTnLst>
                                    <p:set>
                                      <p:cBhvr>
                                        <p:cTn id="156" dur="1" fill="hold">
                                          <p:stCondLst>
                                            <p:cond delay="0"/>
                                          </p:stCondLst>
                                        </p:cTn>
                                        <p:tgtEl>
                                          <p:spTgt spid="27"/>
                                        </p:tgtEl>
                                        <p:attrNameLst>
                                          <p:attrName>style.visibility</p:attrName>
                                        </p:attrNameLst>
                                      </p:cBhvr>
                                      <p:to>
                                        <p:strVal val="visible"/>
                                      </p:to>
                                    </p:set>
                                    <p:animEffect transition="in" filter="fade">
                                      <p:cBhvr>
                                        <p:cTn id="157" dur="450"/>
                                        <p:tgtEl>
                                          <p:spTgt spid="27"/>
                                        </p:tgtEl>
                                      </p:cBhvr>
                                    </p:animEffect>
                                  </p:childTnLst>
                                </p:cTn>
                              </p:par>
                              <p:par>
                                <p:cTn id="158" presetID="10" presetClass="entr" presetSubtype="0" fill="hold" grpId="0" nodeType="withEffect">
                                  <p:stCondLst>
                                    <p:cond delay="7800"/>
                                  </p:stCondLst>
                                  <p:childTnLst>
                                    <p:set>
                                      <p:cBhvr>
                                        <p:cTn id="159" dur="1" fill="hold">
                                          <p:stCondLst>
                                            <p:cond delay="0"/>
                                          </p:stCondLst>
                                        </p:cTn>
                                        <p:tgtEl>
                                          <p:spTgt spid="28"/>
                                        </p:tgtEl>
                                        <p:attrNameLst>
                                          <p:attrName>style.visibility</p:attrName>
                                        </p:attrNameLst>
                                      </p:cBhvr>
                                      <p:to>
                                        <p:strVal val="visible"/>
                                      </p:to>
                                    </p:set>
                                    <p:animEffect transition="in" filter="fade">
                                      <p:cBhvr>
                                        <p:cTn id="160" dur="450"/>
                                        <p:tgtEl>
                                          <p:spTgt spid="28"/>
                                        </p:tgtEl>
                                      </p:cBhvr>
                                    </p:animEffect>
                                  </p:childTnLst>
                                </p:cTn>
                              </p:par>
                              <p:par>
                                <p:cTn id="161" presetID="10" presetClass="entr" presetSubtype="0" fill="hold" grpId="0" nodeType="withEffect">
                                  <p:stCondLst>
                                    <p:cond delay="7800"/>
                                  </p:stCondLst>
                                  <p:childTnLst>
                                    <p:set>
                                      <p:cBhvr>
                                        <p:cTn id="162" dur="1" fill="hold">
                                          <p:stCondLst>
                                            <p:cond delay="0"/>
                                          </p:stCondLst>
                                        </p:cTn>
                                        <p:tgtEl>
                                          <p:spTgt spid="29"/>
                                        </p:tgtEl>
                                        <p:attrNameLst>
                                          <p:attrName>style.visibility</p:attrName>
                                        </p:attrNameLst>
                                      </p:cBhvr>
                                      <p:to>
                                        <p:strVal val="visible"/>
                                      </p:to>
                                    </p:set>
                                    <p:animEffect transition="in" filter="fade">
                                      <p:cBhvr>
                                        <p:cTn id="163" dur="450"/>
                                        <p:tgtEl>
                                          <p:spTgt spid="29"/>
                                        </p:tgtEl>
                                      </p:cBhvr>
                                    </p:animEffect>
                                  </p:childTnLst>
                                </p:cTn>
                              </p:par>
                              <p:par>
                                <p:cTn id="164" presetID="10" presetClass="entr" presetSubtype="0" fill="hold" grpId="0" nodeType="withEffect">
                                  <p:stCondLst>
                                    <p:cond delay="7800"/>
                                  </p:stCondLst>
                                  <p:childTnLst>
                                    <p:set>
                                      <p:cBhvr>
                                        <p:cTn id="165" dur="1" fill="hold">
                                          <p:stCondLst>
                                            <p:cond delay="0"/>
                                          </p:stCondLst>
                                        </p:cTn>
                                        <p:tgtEl>
                                          <p:spTgt spid="30"/>
                                        </p:tgtEl>
                                        <p:attrNameLst>
                                          <p:attrName>style.visibility</p:attrName>
                                        </p:attrNameLst>
                                      </p:cBhvr>
                                      <p:to>
                                        <p:strVal val="visible"/>
                                      </p:to>
                                    </p:set>
                                    <p:animEffect transition="in" filter="fade">
                                      <p:cBhvr>
                                        <p:cTn id="166" dur="450"/>
                                        <p:tgtEl>
                                          <p:spTgt spid="30"/>
                                        </p:tgtEl>
                                      </p:cBhvr>
                                    </p:animEffect>
                                  </p:childTnLst>
                                </p:cTn>
                              </p:par>
                              <p:par>
                                <p:cTn id="167" presetID="10" presetClass="entr" presetSubtype="0" fill="hold" grpId="0" nodeType="withEffect">
                                  <p:stCondLst>
                                    <p:cond delay="7800"/>
                                  </p:stCondLst>
                                  <p:childTnLst>
                                    <p:set>
                                      <p:cBhvr>
                                        <p:cTn id="168" dur="1" fill="hold">
                                          <p:stCondLst>
                                            <p:cond delay="0"/>
                                          </p:stCondLst>
                                        </p:cTn>
                                        <p:tgtEl>
                                          <p:spTgt spid="31"/>
                                        </p:tgtEl>
                                        <p:attrNameLst>
                                          <p:attrName>style.visibility</p:attrName>
                                        </p:attrNameLst>
                                      </p:cBhvr>
                                      <p:to>
                                        <p:strVal val="visible"/>
                                      </p:to>
                                    </p:set>
                                    <p:animEffect transition="in" filter="fade">
                                      <p:cBhvr>
                                        <p:cTn id="169" dur="450"/>
                                        <p:tgtEl>
                                          <p:spTgt spid="31"/>
                                        </p:tgtEl>
                                      </p:cBhvr>
                                    </p:animEffect>
                                  </p:childTnLst>
                                </p:cTn>
                              </p:par>
                              <p:par>
                                <p:cTn id="170" presetID="10" presetClass="entr" presetSubtype="0" fill="hold" grpId="0" nodeType="withEffect">
                                  <p:stCondLst>
                                    <p:cond delay="7800"/>
                                  </p:stCondLst>
                                  <p:childTnLst>
                                    <p:set>
                                      <p:cBhvr>
                                        <p:cTn id="171" dur="1" fill="hold">
                                          <p:stCondLst>
                                            <p:cond delay="0"/>
                                          </p:stCondLst>
                                        </p:cTn>
                                        <p:tgtEl>
                                          <p:spTgt spid="32"/>
                                        </p:tgtEl>
                                        <p:attrNameLst>
                                          <p:attrName>style.visibility</p:attrName>
                                        </p:attrNameLst>
                                      </p:cBhvr>
                                      <p:to>
                                        <p:strVal val="visible"/>
                                      </p:to>
                                    </p:set>
                                    <p:animEffect transition="in" filter="fade">
                                      <p:cBhvr>
                                        <p:cTn id="172" dur="450"/>
                                        <p:tgtEl>
                                          <p:spTgt spid="32"/>
                                        </p:tgtEl>
                                      </p:cBhvr>
                                    </p:animEffect>
                                  </p:childTnLst>
                                </p:cTn>
                              </p:par>
                              <p:par>
                                <p:cTn id="173" presetID="10" presetClass="entr" presetSubtype="0" fill="hold" grpId="0" nodeType="withEffect">
                                  <p:stCondLst>
                                    <p:cond delay="7800"/>
                                  </p:stCondLst>
                                  <p:childTnLst>
                                    <p:set>
                                      <p:cBhvr>
                                        <p:cTn id="174" dur="1" fill="hold">
                                          <p:stCondLst>
                                            <p:cond delay="0"/>
                                          </p:stCondLst>
                                        </p:cTn>
                                        <p:tgtEl>
                                          <p:spTgt spid="33"/>
                                        </p:tgtEl>
                                        <p:attrNameLst>
                                          <p:attrName>style.visibility</p:attrName>
                                        </p:attrNameLst>
                                      </p:cBhvr>
                                      <p:to>
                                        <p:strVal val="visible"/>
                                      </p:to>
                                    </p:set>
                                    <p:animEffect transition="in" filter="fade">
                                      <p:cBhvr>
                                        <p:cTn id="175" dur="450"/>
                                        <p:tgtEl>
                                          <p:spTgt spid="33"/>
                                        </p:tgtEl>
                                      </p:cBhvr>
                                    </p:animEffect>
                                  </p:childTnLst>
                                </p:cTn>
                              </p:par>
                              <p:par>
                                <p:cTn id="176" presetID="10" presetClass="entr" presetSubtype="0" fill="hold" grpId="0" nodeType="withEffect">
                                  <p:stCondLst>
                                    <p:cond delay="7800"/>
                                  </p:stCondLst>
                                  <p:childTnLst>
                                    <p:set>
                                      <p:cBhvr>
                                        <p:cTn id="177" dur="1" fill="hold">
                                          <p:stCondLst>
                                            <p:cond delay="0"/>
                                          </p:stCondLst>
                                        </p:cTn>
                                        <p:tgtEl>
                                          <p:spTgt spid="34"/>
                                        </p:tgtEl>
                                        <p:attrNameLst>
                                          <p:attrName>style.visibility</p:attrName>
                                        </p:attrNameLst>
                                      </p:cBhvr>
                                      <p:to>
                                        <p:strVal val="visible"/>
                                      </p:to>
                                    </p:set>
                                    <p:animEffect transition="in" filter="fade">
                                      <p:cBhvr>
                                        <p:cTn id="178" dur="450"/>
                                        <p:tgtEl>
                                          <p:spTgt spid="34"/>
                                        </p:tgtEl>
                                      </p:cBhvr>
                                    </p:animEffect>
                                  </p:childTnLst>
                                </p:cTn>
                              </p:par>
                              <p:par>
                                <p:cTn id="179" presetID="10" presetClass="entr" presetSubtype="0" fill="hold" grpId="0" nodeType="withEffect">
                                  <p:stCondLst>
                                    <p:cond delay="7800"/>
                                  </p:stCondLst>
                                  <p:childTnLst>
                                    <p:set>
                                      <p:cBhvr>
                                        <p:cTn id="180" dur="1" fill="hold">
                                          <p:stCondLst>
                                            <p:cond delay="0"/>
                                          </p:stCondLst>
                                        </p:cTn>
                                        <p:tgtEl>
                                          <p:spTgt spid="35"/>
                                        </p:tgtEl>
                                        <p:attrNameLst>
                                          <p:attrName>style.visibility</p:attrName>
                                        </p:attrNameLst>
                                      </p:cBhvr>
                                      <p:to>
                                        <p:strVal val="visible"/>
                                      </p:to>
                                    </p:set>
                                    <p:animEffect transition="in" filter="fade">
                                      <p:cBhvr>
                                        <p:cTn id="181" dur="450"/>
                                        <p:tgtEl>
                                          <p:spTgt spid="35"/>
                                        </p:tgtEl>
                                      </p:cBhvr>
                                    </p:animEffect>
                                  </p:childTnLst>
                                </p:cTn>
                              </p:par>
                              <p:par>
                                <p:cTn id="182" presetID="10" presetClass="entr" presetSubtype="0" fill="hold" grpId="0" nodeType="withEffect">
                                  <p:stCondLst>
                                    <p:cond delay="7800"/>
                                  </p:stCondLst>
                                  <p:childTnLst>
                                    <p:set>
                                      <p:cBhvr>
                                        <p:cTn id="183" dur="1" fill="hold">
                                          <p:stCondLst>
                                            <p:cond delay="0"/>
                                          </p:stCondLst>
                                        </p:cTn>
                                        <p:tgtEl>
                                          <p:spTgt spid="36"/>
                                        </p:tgtEl>
                                        <p:attrNameLst>
                                          <p:attrName>style.visibility</p:attrName>
                                        </p:attrNameLst>
                                      </p:cBhvr>
                                      <p:to>
                                        <p:strVal val="visible"/>
                                      </p:to>
                                    </p:set>
                                    <p:animEffect transition="in" filter="fade">
                                      <p:cBhvr>
                                        <p:cTn id="184" dur="450"/>
                                        <p:tgtEl>
                                          <p:spTgt spid="36"/>
                                        </p:tgtEl>
                                      </p:cBhvr>
                                    </p:animEffect>
                                  </p:childTnLst>
                                </p:cTn>
                              </p:par>
                              <p:par>
                                <p:cTn id="185" presetID="10" presetClass="entr" presetSubtype="0" fill="hold" grpId="0" nodeType="withEffect">
                                  <p:stCondLst>
                                    <p:cond delay="7800"/>
                                  </p:stCondLst>
                                  <p:childTnLst>
                                    <p:set>
                                      <p:cBhvr>
                                        <p:cTn id="186" dur="1" fill="hold">
                                          <p:stCondLst>
                                            <p:cond delay="0"/>
                                          </p:stCondLst>
                                        </p:cTn>
                                        <p:tgtEl>
                                          <p:spTgt spid="37"/>
                                        </p:tgtEl>
                                        <p:attrNameLst>
                                          <p:attrName>style.visibility</p:attrName>
                                        </p:attrNameLst>
                                      </p:cBhvr>
                                      <p:to>
                                        <p:strVal val="visible"/>
                                      </p:to>
                                    </p:set>
                                    <p:animEffect transition="in" filter="fade">
                                      <p:cBhvr>
                                        <p:cTn id="187" dur="450"/>
                                        <p:tgtEl>
                                          <p:spTgt spid="37"/>
                                        </p:tgtEl>
                                      </p:cBhvr>
                                    </p:animEffect>
                                  </p:childTnLst>
                                </p:cTn>
                              </p:par>
                              <p:par>
                                <p:cTn id="188" presetID="10" presetClass="entr" presetSubtype="0" fill="hold" grpId="0" nodeType="withEffect">
                                  <p:stCondLst>
                                    <p:cond delay="7800"/>
                                  </p:stCondLst>
                                  <p:childTnLst>
                                    <p:set>
                                      <p:cBhvr>
                                        <p:cTn id="189" dur="1" fill="hold">
                                          <p:stCondLst>
                                            <p:cond delay="0"/>
                                          </p:stCondLst>
                                        </p:cTn>
                                        <p:tgtEl>
                                          <p:spTgt spid="38"/>
                                        </p:tgtEl>
                                        <p:attrNameLst>
                                          <p:attrName>style.visibility</p:attrName>
                                        </p:attrNameLst>
                                      </p:cBhvr>
                                      <p:to>
                                        <p:strVal val="visible"/>
                                      </p:to>
                                    </p:set>
                                    <p:animEffect transition="in" filter="fade">
                                      <p:cBhvr>
                                        <p:cTn id="190" dur="450"/>
                                        <p:tgtEl>
                                          <p:spTgt spid="38"/>
                                        </p:tgtEl>
                                      </p:cBhvr>
                                    </p:animEffect>
                                  </p:childTnLst>
                                </p:cTn>
                              </p:par>
                              <p:par>
                                <p:cTn id="191" presetID="10" presetClass="entr" presetSubtype="0" fill="hold" grpId="0" nodeType="withEffect">
                                  <p:stCondLst>
                                    <p:cond delay="7800"/>
                                  </p:stCondLst>
                                  <p:childTnLst>
                                    <p:set>
                                      <p:cBhvr>
                                        <p:cTn id="192" dur="1" fill="hold">
                                          <p:stCondLst>
                                            <p:cond delay="0"/>
                                          </p:stCondLst>
                                        </p:cTn>
                                        <p:tgtEl>
                                          <p:spTgt spid="39"/>
                                        </p:tgtEl>
                                        <p:attrNameLst>
                                          <p:attrName>style.visibility</p:attrName>
                                        </p:attrNameLst>
                                      </p:cBhvr>
                                      <p:to>
                                        <p:strVal val="visible"/>
                                      </p:to>
                                    </p:set>
                                    <p:animEffect transition="in" filter="fade">
                                      <p:cBhvr>
                                        <p:cTn id="193" dur="450"/>
                                        <p:tgtEl>
                                          <p:spTgt spid="39"/>
                                        </p:tgtEl>
                                      </p:cBhvr>
                                    </p:animEffect>
                                  </p:childTnLst>
                                </p:cTn>
                              </p:par>
                              <p:par>
                                <p:cTn id="194" presetID="10" presetClass="entr" presetSubtype="0" fill="hold" grpId="0" nodeType="withEffect">
                                  <p:stCondLst>
                                    <p:cond delay="7800"/>
                                  </p:stCondLst>
                                  <p:childTnLst>
                                    <p:set>
                                      <p:cBhvr>
                                        <p:cTn id="195" dur="1" fill="hold">
                                          <p:stCondLst>
                                            <p:cond delay="0"/>
                                          </p:stCondLst>
                                        </p:cTn>
                                        <p:tgtEl>
                                          <p:spTgt spid="40"/>
                                        </p:tgtEl>
                                        <p:attrNameLst>
                                          <p:attrName>style.visibility</p:attrName>
                                        </p:attrNameLst>
                                      </p:cBhvr>
                                      <p:to>
                                        <p:strVal val="visible"/>
                                      </p:to>
                                    </p:set>
                                    <p:animEffect transition="in" filter="fade">
                                      <p:cBhvr>
                                        <p:cTn id="196" dur="450"/>
                                        <p:tgtEl>
                                          <p:spTgt spid="40"/>
                                        </p:tgtEl>
                                      </p:cBhvr>
                                    </p:animEffect>
                                  </p:childTnLst>
                                </p:cTn>
                              </p:par>
                              <p:par>
                                <p:cTn id="197" presetID="10" presetClass="entr" presetSubtype="0" fill="hold" grpId="0" nodeType="withEffect">
                                  <p:stCondLst>
                                    <p:cond delay="7800"/>
                                  </p:stCondLst>
                                  <p:childTnLst>
                                    <p:set>
                                      <p:cBhvr>
                                        <p:cTn id="198" dur="1" fill="hold">
                                          <p:stCondLst>
                                            <p:cond delay="0"/>
                                          </p:stCondLst>
                                        </p:cTn>
                                        <p:tgtEl>
                                          <p:spTgt spid="41"/>
                                        </p:tgtEl>
                                        <p:attrNameLst>
                                          <p:attrName>style.visibility</p:attrName>
                                        </p:attrNameLst>
                                      </p:cBhvr>
                                      <p:to>
                                        <p:strVal val="visible"/>
                                      </p:to>
                                    </p:set>
                                    <p:animEffect transition="in" filter="fade">
                                      <p:cBhvr>
                                        <p:cTn id="199" dur="450"/>
                                        <p:tgtEl>
                                          <p:spTgt spid="41"/>
                                        </p:tgtEl>
                                      </p:cBhvr>
                                    </p:animEffect>
                                  </p:childTnLst>
                                </p:cTn>
                              </p:par>
                              <p:par>
                                <p:cTn id="200" presetID="10" presetClass="entr" presetSubtype="0" fill="hold" grpId="0" nodeType="withEffect">
                                  <p:stCondLst>
                                    <p:cond delay="780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450"/>
                                        <p:tgtEl>
                                          <p:spTgt spid="42"/>
                                        </p:tgtEl>
                                      </p:cBhvr>
                                    </p:animEffect>
                                  </p:childTnLst>
                                </p:cTn>
                              </p:par>
                              <p:par>
                                <p:cTn id="203" presetID="10" presetClass="entr" presetSubtype="0" fill="hold" grpId="0" nodeType="withEffect">
                                  <p:stCondLst>
                                    <p:cond delay="780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450"/>
                                        <p:tgtEl>
                                          <p:spTgt spid="43"/>
                                        </p:tgtEl>
                                      </p:cBhvr>
                                    </p:animEffect>
                                  </p:childTnLst>
                                </p:cTn>
                              </p:par>
                              <p:par>
                                <p:cTn id="206" presetID="10" presetClass="entr" presetSubtype="0" fill="hold" grpId="0" nodeType="withEffect">
                                  <p:stCondLst>
                                    <p:cond delay="7800"/>
                                  </p:stCondLst>
                                  <p:childTnLst>
                                    <p:set>
                                      <p:cBhvr>
                                        <p:cTn id="207" dur="1" fill="hold">
                                          <p:stCondLst>
                                            <p:cond delay="0"/>
                                          </p:stCondLst>
                                        </p:cTn>
                                        <p:tgtEl>
                                          <p:spTgt spid="44"/>
                                        </p:tgtEl>
                                        <p:attrNameLst>
                                          <p:attrName>style.visibility</p:attrName>
                                        </p:attrNameLst>
                                      </p:cBhvr>
                                      <p:to>
                                        <p:strVal val="visible"/>
                                      </p:to>
                                    </p:set>
                                    <p:animEffect transition="in" filter="fade">
                                      <p:cBhvr>
                                        <p:cTn id="208" dur="450"/>
                                        <p:tgtEl>
                                          <p:spTgt spid="44"/>
                                        </p:tgtEl>
                                      </p:cBhvr>
                                    </p:animEffect>
                                  </p:childTnLst>
                                </p:cTn>
                              </p:par>
                              <p:par>
                                <p:cTn id="209" presetID="10" presetClass="entr" presetSubtype="0" fill="hold" grpId="0" nodeType="withEffect">
                                  <p:stCondLst>
                                    <p:cond delay="7800"/>
                                  </p:stCondLst>
                                  <p:childTnLst>
                                    <p:set>
                                      <p:cBhvr>
                                        <p:cTn id="210" dur="1" fill="hold">
                                          <p:stCondLst>
                                            <p:cond delay="0"/>
                                          </p:stCondLst>
                                        </p:cTn>
                                        <p:tgtEl>
                                          <p:spTgt spid="45"/>
                                        </p:tgtEl>
                                        <p:attrNameLst>
                                          <p:attrName>style.visibility</p:attrName>
                                        </p:attrNameLst>
                                      </p:cBhvr>
                                      <p:to>
                                        <p:strVal val="visible"/>
                                      </p:to>
                                    </p:set>
                                    <p:animEffect transition="in" filter="fade">
                                      <p:cBhvr>
                                        <p:cTn id="211" dur="450"/>
                                        <p:tgtEl>
                                          <p:spTgt spid="45"/>
                                        </p:tgtEl>
                                      </p:cBhvr>
                                    </p:animEffect>
                                  </p:childTnLst>
                                </p:cTn>
                              </p:par>
                              <p:par>
                                <p:cTn id="212" presetID="10" presetClass="entr" presetSubtype="0" fill="hold" grpId="0" nodeType="withEffect">
                                  <p:stCondLst>
                                    <p:cond delay="7800"/>
                                  </p:stCondLst>
                                  <p:childTnLst>
                                    <p:set>
                                      <p:cBhvr>
                                        <p:cTn id="213" dur="1" fill="hold">
                                          <p:stCondLst>
                                            <p:cond delay="0"/>
                                          </p:stCondLst>
                                        </p:cTn>
                                        <p:tgtEl>
                                          <p:spTgt spid="46"/>
                                        </p:tgtEl>
                                        <p:attrNameLst>
                                          <p:attrName>style.visibility</p:attrName>
                                        </p:attrNameLst>
                                      </p:cBhvr>
                                      <p:to>
                                        <p:strVal val="visible"/>
                                      </p:to>
                                    </p:set>
                                    <p:animEffect transition="in" filter="fade">
                                      <p:cBhvr>
                                        <p:cTn id="214" dur="450"/>
                                        <p:tgtEl>
                                          <p:spTgt spid="46"/>
                                        </p:tgtEl>
                                      </p:cBhvr>
                                    </p:animEffect>
                                  </p:childTnLst>
                                </p:cTn>
                              </p:par>
                              <p:par>
                                <p:cTn id="215" presetID="10" presetClass="entr" presetSubtype="0" fill="hold" grpId="0" nodeType="withEffect">
                                  <p:stCondLst>
                                    <p:cond delay="7800"/>
                                  </p:stCondLst>
                                  <p:childTnLst>
                                    <p:set>
                                      <p:cBhvr>
                                        <p:cTn id="216" dur="1" fill="hold">
                                          <p:stCondLst>
                                            <p:cond delay="0"/>
                                          </p:stCondLst>
                                        </p:cTn>
                                        <p:tgtEl>
                                          <p:spTgt spid="47"/>
                                        </p:tgtEl>
                                        <p:attrNameLst>
                                          <p:attrName>style.visibility</p:attrName>
                                        </p:attrNameLst>
                                      </p:cBhvr>
                                      <p:to>
                                        <p:strVal val="visible"/>
                                      </p:to>
                                    </p:set>
                                    <p:animEffect transition="in" filter="fade">
                                      <p:cBhvr>
                                        <p:cTn id="217" dur="450"/>
                                        <p:tgtEl>
                                          <p:spTgt spid="47"/>
                                        </p:tgtEl>
                                      </p:cBhvr>
                                    </p:animEffect>
                                  </p:childTnLst>
                                </p:cTn>
                              </p:par>
                              <p:par>
                                <p:cTn id="218" presetID="10" presetClass="entr" presetSubtype="0" fill="hold" grpId="0" nodeType="withEffect">
                                  <p:stCondLst>
                                    <p:cond delay="780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450"/>
                                        <p:tgtEl>
                                          <p:spTgt spid="48"/>
                                        </p:tgtEl>
                                      </p:cBhvr>
                                    </p:animEffect>
                                  </p:childTnLst>
                                </p:cTn>
                              </p:par>
                              <p:par>
                                <p:cTn id="221" presetID="10" presetClass="entr" presetSubtype="0" fill="hold" grpId="0" nodeType="withEffect">
                                  <p:stCondLst>
                                    <p:cond delay="7800"/>
                                  </p:stCondLst>
                                  <p:childTnLst>
                                    <p:set>
                                      <p:cBhvr>
                                        <p:cTn id="222" dur="1" fill="hold">
                                          <p:stCondLst>
                                            <p:cond delay="0"/>
                                          </p:stCondLst>
                                        </p:cTn>
                                        <p:tgtEl>
                                          <p:spTgt spid="49"/>
                                        </p:tgtEl>
                                        <p:attrNameLst>
                                          <p:attrName>style.visibility</p:attrName>
                                        </p:attrNameLst>
                                      </p:cBhvr>
                                      <p:to>
                                        <p:strVal val="visible"/>
                                      </p:to>
                                    </p:set>
                                    <p:animEffect transition="in" filter="fade">
                                      <p:cBhvr>
                                        <p:cTn id="223" dur="450"/>
                                        <p:tgtEl>
                                          <p:spTgt spid="49"/>
                                        </p:tgtEl>
                                      </p:cBhvr>
                                    </p:animEffect>
                                  </p:childTnLst>
                                </p:cTn>
                              </p:par>
                              <p:par>
                                <p:cTn id="224" presetID="10" presetClass="entr" presetSubtype="0" fill="hold" grpId="0" nodeType="withEffect">
                                  <p:stCondLst>
                                    <p:cond delay="7800"/>
                                  </p:stCondLst>
                                  <p:childTnLst>
                                    <p:set>
                                      <p:cBhvr>
                                        <p:cTn id="225" dur="1" fill="hold">
                                          <p:stCondLst>
                                            <p:cond delay="0"/>
                                          </p:stCondLst>
                                        </p:cTn>
                                        <p:tgtEl>
                                          <p:spTgt spid="50"/>
                                        </p:tgtEl>
                                        <p:attrNameLst>
                                          <p:attrName>style.visibility</p:attrName>
                                        </p:attrNameLst>
                                      </p:cBhvr>
                                      <p:to>
                                        <p:strVal val="visible"/>
                                      </p:to>
                                    </p:set>
                                    <p:animEffect transition="in" filter="fade">
                                      <p:cBhvr>
                                        <p:cTn id="226" dur="450"/>
                                        <p:tgtEl>
                                          <p:spTgt spid="50"/>
                                        </p:tgtEl>
                                      </p:cBhvr>
                                    </p:animEffect>
                                  </p:childTnLst>
                                </p:cTn>
                              </p:par>
                              <p:par>
                                <p:cTn id="227" presetID="10" presetClass="entr" presetSubtype="0" fill="hold" grpId="0" nodeType="withEffect">
                                  <p:stCondLst>
                                    <p:cond delay="7800"/>
                                  </p:stCondLst>
                                  <p:childTnLst>
                                    <p:set>
                                      <p:cBhvr>
                                        <p:cTn id="228" dur="1" fill="hold">
                                          <p:stCondLst>
                                            <p:cond delay="0"/>
                                          </p:stCondLst>
                                        </p:cTn>
                                        <p:tgtEl>
                                          <p:spTgt spid="51"/>
                                        </p:tgtEl>
                                        <p:attrNameLst>
                                          <p:attrName>style.visibility</p:attrName>
                                        </p:attrNameLst>
                                      </p:cBhvr>
                                      <p:to>
                                        <p:strVal val="visible"/>
                                      </p:to>
                                    </p:set>
                                    <p:animEffect transition="in" filter="fade">
                                      <p:cBhvr>
                                        <p:cTn id="229" dur="450"/>
                                        <p:tgtEl>
                                          <p:spTgt spid="51"/>
                                        </p:tgtEl>
                                      </p:cBhvr>
                                    </p:animEffect>
                                  </p:childTnLst>
                                </p:cTn>
                              </p:par>
                              <p:par>
                                <p:cTn id="230" presetID="10" presetClass="entr" presetSubtype="0" fill="hold" grpId="0" nodeType="withEffect">
                                  <p:stCondLst>
                                    <p:cond delay="7800"/>
                                  </p:stCondLst>
                                  <p:childTnLst>
                                    <p:set>
                                      <p:cBhvr>
                                        <p:cTn id="231" dur="1" fill="hold">
                                          <p:stCondLst>
                                            <p:cond delay="0"/>
                                          </p:stCondLst>
                                        </p:cTn>
                                        <p:tgtEl>
                                          <p:spTgt spid="52"/>
                                        </p:tgtEl>
                                        <p:attrNameLst>
                                          <p:attrName>style.visibility</p:attrName>
                                        </p:attrNameLst>
                                      </p:cBhvr>
                                      <p:to>
                                        <p:strVal val="visible"/>
                                      </p:to>
                                    </p:set>
                                    <p:animEffect transition="in" filter="fade">
                                      <p:cBhvr>
                                        <p:cTn id="232" dur="450"/>
                                        <p:tgtEl>
                                          <p:spTgt spid="52"/>
                                        </p:tgtEl>
                                      </p:cBhvr>
                                    </p:animEffect>
                                  </p:childTnLst>
                                </p:cTn>
                              </p:par>
                              <p:par>
                                <p:cTn id="233" presetID="10" presetClass="entr" presetSubtype="0" fill="hold" grpId="0" nodeType="withEffect">
                                  <p:stCondLst>
                                    <p:cond delay="7800"/>
                                  </p:stCondLst>
                                  <p:childTnLst>
                                    <p:set>
                                      <p:cBhvr>
                                        <p:cTn id="234" dur="1" fill="hold">
                                          <p:stCondLst>
                                            <p:cond delay="0"/>
                                          </p:stCondLst>
                                        </p:cTn>
                                        <p:tgtEl>
                                          <p:spTgt spid="53"/>
                                        </p:tgtEl>
                                        <p:attrNameLst>
                                          <p:attrName>style.visibility</p:attrName>
                                        </p:attrNameLst>
                                      </p:cBhvr>
                                      <p:to>
                                        <p:strVal val="visible"/>
                                      </p:to>
                                    </p:set>
                                    <p:animEffect transition="in" filter="fade">
                                      <p:cBhvr>
                                        <p:cTn id="235" dur="450"/>
                                        <p:tgtEl>
                                          <p:spTgt spid="53"/>
                                        </p:tgtEl>
                                      </p:cBhvr>
                                    </p:animEffect>
                                  </p:childTnLst>
                                </p:cTn>
                              </p:par>
                              <p:par>
                                <p:cTn id="236" presetID="10" presetClass="entr" presetSubtype="0" fill="hold" grpId="0" nodeType="withEffect">
                                  <p:stCondLst>
                                    <p:cond delay="7800"/>
                                  </p:stCondLst>
                                  <p:childTnLst>
                                    <p:set>
                                      <p:cBhvr>
                                        <p:cTn id="237" dur="1" fill="hold">
                                          <p:stCondLst>
                                            <p:cond delay="0"/>
                                          </p:stCondLst>
                                        </p:cTn>
                                        <p:tgtEl>
                                          <p:spTgt spid="54"/>
                                        </p:tgtEl>
                                        <p:attrNameLst>
                                          <p:attrName>style.visibility</p:attrName>
                                        </p:attrNameLst>
                                      </p:cBhvr>
                                      <p:to>
                                        <p:strVal val="visible"/>
                                      </p:to>
                                    </p:set>
                                    <p:animEffect transition="in" filter="fade">
                                      <p:cBhvr>
                                        <p:cTn id="238" dur="450"/>
                                        <p:tgtEl>
                                          <p:spTgt spid="54"/>
                                        </p:tgtEl>
                                      </p:cBhvr>
                                    </p:animEffect>
                                  </p:childTnLst>
                                </p:cTn>
                              </p:par>
                              <p:par>
                                <p:cTn id="239" presetID="10" presetClass="entr" presetSubtype="0" fill="hold" grpId="0" nodeType="withEffect">
                                  <p:stCondLst>
                                    <p:cond delay="7800"/>
                                  </p:stCondLst>
                                  <p:childTnLst>
                                    <p:set>
                                      <p:cBhvr>
                                        <p:cTn id="240" dur="1" fill="hold">
                                          <p:stCondLst>
                                            <p:cond delay="0"/>
                                          </p:stCondLst>
                                        </p:cTn>
                                        <p:tgtEl>
                                          <p:spTgt spid="55"/>
                                        </p:tgtEl>
                                        <p:attrNameLst>
                                          <p:attrName>style.visibility</p:attrName>
                                        </p:attrNameLst>
                                      </p:cBhvr>
                                      <p:to>
                                        <p:strVal val="visible"/>
                                      </p:to>
                                    </p:set>
                                    <p:animEffect transition="in" filter="fade">
                                      <p:cBhvr>
                                        <p:cTn id="241" dur="450"/>
                                        <p:tgtEl>
                                          <p:spTgt spid="55"/>
                                        </p:tgtEl>
                                      </p:cBhvr>
                                    </p:animEffect>
                                  </p:childTnLst>
                                </p:cTn>
                              </p:par>
                              <p:par>
                                <p:cTn id="242" presetID="10" presetClass="entr" presetSubtype="0" fill="hold" grpId="0" nodeType="withEffect">
                                  <p:stCondLst>
                                    <p:cond delay="7800"/>
                                  </p:stCondLst>
                                  <p:childTnLst>
                                    <p:set>
                                      <p:cBhvr>
                                        <p:cTn id="243" dur="1" fill="hold">
                                          <p:stCondLst>
                                            <p:cond delay="0"/>
                                          </p:stCondLst>
                                        </p:cTn>
                                        <p:tgtEl>
                                          <p:spTgt spid="56"/>
                                        </p:tgtEl>
                                        <p:attrNameLst>
                                          <p:attrName>style.visibility</p:attrName>
                                        </p:attrNameLst>
                                      </p:cBhvr>
                                      <p:to>
                                        <p:strVal val="visible"/>
                                      </p:to>
                                    </p:set>
                                    <p:animEffect transition="in" filter="fade">
                                      <p:cBhvr>
                                        <p:cTn id="244" dur="450"/>
                                        <p:tgtEl>
                                          <p:spTgt spid="56"/>
                                        </p:tgtEl>
                                      </p:cBhvr>
                                    </p:animEffect>
                                  </p:childTnLst>
                                </p:cTn>
                              </p:par>
                              <p:par>
                                <p:cTn id="245" presetID="10" presetClass="entr" presetSubtype="0" fill="hold" grpId="0" nodeType="withEffect">
                                  <p:stCondLst>
                                    <p:cond delay="7800"/>
                                  </p:stCondLst>
                                  <p:childTnLst>
                                    <p:set>
                                      <p:cBhvr>
                                        <p:cTn id="246" dur="1" fill="hold">
                                          <p:stCondLst>
                                            <p:cond delay="0"/>
                                          </p:stCondLst>
                                        </p:cTn>
                                        <p:tgtEl>
                                          <p:spTgt spid="57"/>
                                        </p:tgtEl>
                                        <p:attrNameLst>
                                          <p:attrName>style.visibility</p:attrName>
                                        </p:attrNameLst>
                                      </p:cBhvr>
                                      <p:to>
                                        <p:strVal val="visible"/>
                                      </p:to>
                                    </p:set>
                                    <p:animEffect transition="in" filter="fade">
                                      <p:cBhvr>
                                        <p:cTn id="247" dur="450"/>
                                        <p:tgtEl>
                                          <p:spTgt spid="57"/>
                                        </p:tgtEl>
                                      </p:cBhvr>
                                    </p:animEffect>
                                  </p:childTnLst>
                                </p:cTn>
                              </p:par>
                              <p:par>
                                <p:cTn id="248" presetID="10" presetClass="entr" presetSubtype="0" fill="hold" grpId="0" nodeType="withEffect">
                                  <p:stCondLst>
                                    <p:cond delay="7800"/>
                                  </p:stCondLst>
                                  <p:childTnLst>
                                    <p:set>
                                      <p:cBhvr>
                                        <p:cTn id="249" dur="1" fill="hold">
                                          <p:stCondLst>
                                            <p:cond delay="0"/>
                                          </p:stCondLst>
                                        </p:cTn>
                                        <p:tgtEl>
                                          <p:spTgt spid="58"/>
                                        </p:tgtEl>
                                        <p:attrNameLst>
                                          <p:attrName>style.visibility</p:attrName>
                                        </p:attrNameLst>
                                      </p:cBhvr>
                                      <p:to>
                                        <p:strVal val="visible"/>
                                      </p:to>
                                    </p:set>
                                    <p:animEffect transition="in" filter="fade">
                                      <p:cBhvr>
                                        <p:cTn id="250" dur="450"/>
                                        <p:tgtEl>
                                          <p:spTgt spid="58"/>
                                        </p:tgtEl>
                                      </p:cBhvr>
                                    </p:animEffect>
                                  </p:childTnLst>
                                </p:cTn>
                              </p:par>
                              <p:par>
                                <p:cTn id="251" presetID="10" presetClass="entr" presetSubtype="0" fill="hold" grpId="0" nodeType="withEffect">
                                  <p:stCondLst>
                                    <p:cond delay="7800"/>
                                  </p:stCondLst>
                                  <p:childTnLst>
                                    <p:set>
                                      <p:cBhvr>
                                        <p:cTn id="252" dur="1" fill="hold">
                                          <p:stCondLst>
                                            <p:cond delay="0"/>
                                          </p:stCondLst>
                                        </p:cTn>
                                        <p:tgtEl>
                                          <p:spTgt spid="59"/>
                                        </p:tgtEl>
                                        <p:attrNameLst>
                                          <p:attrName>style.visibility</p:attrName>
                                        </p:attrNameLst>
                                      </p:cBhvr>
                                      <p:to>
                                        <p:strVal val="visible"/>
                                      </p:to>
                                    </p:set>
                                    <p:animEffect transition="in" filter="fade">
                                      <p:cBhvr>
                                        <p:cTn id="253" dur="450"/>
                                        <p:tgtEl>
                                          <p:spTgt spid="59"/>
                                        </p:tgtEl>
                                      </p:cBhvr>
                                    </p:animEffect>
                                  </p:childTnLst>
                                </p:cTn>
                              </p:par>
                              <p:par>
                                <p:cTn id="254" presetID="10" presetClass="entr" presetSubtype="0" fill="hold" grpId="0" nodeType="withEffect">
                                  <p:stCondLst>
                                    <p:cond delay="7800"/>
                                  </p:stCondLst>
                                  <p:childTnLst>
                                    <p:set>
                                      <p:cBhvr>
                                        <p:cTn id="255" dur="1" fill="hold">
                                          <p:stCondLst>
                                            <p:cond delay="0"/>
                                          </p:stCondLst>
                                        </p:cTn>
                                        <p:tgtEl>
                                          <p:spTgt spid="60"/>
                                        </p:tgtEl>
                                        <p:attrNameLst>
                                          <p:attrName>style.visibility</p:attrName>
                                        </p:attrNameLst>
                                      </p:cBhvr>
                                      <p:to>
                                        <p:strVal val="visible"/>
                                      </p:to>
                                    </p:set>
                                    <p:animEffect transition="in" filter="fade">
                                      <p:cBhvr>
                                        <p:cTn id="256" dur="450"/>
                                        <p:tgtEl>
                                          <p:spTgt spid="60"/>
                                        </p:tgtEl>
                                      </p:cBhvr>
                                    </p:animEffect>
                                  </p:childTnLst>
                                </p:cTn>
                              </p:par>
                              <p:par>
                                <p:cTn id="257" presetID="10" presetClass="exit" presetSubtype="0" fill="hold" grpId="1" nodeType="withEffect">
                                  <p:stCondLst>
                                    <p:cond delay="10400"/>
                                  </p:stCondLst>
                                  <p:childTnLst>
                                    <p:animEffect transition="out" filter="fade">
                                      <p:cBhvr>
                                        <p:cTn id="258" dur="450"/>
                                        <p:tgtEl>
                                          <p:spTgt spid="23"/>
                                        </p:tgtEl>
                                      </p:cBhvr>
                                    </p:animEffect>
                                    <p:set>
                                      <p:cBhvr>
                                        <p:cTn id="259" dur="1" fill="hold">
                                          <p:stCondLst>
                                            <p:cond delay="449"/>
                                          </p:stCondLst>
                                        </p:cTn>
                                        <p:tgtEl>
                                          <p:spTgt spid="23"/>
                                        </p:tgtEl>
                                        <p:attrNameLst>
                                          <p:attrName>style.visibility</p:attrName>
                                        </p:attrNameLst>
                                      </p:cBhvr>
                                      <p:to>
                                        <p:strVal val="hidden"/>
                                      </p:to>
                                    </p:set>
                                  </p:childTnLst>
                                </p:cTn>
                              </p:par>
                              <p:par>
                                <p:cTn id="260" presetID="10" presetClass="exit" presetSubtype="0" fill="hold" grpId="1" nodeType="withEffect">
                                  <p:stCondLst>
                                    <p:cond delay="10400"/>
                                  </p:stCondLst>
                                  <p:childTnLst>
                                    <p:animEffect transition="out" filter="fade">
                                      <p:cBhvr>
                                        <p:cTn id="261" dur="450"/>
                                        <p:tgtEl>
                                          <p:spTgt spid="24"/>
                                        </p:tgtEl>
                                      </p:cBhvr>
                                    </p:animEffect>
                                    <p:set>
                                      <p:cBhvr>
                                        <p:cTn id="262" dur="1" fill="hold">
                                          <p:stCondLst>
                                            <p:cond delay="449"/>
                                          </p:stCondLst>
                                        </p:cTn>
                                        <p:tgtEl>
                                          <p:spTgt spid="24"/>
                                        </p:tgtEl>
                                        <p:attrNameLst>
                                          <p:attrName>style.visibility</p:attrName>
                                        </p:attrNameLst>
                                      </p:cBhvr>
                                      <p:to>
                                        <p:strVal val="hidden"/>
                                      </p:to>
                                    </p:set>
                                  </p:childTnLst>
                                </p:cTn>
                              </p:par>
                              <p:par>
                                <p:cTn id="263" presetID="10" presetClass="exit" presetSubtype="0" fill="hold" grpId="1" nodeType="withEffect">
                                  <p:stCondLst>
                                    <p:cond delay="10400"/>
                                  </p:stCondLst>
                                  <p:childTnLst>
                                    <p:animEffect transition="out" filter="fade">
                                      <p:cBhvr>
                                        <p:cTn id="264" dur="450"/>
                                        <p:tgtEl>
                                          <p:spTgt spid="25"/>
                                        </p:tgtEl>
                                      </p:cBhvr>
                                    </p:animEffect>
                                    <p:set>
                                      <p:cBhvr>
                                        <p:cTn id="265" dur="1" fill="hold">
                                          <p:stCondLst>
                                            <p:cond delay="449"/>
                                          </p:stCondLst>
                                        </p:cTn>
                                        <p:tgtEl>
                                          <p:spTgt spid="25"/>
                                        </p:tgtEl>
                                        <p:attrNameLst>
                                          <p:attrName>style.visibility</p:attrName>
                                        </p:attrNameLst>
                                      </p:cBhvr>
                                      <p:to>
                                        <p:strVal val="hidden"/>
                                      </p:to>
                                    </p:set>
                                  </p:childTnLst>
                                </p:cTn>
                              </p:par>
                              <p:par>
                                <p:cTn id="266" presetID="10" presetClass="exit" presetSubtype="0" fill="hold" grpId="1" nodeType="withEffect">
                                  <p:stCondLst>
                                    <p:cond delay="10400"/>
                                  </p:stCondLst>
                                  <p:childTnLst>
                                    <p:animEffect transition="out" filter="fade">
                                      <p:cBhvr>
                                        <p:cTn id="267" dur="450"/>
                                        <p:tgtEl>
                                          <p:spTgt spid="26"/>
                                        </p:tgtEl>
                                      </p:cBhvr>
                                    </p:animEffect>
                                    <p:set>
                                      <p:cBhvr>
                                        <p:cTn id="268" dur="1" fill="hold">
                                          <p:stCondLst>
                                            <p:cond delay="449"/>
                                          </p:stCondLst>
                                        </p:cTn>
                                        <p:tgtEl>
                                          <p:spTgt spid="26"/>
                                        </p:tgtEl>
                                        <p:attrNameLst>
                                          <p:attrName>style.visibility</p:attrName>
                                        </p:attrNameLst>
                                      </p:cBhvr>
                                      <p:to>
                                        <p:strVal val="hidden"/>
                                      </p:to>
                                    </p:set>
                                  </p:childTnLst>
                                </p:cTn>
                              </p:par>
                              <p:par>
                                <p:cTn id="269" presetID="10" presetClass="exit" presetSubtype="0" fill="hold" grpId="1" nodeType="withEffect">
                                  <p:stCondLst>
                                    <p:cond delay="10400"/>
                                  </p:stCondLst>
                                  <p:childTnLst>
                                    <p:animEffect transition="out" filter="fade">
                                      <p:cBhvr>
                                        <p:cTn id="270" dur="450"/>
                                        <p:tgtEl>
                                          <p:spTgt spid="27"/>
                                        </p:tgtEl>
                                      </p:cBhvr>
                                    </p:animEffect>
                                    <p:set>
                                      <p:cBhvr>
                                        <p:cTn id="271" dur="1" fill="hold">
                                          <p:stCondLst>
                                            <p:cond delay="449"/>
                                          </p:stCondLst>
                                        </p:cTn>
                                        <p:tgtEl>
                                          <p:spTgt spid="27"/>
                                        </p:tgtEl>
                                        <p:attrNameLst>
                                          <p:attrName>style.visibility</p:attrName>
                                        </p:attrNameLst>
                                      </p:cBhvr>
                                      <p:to>
                                        <p:strVal val="hidden"/>
                                      </p:to>
                                    </p:set>
                                  </p:childTnLst>
                                </p:cTn>
                              </p:par>
                              <p:par>
                                <p:cTn id="272" presetID="10" presetClass="exit" presetSubtype="0" fill="hold" grpId="1" nodeType="withEffect">
                                  <p:stCondLst>
                                    <p:cond delay="10400"/>
                                  </p:stCondLst>
                                  <p:childTnLst>
                                    <p:animEffect transition="out" filter="fade">
                                      <p:cBhvr>
                                        <p:cTn id="273" dur="450"/>
                                        <p:tgtEl>
                                          <p:spTgt spid="28"/>
                                        </p:tgtEl>
                                      </p:cBhvr>
                                    </p:animEffect>
                                    <p:set>
                                      <p:cBhvr>
                                        <p:cTn id="274" dur="1" fill="hold">
                                          <p:stCondLst>
                                            <p:cond delay="449"/>
                                          </p:stCondLst>
                                        </p:cTn>
                                        <p:tgtEl>
                                          <p:spTgt spid="28"/>
                                        </p:tgtEl>
                                        <p:attrNameLst>
                                          <p:attrName>style.visibility</p:attrName>
                                        </p:attrNameLst>
                                      </p:cBhvr>
                                      <p:to>
                                        <p:strVal val="hidden"/>
                                      </p:to>
                                    </p:set>
                                  </p:childTnLst>
                                </p:cTn>
                              </p:par>
                              <p:par>
                                <p:cTn id="275" presetID="10" presetClass="exit" presetSubtype="0" fill="hold" grpId="1" nodeType="withEffect">
                                  <p:stCondLst>
                                    <p:cond delay="10400"/>
                                  </p:stCondLst>
                                  <p:childTnLst>
                                    <p:animEffect transition="out" filter="fade">
                                      <p:cBhvr>
                                        <p:cTn id="276" dur="450"/>
                                        <p:tgtEl>
                                          <p:spTgt spid="29"/>
                                        </p:tgtEl>
                                      </p:cBhvr>
                                    </p:animEffect>
                                    <p:set>
                                      <p:cBhvr>
                                        <p:cTn id="277" dur="1" fill="hold">
                                          <p:stCondLst>
                                            <p:cond delay="449"/>
                                          </p:stCondLst>
                                        </p:cTn>
                                        <p:tgtEl>
                                          <p:spTgt spid="29"/>
                                        </p:tgtEl>
                                        <p:attrNameLst>
                                          <p:attrName>style.visibility</p:attrName>
                                        </p:attrNameLst>
                                      </p:cBhvr>
                                      <p:to>
                                        <p:strVal val="hidden"/>
                                      </p:to>
                                    </p:set>
                                  </p:childTnLst>
                                </p:cTn>
                              </p:par>
                              <p:par>
                                <p:cTn id="278" presetID="10" presetClass="exit" presetSubtype="0" fill="hold" grpId="1" nodeType="withEffect">
                                  <p:stCondLst>
                                    <p:cond delay="10400"/>
                                  </p:stCondLst>
                                  <p:childTnLst>
                                    <p:animEffect transition="out" filter="fade">
                                      <p:cBhvr>
                                        <p:cTn id="279" dur="450"/>
                                        <p:tgtEl>
                                          <p:spTgt spid="30"/>
                                        </p:tgtEl>
                                      </p:cBhvr>
                                    </p:animEffect>
                                    <p:set>
                                      <p:cBhvr>
                                        <p:cTn id="280" dur="1" fill="hold">
                                          <p:stCondLst>
                                            <p:cond delay="449"/>
                                          </p:stCondLst>
                                        </p:cTn>
                                        <p:tgtEl>
                                          <p:spTgt spid="30"/>
                                        </p:tgtEl>
                                        <p:attrNameLst>
                                          <p:attrName>style.visibility</p:attrName>
                                        </p:attrNameLst>
                                      </p:cBhvr>
                                      <p:to>
                                        <p:strVal val="hidden"/>
                                      </p:to>
                                    </p:set>
                                  </p:childTnLst>
                                </p:cTn>
                              </p:par>
                              <p:par>
                                <p:cTn id="281" presetID="10" presetClass="exit" presetSubtype="0" fill="hold" grpId="1" nodeType="withEffect">
                                  <p:stCondLst>
                                    <p:cond delay="10400"/>
                                  </p:stCondLst>
                                  <p:childTnLst>
                                    <p:animEffect transition="out" filter="fade">
                                      <p:cBhvr>
                                        <p:cTn id="282" dur="450"/>
                                        <p:tgtEl>
                                          <p:spTgt spid="31"/>
                                        </p:tgtEl>
                                      </p:cBhvr>
                                    </p:animEffect>
                                    <p:set>
                                      <p:cBhvr>
                                        <p:cTn id="283" dur="1" fill="hold">
                                          <p:stCondLst>
                                            <p:cond delay="449"/>
                                          </p:stCondLst>
                                        </p:cTn>
                                        <p:tgtEl>
                                          <p:spTgt spid="31"/>
                                        </p:tgtEl>
                                        <p:attrNameLst>
                                          <p:attrName>style.visibility</p:attrName>
                                        </p:attrNameLst>
                                      </p:cBhvr>
                                      <p:to>
                                        <p:strVal val="hidden"/>
                                      </p:to>
                                    </p:set>
                                  </p:childTnLst>
                                </p:cTn>
                              </p:par>
                              <p:par>
                                <p:cTn id="284" presetID="10" presetClass="exit" presetSubtype="0" fill="hold" grpId="1" nodeType="withEffect">
                                  <p:stCondLst>
                                    <p:cond delay="10400"/>
                                  </p:stCondLst>
                                  <p:childTnLst>
                                    <p:animEffect transition="out" filter="fade">
                                      <p:cBhvr>
                                        <p:cTn id="285" dur="450"/>
                                        <p:tgtEl>
                                          <p:spTgt spid="32"/>
                                        </p:tgtEl>
                                      </p:cBhvr>
                                    </p:animEffect>
                                    <p:set>
                                      <p:cBhvr>
                                        <p:cTn id="286" dur="1" fill="hold">
                                          <p:stCondLst>
                                            <p:cond delay="449"/>
                                          </p:stCondLst>
                                        </p:cTn>
                                        <p:tgtEl>
                                          <p:spTgt spid="32"/>
                                        </p:tgtEl>
                                        <p:attrNameLst>
                                          <p:attrName>style.visibility</p:attrName>
                                        </p:attrNameLst>
                                      </p:cBhvr>
                                      <p:to>
                                        <p:strVal val="hidden"/>
                                      </p:to>
                                    </p:set>
                                  </p:childTnLst>
                                </p:cTn>
                              </p:par>
                              <p:par>
                                <p:cTn id="287" presetID="10" presetClass="exit" presetSubtype="0" fill="hold" grpId="1" nodeType="withEffect">
                                  <p:stCondLst>
                                    <p:cond delay="10400"/>
                                  </p:stCondLst>
                                  <p:childTnLst>
                                    <p:animEffect transition="out" filter="fade">
                                      <p:cBhvr>
                                        <p:cTn id="288" dur="450"/>
                                        <p:tgtEl>
                                          <p:spTgt spid="33"/>
                                        </p:tgtEl>
                                      </p:cBhvr>
                                    </p:animEffect>
                                    <p:set>
                                      <p:cBhvr>
                                        <p:cTn id="289" dur="1" fill="hold">
                                          <p:stCondLst>
                                            <p:cond delay="449"/>
                                          </p:stCondLst>
                                        </p:cTn>
                                        <p:tgtEl>
                                          <p:spTgt spid="33"/>
                                        </p:tgtEl>
                                        <p:attrNameLst>
                                          <p:attrName>style.visibility</p:attrName>
                                        </p:attrNameLst>
                                      </p:cBhvr>
                                      <p:to>
                                        <p:strVal val="hidden"/>
                                      </p:to>
                                    </p:set>
                                  </p:childTnLst>
                                </p:cTn>
                              </p:par>
                              <p:par>
                                <p:cTn id="290" presetID="10" presetClass="exit" presetSubtype="0" fill="hold" grpId="1" nodeType="withEffect">
                                  <p:stCondLst>
                                    <p:cond delay="10400"/>
                                  </p:stCondLst>
                                  <p:childTnLst>
                                    <p:animEffect transition="out" filter="fade">
                                      <p:cBhvr>
                                        <p:cTn id="291" dur="450"/>
                                        <p:tgtEl>
                                          <p:spTgt spid="34"/>
                                        </p:tgtEl>
                                      </p:cBhvr>
                                    </p:animEffect>
                                    <p:set>
                                      <p:cBhvr>
                                        <p:cTn id="292" dur="1" fill="hold">
                                          <p:stCondLst>
                                            <p:cond delay="449"/>
                                          </p:stCondLst>
                                        </p:cTn>
                                        <p:tgtEl>
                                          <p:spTgt spid="34"/>
                                        </p:tgtEl>
                                        <p:attrNameLst>
                                          <p:attrName>style.visibility</p:attrName>
                                        </p:attrNameLst>
                                      </p:cBhvr>
                                      <p:to>
                                        <p:strVal val="hidden"/>
                                      </p:to>
                                    </p:set>
                                  </p:childTnLst>
                                </p:cTn>
                              </p:par>
                              <p:par>
                                <p:cTn id="293" presetID="10" presetClass="exit" presetSubtype="0" fill="hold" grpId="1" nodeType="withEffect">
                                  <p:stCondLst>
                                    <p:cond delay="10400"/>
                                  </p:stCondLst>
                                  <p:childTnLst>
                                    <p:animEffect transition="out" filter="fade">
                                      <p:cBhvr>
                                        <p:cTn id="294" dur="450"/>
                                        <p:tgtEl>
                                          <p:spTgt spid="35"/>
                                        </p:tgtEl>
                                      </p:cBhvr>
                                    </p:animEffect>
                                    <p:set>
                                      <p:cBhvr>
                                        <p:cTn id="295" dur="1" fill="hold">
                                          <p:stCondLst>
                                            <p:cond delay="449"/>
                                          </p:stCondLst>
                                        </p:cTn>
                                        <p:tgtEl>
                                          <p:spTgt spid="35"/>
                                        </p:tgtEl>
                                        <p:attrNameLst>
                                          <p:attrName>style.visibility</p:attrName>
                                        </p:attrNameLst>
                                      </p:cBhvr>
                                      <p:to>
                                        <p:strVal val="hidden"/>
                                      </p:to>
                                    </p:set>
                                  </p:childTnLst>
                                </p:cTn>
                              </p:par>
                              <p:par>
                                <p:cTn id="296" presetID="10" presetClass="exit" presetSubtype="0" fill="hold" grpId="1" nodeType="withEffect">
                                  <p:stCondLst>
                                    <p:cond delay="10400"/>
                                  </p:stCondLst>
                                  <p:childTnLst>
                                    <p:animEffect transition="out" filter="fade">
                                      <p:cBhvr>
                                        <p:cTn id="297" dur="450"/>
                                        <p:tgtEl>
                                          <p:spTgt spid="36"/>
                                        </p:tgtEl>
                                      </p:cBhvr>
                                    </p:animEffect>
                                    <p:set>
                                      <p:cBhvr>
                                        <p:cTn id="298" dur="1" fill="hold">
                                          <p:stCondLst>
                                            <p:cond delay="449"/>
                                          </p:stCondLst>
                                        </p:cTn>
                                        <p:tgtEl>
                                          <p:spTgt spid="36"/>
                                        </p:tgtEl>
                                        <p:attrNameLst>
                                          <p:attrName>style.visibility</p:attrName>
                                        </p:attrNameLst>
                                      </p:cBhvr>
                                      <p:to>
                                        <p:strVal val="hidden"/>
                                      </p:to>
                                    </p:set>
                                  </p:childTnLst>
                                </p:cTn>
                              </p:par>
                              <p:par>
                                <p:cTn id="299" presetID="10" presetClass="exit" presetSubtype="0" fill="hold" grpId="1" nodeType="withEffect">
                                  <p:stCondLst>
                                    <p:cond delay="10400"/>
                                  </p:stCondLst>
                                  <p:childTnLst>
                                    <p:animEffect transition="out" filter="fade">
                                      <p:cBhvr>
                                        <p:cTn id="300" dur="450"/>
                                        <p:tgtEl>
                                          <p:spTgt spid="37"/>
                                        </p:tgtEl>
                                      </p:cBhvr>
                                    </p:animEffect>
                                    <p:set>
                                      <p:cBhvr>
                                        <p:cTn id="301" dur="1" fill="hold">
                                          <p:stCondLst>
                                            <p:cond delay="449"/>
                                          </p:stCondLst>
                                        </p:cTn>
                                        <p:tgtEl>
                                          <p:spTgt spid="37"/>
                                        </p:tgtEl>
                                        <p:attrNameLst>
                                          <p:attrName>style.visibility</p:attrName>
                                        </p:attrNameLst>
                                      </p:cBhvr>
                                      <p:to>
                                        <p:strVal val="hidden"/>
                                      </p:to>
                                    </p:set>
                                  </p:childTnLst>
                                </p:cTn>
                              </p:par>
                              <p:par>
                                <p:cTn id="302" presetID="10" presetClass="exit" presetSubtype="0" fill="hold" grpId="1" nodeType="withEffect">
                                  <p:stCondLst>
                                    <p:cond delay="10400"/>
                                  </p:stCondLst>
                                  <p:childTnLst>
                                    <p:animEffect transition="out" filter="fade">
                                      <p:cBhvr>
                                        <p:cTn id="303" dur="450"/>
                                        <p:tgtEl>
                                          <p:spTgt spid="38"/>
                                        </p:tgtEl>
                                      </p:cBhvr>
                                    </p:animEffect>
                                    <p:set>
                                      <p:cBhvr>
                                        <p:cTn id="304" dur="1" fill="hold">
                                          <p:stCondLst>
                                            <p:cond delay="449"/>
                                          </p:stCondLst>
                                        </p:cTn>
                                        <p:tgtEl>
                                          <p:spTgt spid="38"/>
                                        </p:tgtEl>
                                        <p:attrNameLst>
                                          <p:attrName>style.visibility</p:attrName>
                                        </p:attrNameLst>
                                      </p:cBhvr>
                                      <p:to>
                                        <p:strVal val="hidden"/>
                                      </p:to>
                                    </p:set>
                                  </p:childTnLst>
                                </p:cTn>
                              </p:par>
                              <p:par>
                                <p:cTn id="305" presetID="10" presetClass="exit" presetSubtype="0" fill="hold" grpId="1" nodeType="withEffect">
                                  <p:stCondLst>
                                    <p:cond delay="10400"/>
                                  </p:stCondLst>
                                  <p:childTnLst>
                                    <p:animEffect transition="out" filter="fade">
                                      <p:cBhvr>
                                        <p:cTn id="306" dur="450"/>
                                        <p:tgtEl>
                                          <p:spTgt spid="39"/>
                                        </p:tgtEl>
                                      </p:cBhvr>
                                    </p:animEffect>
                                    <p:set>
                                      <p:cBhvr>
                                        <p:cTn id="307" dur="1" fill="hold">
                                          <p:stCondLst>
                                            <p:cond delay="449"/>
                                          </p:stCondLst>
                                        </p:cTn>
                                        <p:tgtEl>
                                          <p:spTgt spid="39"/>
                                        </p:tgtEl>
                                        <p:attrNameLst>
                                          <p:attrName>style.visibility</p:attrName>
                                        </p:attrNameLst>
                                      </p:cBhvr>
                                      <p:to>
                                        <p:strVal val="hidden"/>
                                      </p:to>
                                    </p:set>
                                  </p:childTnLst>
                                </p:cTn>
                              </p:par>
                              <p:par>
                                <p:cTn id="308" presetID="10" presetClass="exit" presetSubtype="0" fill="hold" grpId="1" nodeType="withEffect">
                                  <p:stCondLst>
                                    <p:cond delay="10400"/>
                                  </p:stCondLst>
                                  <p:childTnLst>
                                    <p:animEffect transition="out" filter="fade">
                                      <p:cBhvr>
                                        <p:cTn id="309" dur="450"/>
                                        <p:tgtEl>
                                          <p:spTgt spid="40"/>
                                        </p:tgtEl>
                                      </p:cBhvr>
                                    </p:animEffect>
                                    <p:set>
                                      <p:cBhvr>
                                        <p:cTn id="310" dur="1" fill="hold">
                                          <p:stCondLst>
                                            <p:cond delay="449"/>
                                          </p:stCondLst>
                                        </p:cTn>
                                        <p:tgtEl>
                                          <p:spTgt spid="40"/>
                                        </p:tgtEl>
                                        <p:attrNameLst>
                                          <p:attrName>style.visibility</p:attrName>
                                        </p:attrNameLst>
                                      </p:cBhvr>
                                      <p:to>
                                        <p:strVal val="hidden"/>
                                      </p:to>
                                    </p:set>
                                  </p:childTnLst>
                                </p:cTn>
                              </p:par>
                              <p:par>
                                <p:cTn id="311" presetID="10" presetClass="exit" presetSubtype="0" fill="hold" grpId="1" nodeType="withEffect">
                                  <p:stCondLst>
                                    <p:cond delay="10400"/>
                                  </p:stCondLst>
                                  <p:childTnLst>
                                    <p:animEffect transition="out" filter="fade">
                                      <p:cBhvr>
                                        <p:cTn id="312" dur="450"/>
                                        <p:tgtEl>
                                          <p:spTgt spid="41"/>
                                        </p:tgtEl>
                                      </p:cBhvr>
                                    </p:animEffect>
                                    <p:set>
                                      <p:cBhvr>
                                        <p:cTn id="313" dur="1" fill="hold">
                                          <p:stCondLst>
                                            <p:cond delay="449"/>
                                          </p:stCondLst>
                                        </p:cTn>
                                        <p:tgtEl>
                                          <p:spTgt spid="41"/>
                                        </p:tgtEl>
                                        <p:attrNameLst>
                                          <p:attrName>style.visibility</p:attrName>
                                        </p:attrNameLst>
                                      </p:cBhvr>
                                      <p:to>
                                        <p:strVal val="hidden"/>
                                      </p:to>
                                    </p:set>
                                  </p:childTnLst>
                                </p:cTn>
                              </p:par>
                              <p:par>
                                <p:cTn id="314" presetID="10" presetClass="exit" presetSubtype="0" fill="hold" grpId="1" nodeType="withEffect">
                                  <p:stCondLst>
                                    <p:cond delay="10400"/>
                                  </p:stCondLst>
                                  <p:childTnLst>
                                    <p:animEffect transition="out" filter="fade">
                                      <p:cBhvr>
                                        <p:cTn id="315" dur="450"/>
                                        <p:tgtEl>
                                          <p:spTgt spid="42"/>
                                        </p:tgtEl>
                                      </p:cBhvr>
                                    </p:animEffect>
                                    <p:set>
                                      <p:cBhvr>
                                        <p:cTn id="316" dur="1" fill="hold">
                                          <p:stCondLst>
                                            <p:cond delay="449"/>
                                          </p:stCondLst>
                                        </p:cTn>
                                        <p:tgtEl>
                                          <p:spTgt spid="42"/>
                                        </p:tgtEl>
                                        <p:attrNameLst>
                                          <p:attrName>style.visibility</p:attrName>
                                        </p:attrNameLst>
                                      </p:cBhvr>
                                      <p:to>
                                        <p:strVal val="hidden"/>
                                      </p:to>
                                    </p:set>
                                  </p:childTnLst>
                                </p:cTn>
                              </p:par>
                              <p:par>
                                <p:cTn id="317" presetID="10" presetClass="exit" presetSubtype="0" fill="hold" grpId="1" nodeType="withEffect">
                                  <p:stCondLst>
                                    <p:cond delay="10400"/>
                                  </p:stCondLst>
                                  <p:childTnLst>
                                    <p:animEffect transition="out" filter="fade">
                                      <p:cBhvr>
                                        <p:cTn id="318" dur="450"/>
                                        <p:tgtEl>
                                          <p:spTgt spid="43"/>
                                        </p:tgtEl>
                                      </p:cBhvr>
                                    </p:animEffect>
                                    <p:set>
                                      <p:cBhvr>
                                        <p:cTn id="319" dur="1" fill="hold">
                                          <p:stCondLst>
                                            <p:cond delay="449"/>
                                          </p:stCondLst>
                                        </p:cTn>
                                        <p:tgtEl>
                                          <p:spTgt spid="43"/>
                                        </p:tgtEl>
                                        <p:attrNameLst>
                                          <p:attrName>style.visibility</p:attrName>
                                        </p:attrNameLst>
                                      </p:cBhvr>
                                      <p:to>
                                        <p:strVal val="hidden"/>
                                      </p:to>
                                    </p:set>
                                  </p:childTnLst>
                                </p:cTn>
                              </p:par>
                              <p:par>
                                <p:cTn id="320" presetID="10" presetClass="exit" presetSubtype="0" fill="hold" grpId="1" nodeType="withEffect">
                                  <p:stCondLst>
                                    <p:cond delay="10400"/>
                                  </p:stCondLst>
                                  <p:childTnLst>
                                    <p:animEffect transition="out" filter="fade">
                                      <p:cBhvr>
                                        <p:cTn id="321" dur="450"/>
                                        <p:tgtEl>
                                          <p:spTgt spid="44"/>
                                        </p:tgtEl>
                                      </p:cBhvr>
                                    </p:animEffect>
                                    <p:set>
                                      <p:cBhvr>
                                        <p:cTn id="322" dur="1" fill="hold">
                                          <p:stCondLst>
                                            <p:cond delay="449"/>
                                          </p:stCondLst>
                                        </p:cTn>
                                        <p:tgtEl>
                                          <p:spTgt spid="44"/>
                                        </p:tgtEl>
                                        <p:attrNameLst>
                                          <p:attrName>style.visibility</p:attrName>
                                        </p:attrNameLst>
                                      </p:cBhvr>
                                      <p:to>
                                        <p:strVal val="hidden"/>
                                      </p:to>
                                    </p:set>
                                  </p:childTnLst>
                                </p:cTn>
                              </p:par>
                              <p:par>
                                <p:cTn id="323" presetID="10" presetClass="exit" presetSubtype="0" fill="hold" grpId="1" nodeType="withEffect">
                                  <p:stCondLst>
                                    <p:cond delay="10400"/>
                                  </p:stCondLst>
                                  <p:childTnLst>
                                    <p:animEffect transition="out" filter="fade">
                                      <p:cBhvr>
                                        <p:cTn id="324" dur="450"/>
                                        <p:tgtEl>
                                          <p:spTgt spid="45"/>
                                        </p:tgtEl>
                                      </p:cBhvr>
                                    </p:animEffect>
                                    <p:set>
                                      <p:cBhvr>
                                        <p:cTn id="325" dur="1" fill="hold">
                                          <p:stCondLst>
                                            <p:cond delay="449"/>
                                          </p:stCondLst>
                                        </p:cTn>
                                        <p:tgtEl>
                                          <p:spTgt spid="45"/>
                                        </p:tgtEl>
                                        <p:attrNameLst>
                                          <p:attrName>style.visibility</p:attrName>
                                        </p:attrNameLst>
                                      </p:cBhvr>
                                      <p:to>
                                        <p:strVal val="hidden"/>
                                      </p:to>
                                    </p:set>
                                  </p:childTnLst>
                                </p:cTn>
                              </p:par>
                              <p:par>
                                <p:cTn id="326" presetID="10" presetClass="exit" presetSubtype="0" fill="hold" grpId="1" nodeType="withEffect">
                                  <p:stCondLst>
                                    <p:cond delay="10400"/>
                                  </p:stCondLst>
                                  <p:childTnLst>
                                    <p:animEffect transition="out" filter="fade">
                                      <p:cBhvr>
                                        <p:cTn id="327" dur="450"/>
                                        <p:tgtEl>
                                          <p:spTgt spid="46"/>
                                        </p:tgtEl>
                                      </p:cBhvr>
                                    </p:animEffect>
                                    <p:set>
                                      <p:cBhvr>
                                        <p:cTn id="328" dur="1" fill="hold">
                                          <p:stCondLst>
                                            <p:cond delay="449"/>
                                          </p:stCondLst>
                                        </p:cTn>
                                        <p:tgtEl>
                                          <p:spTgt spid="46"/>
                                        </p:tgtEl>
                                        <p:attrNameLst>
                                          <p:attrName>style.visibility</p:attrName>
                                        </p:attrNameLst>
                                      </p:cBhvr>
                                      <p:to>
                                        <p:strVal val="hidden"/>
                                      </p:to>
                                    </p:set>
                                  </p:childTnLst>
                                </p:cTn>
                              </p:par>
                              <p:par>
                                <p:cTn id="329" presetID="10" presetClass="exit" presetSubtype="0" fill="hold" grpId="1" nodeType="withEffect">
                                  <p:stCondLst>
                                    <p:cond delay="10400"/>
                                  </p:stCondLst>
                                  <p:childTnLst>
                                    <p:animEffect transition="out" filter="fade">
                                      <p:cBhvr>
                                        <p:cTn id="330" dur="450"/>
                                        <p:tgtEl>
                                          <p:spTgt spid="47"/>
                                        </p:tgtEl>
                                      </p:cBhvr>
                                    </p:animEffect>
                                    <p:set>
                                      <p:cBhvr>
                                        <p:cTn id="331" dur="1" fill="hold">
                                          <p:stCondLst>
                                            <p:cond delay="449"/>
                                          </p:stCondLst>
                                        </p:cTn>
                                        <p:tgtEl>
                                          <p:spTgt spid="47"/>
                                        </p:tgtEl>
                                        <p:attrNameLst>
                                          <p:attrName>style.visibility</p:attrName>
                                        </p:attrNameLst>
                                      </p:cBhvr>
                                      <p:to>
                                        <p:strVal val="hidden"/>
                                      </p:to>
                                    </p:set>
                                  </p:childTnLst>
                                </p:cTn>
                              </p:par>
                              <p:par>
                                <p:cTn id="332" presetID="10" presetClass="exit" presetSubtype="0" fill="hold" grpId="1" nodeType="withEffect">
                                  <p:stCondLst>
                                    <p:cond delay="10400"/>
                                  </p:stCondLst>
                                  <p:childTnLst>
                                    <p:animEffect transition="out" filter="fade">
                                      <p:cBhvr>
                                        <p:cTn id="333" dur="450"/>
                                        <p:tgtEl>
                                          <p:spTgt spid="48"/>
                                        </p:tgtEl>
                                      </p:cBhvr>
                                    </p:animEffect>
                                    <p:set>
                                      <p:cBhvr>
                                        <p:cTn id="334" dur="1" fill="hold">
                                          <p:stCondLst>
                                            <p:cond delay="449"/>
                                          </p:stCondLst>
                                        </p:cTn>
                                        <p:tgtEl>
                                          <p:spTgt spid="48"/>
                                        </p:tgtEl>
                                        <p:attrNameLst>
                                          <p:attrName>style.visibility</p:attrName>
                                        </p:attrNameLst>
                                      </p:cBhvr>
                                      <p:to>
                                        <p:strVal val="hidden"/>
                                      </p:to>
                                    </p:set>
                                  </p:childTnLst>
                                </p:cTn>
                              </p:par>
                              <p:par>
                                <p:cTn id="335" presetID="10" presetClass="exit" presetSubtype="0" fill="hold" grpId="1" nodeType="withEffect">
                                  <p:stCondLst>
                                    <p:cond delay="10400"/>
                                  </p:stCondLst>
                                  <p:childTnLst>
                                    <p:animEffect transition="out" filter="fade">
                                      <p:cBhvr>
                                        <p:cTn id="336" dur="450"/>
                                        <p:tgtEl>
                                          <p:spTgt spid="49"/>
                                        </p:tgtEl>
                                      </p:cBhvr>
                                    </p:animEffect>
                                    <p:set>
                                      <p:cBhvr>
                                        <p:cTn id="337" dur="1" fill="hold">
                                          <p:stCondLst>
                                            <p:cond delay="449"/>
                                          </p:stCondLst>
                                        </p:cTn>
                                        <p:tgtEl>
                                          <p:spTgt spid="49"/>
                                        </p:tgtEl>
                                        <p:attrNameLst>
                                          <p:attrName>style.visibility</p:attrName>
                                        </p:attrNameLst>
                                      </p:cBhvr>
                                      <p:to>
                                        <p:strVal val="hidden"/>
                                      </p:to>
                                    </p:set>
                                  </p:childTnLst>
                                </p:cTn>
                              </p:par>
                              <p:par>
                                <p:cTn id="338" presetID="10" presetClass="exit" presetSubtype="0" fill="hold" grpId="1" nodeType="withEffect">
                                  <p:stCondLst>
                                    <p:cond delay="10400"/>
                                  </p:stCondLst>
                                  <p:childTnLst>
                                    <p:animEffect transition="out" filter="fade">
                                      <p:cBhvr>
                                        <p:cTn id="339" dur="450"/>
                                        <p:tgtEl>
                                          <p:spTgt spid="50"/>
                                        </p:tgtEl>
                                      </p:cBhvr>
                                    </p:animEffect>
                                    <p:set>
                                      <p:cBhvr>
                                        <p:cTn id="340" dur="1" fill="hold">
                                          <p:stCondLst>
                                            <p:cond delay="449"/>
                                          </p:stCondLst>
                                        </p:cTn>
                                        <p:tgtEl>
                                          <p:spTgt spid="50"/>
                                        </p:tgtEl>
                                        <p:attrNameLst>
                                          <p:attrName>style.visibility</p:attrName>
                                        </p:attrNameLst>
                                      </p:cBhvr>
                                      <p:to>
                                        <p:strVal val="hidden"/>
                                      </p:to>
                                    </p:set>
                                  </p:childTnLst>
                                </p:cTn>
                              </p:par>
                              <p:par>
                                <p:cTn id="341" presetID="10" presetClass="exit" presetSubtype="0" fill="hold" grpId="1" nodeType="withEffect">
                                  <p:stCondLst>
                                    <p:cond delay="10400"/>
                                  </p:stCondLst>
                                  <p:childTnLst>
                                    <p:animEffect transition="out" filter="fade">
                                      <p:cBhvr>
                                        <p:cTn id="342" dur="450"/>
                                        <p:tgtEl>
                                          <p:spTgt spid="51"/>
                                        </p:tgtEl>
                                      </p:cBhvr>
                                    </p:animEffect>
                                    <p:set>
                                      <p:cBhvr>
                                        <p:cTn id="343" dur="1" fill="hold">
                                          <p:stCondLst>
                                            <p:cond delay="449"/>
                                          </p:stCondLst>
                                        </p:cTn>
                                        <p:tgtEl>
                                          <p:spTgt spid="51"/>
                                        </p:tgtEl>
                                        <p:attrNameLst>
                                          <p:attrName>style.visibility</p:attrName>
                                        </p:attrNameLst>
                                      </p:cBhvr>
                                      <p:to>
                                        <p:strVal val="hidden"/>
                                      </p:to>
                                    </p:set>
                                  </p:childTnLst>
                                </p:cTn>
                              </p:par>
                              <p:par>
                                <p:cTn id="344" presetID="10" presetClass="exit" presetSubtype="0" fill="hold" grpId="1" nodeType="withEffect">
                                  <p:stCondLst>
                                    <p:cond delay="10400"/>
                                  </p:stCondLst>
                                  <p:childTnLst>
                                    <p:animEffect transition="out" filter="fade">
                                      <p:cBhvr>
                                        <p:cTn id="345" dur="450"/>
                                        <p:tgtEl>
                                          <p:spTgt spid="52"/>
                                        </p:tgtEl>
                                      </p:cBhvr>
                                    </p:animEffect>
                                    <p:set>
                                      <p:cBhvr>
                                        <p:cTn id="346" dur="1" fill="hold">
                                          <p:stCondLst>
                                            <p:cond delay="449"/>
                                          </p:stCondLst>
                                        </p:cTn>
                                        <p:tgtEl>
                                          <p:spTgt spid="52"/>
                                        </p:tgtEl>
                                        <p:attrNameLst>
                                          <p:attrName>style.visibility</p:attrName>
                                        </p:attrNameLst>
                                      </p:cBhvr>
                                      <p:to>
                                        <p:strVal val="hidden"/>
                                      </p:to>
                                    </p:set>
                                  </p:childTnLst>
                                </p:cTn>
                              </p:par>
                              <p:par>
                                <p:cTn id="347" presetID="10" presetClass="exit" presetSubtype="0" fill="hold" grpId="1" nodeType="withEffect">
                                  <p:stCondLst>
                                    <p:cond delay="10400"/>
                                  </p:stCondLst>
                                  <p:childTnLst>
                                    <p:animEffect transition="out" filter="fade">
                                      <p:cBhvr>
                                        <p:cTn id="348" dur="450"/>
                                        <p:tgtEl>
                                          <p:spTgt spid="53"/>
                                        </p:tgtEl>
                                      </p:cBhvr>
                                    </p:animEffect>
                                    <p:set>
                                      <p:cBhvr>
                                        <p:cTn id="349" dur="1" fill="hold">
                                          <p:stCondLst>
                                            <p:cond delay="449"/>
                                          </p:stCondLst>
                                        </p:cTn>
                                        <p:tgtEl>
                                          <p:spTgt spid="53"/>
                                        </p:tgtEl>
                                        <p:attrNameLst>
                                          <p:attrName>style.visibility</p:attrName>
                                        </p:attrNameLst>
                                      </p:cBhvr>
                                      <p:to>
                                        <p:strVal val="hidden"/>
                                      </p:to>
                                    </p:set>
                                  </p:childTnLst>
                                </p:cTn>
                              </p:par>
                              <p:par>
                                <p:cTn id="350" presetID="10" presetClass="exit" presetSubtype="0" fill="hold" grpId="1" nodeType="withEffect">
                                  <p:stCondLst>
                                    <p:cond delay="10400"/>
                                  </p:stCondLst>
                                  <p:childTnLst>
                                    <p:animEffect transition="out" filter="fade">
                                      <p:cBhvr>
                                        <p:cTn id="351" dur="450"/>
                                        <p:tgtEl>
                                          <p:spTgt spid="54"/>
                                        </p:tgtEl>
                                      </p:cBhvr>
                                    </p:animEffect>
                                    <p:set>
                                      <p:cBhvr>
                                        <p:cTn id="352" dur="1" fill="hold">
                                          <p:stCondLst>
                                            <p:cond delay="449"/>
                                          </p:stCondLst>
                                        </p:cTn>
                                        <p:tgtEl>
                                          <p:spTgt spid="54"/>
                                        </p:tgtEl>
                                        <p:attrNameLst>
                                          <p:attrName>style.visibility</p:attrName>
                                        </p:attrNameLst>
                                      </p:cBhvr>
                                      <p:to>
                                        <p:strVal val="hidden"/>
                                      </p:to>
                                    </p:set>
                                  </p:childTnLst>
                                </p:cTn>
                              </p:par>
                              <p:par>
                                <p:cTn id="353" presetID="10" presetClass="exit" presetSubtype="0" fill="hold" grpId="1" nodeType="withEffect">
                                  <p:stCondLst>
                                    <p:cond delay="10400"/>
                                  </p:stCondLst>
                                  <p:childTnLst>
                                    <p:animEffect transition="out" filter="fade">
                                      <p:cBhvr>
                                        <p:cTn id="354" dur="450"/>
                                        <p:tgtEl>
                                          <p:spTgt spid="55"/>
                                        </p:tgtEl>
                                      </p:cBhvr>
                                    </p:animEffect>
                                    <p:set>
                                      <p:cBhvr>
                                        <p:cTn id="355" dur="1" fill="hold">
                                          <p:stCondLst>
                                            <p:cond delay="449"/>
                                          </p:stCondLst>
                                        </p:cTn>
                                        <p:tgtEl>
                                          <p:spTgt spid="55"/>
                                        </p:tgtEl>
                                        <p:attrNameLst>
                                          <p:attrName>style.visibility</p:attrName>
                                        </p:attrNameLst>
                                      </p:cBhvr>
                                      <p:to>
                                        <p:strVal val="hidden"/>
                                      </p:to>
                                    </p:set>
                                  </p:childTnLst>
                                </p:cTn>
                              </p:par>
                              <p:par>
                                <p:cTn id="356" presetID="10" presetClass="exit" presetSubtype="0" fill="hold" grpId="1" nodeType="withEffect">
                                  <p:stCondLst>
                                    <p:cond delay="10400"/>
                                  </p:stCondLst>
                                  <p:childTnLst>
                                    <p:animEffect transition="out" filter="fade">
                                      <p:cBhvr>
                                        <p:cTn id="357" dur="450"/>
                                        <p:tgtEl>
                                          <p:spTgt spid="56"/>
                                        </p:tgtEl>
                                      </p:cBhvr>
                                    </p:animEffect>
                                    <p:set>
                                      <p:cBhvr>
                                        <p:cTn id="358" dur="1" fill="hold">
                                          <p:stCondLst>
                                            <p:cond delay="449"/>
                                          </p:stCondLst>
                                        </p:cTn>
                                        <p:tgtEl>
                                          <p:spTgt spid="56"/>
                                        </p:tgtEl>
                                        <p:attrNameLst>
                                          <p:attrName>style.visibility</p:attrName>
                                        </p:attrNameLst>
                                      </p:cBhvr>
                                      <p:to>
                                        <p:strVal val="hidden"/>
                                      </p:to>
                                    </p:set>
                                  </p:childTnLst>
                                </p:cTn>
                              </p:par>
                              <p:par>
                                <p:cTn id="359" presetID="10" presetClass="exit" presetSubtype="0" fill="hold" grpId="1" nodeType="withEffect">
                                  <p:stCondLst>
                                    <p:cond delay="10400"/>
                                  </p:stCondLst>
                                  <p:childTnLst>
                                    <p:animEffect transition="out" filter="fade">
                                      <p:cBhvr>
                                        <p:cTn id="360" dur="450"/>
                                        <p:tgtEl>
                                          <p:spTgt spid="57"/>
                                        </p:tgtEl>
                                      </p:cBhvr>
                                    </p:animEffect>
                                    <p:set>
                                      <p:cBhvr>
                                        <p:cTn id="361" dur="1" fill="hold">
                                          <p:stCondLst>
                                            <p:cond delay="449"/>
                                          </p:stCondLst>
                                        </p:cTn>
                                        <p:tgtEl>
                                          <p:spTgt spid="57"/>
                                        </p:tgtEl>
                                        <p:attrNameLst>
                                          <p:attrName>style.visibility</p:attrName>
                                        </p:attrNameLst>
                                      </p:cBhvr>
                                      <p:to>
                                        <p:strVal val="hidden"/>
                                      </p:to>
                                    </p:set>
                                  </p:childTnLst>
                                </p:cTn>
                              </p:par>
                              <p:par>
                                <p:cTn id="362" presetID="10" presetClass="exit" presetSubtype="0" fill="hold" grpId="1" nodeType="withEffect">
                                  <p:stCondLst>
                                    <p:cond delay="10400"/>
                                  </p:stCondLst>
                                  <p:childTnLst>
                                    <p:animEffect transition="out" filter="fade">
                                      <p:cBhvr>
                                        <p:cTn id="363" dur="450"/>
                                        <p:tgtEl>
                                          <p:spTgt spid="58"/>
                                        </p:tgtEl>
                                      </p:cBhvr>
                                    </p:animEffect>
                                    <p:set>
                                      <p:cBhvr>
                                        <p:cTn id="364" dur="1" fill="hold">
                                          <p:stCondLst>
                                            <p:cond delay="449"/>
                                          </p:stCondLst>
                                        </p:cTn>
                                        <p:tgtEl>
                                          <p:spTgt spid="58"/>
                                        </p:tgtEl>
                                        <p:attrNameLst>
                                          <p:attrName>style.visibility</p:attrName>
                                        </p:attrNameLst>
                                      </p:cBhvr>
                                      <p:to>
                                        <p:strVal val="hidden"/>
                                      </p:to>
                                    </p:set>
                                  </p:childTnLst>
                                </p:cTn>
                              </p:par>
                              <p:par>
                                <p:cTn id="365" presetID="10" presetClass="exit" presetSubtype="0" fill="hold" grpId="1" nodeType="withEffect">
                                  <p:stCondLst>
                                    <p:cond delay="10400"/>
                                  </p:stCondLst>
                                  <p:childTnLst>
                                    <p:animEffect transition="out" filter="fade">
                                      <p:cBhvr>
                                        <p:cTn id="366" dur="450"/>
                                        <p:tgtEl>
                                          <p:spTgt spid="59"/>
                                        </p:tgtEl>
                                      </p:cBhvr>
                                    </p:animEffect>
                                    <p:set>
                                      <p:cBhvr>
                                        <p:cTn id="367" dur="1" fill="hold">
                                          <p:stCondLst>
                                            <p:cond delay="449"/>
                                          </p:stCondLst>
                                        </p:cTn>
                                        <p:tgtEl>
                                          <p:spTgt spid="59"/>
                                        </p:tgtEl>
                                        <p:attrNameLst>
                                          <p:attrName>style.visibility</p:attrName>
                                        </p:attrNameLst>
                                      </p:cBhvr>
                                      <p:to>
                                        <p:strVal val="hidden"/>
                                      </p:to>
                                    </p:set>
                                  </p:childTnLst>
                                </p:cTn>
                              </p:par>
                              <p:par>
                                <p:cTn id="368" presetID="10" presetClass="exit" presetSubtype="0" fill="hold" grpId="1" nodeType="withEffect">
                                  <p:stCondLst>
                                    <p:cond delay="10400"/>
                                  </p:stCondLst>
                                  <p:childTnLst>
                                    <p:animEffect transition="out" filter="fade">
                                      <p:cBhvr>
                                        <p:cTn id="369" dur="450"/>
                                        <p:tgtEl>
                                          <p:spTgt spid="60"/>
                                        </p:tgtEl>
                                      </p:cBhvr>
                                    </p:animEffect>
                                    <p:set>
                                      <p:cBhvr>
                                        <p:cTn id="370" dur="1" fill="hold">
                                          <p:stCondLst>
                                            <p:cond delay="449"/>
                                          </p:stCondLst>
                                        </p:cTn>
                                        <p:tgtEl>
                                          <p:spTgt spid="60"/>
                                        </p:tgtEl>
                                        <p:attrNameLst>
                                          <p:attrName>style.visibility</p:attrName>
                                        </p:attrNameLst>
                                      </p:cBhvr>
                                      <p:to>
                                        <p:strVal val="hidden"/>
                                      </p:to>
                                    </p:set>
                                  </p:childTnLst>
                                </p:cTn>
                              </p:par>
                              <p:par>
                                <p:cTn id="371" presetID="10" presetClass="entr" presetSubtype="0" fill="hold" grpId="0" nodeType="withEffect">
                                  <p:stCondLst>
                                    <p:cond delay="10400"/>
                                  </p:stCondLst>
                                  <p:childTnLst>
                                    <p:set>
                                      <p:cBhvr>
                                        <p:cTn id="372" dur="1" fill="hold">
                                          <p:stCondLst>
                                            <p:cond delay="0"/>
                                          </p:stCondLst>
                                        </p:cTn>
                                        <p:tgtEl>
                                          <p:spTgt spid="82"/>
                                        </p:tgtEl>
                                        <p:attrNameLst>
                                          <p:attrName>style.visibility</p:attrName>
                                        </p:attrNameLst>
                                      </p:cBhvr>
                                      <p:to>
                                        <p:strVal val="visible"/>
                                      </p:to>
                                    </p:set>
                                    <p:animEffect transition="in" filter="fade">
                                      <p:cBhvr>
                                        <p:cTn id="373" dur="450"/>
                                        <p:tgtEl>
                                          <p:spTgt spid="82"/>
                                        </p:tgtEl>
                                      </p:cBhvr>
                                    </p:animEffect>
                                  </p:childTnLst>
                                </p:cTn>
                              </p:par>
                              <p:par>
                                <p:cTn id="374" presetID="10" presetClass="entr" presetSubtype="0" fill="hold" grpId="0" nodeType="withEffect">
                                  <p:stCondLst>
                                    <p:cond delay="10400"/>
                                  </p:stCondLst>
                                  <p:childTnLst>
                                    <p:set>
                                      <p:cBhvr>
                                        <p:cTn id="375" dur="1" fill="hold">
                                          <p:stCondLst>
                                            <p:cond delay="0"/>
                                          </p:stCondLst>
                                        </p:cTn>
                                        <p:tgtEl>
                                          <p:spTgt spid="83"/>
                                        </p:tgtEl>
                                        <p:attrNameLst>
                                          <p:attrName>style.visibility</p:attrName>
                                        </p:attrNameLst>
                                      </p:cBhvr>
                                      <p:to>
                                        <p:strVal val="visible"/>
                                      </p:to>
                                    </p:set>
                                    <p:animEffect transition="in" filter="fade">
                                      <p:cBhvr>
                                        <p:cTn id="376" dur="450"/>
                                        <p:tgtEl>
                                          <p:spTgt spid="83"/>
                                        </p:tgtEl>
                                      </p:cBhvr>
                                    </p:animEffect>
                                  </p:childTnLst>
                                </p:cTn>
                              </p:par>
                              <p:par>
                                <p:cTn id="377" presetID="10" presetClass="entr" presetSubtype="0" fill="hold" grpId="0" nodeType="withEffect">
                                  <p:stCondLst>
                                    <p:cond delay="10400"/>
                                  </p:stCondLst>
                                  <p:childTnLst>
                                    <p:set>
                                      <p:cBhvr>
                                        <p:cTn id="378" dur="1" fill="hold">
                                          <p:stCondLst>
                                            <p:cond delay="0"/>
                                          </p:stCondLst>
                                        </p:cTn>
                                        <p:tgtEl>
                                          <p:spTgt spid="84"/>
                                        </p:tgtEl>
                                        <p:attrNameLst>
                                          <p:attrName>style.visibility</p:attrName>
                                        </p:attrNameLst>
                                      </p:cBhvr>
                                      <p:to>
                                        <p:strVal val="visible"/>
                                      </p:to>
                                    </p:set>
                                    <p:animEffect transition="in" filter="fade">
                                      <p:cBhvr>
                                        <p:cTn id="379" dur="450"/>
                                        <p:tgtEl>
                                          <p:spTgt spid="84"/>
                                        </p:tgtEl>
                                      </p:cBhvr>
                                    </p:animEffect>
                                  </p:childTnLst>
                                </p:cTn>
                              </p:par>
                              <p:par>
                                <p:cTn id="380" presetID="10" presetClass="entr" presetSubtype="0" fill="hold" grpId="0" nodeType="withEffect">
                                  <p:stCondLst>
                                    <p:cond delay="10400"/>
                                  </p:stCondLst>
                                  <p:childTnLst>
                                    <p:set>
                                      <p:cBhvr>
                                        <p:cTn id="381" dur="1" fill="hold">
                                          <p:stCondLst>
                                            <p:cond delay="0"/>
                                          </p:stCondLst>
                                        </p:cTn>
                                        <p:tgtEl>
                                          <p:spTgt spid="61"/>
                                        </p:tgtEl>
                                        <p:attrNameLst>
                                          <p:attrName>style.visibility</p:attrName>
                                        </p:attrNameLst>
                                      </p:cBhvr>
                                      <p:to>
                                        <p:strVal val="visible"/>
                                      </p:to>
                                    </p:set>
                                    <p:animEffect transition="in" filter="fade">
                                      <p:cBhvr>
                                        <p:cTn id="382" dur="450"/>
                                        <p:tgtEl>
                                          <p:spTgt spid="61"/>
                                        </p:tgtEl>
                                      </p:cBhvr>
                                    </p:animEffect>
                                  </p:childTnLst>
                                </p:cTn>
                              </p:par>
                              <p:par>
                                <p:cTn id="383" presetID="10" presetClass="entr" presetSubtype="0" fill="hold" grpId="0" nodeType="withEffect">
                                  <p:stCondLst>
                                    <p:cond delay="10400"/>
                                  </p:stCondLst>
                                  <p:childTnLst>
                                    <p:set>
                                      <p:cBhvr>
                                        <p:cTn id="384" dur="1" fill="hold">
                                          <p:stCondLst>
                                            <p:cond delay="0"/>
                                          </p:stCondLst>
                                        </p:cTn>
                                        <p:tgtEl>
                                          <p:spTgt spid="62"/>
                                        </p:tgtEl>
                                        <p:attrNameLst>
                                          <p:attrName>style.visibility</p:attrName>
                                        </p:attrNameLst>
                                      </p:cBhvr>
                                      <p:to>
                                        <p:strVal val="visible"/>
                                      </p:to>
                                    </p:set>
                                    <p:animEffect transition="in" filter="fade">
                                      <p:cBhvr>
                                        <p:cTn id="385" dur="450"/>
                                        <p:tgtEl>
                                          <p:spTgt spid="62"/>
                                        </p:tgtEl>
                                      </p:cBhvr>
                                    </p:animEffect>
                                  </p:childTnLst>
                                </p:cTn>
                              </p:par>
                              <p:par>
                                <p:cTn id="386" presetID="10" presetClass="exit" presetSubtype="0" fill="hold" grpId="1" nodeType="withEffect">
                                  <p:stCondLst>
                                    <p:cond delay="13000"/>
                                  </p:stCondLst>
                                  <p:childTnLst>
                                    <p:animEffect transition="out" filter="fade">
                                      <p:cBhvr>
                                        <p:cTn id="387" dur="450"/>
                                        <p:tgtEl>
                                          <p:spTgt spid="61"/>
                                        </p:tgtEl>
                                      </p:cBhvr>
                                    </p:animEffect>
                                    <p:set>
                                      <p:cBhvr>
                                        <p:cTn id="388" dur="1" fill="hold">
                                          <p:stCondLst>
                                            <p:cond delay="449"/>
                                          </p:stCondLst>
                                        </p:cTn>
                                        <p:tgtEl>
                                          <p:spTgt spid="61"/>
                                        </p:tgtEl>
                                        <p:attrNameLst>
                                          <p:attrName>style.visibility</p:attrName>
                                        </p:attrNameLst>
                                      </p:cBhvr>
                                      <p:to>
                                        <p:strVal val="hidden"/>
                                      </p:to>
                                    </p:set>
                                  </p:childTnLst>
                                </p:cTn>
                              </p:par>
                              <p:par>
                                <p:cTn id="389" presetID="10" presetClass="exit" presetSubtype="0" fill="hold" grpId="1" nodeType="withEffect">
                                  <p:stCondLst>
                                    <p:cond delay="13000"/>
                                  </p:stCondLst>
                                  <p:childTnLst>
                                    <p:animEffect transition="out" filter="fade">
                                      <p:cBhvr>
                                        <p:cTn id="390" dur="450"/>
                                        <p:tgtEl>
                                          <p:spTgt spid="62"/>
                                        </p:tgtEl>
                                      </p:cBhvr>
                                    </p:animEffect>
                                    <p:set>
                                      <p:cBhvr>
                                        <p:cTn id="391" dur="1" fill="hold">
                                          <p:stCondLst>
                                            <p:cond delay="449"/>
                                          </p:stCondLst>
                                        </p:cTn>
                                        <p:tgtEl>
                                          <p:spTgt spid="62"/>
                                        </p:tgtEl>
                                        <p:attrNameLst>
                                          <p:attrName>style.visibility</p:attrName>
                                        </p:attrNameLst>
                                      </p:cBhvr>
                                      <p:to>
                                        <p:strVal val="hidden"/>
                                      </p:to>
                                    </p:set>
                                  </p:childTnLst>
                                </p:cTn>
                              </p:par>
                              <p:par>
                                <p:cTn id="392" presetID="10" presetClass="entr" presetSubtype="0" fill="hold" grpId="0" nodeType="withEffect">
                                  <p:stCondLst>
                                    <p:cond delay="13000"/>
                                  </p:stCondLst>
                                  <p:childTnLst>
                                    <p:set>
                                      <p:cBhvr>
                                        <p:cTn id="393" dur="1" fill="hold">
                                          <p:stCondLst>
                                            <p:cond delay="0"/>
                                          </p:stCondLst>
                                        </p:cTn>
                                        <p:tgtEl>
                                          <p:spTgt spid="85"/>
                                        </p:tgtEl>
                                        <p:attrNameLst>
                                          <p:attrName>style.visibility</p:attrName>
                                        </p:attrNameLst>
                                      </p:cBhvr>
                                      <p:to>
                                        <p:strVal val="visible"/>
                                      </p:to>
                                    </p:set>
                                    <p:animEffect transition="in" filter="fade">
                                      <p:cBhvr>
                                        <p:cTn id="394" dur="450"/>
                                        <p:tgtEl>
                                          <p:spTgt spid="85"/>
                                        </p:tgtEl>
                                      </p:cBhvr>
                                    </p:animEffect>
                                  </p:childTnLst>
                                </p:cTn>
                              </p:par>
                              <p:par>
                                <p:cTn id="395" presetID="10" presetClass="entr" presetSubtype="0" fill="hold" grpId="0" nodeType="withEffect">
                                  <p:stCondLst>
                                    <p:cond delay="13000"/>
                                  </p:stCondLst>
                                  <p:childTnLst>
                                    <p:set>
                                      <p:cBhvr>
                                        <p:cTn id="396" dur="1" fill="hold">
                                          <p:stCondLst>
                                            <p:cond delay="0"/>
                                          </p:stCondLst>
                                        </p:cTn>
                                        <p:tgtEl>
                                          <p:spTgt spid="86"/>
                                        </p:tgtEl>
                                        <p:attrNameLst>
                                          <p:attrName>style.visibility</p:attrName>
                                        </p:attrNameLst>
                                      </p:cBhvr>
                                      <p:to>
                                        <p:strVal val="visible"/>
                                      </p:to>
                                    </p:set>
                                    <p:animEffect transition="in" filter="fade">
                                      <p:cBhvr>
                                        <p:cTn id="397" dur="450"/>
                                        <p:tgtEl>
                                          <p:spTgt spid="86"/>
                                        </p:tgtEl>
                                      </p:cBhvr>
                                    </p:animEffect>
                                  </p:childTnLst>
                                </p:cTn>
                              </p:par>
                              <p:par>
                                <p:cTn id="398" presetID="10" presetClass="entr" presetSubtype="0" fill="hold" grpId="0" nodeType="withEffect">
                                  <p:stCondLst>
                                    <p:cond delay="13000"/>
                                  </p:stCondLst>
                                  <p:childTnLst>
                                    <p:set>
                                      <p:cBhvr>
                                        <p:cTn id="399" dur="1" fill="hold">
                                          <p:stCondLst>
                                            <p:cond delay="0"/>
                                          </p:stCondLst>
                                        </p:cTn>
                                        <p:tgtEl>
                                          <p:spTgt spid="87"/>
                                        </p:tgtEl>
                                        <p:attrNameLst>
                                          <p:attrName>style.visibility</p:attrName>
                                        </p:attrNameLst>
                                      </p:cBhvr>
                                      <p:to>
                                        <p:strVal val="visible"/>
                                      </p:to>
                                    </p:set>
                                    <p:animEffect transition="in" filter="fade">
                                      <p:cBhvr>
                                        <p:cTn id="400" dur="450"/>
                                        <p:tgtEl>
                                          <p:spTgt spid="87"/>
                                        </p:tgtEl>
                                      </p:cBhvr>
                                    </p:animEffect>
                                  </p:childTnLst>
                                </p:cTn>
                              </p:par>
                              <p:par>
                                <p:cTn id="401" presetID="10" presetClass="entr" presetSubtype="0" fill="hold" grpId="0" nodeType="withEffect">
                                  <p:stCondLst>
                                    <p:cond delay="13000"/>
                                  </p:stCondLst>
                                  <p:childTnLst>
                                    <p:set>
                                      <p:cBhvr>
                                        <p:cTn id="402" dur="1" fill="hold">
                                          <p:stCondLst>
                                            <p:cond delay="0"/>
                                          </p:stCondLst>
                                        </p:cTn>
                                        <p:tgtEl>
                                          <p:spTgt spid="63"/>
                                        </p:tgtEl>
                                        <p:attrNameLst>
                                          <p:attrName>style.visibility</p:attrName>
                                        </p:attrNameLst>
                                      </p:cBhvr>
                                      <p:to>
                                        <p:strVal val="visible"/>
                                      </p:to>
                                    </p:set>
                                    <p:animEffect transition="in" filter="fade">
                                      <p:cBhvr>
                                        <p:cTn id="403" dur="450"/>
                                        <p:tgtEl>
                                          <p:spTgt spid="63"/>
                                        </p:tgtEl>
                                      </p:cBhvr>
                                    </p:animEffect>
                                  </p:childTnLst>
                                </p:cTn>
                              </p:par>
                              <p:par>
                                <p:cTn id="404" presetID="10" presetClass="entr" presetSubtype="0" fill="hold" grpId="0" nodeType="withEffect">
                                  <p:stCondLst>
                                    <p:cond delay="13000"/>
                                  </p:stCondLst>
                                  <p:childTnLst>
                                    <p:set>
                                      <p:cBhvr>
                                        <p:cTn id="405" dur="1" fill="hold">
                                          <p:stCondLst>
                                            <p:cond delay="0"/>
                                          </p:stCondLst>
                                        </p:cTn>
                                        <p:tgtEl>
                                          <p:spTgt spid="64"/>
                                        </p:tgtEl>
                                        <p:attrNameLst>
                                          <p:attrName>style.visibility</p:attrName>
                                        </p:attrNameLst>
                                      </p:cBhvr>
                                      <p:to>
                                        <p:strVal val="visible"/>
                                      </p:to>
                                    </p:set>
                                    <p:animEffect transition="in" filter="fade">
                                      <p:cBhvr>
                                        <p:cTn id="406" dur="450"/>
                                        <p:tgtEl>
                                          <p:spTgt spid="64"/>
                                        </p:tgtEl>
                                      </p:cBhvr>
                                    </p:animEffect>
                                  </p:childTnLst>
                                </p:cTn>
                              </p:par>
                              <p:par>
                                <p:cTn id="407" presetID="10" presetClass="entr" presetSubtype="0" fill="hold" grpId="0" nodeType="withEffect">
                                  <p:stCondLst>
                                    <p:cond delay="13000"/>
                                  </p:stCondLst>
                                  <p:childTnLst>
                                    <p:set>
                                      <p:cBhvr>
                                        <p:cTn id="408" dur="1" fill="hold">
                                          <p:stCondLst>
                                            <p:cond delay="0"/>
                                          </p:stCondLst>
                                        </p:cTn>
                                        <p:tgtEl>
                                          <p:spTgt spid="65"/>
                                        </p:tgtEl>
                                        <p:attrNameLst>
                                          <p:attrName>style.visibility</p:attrName>
                                        </p:attrNameLst>
                                      </p:cBhvr>
                                      <p:to>
                                        <p:strVal val="visible"/>
                                      </p:to>
                                    </p:set>
                                    <p:animEffect transition="in" filter="fade">
                                      <p:cBhvr>
                                        <p:cTn id="409" dur="450"/>
                                        <p:tgtEl>
                                          <p:spTgt spid="65"/>
                                        </p:tgtEl>
                                      </p:cBhvr>
                                    </p:animEffect>
                                  </p:childTnLst>
                                </p:cTn>
                              </p:par>
                              <p:par>
                                <p:cTn id="410" presetID="10" presetClass="entr" presetSubtype="0" fill="hold" grpId="0" nodeType="withEffect">
                                  <p:stCondLst>
                                    <p:cond delay="13000"/>
                                  </p:stCondLst>
                                  <p:childTnLst>
                                    <p:set>
                                      <p:cBhvr>
                                        <p:cTn id="411" dur="1" fill="hold">
                                          <p:stCondLst>
                                            <p:cond delay="0"/>
                                          </p:stCondLst>
                                        </p:cTn>
                                        <p:tgtEl>
                                          <p:spTgt spid="66"/>
                                        </p:tgtEl>
                                        <p:attrNameLst>
                                          <p:attrName>style.visibility</p:attrName>
                                        </p:attrNameLst>
                                      </p:cBhvr>
                                      <p:to>
                                        <p:strVal val="visible"/>
                                      </p:to>
                                    </p:set>
                                    <p:animEffect transition="in" filter="fade">
                                      <p:cBhvr>
                                        <p:cTn id="412" dur="450"/>
                                        <p:tgtEl>
                                          <p:spTgt spid="66"/>
                                        </p:tgtEl>
                                      </p:cBhvr>
                                    </p:animEffect>
                                  </p:childTnLst>
                                </p:cTn>
                              </p:par>
                              <p:par>
                                <p:cTn id="413" presetID="10" presetClass="entr" presetSubtype="0" fill="hold" grpId="0" nodeType="withEffect">
                                  <p:stCondLst>
                                    <p:cond delay="13000"/>
                                  </p:stCondLst>
                                  <p:childTnLst>
                                    <p:set>
                                      <p:cBhvr>
                                        <p:cTn id="414" dur="1" fill="hold">
                                          <p:stCondLst>
                                            <p:cond delay="0"/>
                                          </p:stCondLst>
                                        </p:cTn>
                                        <p:tgtEl>
                                          <p:spTgt spid="67"/>
                                        </p:tgtEl>
                                        <p:attrNameLst>
                                          <p:attrName>style.visibility</p:attrName>
                                        </p:attrNameLst>
                                      </p:cBhvr>
                                      <p:to>
                                        <p:strVal val="visible"/>
                                      </p:to>
                                    </p:set>
                                    <p:animEffect transition="in" filter="fade">
                                      <p:cBhvr>
                                        <p:cTn id="415" dur="450"/>
                                        <p:tgtEl>
                                          <p:spTgt spid="67"/>
                                        </p:tgtEl>
                                      </p:cBhvr>
                                    </p:animEffect>
                                  </p:childTnLst>
                                </p:cTn>
                              </p:par>
                              <p:par>
                                <p:cTn id="416" presetID="10" presetClass="entr" presetSubtype="0" fill="hold" grpId="0" nodeType="withEffect">
                                  <p:stCondLst>
                                    <p:cond delay="13000"/>
                                  </p:stCondLst>
                                  <p:childTnLst>
                                    <p:set>
                                      <p:cBhvr>
                                        <p:cTn id="417" dur="1" fill="hold">
                                          <p:stCondLst>
                                            <p:cond delay="0"/>
                                          </p:stCondLst>
                                        </p:cTn>
                                        <p:tgtEl>
                                          <p:spTgt spid="68"/>
                                        </p:tgtEl>
                                        <p:attrNameLst>
                                          <p:attrName>style.visibility</p:attrName>
                                        </p:attrNameLst>
                                      </p:cBhvr>
                                      <p:to>
                                        <p:strVal val="visible"/>
                                      </p:to>
                                    </p:set>
                                    <p:animEffect transition="in" filter="fade">
                                      <p:cBhvr>
                                        <p:cTn id="418" dur="450"/>
                                        <p:tgtEl>
                                          <p:spTgt spid="68"/>
                                        </p:tgtEl>
                                      </p:cBhvr>
                                    </p:animEffect>
                                  </p:childTnLst>
                                </p:cTn>
                              </p:par>
                              <p:par>
                                <p:cTn id="419" presetID="10" presetClass="entr" presetSubtype="0" fill="hold" grpId="0" nodeType="withEffect">
                                  <p:stCondLst>
                                    <p:cond delay="13000"/>
                                  </p:stCondLst>
                                  <p:childTnLst>
                                    <p:set>
                                      <p:cBhvr>
                                        <p:cTn id="420" dur="1" fill="hold">
                                          <p:stCondLst>
                                            <p:cond delay="0"/>
                                          </p:stCondLst>
                                        </p:cTn>
                                        <p:tgtEl>
                                          <p:spTgt spid="69"/>
                                        </p:tgtEl>
                                        <p:attrNameLst>
                                          <p:attrName>style.visibility</p:attrName>
                                        </p:attrNameLst>
                                      </p:cBhvr>
                                      <p:to>
                                        <p:strVal val="visible"/>
                                      </p:to>
                                    </p:set>
                                    <p:animEffect transition="in" filter="fade">
                                      <p:cBhvr>
                                        <p:cTn id="421" dur="45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animBg="1"/>
      <p:bldP spid="72" grpId="0" animBg="1"/>
      <p:bldP spid="7" grpId="0" animBg="1"/>
      <p:bldP spid="8" grpId="0" animBg="1"/>
      <p:bldP spid="9" grpId="0" animBg="1"/>
      <p:bldP spid="10" grpId="0" animBg="1"/>
      <p:bldP spid="11" grpId="0" animBg="1"/>
      <p:bldP spid="12" grpId="0" animBg="1"/>
      <p:bldP spid="73" grpId="0" animBg="1"/>
      <p:bldP spid="75" grpId="0" animBg="1"/>
      <p:bldP spid="13" grpId="0" animBg="1"/>
      <p:bldP spid="14" grpId="0" animBg="1"/>
      <p:bldP spid="15" grpId="0" animBg="1"/>
      <p:bldP spid="16" grpId="0" animBg="1"/>
      <p:bldP spid="76" grpId="0" animBg="1"/>
      <p:bldP spid="78" grpId="0" animBg="1"/>
      <p:bldP spid="17" grpId="0" animBg="1"/>
      <p:bldP spid="18" grpId="0" animBg="1"/>
      <p:bldP spid="19" grpId="0" animBg="1"/>
      <p:bldP spid="20" grpId="0" animBg="1"/>
      <p:bldP spid="21" grpId="0" animBg="1"/>
      <p:bldP spid="22" grpId="0" animBg="1"/>
      <p:bldP spid="79" grpId="0" animBg="1"/>
      <p:bldP spid="81"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82" grpId="0" animBg="1"/>
      <p:bldP spid="84" grpId="0" animBg="1"/>
      <p:bldP spid="61" grpId="0" animBg="1"/>
      <p:bldP spid="62" grpId="0" animBg="1"/>
      <p:bldP spid="85" grpId="0" animBg="1"/>
      <p:bldP spid="87" grpId="0" animBg="1"/>
      <p:bldP spid="63" grpId="0" animBg="1"/>
      <p:bldP spid="64" grpId="0" animBg="1"/>
      <p:bldP spid="65" grpId="0" animBg="1"/>
      <p:bldP spid="66" grpId="0" animBg="1"/>
      <p:bldP spid="67" grpId="0" animBg="1"/>
      <p:bldP spid="68" grpId="0" animBg="1"/>
      <p:bldP spid="69" grpId="0" animBg="1"/>
      <p:bldP spid="7" grpId="1" animBg="1"/>
      <p:bldP spid="8" grpId="1" animBg="1"/>
      <p:bldP spid="9" grpId="1" animBg="1"/>
      <p:bldP spid="10" grpId="1" animBg="1"/>
      <p:bldP spid="11" grpId="1" animBg="1"/>
      <p:bldP spid="12" grpId="1" animBg="1"/>
      <p:bldP spid="13" grpId="1" animBg="1"/>
      <p:bldP spid="14" grpId="1" animBg="1"/>
      <p:bldP spid="15" grpId="1" animBg="1"/>
      <p:bldP spid="16" grpId="1" animBg="1"/>
      <p:bldP spid="17" grpId="1" animBg="1"/>
      <p:bldP spid="18" grpId="1" animBg="1"/>
      <p:bldP spid="19" grpId="1" animBg="1"/>
      <p:bldP spid="20" grpId="1" animBg="1"/>
      <p:bldP spid="21" grpId="1" animBg="1"/>
      <p:bldP spid="22" grpId="1" animBg="1"/>
      <p:bldP spid="23" grpId="1" animBg="1"/>
      <p:bldP spid="24" grpId="1" animBg="1"/>
      <p:bldP spid="25" grpId="1" animBg="1"/>
      <p:bldP spid="26" grpId="1" animBg="1"/>
      <p:bldP spid="27" grpId="1" animBg="1"/>
      <p:bldP spid="28" grpId="1" animBg="1"/>
      <p:bldP spid="29" grpId="1" animBg="1"/>
      <p:bldP spid="30" grpId="1" animBg="1"/>
      <p:bldP spid="31" grpId="1" animBg="1"/>
      <p:bldP spid="32" grpId="1" animBg="1"/>
      <p:bldP spid="33" grpId="1" animBg="1"/>
      <p:bldP spid="34" grpId="1" animBg="1"/>
      <p:bldP spid="35" grpId="1" animBg="1"/>
      <p:bldP spid="36" grpId="1" animBg="1"/>
      <p:bldP spid="37" grpId="1" animBg="1"/>
      <p:bldP spid="38" grpId="1" animBg="1"/>
      <p:bldP spid="39" grpId="1" animBg="1"/>
      <p:bldP spid="40" grpId="1" animBg="1"/>
      <p:bldP spid="41" grpId="1" animBg="1"/>
      <p:bldP spid="42" grpId="1" animBg="1"/>
      <p:bldP spid="43" grpId="1" animBg="1"/>
      <p:bldP spid="44" grpId="1" animBg="1"/>
      <p:bldP spid="45" grpId="1" animBg="1"/>
      <p:bldP spid="46" grpId="1" animBg="1"/>
      <p:bldP spid="47" grpId="1" animBg="1"/>
      <p:bldP spid="48" grpId="1" animBg="1"/>
      <p:bldP spid="49" grpId="1" animBg="1"/>
      <p:bldP spid="50" grpId="1" animBg="1"/>
      <p:bldP spid="51" grpId="1" animBg="1"/>
      <p:bldP spid="52" grpId="1" animBg="1"/>
      <p:bldP spid="53" grpId="1" animBg="1"/>
      <p:bldP spid="54" grpId="1" animBg="1"/>
      <p:bldP spid="55" grpId="1" animBg="1"/>
      <p:bldP spid="56" grpId="1" animBg="1"/>
      <p:bldP spid="57" grpId="1" animBg="1"/>
      <p:bldP spid="58" grpId="1" animBg="1"/>
      <p:bldP spid="59" grpId="1" animBg="1"/>
      <p:bldP spid="60" grpId="1" animBg="1"/>
      <p:bldP spid="61" grpId="1" animBg="1"/>
      <p:bldP spid="62" grpId="1"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8229600" cy="274320"/>
          </a:xfrm>
          <a:prstGeom prst="rect">
            <a:avLst/>
          </a:prstGeom>
          <a:noFill/>
          <a:ln/>
        </p:spPr>
        <p:txBody>
          <a:bodyPr wrap="square" lIns="0" tIns="0" rIns="0" bIns="0" rtlCol="0"/>
          <a:lstStyle/>
          <a:p>
            <a:pPr indent="0" marL="0">
              <a:buNone/>
            </a:pPr>
            <a:r>
              <a:rPr lang="en-US" sz="1100" b="1" spc="300" kern="0" dirty="0">
                <a:solidFill>
                  <a:schemeClr val="accent1"/>
                </a:solidFill>
              </a:rPr>
              <a:t>INSTANT DEPLOY</a:t>
            </a:r>
            <a:endParaRPr lang="en-US" sz="1100" dirty="0"/>
          </a:p>
        </p:txBody>
      </p:sp>
      <p:sp>
        <p:nvSpPr>
          <p:cNvPr id="3" name="Text 1"/>
          <p:cNvSpPr/>
          <p:nvPr>
            <p:ph idx="102" type="title" hasCustomPrompt="1"/>
          </p:nvPr>
        </p:nvSpPr>
        <p:spPr>
          <a:xfrm>
            <a:off x="548640" y="713232"/>
            <a:ext cx="11094415" cy="731520"/>
          </a:xfrm>
          <a:prstGeom prst="rect">
            <a:avLst/>
          </a:prstGeom>
          <a:noFill/>
          <a:ln/>
        </p:spPr>
        <p:txBody>
          <a:bodyPr wrap="square" lIns="0" tIns="0" rIns="0" bIns="0" rtlCol="0" anchor="t"/>
          <a:lstStyle/>
          <a:p>
            <a:pPr algn="l" indent="0" marL="0">
              <a:buNone/>
            </a:pPr>
            <a:r>
              <a:rPr lang="en-US" sz="3600" b="1" dirty="0">
                <a:solidFill>
                  <a:schemeClr val="tx2"/>
                </a:solidFill>
              </a:rPr>
              <a:t>Instant deploy. Any defect, any line.</a:t>
            </a:r>
            <a:endParaRPr lang="en-US" sz="3600" dirty="0"/>
          </a:p>
        </p:txBody>
      </p:sp>
      <p:sp>
        <p:nvSpPr>
          <p:cNvPr id="4" name="Count value"/>
          <p:cNvSpPr txBox="1"/>
          <p:nvPr/>
        </p:nvSpPr>
        <p:spPr>
          <a:xfrm>
            <a:off x="548640" y="1828800"/>
            <a:ext cx="4754880" cy="1188720"/>
          </a:xfrm>
          <a:prstGeom prst="rect">
            <a:avLst/>
          </a:prstGeom>
          <a:noFill/>
          <a:ln/>
        </p:spPr>
        <p:txBody>
          <a:bodyPr wrap="square" lIns="0" tIns="0" rIns="0" bIns="0" rtlCol="0" anchor="ctr"/>
          <a:lstStyle/>
          <a:p>
            <a:pPr indent="0" marL="0">
              <a:buNone/>
            </a:pPr>
            <a:r>
              <a:rPr lang="en-US" sz="7200" b="1" dirty="0">
                <a:solidFill>
                  <a:schemeClr val="accent1"/>
                </a:solidFill>
              </a:rPr>
              <a:t>Minutes</a:t>
            </a:r>
            <a:endParaRPr lang="en-US" sz="7200" dirty="0"/>
          </a:p>
        </p:txBody>
      </p:sp>
      <p:sp>
        <p:nvSpPr>
          <p:cNvPr id="5" name="Count label"/>
          <p:cNvSpPr txBox="1"/>
          <p:nvPr/>
        </p:nvSpPr>
        <p:spPr>
          <a:xfrm>
            <a:off x="548640" y="3063240"/>
            <a:ext cx="4754880" cy="457200"/>
          </a:xfrm>
          <a:prstGeom prst="rect">
            <a:avLst/>
          </a:prstGeom>
          <a:noFill/>
          <a:ln/>
        </p:spPr>
        <p:txBody>
          <a:bodyPr wrap="square" lIns="0" tIns="0" rIns="0" bIns="0" rtlCol="0" anchor="ctr"/>
          <a:lstStyle/>
          <a:p>
            <a:pPr indent="0" marL="0">
              <a:buNone/>
            </a:pPr>
            <a:r>
              <a:rPr lang="en-US" sz="2000" dirty="0">
                <a:solidFill>
                  <a:schemeClr val="tx1"/>
                </a:solidFill>
              </a:rPr>
              <a:t>to teach MetriQ a new product.</a:t>
            </a:r>
            <a:endParaRPr lang="en-US" sz="2000" dirty="0"/>
          </a:p>
        </p:txBody>
      </p:sp>
      <p:sp>
        <p:nvSpPr>
          <p:cNvPr id="6" name="Count point"/>
          <p:cNvSpPr txBox="1"/>
          <p:nvPr/>
        </p:nvSpPr>
        <p:spPr>
          <a:xfrm>
            <a:off x="548640" y="3886200"/>
            <a:ext cx="4754880" cy="822960"/>
          </a:xfrm>
          <a:prstGeom prst="rect">
            <a:avLst/>
          </a:prstGeom>
          <a:noFill/>
          <a:ln/>
        </p:spPr>
        <p:txBody>
          <a:bodyPr wrap="square" lIns="0" tIns="0" rIns="0" bIns="0" rtlCol="0" anchor="ctr"/>
          <a:lstStyle/>
          <a:p>
            <a:pPr indent="0" marL="0">
              <a:buNone/>
            </a:pPr>
            <a:r>
              <a:rPr lang="en-US" sz="1800" b="1" dirty="0">
                <a:solidFill>
                  <a:schemeClr val="tx2"/>
                </a:solidFill>
              </a:rPr>
              <a:t>Instant training: name it or show a few images.</a:t>
            </a:r>
            <a:endParaRPr lang="en-US" sz="1800" dirty="0"/>
          </a:p>
        </p:txBody>
      </p:sp>
      <p:sp>
        <p:nvSpPr>
          <p:cNvPr id="7" name="Raw frame"/>
          <p:cNvSpPr/>
          <p:nvPr/>
        </p:nvSpPr>
        <p:spPr>
          <a:xfrm>
            <a:off x="5971032" y="1627632"/>
            <a:ext cx="2494026" cy="4334256"/>
          </a:xfrm>
          <a:prstGeom prst="roundRect">
            <a:avLst>
              <a:gd name="adj" fmla="val 3666"/>
            </a:avLst>
          </a:prstGeom>
          <a:solidFill>
            <a:schemeClr val="bg1"/>
          </a:solidFill>
          <a:ln w="12700">
            <a:solidFill>
              <a:schemeClr val="accent5"/>
            </a:solidFill>
            <a:prstDash val="solid"/>
          </a:ln>
        </p:spPr>
      </p:sp>
      <p:pic>
        <p:nvPicPr>
          <p:cNvPr id="8" name="Raw image" descr="Raw camera frame">    </p:cNvPr>
          <p:cNvPicPr>
            <a:picLocks noChangeAspect="1"/>
          </p:cNvPicPr>
          <p:nvPr/>
        </p:nvPicPr>
        <p:blipFill>
          <a:blip r:embed="rId1"/>
          <a:stretch>
            <a:fillRect/>
          </a:stretch>
        </p:blipFill>
        <p:spPr>
          <a:xfrm>
            <a:off x="6035040" y="1691640"/>
            <a:ext cx="2366010" cy="4206240"/>
          </a:xfrm>
          <a:prstGeom prst="rect">
            <a:avLst/>
          </a:prstGeom>
        </p:spPr>
      </p:pic>
      <p:sp>
        <p:nvSpPr>
          <p:cNvPr id="9" name="Raw caption"/>
          <p:cNvSpPr txBox="1"/>
          <p:nvPr/>
        </p:nvSpPr>
        <p:spPr>
          <a:xfrm>
            <a:off x="5971032" y="5989320"/>
            <a:ext cx="3280410" cy="274320"/>
          </a:xfrm>
          <a:prstGeom prst="rect">
            <a:avLst/>
          </a:prstGeom>
          <a:noFill/>
          <a:ln/>
        </p:spPr>
        <p:txBody>
          <a:bodyPr wrap="square" lIns="0" tIns="0" rIns="0" bIns="0" rtlCol="0" anchor="ctr"/>
          <a:lstStyle/>
          <a:p>
            <a:pPr indent="0" marL="0">
              <a:buNone/>
            </a:pPr>
            <a:r>
              <a:rPr lang="en-US" sz="1100" dirty="0">
                <a:solidFill>
                  <a:schemeClr val="accent4"/>
                </a:solidFill>
              </a:rPr>
              <a:t>Raw camera</a:t>
            </a:r>
            <a:endParaRPr lang="en-US" sz="1100" dirty="0"/>
          </a:p>
        </p:txBody>
      </p:sp>
      <p:sp>
        <p:nvSpPr>
          <p:cNvPr id="10" name="AI frame"/>
          <p:cNvSpPr/>
          <p:nvPr/>
        </p:nvSpPr>
        <p:spPr>
          <a:xfrm>
            <a:off x="8887968" y="1627632"/>
            <a:ext cx="2494026" cy="4334256"/>
          </a:xfrm>
          <a:prstGeom prst="roundRect">
            <a:avLst>
              <a:gd name="adj" fmla="val 3666"/>
            </a:avLst>
          </a:prstGeom>
          <a:solidFill>
            <a:schemeClr val="bg1"/>
          </a:solidFill>
          <a:ln w="12700">
            <a:solidFill>
              <a:schemeClr val="accent5"/>
            </a:solidFill>
            <a:prstDash val="solid"/>
          </a:ln>
        </p:spPr>
      </p:sp>
      <p:pic>
        <p:nvPicPr>
          <p:cNvPr id="11" name="AI image" descr="MetriQ AI frame: every product boxed, each with a tracking ID">    </p:cNvPr>
          <p:cNvPicPr>
            <a:picLocks noChangeAspect="1"/>
          </p:cNvPicPr>
          <p:nvPr/>
        </p:nvPicPr>
        <p:blipFill>
          <a:blip r:embed="rId2"/>
          <a:stretch>
            <a:fillRect/>
          </a:stretch>
        </p:blipFill>
        <p:spPr>
          <a:xfrm>
            <a:off x="8951976" y="1691640"/>
            <a:ext cx="2366010" cy="4206240"/>
          </a:xfrm>
          <a:prstGeom prst="rect">
            <a:avLst/>
          </a:prstGeom>
        </p:spPr>
      </p:pic>
      <p:sp>
        <p:nvSpPr>
          <p:cNvPr id="12" name="AI caption"/>
          <p:cNvSpPr txBox="1"/>
          <p:nvPr/>
        </p:nvSpPr>
        <p:spPr>
          <a:xfrm>
            <a:off x="8887968" y="5989320"/>
            <a:ext cx="3280410" cy="274320"/>
          </a:xfrm>
          <a:prstGeom prst="rect">
            <a:avLst/>
          </a:prstGeom>
          <a:noFill/>
          <a:ln/>
        </p:spPr>
        <p:txBody>
          <a:bodyPr wrap="square" lIns="0" tIns="0" rIns="0" bIns="0" rtlCol="0" anchor="ctr"/>
          <a:lstStyle/>
          <a:p>
            <a:pPr indent="0" marL="0">
              <a:buNone/>
            </a:pPr>
            <a:r>
              <a:rPr lang="en-US" sz="1100" dirty="0">
                <a:solidFill>
                  <a:schemeClr val="accent4"/>
                </a:solidFill>
              </a:rPr>
              <a:t>MetriQ AI</a:t>
            </a:r>
            <a:endParaRPr lang="en-US" sz="1100" dirty="0"/>
          </a:p>
        </p:txBody>
      </p:sp>
      <p:pic>
        <p:nvPicPr>
          <p:cNvPr id="13" name="Lemon arrow" descr="preencoded.png">    </p:cNvPr>
          <p:cNvPicPr>
            <a:picLocks noChangeAspect="1"/>
          </p:cNvPicPr>
          <p:nvPr/>
        </p:nvPicPr>
        <p:blipFill>
          <a:blip r:embed="rId3"/>
          <a:stretch>
            <a:fillRect/>
          </a:stretch>
        </p:blipFill>
        <p:spPr>
          <a:xfrm>
            <a:off x="8511921" y="3630168"/>
            <a:ext cx="329184" cy="329184"/>
          </a:xfrm>
          <a:prstGeom prst="rect">
            <a:avLst/>
          </a:prstGeom>
        </p:spPr>
      </p:pic>
      <p:sp>
        <p:nvSpPr>
          <p:cNvPr id="14" name="Back link"/>
          <p:cNvSpPr txBox="1"/>
          <p:nvPr/>
        </p:nvSpPr>
        <p:spPr>
          <a:xfrm>
            <a:off x="8716975" y="6382512"/>
            <a:ext cx="2194560" cy="310896"/>
          </a:xfrm>
          <a:prstGeom prst="rect">
            <a:avLst/>
          </a:prstGeom>
          <a:noFill/>
          <a:ln/>
        </p:spPr>
        <p:txBody>
          <a:bodyPr wrap="square" lIns="0" tIns="0" rIns="0" bIns="0" rtlCol="0" anchor="ctr"/>
          <a:lstStyle/>
          <a:p>
            <a:pPr algn="r" indent="0" marL="0">
              <a:buNone/>
            </a:pPr>
            <a:r>
              <a:rPr lang="en-US" sz="1100" u="sng" dirty="0">
                <a:solidFill>
                  <a:schemeClr val="accent1"/>
                </a:solidFill>
                <a:hlinkClick r:id="rId4" action="ppaction://hlinksldjump" tooltip="Back to capabilities">
                  <a:extLst>
                    <a:ext uri="{A12FA001-AC4F-418D-AE19-62706E023703}">
                      <ahyp:hlinkClr xmlns:ahyp="http://schemas.microsoft.com/office/drawing/2018/hyperlinkcolor" val="tx"/>
                    </a:ext>
                  </a:extLst>
                </a:hlinkClick>
              </a:rPr>
              <a:t>← All capabilities</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5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5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50"/>
                                        <p:tgtEl>
                                          <p:spTgt spid="12"/>
                                        </p:tgtEl>
                                      </p:cBhvr>
                                    </p:animEffect>
                                  </p:childTnLst>
                                </p:cTn>
                              </p:par>
                              <p:par>
                                <p:cTn id="17" presetID="10" presetClass="entr" presetSubtype="0" fill="hold" grpId="0" nodeType="withEffect">
                                  <p:stCondLst>
                                    <p:cond delay="60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450"/>
                                        <p:tgtEl>
                                          <p:spTgt spid="4"/>
                                        </p:tgtEl>
                                      </p:cBhvr>
                                    </p:animEffect>
                                  </p:childTnLst>
                                </p:cTn>
                              </p:par>
                              <p:par>
                                <p:cTn id="20" presetID="10" presetClass="entr" presetSubtype="0" fill="hold" grpId="0" nodeType="withEffect">
                                  <p:stCondLst>
                                    <p:cond delay="6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450"/>
                                        <p:tgtEl>
                                          <p:spTgt spid="5"/>
                                        </p:tgtEl>
                                      </p:cBhvr>
                                    </p:animEffect>
                                  </p:childTnLst>
                                </p:cTn>
                              </p:par>
                              <p:par>
                                <p:cTn id="23" presetID="10" presetClass="entr" presetSubtype="0" fill="hold" grpId="0" nodeType="withEffect">
                                  <p:stCondLst>
                                    <p:cond delay="120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4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4" grpId="0" animBg="1"/>
      <p:bldP spid="5" grpId="0" animBg="1"/>
      <p:bldP spid="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8229600" cy="274320"/>
          </a:xfrm>
          <a:prstGeom prst="rect">
            <a:avLst/>
          </a:prstGeom>
          <a:noFill/>
          <a:ln/>
        </p:spPr>
        <p:txBody>
          <a:bodyPr wrap="square" lIns="0" tIns="0" rIns="0" bIns="0" rtlCol="0"/>
          <a:lstStyle/>
          <a:p>
            <a:pPr indent="0" marL="0">
              <a:buNone/>
            </a:pPr>
            <a:r>
              <a:rPr lang="en-US" sz="1100" b="1" spc="300" kern="0" dirty="0">
                <a:solidFill>
                  <a:schemeClr val="accent1"/>
                </a:solidFill>
              </a:rPr>
              <a:t>COLOUR</a:t>
            </a:r>
            <a:endParaRPr lang="en-US" sz="1100" dirty="0"/>
          </a:p>
        </p:txBody>
      </p:sp>
      <p:sp>
        <p:nvSpPr>
          <p:cNvPr id="3" name="Text 1"/>
          <p:cNvSpPr/>
          <p:nvPr>
            <p:ph idx="102" type="title" hasCustomPrompt="1"/>
          </p:nvPr>
        </p:nvSpPr>
        <p:spPr>
          <a:xfrm>
            <a:off x="548640" y="713232"/>
            <a:ext cx="11094415" cy="731520"/>
          </a:xfrm>
          <a:prstGeom prst="rect">
            <a:avLst/>
          </a:prstGeom>
          <a:noFill/>
          <a:ln/>
        </p:spPr>
        <p:txBody>
          <a:bodyPr wrap="square" lIns="0" tIns="0" rIns="0" bIns="0" rtlCol="0" anchor="t"/>
          <a:lstStyle/>
          <a:p>
            <a:pPr algn="l" indent="0" marL="0">
              <a:buNone/>
            </a:pPr>
            <a:r>
              <a:rPr lang="en-US" sz="3600" b="1" dirty="0">
                <a:solidFill>
                  <a:schemeClr val="tx2"/>
                </a:solidFill>
              </a:rPr>
              <a:t>Grades colour like a lab, on every unit</a:t>
            </a:r>
            <a:endParaRPr lang="en-US" sz="3600" dirty="0"/>
          </a:p>
        </p:txBody>
      </p:sp>
      <p:sp>
        <p:nvSpPr>
          <p:cNvPr id="4" name="Col 0 dot"/>
          <p:cNvSpPr/>
          <p:nvPr/>
        </p:nvSpPr>
        <p:spPr>
          <a:xfrm>
            <a:off x="548640" y="1828800"/>
            <a:ext cx="292608" cy="292608"/>
          </a:xfrm>
          <a:prstGeom prst="ellipse">
            <a:avLst/>
          </a:prstGeom>
          <a:solidFill>
            <a:schemeClr val="accent1"/>
          </a:solidFill>
          <a:ln/>
        </p:spPr>
      </p:sp>
      <p:sp>
        <p:nvSpPr>
          <p:cNvPr id="5" name="Col 0 text"/>
          <p:cNvSpPr txBox="1"/>
          <p:nvPr/>
        </p:nvSpPr>
        <p:spPr>
          <a:xfrm>
            <a:off x="1051560" y="1783080"/>
            <a:ext cx="4663440" cy="868680"/>
          </a:xfrm>
          <a:prstGeom prst="rect">
            <a:avLst/>
          </a:prstGeom>
          <a:noFill/>
          <a:ln/>
        </p:spPr>
        <p:txBody>
          <a:bodyPr wrap="square" lIns="0" tIns="0" rIns="0" bIns="0" rtlCol="0" anchor="t"/>
          <a:lstStyle/>
          <a:p>
            <a:pPr indent="0" marL="0">
              <a:buNone/>
            </a:pPr>
            <a:r>
              <a:rPr lang="en-US" sz="1600" b="1" dirty="0">
                <a:solidFill>
                  <a:schemeClr val="tx1"/>
                </a:solidFill>
              </a:rPr>
              <a:t>Measured in CIELAB</a:t>
            </a:r>
            <a:endParaRPr lang="en-US" sz="1600" dirty="0"/>
          </a:p>
          <a:p>
            <a:pPr indent="0" marL="0">
              <a:buNone/>
            </a:pPr>
            <a:r>
              <a:rPr lang="en-US" sz="1600" dirty="0">
                <a:solidFill>
                  <a:schemeClr val="accent4"/>
                </a:solidFill>
              </a:rPr>
              <a:t>the colour space labs use.</a:t>
            </a:r>
            <a:endParaRPr lang="en-US" sz="1600" dirty="0"/>
          </a:p>
        </p:txBody>
      </p:sp>
      <p:sp>
        <p:nvSpPr>
          <p:cNvPr id="6" name="Col 1 dot"/>
          <p:cNvSpPr/>
          <p:nvPr/>
        </p:nvSpPr>
        <p:spPr>
          <a:xfrm>
            <a:off x="548640" y="2816352"/>
            <a:ext cx="292608" cy="292608"/>
          </a:xfrm>
          <a:prstGeom prst="ellipse">
            <a:avLst/>
          </a:prstGeom>
          <a:solidFill>
            <a:schemeClr val="accent1"/>
          </a:solidFill>
          <a:ln/>
        </p:spPr>
      </p:sp>
      <p:sp>
        <p:nvSpPr>
          <p:cNvPr id="7" name="Col 1 text"/>
          <p:cNvSpPr txBox="1"/>
          <p:nvPr/>
        </p:nvSpPr>
        <p:spPr>
          <a:xfrm>
            <a:off x="1051560" y="2770632"/>
            <a:ext cx="4663440" cy="868680"/>
          </a:xfrm>
          <a:prstGeom prst="rect">
            <a:avLst/>
          </a:prstGeom>
          <a:noFill/>
          <a:ln/>
        </p:spPr>
        <p:txBody>
          <a:bodyPr wrap="square" lIns="0" tIns="0" rIns="0" bIns="0" rtlCol="0" anchor="t"/>
          <a:lstStyle/>
          <a:p>
            <a:pPr indent="0" marL="0">
              <a:buNone/>
            </a:pPr>
            <a:r>
              <a:rPr lang="en-US" sz="1600" b="1" dirty="0">
                <a:solidFill>
                  <a:schemeClr val="tx1"/>
                </a:solidFill>
              </a:rPr>
              <a:t>Calibrated to your reference</a:t>
            </a:r>
            <a:endParaRPr lang="en-US" sz="1600" dirty="0"/>
          </a:p>
          <a:p>
            <a:pPr indent="0" marL="0">
              <a:buNone/>
            </a:pPr>
            <a:r>
              <a:rPr lang="en-US" sz="1600" dirty="0">
                <a:solidFill>
                  <a:schemeClr val="accent4"/>
                </a:solidFill>
              </a:rPr>
              <a:t>one click against a patch.</a:t>
            </a:r>
            <a:endParaRPr lang="en-US" sz="1600" dirty="0"/>
          </a:p>
        </p:txBody>
      </p:sp>
      <p:sp>
        <p:nvSpPr>
          <p:cNvPr id="8" name="Col 2 dot"/>
          <p:cNvSpPr/>
          <p:nvPr/>
        </p:nvSpPr>
        <p:spPr>
          <a:xfrm>
            <a:off x="548640" y="3803904"/>
            <a:ext cx="292608" cy="292608"/>
          </a:xfrm>
          <a:prstGeom prst="ellipse">
            <a:avLst/>
          </a:prstGeom>
          <a:solidFill>
            <a:schemeClr val="accent1"/>
          </a:solidFill>
          <a:ln/>
        </p:spPr>
      </p:sp>
      <p:sp>
        <p:nvSpPr>
          <p:cNvPr id="9" name="Col 2 text"/>
          <p:cNvSpPr txBox="1"/>
          <p:nvPr/>
        </p:nvSpPr>
        <p:spPr>
          <a:xfrm>
            <a:off x="1051560" y="3758184"/>
            <a:ext cx="4663440" cy="868680"/>
          </a:xfrm>
          <a:prstGeom prst="rect">
            <a:avLst/>
          </a:prstGeom>
          <a:noFill/>
          <a:ln/>
        </p:spPr>
        <p:txBody>
          <a:bodyPr wrap="square" lIns="0" tIns="0" rIns="0" bIns="0" rtlCol="0" anchor="t"/>
          <a:lstStyle/>
          <a:p>
            <a:pPr indent="0" marL="0">
              <a:buNone/>
            </a:pPr>
            <a:r>
              <a:rPr lang="en-US" sz="1600" b="1" dirty="0">
                <a:solidFill>
                  <a:schemeClr val="tx1"/>
                </a:solidFill>
              </a:rPr>
              <a:t>Steady under changing light</a:t>
            </a:r>
            <a:endParaRPr lang="en-US" sz="1600" dirty="0"/>
          </a:p>
          <a:p>
            <a:pPr indent="0" marL="0">
              <a:buNone/>
            </a:pPr>
            <a:r>
              <a:rPr lang="en-US" sz="1600" dirty="0">
                <a:solidFill>
                  <a:schemeClr val="accent4"/>
                </a:solidFill>
              </a:rPr>
              <a:t>light adaptation built in.</a:t>
            </a:r>
            <a:endParaRPr lang="en-US" sz="1600" dirty="0"/>
          </a:p>
        </p:txBody>
      </p:sp>
      <p:sp>
        <p:nvSpPr>
          <p:cNvPr id="10" name="Col 3 dot"/>
          <p:cNvSpPr/>
          <p:nvPr/>
        </p:nvSpPr>
        <p:spPr>
          <a:xfrm>
            <a:off x="548640" y="4791456"/>
            <a:ext cx="292608" cy="292608"/>
          </a:xfrm>
          <a:prstGeom prst="ellipse">
            <a:avLst/>
          </a:prstGeom>
          <a:solidFill>
            <a:schemeClr val="accent1"/>
          </a:solidFill>
          <a:ln/>
        </p:spPr>
      </p:sp>
      <p:sp>
        <p:nvSpPr>
          <p:cNvPr id="11" name="Col 3 text"/>
          <p:cNvSpPr txBox="1"/>
          <p:nvPr/>
        </p:nvSpPr>
        <p:spPr>
          <a:xfrm>
            <a:off x="1051560" y="4745736"/>
            <a:ext cx="4663440" cy="868680"/>
          </a:xfrm>
          <a:prstGeom prst="rect">
            <a:avLst/>
          </a:prstGeom>
          <a:noFill/>
          <a:ln/>
        </p:spPr>
        <p:txBody>
          <a:bodyPr wrap="square" lIns="0" tIns="0" rIns="0" bIns="0" rtlCol="0" anchor="t"/>
          <a:lstStyle/>
          <a:p>
            <a:pPr indent="0" marL="0">
              <a:buNone/>
            </a:pPr>
            <a:r>
              <a:rPr lang="en-US" sz="1600" b="1" dirty="0">
                <a:solidFill>
                  <a:schemeClr val="tx1"/>
                </a:solidFill>
              </a:rPr>
              <a:t>Rejects by ΔE</a:t>
            </a:r>
            <a:endParaRPr lang="en-US" sz="1600" dirty="0"/>
          </a:p>
          <a:p>
            <a:pPr indent="0" marL="0">
              <a:buNone/>
            </a:pPr>
            <a:r>
              <a:rPr lang="en-US" sz="1600" dirty="0">
                <a:solidFill>
                  <a:schemeClr val="accent4"/>
                </a:solidFill>
              </a:rPr>
              <a:t>e.g. under-ripe lemons above ΔE 8.</a:t>
            </a:r>
            <a:endParaRPr lang="en-US" sz="1600" dirty="0"/>
          </a:p>
        </p:txBody>
      </p:sp>
      <p:sp>
        <p:nvSpPr>
          <p:cNvPr id="12" name="Colour card"/>
          <p:cNvSpPr/>
          <p:nvPr/>
        </p:nvSpPr>
        <p:spPr>
          <a:xfrm>
            <a:off x="6172200" y="1691640"/>
            <a:ext cx="5468112" cy="4206240"/>
          </a:xfrm>
          <a:prstGeom prst="roundRect">
            <a:avLst>
              <a:gd name="adj" fmla="val 2609"/>
            </a:avLst>
          </a:prstGeom>
          <a:solidFill>
            <a:schemeClr val="bg1"/>
          </a:solidFill>
          <a:ln w="12700">
            <a:solidFill>
              <a:schemeClr val="accent5"/>
            </a:solidFill>
            <a:prstDash val="solid"/>
          </a:ln>
        </p:spPr>
      </p:sp>
      <p:graphicFrame>
        <p:nvGraphicFramePr>
          <p:cNvPr id="13" name="Chart 0" descr=""/>
          <p:cNvGraphicFramePr/>
          <p:nvPr/>
        </p:nvGraphicFramePr>
        <p:xfrm>
          <a:off x="6355080" y="1783080"/>
          <a:ext cx="5120640" cy="365760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6355080" y="5440680"/>
            <a:ext cx="5120640" cy="320040"/>
          </a:xfrm>
          <a:prstGeom prst="rect">
            <a:avLst/>
          </a:prstGeom>
          <a:noFill/>
          <a:ln/>
        </p:spPr>
        <p:txBody>
          <a:bodyPr wrap="square" lIns="0" tIns="0" rIns="0" bIns="0" rtlCol="0" anchor="ctr"/>
          <a:lstStyle/>
          <a:p>
            <a:pPr indent="0" marL="0">
              <a:buNone/>
            </a:pPr>
            <a:r>
              <a:rPr lang="en-US" sz="1100" dirty="0">
                <a:solidFill>
                  <a:schemeClr val="accent4"/>
                </a:solidFill>
              </a:rPr>
              <a:t>&gt; 8 rejected as under-ripe. Sample data.</a:t>
            </a:r>
            <a:endParaRPr lang="en-US" sz="1100" dirty="0"/>
          </a:p>
        </p:txBody>
      </p:sp>
      <p:sp>
        <p:nvSpPr>
          <p:cNvPr id="15" name="Back link"/>
          <p:cNvSpPr txBox="1"/>
          <p:nvPr/>
        </p:nvSpPr>
        <p:spPr>
          <a:xfrm>
            <a:off x="8716975" y="6382512"/>
            <a:ext cx="2194560" cy="310896"/>
          </a:xfrm>
          <a:prstGeom prst="rect">
            <a:avLst/>
          </a:prstGeom>
          <a:noFill/>
          <a:ln/>
        </p:spPr>
        <p:txBody>
          <a:bodyPr wrap="square" lIns="0" tIns="0" rIns="0" bIns="0" rtlCol="0" anchor="ctr"/>
          <a:lstStyle/>
          <a:p>
            <a:pPr algn="r" indent="0" marL="0">
              <a:buNone/>
            </a:pPr>
            <a:r>
              <a:rPr lang="en-US" sz="1100" u="sng" dirty="0">
                <a:solidFill>
                  <a:schemeClr val="accent1"/>
                </a:solidFill>
                <a:hlinkClick r:id="rId2" action="ppaction://hlinksldjump" tooltip="Back to capabilities">
                  <a:extLst>
                    <a:ext uri="{A12FA001-AC4F-418D-AE19-62706E023703}">
                      <ahyp:hlinkClr xmlns:ahyp="http://schemas.microsoft.com/office/drawing/2018/hyperlinkcolor" val="tx"/>
                    </a:ext>
                  </a:extLst>
                </a:hlinkClick>
              </a:rPr>
              <a:t>← All capabilities</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450"/>
                                        <p:tgtEl>
                                          <p:spTgt spid="5"/>
                                        </p:tgtEl>
                                      </p:cBhvr>
                                    </p:animEffect>
                                  </p:childTnLst>
                                </p:cTn>
                              </p:par>
                              <p:par>
                                <p:cTn id="11" presetID="10" presetClass="entr" presetSubtype="0" fill="hold" grpId="0" nodeType="withEffect">
                                  <p:stCondLst>
                                    <p:cond delay="25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450"/>
                                        <p:tgtEl>
                                          <p:spTgt spid="6"/>
                                        </p:tgtEl>
                                      </p:cBhvr>
                                    </p:animEffect>
                                  </p:childTnLst>
                                </p:cTn>
                              </p:par>
                              <p:par>
                                <p:cTn id="14" presetID="10" presetClass="entr" presetSubtype="0" fill="hold" grpId="0" nodeType="withEffect">
                                  <p:stCondLst>
                                    <p:cond delay="25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450"/>
                                        <p:tgtEl>
                                          <p:spTgt spid="7"/>
                                        </p:tgtEl>
                                      </p:cBhvr>
                                    </p:animEffect>
                                  </p:childTnLst>
                                </p:cTn>
                              </p:par>
                              <p:par>
                                <p:cTn id="17" presetID="10" presetClass="entr" presetSubtype="0" fill="hold" grpId="0" nodeType="withEffect">
                                  <p:stCondLst>
                                    <p:cond delay="5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5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8229600" cy="274320"/>
          </a:xfrm>
          <a:prstGeom prst="rect">
            <a:avLst/>
          </a:prstGeom>
          <a:noFill/>
          <a:ln/>
        </p:spPr>
        <p:txBody>
          <a:bodyPr wrap="square" lIns="0" tIns="0" rIns="0" bIns="0" rtlCol="0"/>
          <a:lstStyle/>
          <a:p>
            <a:pPr indent="0" marL="0">
              <a:buNone/>
            </a:pPr>
            <a:r>
              <a:rPr lang="en-US" sz="1100" b="1" spc="300" kern="0" dirty="0">
                <a:solidFill>
                  <a:schemeClr val="accent1"/>
                </a:solidFill>
              </a:rPr>
              <a:t>MEASUREMENT · LIVE DATA</a:t>
            </a:r>
            <a:endParaRPr lang="en-US" sz="1100" dirty="0"/>
          </a:p>
        </p:txBody>
      </p:sp>
      <p:sp>
        <p:nvSpPr>
          <p:cNvPr id="3" name="Text 1"/>
          <p:cNvSpPr/>
          <p:nvPr>
            <p:ph idx="102" type="title" hasCustomPrompt="1"/>
          </p:nvPr>
        </p:nvSpPr>
        <p:spPr>
          <a:xfrm>
            <a:off x="548640" y="713232"/>
            <a:ext cx="11094415" cy="731520"/>
          </a:xfrm>
          <a:prstGeom prst="rect">
            <a:avLst/>
          </a:prstGeom>
          <a:noFill/>
          <a:ln/>
        </p:spPr>
        <p:txBody>
          <a:bodyPr wrap="square" lIns="0" tIns="0" rIns="0" bIns="0" rtlCol="0" anchor="t"/>
          <a:lstStyle/>
          <a:p>
            <a:pPr algn="l" indent="0" marL="0">
              <a:buNone/>
            </a:pPr>
            <a:r>
              <a:rPr lang="en-US" sz="3600" b="1" dirty="0">
                <a:solidFill>
                  <a:schemeClr val="tx2"/>
                </a:solidFill>
              </a:rPr>
              <a:t>Sees drift before parts fail</a:t>
            </a:r>
            <a:endParaRPr lang="en-US" sz="3600" dirty="0"/>
          </a:p>
        </p:txBody>
      </p:sp>
      <p:sp>
        <p:nvSpPr>
          <p:cNvPr id="4" name="Monitoring frame"/>
          <p:cNvSpPr/>
          <p:nvPr/>
        </p:nvSpPr>
        <p:spPr>
          <a:xfrm>
            <a:off x="6400800" y="1691640"/>
            <a:ext cx="5239512" cy="4023360"/>
          </a:xfrm>
          <a:prstGeom prst="roundRect">
            <a:avLst>
              <a:gd name="adj" fmla="val 2727"/>
            </a:avLst>
          </a:prstGeom>
          <a:solidFill>
            <a:schemeClr val="bg1"/>
          </a:solidFill>
          <a:ln w="12700">
            <a:solidFill>
              <a:schemeClr val="accent5"/>
            </a:solidFill>
            <a:prstDash val="solid"/>
          </a:ln>
        </p:spPr>
      </p:sp>
      <p:pic>
        <p:nvPicPr>
          <p:cNvPr id="5" name="Measurements screen" descr="MetriQ Measurements screen">    </p:cNvPr>
          <p:cNvPicPr>
            <a:picLocks noChangeAspect="1"/>
          </p:cNvPicPr>
          <p:nvPr/>
        </p:nvPicPr>
        <p:blipFill>
          <a:blip r:embed="rId1"/>
          <a:stretch>
            <a:fillRect/>
          </a:stretch>
        </p:blipFill>
        <p:spPr>
          <a:xfrm>
            <a:off x="6537960" y="1810512"/>
            <a:ext cx="4965192" cy="3721608"/>
          </a:xfrm>
          <a:prstGeom prst="rect">
            <a:avLst/>
          </a:prstGeom>
        </p:spPr>
      </p:pic>
      <p:sp>
        <p:nvSpPr>
          <p:cNvPr id="6" name="Pt 0 dot"/>
          <p:cNvSpPr/>
          <p:nvPr/>
        </p:nvSpPr>
        <p:spPr>
          <a:xfrm>
            <a:off x="548640" y="1874520"/>
            <a:ext cx="292608" cy="292608"/>
          </a:xfrm>
          <a:prstGeom prst="ellipse">
            <a:avLst/>
          </a:prstGeom>
          <a:solidFill>
            <a:schemeClr val="accent1"/>
          </a:solidFill>
          <a:ln/>
        </p:spPr>
      </p:sp>
      <p:sp>
        <p:nvSpPr>
          <p:cNvPr id="7" name="Pt 0 n"/>
          <p:cNvSpPr txBox="1"/>
          <p:nvPr/>
        </p:nvSpPr>
        <p:spPr>
          <a:xfrm>
            <a:off x="548640" y="1874520"/>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8" name="Pt 0 text"/>
          <p:cNvSpPr txBox="1"/>
          <p:nvPr/>
        </p:nvSpPr>
        <p:spPr>
          <a:xfrm>
            <a:off x="1051560" y="1828800"/>
            <a:ext cx="5303520" cy="822960"/>
          </a:xfrm>
          <a:prstGeom prst="rect">
            <a:avLst/>
          </a:prstGeom>
          <a:noFill/>
          <a:ln/>
        </p:spPr>
        <p:txBody>
          <a:bodyPr wrap="square" lIns="0" tIns="0" rIns="0" bIns="0" rtlCol="0" anchor="t"/>
          <a:lstStyle/>
          <a:p>
            <a:pPr indent="0" marL="0">
              <a:buNone/>
            </a:pPr>
            <a:r>
              <a:rPr lang="en-US" sz="1600" b="1" dirty="0">
                <a:solidFill>
                  <a:schemeClr val="tx1"/>
                </a:solidFill>
              </a:rPr>
              <a:t>Measures every part</a:t>
            </a:r>
            <a:endParaRPr lang="en-US" sz="1600" dirty="0"/>
          </a:p>
          <a:p>
            <a:pPr indent="0" marL="0">
              <a:buNone/>
            </a:pPr>
            <a:r>
              <a:rPr lang="en-US" sz="1600" dirty="0">
                <a:solidFill>
                  <a:schemeClr val="accent4"/>
                </a:solidFill>
              </a:rPr>
              <a:t>length, width, height, count and colour.</a:t>
            </a:r>
            <a:endParaRPr lang="en-US" sz="1600" dirty="0"/>
          </a:p>
        </p:txBody>
      </p:sp>
      <p:sp>
        <p:nvSpPr>
          <p:cNvPr id="9" name="Pt 1 dot"/>
          <p:cNvSpPr/>
          <p:nvPr/>
        </p:nvSpPr>
        <p:spPr>
          <a:xfrm>
            <a:off x="548640" y="2807208"/>
            <a:ext cx="292608" cy="292608"/>
          </a:xfrm>
          <a:prstGeom prst="ellipse">
            <a:avLst/>
          </a:prstGeom>
          <a:solidFill>
            <a:schemeClr val="accent1"/>
          </a:solidFill>
          <a:ln/>
        </p:spPr>
      </p:sp>
      <p:sp>
        <p:nvSpPr>
          <p:cNvPr id="10" name="Pt 1 n"/>
          <p:cNvSpPr txBox="1"/>
          <p:nvPr/>
        </p:nvSpPr>
        <p:spPr>
          <a:xfrm>
            <a:off x="548640" y="280720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Pt 1 text"/>
          <p:cNvSpPr txBox="1"/>
          <p:nvPr/>
        </p:nvSpPr>
        <p:spPr>
          <a:xfrm>
            <a:off x="1051560" y="2761488"/>
            <a:ext cx="5303520" cy="822960"/>
          </a:xfrm>
          <a:prstGeom prst="rect">
            <a:avLst/>
          </a:prstGeom>
          <a:noFill/>
          <a:ln/>
        </p:spPr>
        <p:txBody>
          <a:bodyPr wrap="square" lIns="0" tIns="0" rIns="0" bIns="0" rtlCol="0" anchor="t"/>
          <a:lstStyle/>
          <a:p>
            <a:pPr indent="0" marL="0">
              <a:buNone/>
            </a:pPr>
            <a:r>
              <a:rPr lang="en-US" sz="1600" b="1" dirty="0">
                <a:solidFill>
                  <a:schemeClr val="tx1"/>
                </a:solidFill>
              </a:rPr>
              <a:t>AI recommendations</a:t>
            </a:r>
            <a:endParaRPr lang="en-US" sz="1600" dirty="0"/>
          </a:p>
          <a:p>
            <a:pPr indent="0" marL="0">
              <a:buNone/>
            </a:pPr>
            <a:r>
              <a:rPr lang="en-US" sz="1600" dirty="0">
                <a:solidFill>
                  <a:schemeClr val="accent4"/>
                </a:solidFill>
              </a:rPr>
              <a:t>ranks what needs attention and what to check.</a:t>
            </a:r>
            <a:endParaRPr lang="en-US" sz="1600" dirty="0"/>
          </a:p>
        </p:txBody>
      </p:sp>
      <p:sp>
        <p:nvSpPr>
          <p:cNvPr id="12" name="Pt 2 dot"/>
          <p:cNvSpPr/>
          <p:nvPr/>
        </p:nvSpPr>
        <p:spPr>
          <a:xfrm>
            <a:off x="548640" y="3739896"/>
            <a:ext cx="292608" cy="292608"/>
          </a:xfrm>
          <a:prstGeom prst="ellipse">
            <a:avLst/>
          </a:prstGeom>
          <a:solidFill>
            <a:schemeClr val="accent1"/>
          </a:solidFill>
          <a:ln/>
        </p:spPr>
      </p:sp>
      <p:sp>
        <p:nvSpPr>
          <p:cNvPr id="13" name="Pt 2 n"/>
          <p:cNvSpPr txBox="1"/>
          <p:nvPr/>
        </p:nvSpPr>
        <p:spPr>
          <a:xfrm>
            <a:off x="548640" y="3739896"/>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Pt 2 text"/>
          <p:cNvSpPr txBox="1"/>
          <p:nvPr/>
        </p:nvSpPr>
        <p:spPr>
          <a:xfrm>
            <a:off x="1051560" y="3694176"/>
            <a:ext cx="5303520" cy="822960"/>
          </a:xfrm>
          <a:prstGeom prst="rect">
            <a:avLst/>
          </a:prstGeom>
          <a:noFill/>
          <a:ln/>
        </p:spPr>
        <p:txBody>
          <a:bodyPr wrap="square" lIns="0" tIns="0" rIns="0" bIns="0" rtlCol="0" anchor="t"/>
          <a:lstStyle/>
          <a:p>
            <a:pPr indent="0" marL="0">
              <a:buNone/>
            </a:pPr>
            <a:r>
              <a:rPr lang="en-US" sz="1600" b="1" dirty="0">
                <a:solidFill>
                  <a:schemeClr val="tx1"/>
                </a:solidFill>
              </a:rPr>
              <a:t>Flags drift before parts fail</a:t>
            </a:r>
            <a:endParaRPr lang="en-US" sz="1600" dirty="0"/>
          </a:p>
          <a:p>
            <a:pPr indent="0" marL="0">
              <a:buNone/>
            </a:pPr>
            <a:r>
              <a:rPr lang="en-US" sz="1600" dirty="0">
                <a:solidFill>
                  <a:schemeClr val="accent4"/>
                </a:solidFill>
              </a:rPr>
              <a:t>every part against its tolerance.</a:t>
            </a:r>
            <a:endParaRPr lang="en-US" sz="1600" dirty="0"/>
          </a:p>
        </p:txBody>
      </p:sp>
      <p:sp>
        <p:nvSpPr>
          <p:cNvPr id="15" name="Pt 3 dot"/>
          <p:cNvSpPr/>
          <p:nvPr/>
        </p:nvSpPr>
        <p:spPr>
          <a:xfrm>
            <a:off x="548640" y="4672584"/>
            <a:ext cx="292608" cy="292608"/>
          </a:xfrm>
          <a:prstGeom prst="ellipse">
            <a:avLst/>
          </a:prstGeom>
          <a:solidFill>
            <a:schemeClr val="accent1"/>
          </a:solidFill>
          <a:ln/>
        </p:spPr>
      </p:sp>
      <p:sp>
        <p:nvSpPr>
          <p:cNvPr id="16" name="Pt 3 n"/>
          <p:cNvSpPr txBox="1"/>
          <p:nvPr/>
        </p:nvSpPr>
        <p:spPr>
          <a:xfrm>
            <a:off x="548640" y="4672584"/>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7" name="Pt 3 text"/>
          <p:cNvSpPr txBox="1"/>
          <p:nvPr/>
        </p:nvSpPr>
        <p:spPr>
          <a:xfrm>
            <a:off x="1051560" y="4626864"/>
            <a:ext cx="5303520" cy="822960"/>
          </a:xfrm>
          <a:prstGeom prst="rect">
            <a:avLst/>
          </a:prstGeom>
          <a:noFill/>
          <a:ln/>
        </p:spPr>
        <p:txBody>
          <a:bodyPr wrap="square" lIns="0" tIns="0" rIns="0" bIns="0" rtlCol="0" anchor="t"/>
          <a:lstStyle/>
          <a:p>
            <a:pPr indent="0" marL="0">
              <a:buNone/>
            </a:pPr>
            <a:r>
              <a:rPr lang="en-US" sz="1600" b="1" dirty="0">
                <a:solidFill>
                  <a:schemeClr val="tx1"/>
                </a:solidFill>
              </a:rPr>
              <a:t>Exports every part</a:t>
            </a:r>
            <a:endParaRPr lang="en-US" sz="1600" dirty="0"/>
          </a:p>
          <a:p>
            <a:pPr indent="0" marL="0">
              <a:buNone/>
            </a:pPr>
            <a:r>
              <a:rPr lang="en-US" sz="1600" dirty="0">
                <a:solidFill>
                  <a:schemeClr val="accent4"/>
                </a:solidFill>
              </a:rPr>
              <a:t>to CSV or Excel.</a:t>
            </a:r>
            <a:endParaRPr lang="en-US" sz="1600" dirty="0"/>
          </a:p>
        </p:txBody>
      </p:sp>
      <p:sp>
        <p:nvSpPr>
          <p:cNvPr id="18" name="Text 15"/>
          <p:cNvSpPr txBox="1"/>
          <p:nvPr/>
        </p:nvSpPr>
        <p:spPr>
          <a:xfrm>
            <a:off x="6400800" y="5806440"/>
            <a:ext cx="5239512" cy="274320"/>
          </a:xfrm>
          <a:prstGeom prst="rect">
            <a:avLst/>
          </a:prstGeom>
          <a:noFill/>
          <a:ln/>
        </p:spPr>
        <p:txBody>
          <a:bodyPr wrap="square" lIns="0" tIns="0" rIns="0" bIns="0" rtlCol="0" anchor="ctr"/>
          <a:lstStyle/>
          <a:p>
            <a:pPr algn="r" indent="0" marL="0">
              <a:buNone/>
            </a:pPr>
            <a:r>
              <a:rPr lang="en-US" sz="1000" dirty="0">
                <a:solidFill>
                  <a:schemeClr val="accent6"/>
                </a:solidFill>
              </a:rPr>
              <a:t>Measurements screen, sample data.</a:t>
            </a:r>
            <a:endParaRPr lang="en-US" sz="1000" dirty="0"/>
          </a:p>
        </p:txBody>
      </p:sp>
      <p:sp>
        <p:nvSpPr>
          <p:cNvPr id="19" name="Back link"/>
          <p:cNvSpPr txBox="1"/>
          <p:nvPr/>
        </p:nvSpPr>
        <p:spPr>
          <a:xfrm>
            <a:off x="8716975" y="6382512"/>
            <a:ext cx="2194560" cy="310896"/>
          </a:xfrm>
          <a:prstGeom prst="rect">
            <a:avLst/>
          </a:prstGeom>
          <a:noFill/>
          <a:ln/>
        </p:spPr>
        <p:txBody>
          <a:bodyPr wrap="square" lIns="0" tIns="0" rIns="0" bIns="0" rtlCol="0" anchor="ctr"/>
          <a:lstStyle/>
          <a:p>
            <a:pPr algn="r" indent="0" marL="0">
              <a:buNone/>
            </a:pPr>
            <a:r>
              <a:rPr lang="en-US" sz="1100" u="sng" dirty="0">
                <a:solidFill>
                  <a:schemeClr val="accent1"/>
                </a:solidFill>
                <a:hlinkClick r:id="rId2" action="ppaction://hlinksldjump" tooltip="Back to capabilities">
                  <a:extLst>
                    <a:ext uri="{A12FA001-AC4F-418D-AE19-62706E023703}">
                      <ahyp:hlinkClr xmlns:ahyp="http://schemas.microsoft.com/office/drawing/2018/hyperlinkcolor" val="tx"/>
                    </a:ext>
                  </a:extLst>
                </a:hlinkClick>
              </a:rPr>
              <a:t>← All capabilities</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5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50"/>
                                        <p:tgtEl>
                                          <p:spTgt spid="8"/>
                                        </p:tgtEl>
                                      </p:cBhvr>
                                    </p:animEffect>
                                  </p:childTnLst>
                                </p:cTn>
                              </p:par>
                              <p:par>
                                <p:cTn id="14" presetID="10" presetClass="entr" presetSubtype="0" fill="hold" grpId="0" nodeType="withEffect">
                                  <p:stCondLst>
                                    <p:cond delay="25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50"/>
                                        <p:tgtEl>
                                          <p:spTgt spid="9"/>
                                        </p:tgtEl>
                                      </p:cBhvr>
                                    </p:animEffect>
                                  </p:childTnLst>
                                </p:cTn>
                              </p:par>
                              <p:par>
                                <p:cTn id="17" presetID="10" presetClass="entr" presetSubtype="0" fill="hold" grpId="0" nodeType="withEffect">
                                  <p:stCondLst>
                                    <p:cond delay="25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50"/>
                                        <p:tgtEl>
                                          <p:spTgt spid="10"/>
                                        </p:tgtEl>
                                      </p:cBhvr>
                                    </p:animEffect>
                                  </p:childTnLst>
                                </p:cTn>
                              </p:par>
                              <p:par>
                                <p:cTn id="20" presetID="10" presetClass="entr" presetSubtype="0" fill="hold" grpId="0" nodeType="withEffect">
                                  <p:stCondLst>
                                    <p:cond delay="25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50"/>
                                        <p:tgtEl>
                                          <p:spTgt spid="11"/>
                                        </p:tgtEl>
                                      </p:cBhvr>
                                    </p:animEffect>
                                  </p:childTnLst>
                                </p:cTn>
                              </p:par>
                              <p:par>
                                <p:cTn id="23" presetID="10" presetClass="entr" presetSubtype="0" fill="hold" grpId="0" nodeType="withEffect">
                                  <p:stCondLst>
                                    <p:cond delay="50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450"/>
                                        <p:tgtEl>
                                          <p:spTgt spid="12"/>
                                        </p:tgtEl>
                                      </p:cBhvr>
                                    </p:animEffect>
                                  </p:childTnLst>
                                </p:cTn>
                              </p:par>
                              <p:par>
                                <p:cTn id="26" presetID="10" presetClass="entr" presetSubtype="0" fill="hold" grpId="0" nodeType="withEffect">
                                  <p:stCondLst>
                                    <p:cond delay="50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450"/>
                                        <p:tgtEl>
                                          <p:spTgt spid="13"/>
                                        </p:tgtEl>
                                      </p:cBhvr>
                                    </p:animEffect>
                                  </p:childTnLst>
                                </p:cTn>
                              </p:par>
                              <p:par>
                                <p:cTn id="29" presetID="10" presetClass="entr" presetSubtype="0" fill="hold" grpId="0" nodeType="withEffect">
                                  <p:stCondLst>
                                    <p:cond delay="50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50"/>
                                        <p:tgtEl>
                                          <p:spTgt spid="14"/>
                                        </p:tgtEl>
                                      </p:cBhvr>
                                    </p:animEffect>
                                  </p:childTnLst>
                                </p:cTn>
                              </p:par>
                              <p:par>
                                <p:cTn id="32" presetID="10" presetClass="entr" presetSubtype="0" fill="hold" grpId="0" nodeType="withEffect">
                                  <p:stCondLst>
                                    <p:cond delay="75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50"/>
                                        <p:tgtEl>
                                          <p:spTgt spid="15"/>
                                        </p:tgtEl>
                                      </p:cBhvr>
                                    </p:animEffect>
                                  </p:childTnLst>
                                </p:cTn>
                              </p:par>
                              <p:par>
                                <p:cTn id="35" presetID="10" presetClass="entr" presetSubtype="0" fill="hold" grpId="0" nodeType="withEffect">
                                  <p:stCondLst>
                                    <p:cond delay="75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50"/>
                                        <p:tgtEl>
                                          <p:spTgt spid="16"/>
                                        </p:tgtEl>
                                      </p:cBhvr>
                                    </p:animEffect>
                                  </p:childTnLst>
                                </p:cTn>
                              </p:par>
                              <p:par>
                                <p:cTn id="38" presetID="10" presetClass="entr" presetSubtype="0" fill="hold" grpId="0" nodeType="withEffect">
                                  <p:stCondLst>
                                    <p:cond delay="75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45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8229600" cy="274320"/>
          </a:xfrm>
          <a:prstGeom prst="rect">
            <a:avLst/>
          </a:prstGeom>
          <a:noFill/>
          <a:ln/>
        </p:spPr>
        <p:txBody>
          <a:bodyPr wrap="square" lIns="0" tIns="0" rIns="0" bIns="0" rtlCol="0"/>
          <a:lstStyle/>
          <a:p>
            <a:pPr indent="0" marL="0">
              <a:buNone/>
            </a:pPr>
            <a:r>
              <a:rPr lang="en-US" sz="1100" b="1" spc="300" kern="0" dirty="0">
                <a:solidFill>
                  <a:schemeClr val="accent1"/>
                </a:solidFill>
              </a:rPr>
              <a:t>TIME AND COST</a:t>
            </a:r>
            <a:endParaRPr lang="en-US" sz="1100" dirty="0"/>
          </a:p>
        </p:txBody>
      </p:sp>
      <p:sp>
        <p:nvSpPr>
          <p:cNvPr id="3" name="Text 1"/>
          <p:cNvSpPr/>
          <p:nvPr>
            <p:ph idx="102" type="title" hasCustomPrompt="1"/>
          </p:nvPr>
        </p:nvSpPr>
        <p:spPr>
          <a:xfrm>
            <a:off x="548640" y="713232"/>
            <a:ext cx="11094415" cy="731520"/>
          </a:xfrm>
          <a:prstGeom prst="rect">
            <a:avLst/>
          </a:prstGeom>
          <a:noFill/>
          <a:ln/>
        </p:spPr>
        <p:txBody>
          <a:bodyPr wrap="square" lIns="0" tIns="0" rIns="0" bIns="0" rtlCol="0" anchor="t"/>
          <a:lstStyle/>
          <a:p>
            <a:pPr algn="l" indent="0" marL="0">
              <a:buNone/>
            </a:pPr>
            <a:r>
              <a:rPr lang="en-US" sz="3600" b="1" dirty="0">
                <a:solidFill>
                  <a:schemeClr val="tx2"/>
                </a:solidFill>
              </a:rPr>
              <a:t>Live the same day. No integration project.</a:t>
            </a:r>
            <a:endParaRPr lang="en-US" sz="3600" dirty="0"/>
          </a:p>
        </p:txBody>
      </p:sp>
      <p:sp>
        <p:nvSpPr>
          <p:cNvPr id="4" name="grid 50"/>
          <p:cNvSpPr/>
          <p:nvPr/>
        </p:nvSpPr>
        <p:spPr>
          <a:xfrm>
            <a:off x="1828800" y="4234815"/>
            <a:ext cx="9601200" cy="0"/>
          </a:xfrm>
          <a:prstGeom prst="line">
            <a:avLst/>
          </a:prstGeom>
          <a:noFill/>
          <a:ln w="12700">
            <a:solidFill>
              <a:srgbClr val="E6E4DC"/>
            </a:solidFill>
            <a:prstDash val="solid"/>
          </a:ln>
        </p:spPr>
      </p:sp>
      <p:sp>
        <p:nvSpPr>
          <p:cNvPr id="5" name="grid 100"/>
          <p:cNvSpPr/>
          <p:nvPr/>
        </p:nvSpPr>
        <p:spPr>
          <a:xfrm>
            <a:off x="1828800" y="3120390"/>
            <a:ext cx="9601200" cy="0"/>
          </a:xfrm>
          <a:prstGeom prst="line">
            <a:avLst/>
          </a:prstGeom>
          <a:noFill/>
          <a:ln w="12700">
            <a:solidFill>
              <a:srgbClr val="E6E4DC"/>
            </a:solidFill>
            <a:prstDash val="solid"/>
          </a:ln>
        </p:spPr>
      </p:sp>
      <p:sp>
        <p:nvSpPr>
          <p:cNvPr id="6" name="grid 150"/>
          <p:cNvSpPr/>
          <p:nvPr/>
        </p:nvSpPr>
        <p:spPr>
          <a:xfrm>
            <a:off x="1828800" y="2005965"/>
            <a:ext cx="9601200" cy="0"/>
          </a:xfrm>
          <a:prstGeom prst="line">
            <a:avLst/>
          </a:prstGeom>
          <a:noFill/>
          <a:ln w="12700">
            <a:solidFill>
              <a:srgbClr val="E6E4DC"/>
            </a:solidFill>
            <a:prstDash val="solid"/>
          </a:ln>
        </p:spPr>
      </p:sp>
      <p:sp>
        <p:nvSpPr>
          <p:cNvPr id="7" name="ylab 0"/>
          <p:cNvSpPr txBox="1"/>
          <p:nvPr/>
        </p:nvSpPr>
        <p:spPr>
          <a:xfrm>
            <a:off x="1051560" y="5212080"/>
            <a:ext cx="685800" cy="274320"/>
          </a:xfrm>
          <a:prstGeom prst="rect">
            <a:avLst/>
          </a:prstGeom>
          <a:noFill/>
          <a:ln/>
        </p:spPr>
        <p:txBody>
          <a:bodyPr wrap="square" lIns="0" tIns="0" rIns="0" bIns="0" rtlCol="0" anchor="ctr"/>
          <a:lstStyle/>
          <a:p>
            <a:pPr algn="r" indent="0" marL="0">
              <a:buNone/>
            </a:pPr>
            <a:r>
              <a:rPr lang="en-US" sz="1200" dirty="0">
                <a:solidFill>
                  <a:schemeClr val="accent4"/>
                </a:solidFill>
              </a:rPr>
              <a:t>$0</a:t>
            </a:r>
            <a:endParaRPr lang="en-US" sz="1200" dirty="0"/>
          </a:p>
        </p:txBody>
      </p:sp>
      <p:sp>
        <p:nvSpPr>
          <p:cNvPr id="8" name="ylab 50"/>
          <p:cNvSpPr txBox="1"/>
          <p:nvPr/>
        </p:nvSpPr>
        <p:spPr>
          <a:xfrm>
            <a:off x="1051560" y="4097655"/>
            <a:ext cx="685800" cy="274320"/>
          </a:xfrm>
          <a:prstGeom prst="rect">
            <a:avLst/>
          </a:prstGeom>
          <a:noFill/>
          <a:ln/>
        </p:spPr>
        <p:txBody>
          <a:bodyPr wrap="square" lIns="0" tIns="0" rIns="0" bIns="0" rtlCol="0" anchor="ctr"/>
          <a:lstStyle/>
          <a:p>
            <a:pPr algn="r" indent="0" marL="0">
              <a:buNone/>
            </a:pPr>
            <a:r>
              <a:rPr lang="en-US" sz="1200" dirty="0">
                <a:solidFill>
                  <a:schemeClr val="accent4"/>
                </a:solidFill>
              </a:rPr>
              <a:t>$50k</a:t>
            </a:r>
            <a:endParaRPr lang="en-US" sz="1200" dirty="0"/>
          </a:p>
        </p:txBody>
      </p:sp>
      <p:sp>
        <p:nvSpPr>
          <p:cNvPr id="9" name="ylab 100"/>
          <p:cNvSpPr txBox="1"/>
          <p:nvPr/>
        </p:nvSpPr>
        <p:spPr>
          <a:xfrm>
            <a:off x="1051560" y="2983230"/>
            <a:ext cx="685800" cy="274320"/>
          </a:xfrm>
          <a:prstGeom prst="rect">
            <a:avLst/>
          </a:prstGeom>
          <a:noFill/>
          <a:ln/>
        </p:spPr>
        <p:txBody>
          <a:bodyPr wrap="square" lIns="0" tIns="0" rIns="0" bIns="0" rtlCol="0" anchor="ctr"/>
          <a:lstStyle/>
          <a:p>
            <a:pPr algn="r" indent="0" marL="0">
              <a:buNone/>
            </a:pPr>
            <a:r>
              <a:rPr lang="en-US" sz="1200" dirty="0">
                <a:solidFill>
                  <a:schemeClr val="accent4"/>
                </a:solidFill>
              </a:rPr>
              <a:t>$100k</a:t>
            </a:r>
            <a:endParaRPr lang="en-US" sz="1200" dirty="0"/>
          </a:p>
        </p:txBody>
      </p:sp>
      <p:sp>
        <p:nvSpPr>
          <p:cNvPr id="10" name="ylab 150"/>
          <p:cNvSpPr txBox="1"/>
          <p:nvPr/>
        </p:nvSpPr>
        <p:spPr>
          <a:xfrm>
            <a:off x="1051560" y="1868805"/>
            <a:ext cx="685800" cy="274320"/>
          </a:xfrm>
          <a:prstGeom prst="rect">
            <a:avLst/>
          </a:prstGeom>
          <a:noFill/>
          <a:ln/>
        </p:spPr>
        <p:txBody>
          <a:bodyPr wrap="square" lIns="0" tIns="0" rIns="0" bIns="0" rtlCol="0" anchor="ctr"/>
          <a:lstStyle/>
          <a:p>
            <a:pPr algn="r" indent="0" marL="0">
              <a:buNone/>
            </a:pPr>
            <a:r>
              <a:rPr lang="en-US" sz="1200" dirty="0">
                <a:solidFill>
                  <a:schemeClr val="accent4"/>
                </a:solidFill>
              </a:rPr>
              <a:t>$150k</a:t>
            </a:r>
            <a:endParaRPr lang="en-US" sz="1200" dirty="0"/>
          </a:p>
        </p:txBody>
      </p:sp>
      <p:sp>
        <p:nvSpPr>
          <p:cNvPr id="11" name="xt 1"/>
          <p:cNvSpPr/>
          <p:nvPr/>
        </p:nvSpPr>
        <p:spPr>
          <a:xfrm>
            <a:off x="2939554" y="5349240"/>
            <a:ext cx="0" cy="73152"/>
          </a:xfrm>
          <a:prstGeom prst="line">
            <a:avLst/>
          </a:prstGeom>
          <a:noFill/>
          <a:ln w="12700">
            <a:solidFill>
              <a:srgbClr val="8B8D92"/>
            </a:solidFill>
            <a:prstDash val="solid"/>
          </a:ln>
        </p:spPr>
      </p:sp>
      <p:sp>
        <p:nvSpPr>
          <p:cNvPr id="12" name="xlab 1"/>
          <p:cNvSpPr txBox="1"/>
          <p:nvPr/>
        </p:nvSpPr>
        <p:spPr>
          <a:xfrm>
            <a:off x="2390914" y="5440680"/>
            <a:ext cx="1097280" cy="256032"/>
          </a:xfrm>
          <a:prstGeom prst="rect">
            <a:avLst/>
          </a:prstGeom>
          <a:noFill/>
          <a:ln/>
        </p:spPr>
        <p:txBody>
          <a:bodyPr wrap="square" lIns="0" tIns="0" rIns="0" bIns="0" rtlCol="0" anchor="ctr"/>
          <a:lstStyle/>
          <a:p>
            <a:pPr algn="ctr" indent="0" marL="0">
              <a:buNone/>
            </a:pPr>
            <a:r>
              <a:rPr lang="en-US" sz="1200" dirty="0">
                <a:solidFill>
                  <a:schemeClr val="accent4"/>
                </a:solidFill>
              </a:rPr>
              <a:t>Same day</a:t>
            </a:r>
            <a:endParaRPr lang="en-US" sz="1200" dirty="0"/>
          </a:p>
        </p:txBody>
      </p:sp>
      <p:sp>
        <p:nvSpPr>
          <p:cNvPr id="13" name="xt 7"/>
          <p:cNvSpPr/>
          <p:nvPr/>
        </p:nvSpPr>
        <p:spPr>
          <a:xfrm>
            <a:off x="6057836" y="5349240"/>
            <a:ext cx="0" cy="73152"/>
          </a:xfrm>
          <a:prstGeom prst="line">
            <a:avLst/>
          </a:prstGeom>
          <a:noFill/>
          <a:ln w="12700">
            <a:solidFill>
              <a:srgbClr val="8B8D92"/>
            </a:solidFill>
            <a:prstDash val="solid"/>
          </a:ln>
        </p:spPr>
      </p:sp>
      <p:sp>
        <p:nvSpPr>
          <p:cNvPr id="14" name="xlab 7"/>
          <p:cNvSpPr txBox="1"/>
          <p:nvPr/>
        </p:nvSpPr>
        <p:spPr>
          <a:xfrm>
            <a:off x="5509196" y="5440680"/>
            <a:ext cx="1097280" cy="256032"/>
          </a:xfrm>
          <a:prstGeom prst="rect">
            <a:avLst/>
          </a:prstGeom>
          <a:noFill/>
          <a:ln/>
        </p:spPr>
        <p:txBody>
          <a:bodyPr wrap="square" lIns="0" tIns="0" rIns="0" bIns="0" rtlCol="0" anchor="ctr"/>
          <a:lstStyle/>
          <a:p>
            <a:pPr algn="ctr" indent="0" marL="0">
              <a:buNone/>
            </a:pPr>
            <a:r>
              <a:rPr lang="en-US" sz="1200" dirty="0">
                <a:solidFill>
                  <a:schemeClr val="accent4"/>
                </a:solidFill>
              </a:rPr>
              <a:t>1 week</a:t>
            </a:r>
            <a:endParaRPr lang="en-US" sz="1200" dirty="0"/>
          </a:p>
        </p:txBody>
      </p:sp>
      <p:sp>
        <p:nvSpPr>
          <p:cNvPr id="15" name="xt 30"/>
          <p:cNvSpPr/>
          <p:nvPr/>
        </p:nvSpPr>
        <p:spPr>
          <a:xfrm>
            <a:off x="8389904" y="5349240"/>
            <a:ext cx="0" cy="73152"/>
          </a:xfrm>
          <a:prstGeom prst="line">
            <a:avLst/>
          </a:prstGeom>
          <a:noFill/>
          <a:ln w="12700">
            <a:solidFill>
              <a:srgbClr val="8B8D92"/>
            </a:solidFill>
            <a:prstDash val="solid"/>
          </a:ln>
        </p:spPr>
      </p:sp>
      <p:sp>
        <p:nvSpPr>
          <p:cNvPr id="16" name="xlab 30"/>
          <p:cNvSpPr txBox="1"/>
          <p:nvPr/>
        </p:nvSpPr>
        <p:spPr>
          <a:xfrm>
            <a:off x="7841264" y="5440680"/>
            <a:ext cx="1097280" cy="256032"/>
          </a:xfrm>
          <a:prstGeom prst="rect">
            <a:avLst/>
          </a:prstGeom>
          <a:noFill/>
          <a:ln/>
        </p:spPr>
        <p:txBody>
          <a:bodyPr wrap="square" lIns="0" tIns="0" rIns="0" bIns="0" rtlCol="0" anchor="ctr"/>
          <a:lstStyle/>
          <a:p>
            <a:pPr algn="ctr" indent="0" marL="0">
              <a:buNone/>
            </a:pPr>
            <a:r>
              <a:rPr lang="en-US" sz="1200" dirty="0">
                <a:solidFill>
                  <a:schemeClr val="accent4"/>
                </a:solidFill>
              </a:rPr>
              <a:t>1 month</a:t>
            </a:r>
            <a:endParaRPr lang="en-US" sz="1200" dirty="0"/>
          </a:p>
        </p:txBody>
      </p:sp>
      <p:sp>
        <p:nvSpPr>
          <p:cNvPr id="17" name="xt 90"/>
          <p:cNvSpPr/>
          <p:nvPr/>
        </p:nvSpPr>
        <p:spPr>
          <a:xfrm>
            <a:off x="10150408" y="5349240"/>
            <a:ext cx="0" cy="73152"/>
          </a:xfrm>
          <a:prstGeom prst="line">
            <a:avLst/>
          </a:prstGeom>
          <a:noFill/>
          <a:ln w="12700">
            <a:solidFill>
              <a:srgbClr val="8B8D92"/>
            </a:solidFill>
            <a:prstDash val="solid"/>
          </a:ln>
        </p:spPr>
      </p:sp>
      <p:sp>
        <p:nvSpPr>
          <p:cNvPr id="18" name="xlab 90"/>
          <p:cNvSpPr txBox="1"/>
          <p:nvPr/>
        </p:nvSpPr>
        <p:spPr>
          <a:xfrm>
            <a:off x="9601768" y="5440680"/>
            <a:ext cx="1097280" cy="256032"/>
          </a:xfrm>
          <a:prstGeom prst="rect">
            <a:avLst/>
          </a:prstGeom>
          <a:noFill/>
          <a:ln/>
        </p:spPr>
        <p:txBody>
          <a:bodyPr wrap="square" lIns="0" tIns="0" rIns="0" bIns="0" rtlCol="0" anchor="ctr"/>
          <a:lstStyle/>
          <a:p>
            <a:pPr algn="ctr" indent="0" marL="0">
              <a:buNone/>
            </a:pPr>
            <a:r>
              <a:rPr lang="en-US" sz="1200" dirty="0">
                <a:solidFill>
                  <a:schemeClr val="accent4"/>
                </a:solidFill>
              </a:rPr>
              <a:t>3 months</a:t>
            </a:r>
            <a:endParaRPr lang="en-US" sz="1200" dirty="0"/>
          </a:p>
        </p:txBody>
      </p:sp>
      <p:sp>
        <p:nvSpPr>
          <p:cNvPr id="19" name="xt 180"/>
          <p:cNvSpPr/>
          <p:nvPr/>
        </p:nvSpPr>
        <p:spPr>
          <a:xfrm>
            <a:off x="11261162" y="5349240"/>
            <a:ext cx="0" cy="73152"/>
          </a:xfrm>
          <a:prstGeom prst="line">
            <a:avLst/>
          </a:prstGeom>
          <a:noFill/>
          <a:ln w="12700">
            <a:solidFill>
              <a:srgbClr val="8B8D92"/>
            </a:solidFill>
            <a:prstDash val="solid"/>
          </a:ln>
        </p:spPr>
      </p:sp>
      <p:sp>
        <p:nvSpPr>
          <p:cNvPr id="20" name="xlab 180"/>
          <p:cNvSpPr txBox="1"/>
          <p:nvPr/>
        </p:nvSpPr>
        <p:spPr>
          <a:xfrm>
            <a:off x="10712522" y="5440680"/>
            <a:ext cx="1097280" cy="256032"/>
          </a:xfrm>
          <a:prstGeom prst="rect">
            <a:avLst/>
          </a:prstGeom>
          <a:noFill/>
          <a:ln/>
        </p:spPr>
        <p:txBody>
          <a:bodyPr wrap="square" lIns="0" tIns="0" rIns="0" bIns="0" rtlCol="0" anchor="ctr"/>
          <a:lstStyle/>
          <a:p>
            <a:pPr algn="ctr" indent="0" marL="0">
              <a:buNone/>
            </a:pPr>
            <a:r>
              <a:rPr lang="en-US" sz="1200" dirty="0">
                <a:solidFill>
                  <a:schemeClr val="accent4"/>
                </a:solidFill>
              </a:rPr>
              <a:t>6 months</a:t>
            </a:r>
            <a:endParaRPr lang="en-US" sz="1200" dirty="0"/>
          </a:p>
        </p:txBody>
      </p:sp>
      <p:sp>
        <p:nvSpPr>
          <p:cNvPr id="21" name="xaxis"/>
          <p:cNvSpPr/>
          <p:nvPr/>
        </p:nvSpPr>
        <p:spPr>
          <a:xfrm>
            <a:off x="1828800" y="5349240"/>
            <a:ext cx="9601200" cy="0"/>
          </a:xfrm>
          <a:prstGeom prst="line">
            <a:avLst/>
          </a:prstGeom>
          <a:noFill/>
          <a:ln w="15875">
            <a:solidFill>
              <a:srgbClr val="8B8D92"/>
            </a:solidFill>
            <a:prstDash val="solid"/>
          </a:ln>
        </p:spPr>
      </p:sp>
      <p:sp>
        <p:nvSpPr>
          <p:cNvPr id="22" name="yaxis"/>
          <p:cNvSpPr/>
          <p:nvPr/>
        </p:nvSpPr>
        <p:spPr>
          <a:xfrm>
            <a:off x="1828800" y="1783080"/>
            <a:ext cx="0" cy="3566160"/>
          </a:xfrm>
          <a:prstGeom prst="line">
            <a:avLst/>
          </a:prstGeom>
          <a:noFill/>
          <a:ln w="15875">
            <a:solidFill>
              <a:srgbClr val="8B8D92"/>
            </a:solidFill>
            <a:prstDash val="solid"/>
          </a:ln>
        </p:spPr>
      </p:sp>
      <p:sp>
        <p:nvSpPr>
          <p:cNvPr id="23" name="xtitle"/>
          <p:cNvSpPr txBox="1"/>
          <p:nvPr/>
        </p:nvSpPr>
        <p:spPr>
          <a:xfrm>
            <a:off x="1828800" y="5733288"/>
            <a:ext cx="9601200" cy="274320"/>
          </a:xfrm>
          <a:prstGeom prst="rect">
            <a:avLst/>
          </a:prstGeom>
          <a:noFill/>
          <a:ln/>
        </p:spPr>
        <p:txBody>
          <a:bodyPr wrap="square" lIns="0" tIns="0" rIns="0" bIns="0" rtlCol="0" anchor="ctr"/>
          <a:lstStyle/>
          <a:p>
            <a:pPr algn="ctr" indent="0" marL="0">
              <a:buNone/>
            </a:pPr>
            <a:r>
              <a:rPr lang="en-US" sz="1300" b="1" dirty="0">
                <a:solidFill>
                  <a:schemeClr val="tx2"/>
                </a:solidFill>
              </a:rPr>
              <a:t>Time to go live</a:t>
            </a:r>
            <a:endParaRPr lang="en-US" sz="1300" dirty="0"/>
          </a:p>
        </p:txBody>
      </p:sp>
      <p:sp>
        <p:nvSpPr>
          <p:cNvPr id="24" name="ytitle"/>
          <p:cNvSpPr txBox="1"/>
          <p:nvPr/>
        </p:nvSpPr>
        <p:spPr>
          <a:xfrm rot="16200000">
            <a:off x="-777240" y="3429000"/>
            <a:ext cx="3017520" cy="274320"/>
          </a:xfrm>
          <a:prstGeom prst="rect">
            <a:avLst/>
          </a:prstGeom>
          <a:noFill/>
          <a:ln/>
        </p:spPr>
        <p:txBody>
          <a:bodyPr wrap="square" lIns="0" tIns="0" rIns="0" bIns="0" rtlCol="0" anchor="ctr"/>
          <a:lstStyle/>
          <a:p>
            <a:pPr algn="ctr" indent="0" marL="0">
              <a:buNone/>
            </a:pPr>
            <a:r>
              <a:rPr lang="en-US" sz="1300" b="1" dirty="0">
                <a:solidFill>
                  <a:schemeClr val="tx2"/>
                </a:solidFill>
              </a:rPr>
              <a:t>First-year cost per station</a:t>
            </a:r>
            <a:endParaRPr lang="en-US" sz="1300" dirty="0"/>
          </a:p>
        </p:txBody>
      </p:sp>
      <p:sp>
        <p:nvSpPr>
          <p:cNvPr id="25" name="integrator zone"/>
          <p:cNvSpPr/>
          <p:nvPr/>
        </p:nvSpPr>
        <p:spPr>
          <a:xfrm>
            <a:off x="7168590" y="2005965"/>
            <a:ext cx="4092572" cy="2674620"/>
          </a:xfrm>
          <a:prstGeom prst="rect">
            <a:avLst/>
          </a:prstGeom>
          <a:solidFill>
            <a:srgbClr val="8B8D92">
              <a:alpha val="45000"/>
            </a:srgbClr>
          </a:solidFill>
          <a:ln w="12700">
            <a:solidFill>
              <a:srgbClr val="8B8D92"/>
            </a:solidFill>
            <a:prstDash val="solid"/>
          </a:ln>
        </p:spPr>
      </p:sp>
      <p:sp>
        <p:nvSpPr>
          <p:cNvPr id="26" name="integrator label"/>
          <p:cNvSpPr txBox="1"/>
          <p:nvPr/>
        </p:nvSpPr>
        <p:spPr>
          <a:xfrm>
            <a:off x="7305750" y="2115693"/>
            <a:ext cx="3840480" cy="548640"/>
          </a:xfrm>
          <a:prstGeom prst="rect">
            <a:avLst/>
          </a:prstGeom>
          <a:noFill/>
          <a:ln/>
        </p:spPr>
        <p:txBody>
          <a:bodyPr wrap="square" lIns="0" tIns="0" rIns="0" bIns="0" rtlCol="0" anchor="t"/>
          <a:lstStyle/>
          <a:p>
            <a:pPr indent="0" marL="0">
              <a:buNone/>
            </a:pPr>
            <a:r>
              <a:rPr lang="en-US" sz="1600" b="1" dirty="0">
                <a:solidFill>
                  <a:schemeClr val="tx1"/>
                </a:solidFill>
              </a:rPr>
              <a:t>Integrator-built vision</a:t>
            </a:r>
            <a:endParaRPr lang="en-US" sz="1600" dirty="0"/>
          </a:p>
          <a:p>
            <a:pPr indent="0" marL="0">
              <a:buNone/>
            </a:pPr>
            <a:r>
              <a:rPr lang="en-US" sz="1300" dirty="0">
                <a:solidFill>
                  <a:schemeClr val="tx1"/>
                </a:solidFill>
              </a:rPr>
              <a:t>Weeks to months · $30k–150k</a:t>
            </a:r>
            <a:endParaRPr lang="en-US" sz="1600" dirty="0"/>
          </a:p>
        </p:txBody>
      </p:sp>
      <p:sp>
        <p:nvSpPr>
          <p:cNvPr id="27" name="platform zone"/>
          <p:cNvSpPr/>
          <p:nvPr/>
        </p:nvSpPr>
        <p:spPr>
          <a:xfrm>
            <a:off x="6057836" y="3410141"/>
            <a:ext cx="2221509" cy="1582483"/>
          </a:xfrm>
          <a:prstGeom prst="rect">
            <a:avLst/>
          </a:prstGeom>
          <a:solidFill>
            <a:srgbClr val="2F5D8A">
              <a:alpha val="35000"/>
            </a:srgbClr>
          </a:solidFill>
          <a:ln w="12700">
            <a:solidFill>
              <a:srgbClr val="2F5D8A"/>
            </a:solidFill>
            <a:prstDash val="solid"/>
          </a:ln>
        </p:spPr>
      </p:sp>
      <p:sp>
        <p:nvSpPr>
          <p:cNvPr id="28" name="platform label"/>
          <p:cNvSpPr txBox="1"/>
          <p:nvPr/>
        </p:nvSpPr>
        <p:spPr>
          <a:xfrm>
            <a:off x="2628836" y="3364421"/>
            <a:ext cx="3291840" cy="548640"/>
          </a:xfrm>
          <a:prstGeom prst="rect">
            <a:avLst/>
          </a:prstGeom>
          <a:noFill/>
          <a:ln/>
        </p:spPr>
        <p:txBody>
          <a:bodyPr wrap="square" lIns="0" tIns="0" rIns="0" bIns="0" rtlCol="0" anchor="t"/>
          <a:lstStyle/>
          <a:p>
            <a:pPr algn="r" indent="0" marL="0">
              <a:buNone/>
            </a:pPr>
            <a:r>
              <a:rPr lang="en-US" sz="1600" b="1" dirty="0">
                <a:solidFill>
                  <a:schemeClr val="tx1"/>
                </a:solidFill>
              </a:rPr>
              <a:t>AI vision platforms</a:t>
            </a:r>
            <a:endParaRPr lang="en-US" sz="1600" dirty="0"/>
          </a:p>
          <a:p>
            <a:pPr algn="r" indent="0" marL="0">
              <a:buNone/>
            </a:pPr>
            <a:r>
              <a:rPr lang="en-US" sz="1300" dirty="0">
                <a:solidFill>
                  <a:schemeClr val="tx1"/>
                </a:solidFill>
              </a:rPr>
              <a:t>1–4 weeks · ≈ $16k–87k</a:t>
            </a:r>
            <a:endParaRPr lang="en-US" sz="1600" dirty="0"/>
          </a:p>
        </p:txBody>
      </p:sp>
      <p:sp>
        <p:nvSpPr>
          <p:cNvPr id="29" name="us dot"/>
          <p:cNvSpPr/>
          <p:nvPr/>
        </p:nvSpPr>
        <p:spPr>
          <a:xfrm>
            <a:off x="2756674" y="5032629"/>
            <a:ext cx="365760" cy="365760"/>
          </a:xfrm>
          <a:prstGeom prst="ellipse">
            <a:avLst/>
          </a:prstGeom>
          <a:solidFill>
            <a:schemeClr val="accent2"/>
          </a:solidFill>
          <a:ln w="25400">
            <a:solidFill>
              <a:schemeClr val="bg1"/>
            </a:solidFill>
            <a:prstDash val="solid"/>
          </a:ln>
        </p:spPr>
      </p:sp>
      <p:sp>
        <p:nvSpPr>
          <p:cNvPr id="30" name="us label"/>
          <p:cNvSpPr txBox="1"/>
          <p:nvPr/>
        </p:nvSpPr>
        <p:spPr>
          <a:xfrm>
            <a:off x="3213874" y="4346829"/>
            <a:ext cx="3108960" cy="594360"/>
          </a:xfrm>
          <a:prstGeom prst="rect">
            <a:avLst/>
          </a:prstGeom>
          <a:noFill/>
          <a:ln/>
        </p:spPr>
        <p:txBody>
          <a:bodyPr wrap="square" lIns="0" tIns="0" rIns="0" bIns="0" rtlCol="0" anchor="b"/>
          <a:lstStyle/>
          <a:p>
            <a:pPr indent="0" marL="0">
              <a:buNone/>
            </a:pPr>
            <a:r>
              <a:rPr lang="en-US" sz="2000" b="1" dirty="0">
                <a:solidFill>
                  <a:schemeClr val="accent2"/>
                </a:solidFill>
              </a:rPr>
              <a:t>MetriQ</a:t>
            </a:r>
            <a:endParaRPr lang="en-US" sz="2000" dirty="0"/>
          </a:p>
          <a:p>
            <a:pPr indent="0" marL="0">
              <a:buNone/>
            </a:pPr>
            <a:r>
              <a:rPr lang="en-US" sz="1300" dirty="0">
                <a:solidFill>
                  <a:schemeClr val="tx1"/>
                </a:solidFill>
              </a:rPr>
              <a:t>Same day · no integrator fees</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45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45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45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5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5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45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450"/>
                                        <p:tgtEl>
                                          <p:spTgt spid="24"/>
                                        </p:tgtEl>
                                      </p:cBhvr>
                                    </p:animEffect>
                                  </p:childTnLst>
                                </p:cTn>
                              </p:par>
                              <p:par>
                                <p:cTn id="68" presetID="10" presetClass="entr" presetSubtype="0" fill="hold" grpId="0" nodeType="withEffect">
                                  <p:stCondLst>
                                    <p:cond delay="90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450"/>
                                        <p:tgtEl>
                                          <p:spTgt spid="25"/>
                                        </p:tgtEl>
                                      </p:cBhvr>
                                    </p:animEffect>
                                  </p:childTnLst>
                                </p:cTn>
                              </p:par>
                              <p:par>
                                <p:cTn id="71" presetID="10" presetClass="entr" presetSubtype="0" fill="hold" grpId="0" nodeType="withEffect">
                                  <p:stCondLst>
                                    <p:cond delay="90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450"/>
                                        <p:tgtEl>
                                          <p:spTgt spid="26"/>
                                        </p:tgtEl>
                                      </p:cBhvr>
                                    </p:animEffect>
                                  </p:childTnLst>
                                </p:cTn>
                              </p:par>
                              <p:par>
                                <p:cTn id="74" presetID="10" presetClass="entr" presetSubtype="0" fill="hold" grpId="0" nodeType="withEffect">
                                  <p:stCondLst>
                                    <p:cond delay="1800"/>
                                  </p:stCondLst>
                                  <p:childTnLst>
                                    <p:set>
                                      <p:cBhvr>
                                        <p:cTn id="75" dur="1" fill="hold">
                                          <p:stCondLst>
                                            <p:cond delay="0"/>
                                          </p:stCondLst>
                                        </p:cTn>
                                        <p:tgtEl>
                                          <p:spTgt spid="27"/>
                                        </p:tgtEl>
                                        <p:attrNameLst>
                                          <p:attrName>style.visibility</p:attrName>
                                        </p:attrNameLst>
                                      </p:cBhvr>
                                      <p:to>
                                        <p:strVal val="visible"/>
                                      </p:to>
                                    </p:set>
                                    <p:animEffect transition="in" filter="fade">
                                      <p:cBhvr>
                                        <p:cTn id="76" dur="450"/>
                                        <p:tgtEl>
                                          <p:spTgt spid="27"/>
                                        </p:tgtEl>
                                      </p:cBhvr>
                                    </p:animEffect>
                                  </p:childTnLst>
                                </p:cTn>
                              </p:par>
                              <p:par>
                                <p:cTn id="77" presetID="10" presetClass="entr" presetSubtype="0" fill="hold" grpId="0" nodeType="withEffect">
                                  <p:stCondLst>
                                    <p:cond delay="1800"/>
                                  </p:stCondLst>
                                  <p:childTnLst>
                                    <p:set>
                                      <p:cBhvr>
                                        <p:cTn id="78" dur="1" fill="hold">
                                          <p:stCondLst>
                                            <p:cond delay="0"/>
                                          </p:stCondLst>
                                        </p:cTn>
                                        <p:tgtEl>
                                          <p:spTgt spid="28"/>
                                        </p:tgtEl>
                                        <p:attrNameLst>
                                          <p:attrName>style.visibility</p:attrName>
                                        </p:attrNameLst>
                                      </p:cBhvr>
                                      <p:to>
                                        <p:strVal val="visible"/>
                                      </p:to>
                                    </p:set>
                                    <p:animEffect transition="in" filter="fade">
                                      <p:cBhvr>
                                        <p:cTn id="79" dur="450"/>
                                        <p:tgtEl>
                                          <p:spTgt spid="28"/>
                                        </p:tgtEl>
                                      </p:cBhvr>
                                    </p:animEffect>
                                  </p:childTnLst>
                                </p:cTn>
                              </p:par>
                              <p:par>
                                <p:cTn id="80" presetID="10" presetClass="entr" presetSubtype="0" fill="hold" grpId="0" nodeType="withEffect">
                                  <p:stCondLst>
                                    <p:cond delay="2700"/>
                                  </p:stCondLst>
                                  <p:childTnLst>
                                    <p:set>
                                      <p:cBhvr>
                                        <p:cTn id="81" dur="1" fill="hold">
                                          <p:stCondLst>
                                            <p:cond delay="0"/>
                                          </p:stCondLst>
                                        </p:cTn>
                                        <p:tgtEl>
                                          <p:spTgt spid="29"/>
                                        </p:tgtEl>
                                        <p:attrNameLst>
                                          <p:attrName>style.visibility</p:attrName>
                                        </p:attrNameLst>
                                      </p:cBhvr>
                                      <p:to>
                                        <p:strVal val="visible"/>
                                      </p:to>
                                    </p:set>
                                    <p:animEffect transition="in" filter="fade">
                                      <p:cBhvr>
                                        <p:cTn id="82" dur="450"/>
                                        <p:tgtEl>
                                          <p:spTgt spid="29"/>
                                        </p:tgtEl>
                                      </p:cBhvr>
                                    </p:animEffect>
                                  </p:childTnLst>
                                </p:cTn>
                              </p:par>
                              <p:par>
                                <p:cTn id="83" presetID="10" presetClass="entr" presetSubtype="0" fill="hold" grpId="0" nodeType="withEffect">
                                  <p:stCondLst>
                                    <p:cond delay="2700"/>
                                  </p:stCondLst>
                                  <p:childTnLst>
                                    <p:set>
                                      <p:cBhvr>
                                        <p:cTn id="84" dur="1" fill="hold">
                                          <p:stCondLst>
                                            <p:cond delay="0"/>
                                          </p:stCondLst>
                                        </p:cTn>
                                        <p:tgtEl>
                                          <p:spTgt spid="30"/>
                                        </p:tgtEl>
                                        <p:attrNameLst>
                                          <p:attrName>style.visibility</p:attrName>
                                        </p:attrNameLst>
                                      </p:cBhvr>
                                      <p:to>
                                        <p:strVal val="visible"/>
                                      </p:to>
                                    </p:set>
                                    <p:animEffect transition="in" filter="fade">
                                      <p:cBhvr>
                                        <p:cTn id="85" dur="4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8229600" cy="274320"/>
          </a:xfrm>
          <a:prstGeom prst="rect">
            <a:avLst/>
          </a:prstGeom>
          <a:noFill/>
          <a:ln/>
        </p:spPr>
        <p:txBody>
          <a:bodyPr wrap="square" lIns="0" tIns="0" rIns="0" bIns="0" rtlCol="0"/>
          <a:lstStyle/>
          <a:p>
            <a:pPr indent="0" marL="0">
              <a:buNone/>
            </a:pPr>
            <a:r>
              <a:rPr lang="en-US" sz="1100" b="1" spc="300" kern="0" dirty="0">
                <a:solidFill>
                  <a:schemeClr val="accent1"/>
                </a:solidFill>
              </a:rPr>
              <a:t>INTEGRATION</a:t>
            </a:r>
            <a:endParaRPr lang="en-US" sz="1100" dirty="0"/>
          </a:p>
        </p:txBody>
      </p:sp>
      <p:sp>
        <p:nvSpPr>
          <p:cNvPr id="3" name="Text 1"/>
          <p:cNvSpPr/>
          <p:nvPr>
            <p:ph idx="102" type="title" hasCustomPrompt="1"/>
          </p:nvPr>
        </p:nvSpPr>
        <p:spPr>
          <a:xfrm>
            <a:off x="548640" y="713232"/>
            <a:ext cx="11094415" cy="731520"/>
          </a:xfrm>
          <a:prstGeom prst="rect">
            <a:avLst/>
          </a:prstGeom>
          <a:noFill/>
          <a:ln/>
        </p:spPr>
        <p:txBody>
          <a:bodyPr wrap="square" lIns="0" tIns="0" rIns="0" bIns="0" rtlCol="0" anchor="t"/>
          <a:lstStyle/>
          <a:p>
            <a:pPr algn="l" indent="0" marL="0">
              <a:buNone/>
            </a:pPr>
            <a:r>
              <a:rPr lang="en-US" sz="3600" b="1" dirty="0">
                <a:solidFill>
                  <a:schemeClr val="tx2"/>
                </a:solidFill>
              </a:rPr>
              <a:t>From install to live in one day</a:t>
            </a:r>
            <a:endParaRPr lang="en-US" sz="3600" dirty="0"/>
          </a:p>
        </p:txBody>
      </p:sp>
      <p:sp>
        <p:nvSpPr>
          <p:cNvPr id="4" name="Flow rail"/>
          <p:cNvSpPr/>
          <p:nvPr/>
        </p:nvSpPr>
        <p:spPr>
          <a:xfrm>
            <a:off x="1935442" y="3131820"/>
            <a:ext cx="8320811" cy="0"/>
          </a:xfrm>
          <a:prstGeom prst="line">
            <a:avLst/>
          </a:prstGeom>
          <a:noFill/>
          <a:ln w="38100">
            <a:solidFill>
              <a:srgbClr val="E6E4DC"/>
            </a:solidFill>
            <a:prstDash val="solid"/>
          </a:ln>
        </p:spPr>
      </p:sp>
      <p:sp>
        <p:nvSpPr>
          <p:cNvPr id="5" name="Flow 0 dot"/>
          <p:cNvSpPr/>
          <p:nvPr/>
        </p:nvSpPr>
        <p:spPr>
          <a:xfrm>
            <a:off x="1318222" y="2514600"/>
            <a:ext cx="1234440" cy="1234440"/>
          </a:xfrm>
          <a:prstGeom prst="ellipse">
            <a:avLst/>
          </a:prstGeom>
          <a:solidFill>
            <a:schemeClr val="tx2"/>
          </a:solidFill>
          <a:ln/>
        </p:spPr>
      </p:sp>
      <p:pic>
        <p:nvPicPr>
          <p:cNvPr id="6" name="Flow 0 icon" descr="preencoded.png">    </p:cNvPr>
          <p:cNvPicPr>
            <a:picLocks noChangeAspect="1"/>
          </p:cNvPicPr>
          <p:nvPr/>
        </p:nvPicPr>
        <p:blipFill>
          <a:blip r:embed="rId1"/>
          <a:stretch>
            <a:fillRect/>
          </a:stretch>
        </p:blipFill>
        <p:spPr>
          <a:xfrm>
            <a:off x="1626832" y="2823210"/>
            <a:ext cx="617220" cy="617220"/>
          </a:xfrm>
          <a:prstGeom prst="rect">
            <a:avLst/>
          </a:prstGeom>
        </p:spPr>
      </p:pic>
      <p:sp>
        <p:nvSpPr>
          <p:cNvPr id="7" name="Flow 0 title"/>
          <p:cNvSpPr txBox="1"/>
          <p:nvPr/>
        </p:nvSpPr>
        <p:spPr>
          <a:xfrm>
            <a:off x="685800" y="4023360"/>
            <a:ext cx="2499284" cy="502920"/>
          </a:xfrm>
          <a:prstGeom prst="rect">
            <a:avLst/>
          </a:prstGeom>
          <a:noFill/>
          <a:ln/>
        </p:spPr>
        <p:txBody>
          <a:bodyPr wrap="square" lIns="0" tIns="0" rIns="0" bIns="0" rtlCol="0" anchor="ctr"/>
          <a:lstStyle/>
          <a:p>
            <a:pPr algn="ctr" indent="0" marL="0">
              <a:buNone/>
            </a:pPr>
            <a:r>
              <a:rPr lang="en-US" sz="2600" b="1" dirty="0">
                <a:solidFill>
                  <a:schemeClr val="tx2"/>
                </a:solidFill>
              </a:rPr>
              <a:t>Mount</a:t>
            </a:r>
            <a:endParaRPr lang="en-US" sz="2600" dirty="0"/>
          </a:p>
        </p:txBody>
      </p:sp>
      <p:sp>
        <p:nvSpPr>
          <p:cNvPr id="8" name="Flow 0 body"/>
          <p:cNvSpPr txBox="1"/>
          <p:nvPr/>
        </p:nvSpPr>
        <p:spPr>
          <a:xfrm>
            <a:off x="731520" y="4572000"/>
            <a:ext cx="2407844" cy="914400"/>
          </a:xfrm>
          <a:prstGeom prst="rect">
            <a:avLst/>
          </a:prstGeom>
          <a:noFill/>
          <a:ln/>
        </p:spPr>
        <p:txBody>
          <a:bodyPr wrap="square" lIns="0" tIns="0" rIns="0" bIns="0" rtlCol="0" anchor="t"/>
          <a:lstStyle/>
          <a:p>
            <a:pPr algn="ctr" indent="0" marL="0">
              <a:buNone/>
            </a:pPr>
            <a:r>
              <a:rPr lang="en-US" sz="1800" dirty="0">
                <a:solidFill>
                  <a:schemeClr val="accent4"/>
                </a:solidFill>
              </a:rPr>
              <a:t>No downtime.</a:t>
            </a:r>
            <a:endParaRPr lang="en-US" sz="1800" dirty="0"/>
          </a:p>
        </p:txBody>
      </p:sp>
      <p:sp>
        <p:nvSpPr>
          <p:cNvPr id="9" name="Flow 1 dot"/>
          <p:cNvSpPr/>
          <p:nvPr/>
        </p:nvSpPr>
        <p:spPr>
          <a:xfrm>
            <a:off x="4091826" y="2514600"/>
            <a:ext cx="1234440" cy="1234440"/>
          </a:xfrm>
          <a:prstGeom prst="ellipse">
            <a:avLst/>
          </a:prstGeom>
          <a:solidFill>
            <a:schemeClr val="tx2"/>
          </a:solidFill>
          <a:ln/>
        </p:spPr>
      </p:sp>
      <p:pic>
        <p:nvPicPr>
          <p:cNvPr id="10" name="Flow 1 icon" descr="preencoded.png">    </p:cNvPr>
          <p:cNvPicPr>
            <a:picLocks noChangeAspect="1"/>
          </p:cNvPicPr>
          <p:nvPr/>
        </p:nvPicPr>
        <p:blipFill>
          <a:blip r:embed="rId2"/>
          <a:stretch>
            <a:fillRect/>
          </a:stretch>
        </p:blipFill>
        <p:spPr>
          <a:xfrm>
            <a:off x="4400436" y="2823210"/>
            <a:ext cx="617220" cy="617220"/>
          </a:xfrm>
          <a:prstGeom prst="rect">
            <a:avLst/>
          </a:prstGeom>
        </p:spPr>
      </p:pic>
      <p:sp>
        <p:nvSpPr>
          <p:cNvPr id="11" name="Flow 1 title"/>
          <p:cNvSpPr txBox="1"/>
          <p:nvPr/>
        </p:nvSpPr>
        <p:spPr>
          <a:xfrm>
            <a:off x="3459404" y="4023360"/>
            <a:ext cx="2499284" cy="502920"/>
          </a:xfrm>
          <a:prstGeom prst="rect">
            <a:avLst/>
          </a:prstGeom>
          <a:noFill/>
          <a:ln/>
        </p:spPr>
        <p:txBody>
          <a:bodyPr wrap="square" lIns="0" tIns="0" rIns="0" bIns="0" rtlCol="0" anchor="ctr"/>
          <a:lstStyle/>
          <a:p>
            <a:pPr algn="ctr" indent="0" marL="0">
              <a:buNone/>
            </a:pPr>
            <a:r>
              <a:rPr lang="en-US" sz="2600" b="1" dirty="0">
                <a:solidFill>
                  <a:schemeClr val="tx2"/>
                </a:solidFill>
              </a:rPr>
              <a:t>Calibrate</a:t>
            </a:r>
            <a:endParaRPr lang="en-US" sz="2600" dirty="0"/>
          </a:p>
        </p:txBody>
      </p:sp>
      <p:sp>
        <p:nvSpPr>
          <p:cNvPr id="12" name="Flow 1 body"/>
          <p:cNvSpPr txBox="1"/>
          <p:nvPr/>
        </p:nvSpPr>
        <p:spPr>
          <a:xfrm>
            <a:off x="3505124" y="4572000"/>
            <a:ext cx="2407844" cy="914400"/>
          </a:xfrm>
          <a:prstGeom prst="rect">
            <a:avLst/>
          </a:prstGeom>
          <a:noFill/>
          <a:ln/>
        </p:spPr>
        <p:txBody>
          <a:bodyPr wrap="square" lIns="0" tIns="0" rIns="0" bIns="0" rtlCol="0" anchor="t"/>
          <a:lstStyle/>
          <a:p>
            <a:pPr algn="ctr" indent="0" marL="0">
              <a:buNone/>
            </a:pPr>
            <a:r>
              <a:rPr lang="en-US" sz="1800" dirty="0">
                <a:solidFill>
                  <a:schemeClr val="accent4"/>
                </a:solidFill>
              </a:rPr>
              <a:t>Scale, colour and light.</a:t>
            </a:r>
            <a:endParaRPr lang="en-US" sz="1800" dirty="0"/>
          </a:p>
        </p:txBody>
      </p:sp>
      <p:sp>
        <p:nvSpPr>
          <p:cNvPr id="13" name="Flow 2 dot"/>
          <p:cNvSpPr/>
          <p:nvPr/>
        </p:nvSpPr>
        <p:spPr>
          <a:xfrm>
            <a:off x="6865430" y="2514600"/>
            <a:ext cx="1234440" cy="1234440"/>
          </a:xfrm>
          <a:prstGeom prst="ellipse">
            <a:avLst/>
          </a:prstGeom>
          <a:solidFill>
            <a:schemeClr val="tx2"/>
          </a:solidFill>
          <a:ln/>
        </p:spPr>
      </p:sp>
      <p:pic>
        <p:nvPicPr>
          <p:cNvPr id="14" name="Flow 2 icon" descr="preencoded.png">    </p:cNvPr>
          <p:cNvPicPr>
            <a:picLocks noChangeAspect="1"/>
          </p:cNvPicPr>
          <p:nvPr/>
        </p:nvPicPr>
        <p:blipFill>
          <a:blip r:embed="rId3"/>
          <a:stretch>
            <a:fillRect/>
          </a:stretch>
        </p:blipFill>
        <p:spPr>
          <a:xfrm>
            <a:off x="7174040" y="2823210"/>
            <a:ext cx="617220" cy="617220"/>
          </a:xfrm>
          <a:prstGeom prst="rect">
            <a:avLst/>
          </a:prstGeom>
        </p:spPr>
      </p:pic>
      <p:sp>
        <p:nvSpPr>
          <p:cNvPr id="15" name="Flow 2 title"/>
          <p:cNvSpPr txBox="1"/>
          <p:nvPr/>
        </p:nvSpPr>
        <p:spPr>
          <a:xfrm>
            <a:off x="6233008" y="4023360"/>
            <a:ext cx="2499284" cy="502920"/>
          </a:xfrm>
          <a:prstGeom prst="rect">
            <a:avLst/>
          </a:prstGeom>
          <a:noFill/>
          <a:ln/>
        </p:spPr>
        <p:txBody>
          <a:bodyPr wrap="square" lIns="0" tIns="0" rIns="0" bIns="0" rtlCol="0" anchor="ctr"/>
          <a:lstStyle/>
          <a:p>
            <a:pPr algn="ctr" indent="0" marL="0">
              <a:buNone/>
            </a:pPr>
            <a:r>
              <a:rPr lang="en-US" sz="2600" b="1" dirty="0">
                <a:solidFill>
                  <a:schemeClr val="tx2"/>
                </a:solidFill>
              </a:rPr>
              <a:t>Teach</a:t>
            </a:r>
            <a:endParaRPr lang="en-US" sz="2600" dirty="0"/>
          </a:p>
        </p:txBody>
      </p:sp>
      <p:sp>
        <p:nvSpPr>
          <p:cNvPr id="16" name="Flow 2 body"/>
          <p:cNvSpPr txBox="1"/>
          <p:nvPr/>
        </p:nvSpPr>
        <p:spPr>
          <a:xfrm>
            <a:off x="6278728" y="4572000"/>
            <a:ext cx="2407844" cy="914400"/>
          </a:xfrm>
          <a:prstGeom prst="rect">
            <a:avLst/>
          </a:prstGeom>
          <a:noFill/>
          <a:ln/>
        </p:spPr>
        <p:txBody>
          <a:bodyPr wrap="square" lIns="0" tIns="0" rIns="0" bIns="0" rtlCol="0" anchor="t"/>
          <a:lstStyle/>
          <a:p>
            <a:pPr algn="ctr" indent="0" marL="0">
              <a:buNone/>
            </a:pPr>
            <a:r>
              <a:rPr lang="en-US" sz="1800" dirty="0">
                <a:solidFill>
                  <a:schemeClr val="accent4"/>
                </a:solidFill>
              </a:rPr>
              <a:t>Show MetriQ a few reference images.</a:t>
            </a:r>
            <a:endParaRPr lang="en-US" sz="1800" dirty="0"/>
          </a:p>
        </p:txBody>
      </p:sp>
      <p:sp>
        <p:nvSpPr>
          <p:cNvPr id="17" name="Flow 3 dot"/>
          <p:cNvSpPr/>
          <p:nvPr/>
        </p:nvSpPr>
        <p:spPr>
          <a:xfrm>
            <a:off x="9639033" y="2514600"/>
            <a:ext cx="1234440" cy="1234440"/>
          </a:xfrm>
          <a:prstGeom prst="ellipse">
            <a:avLst/>
          </a:prstGeom>
          <a:solidFill>
            <a:schemeClr val="accent3"/>
          </a:solidFill>
          <a:ln/>
        </p:spPr>
      </p:sp>
      <p:pic>
        <p:nvPicPr>
          <p:cNvPr id="18" name="Flow 3 icon" descr="preencoded.png">    </p:cNvPr>
          <p:cNvPicPr>
            <a:picLocks noChangeAspect="1"/>
          </p:cNvPicPr>
          <p:nvPr/>
        </p:nvPicPr>
        <p:blipFill>
          <a:blip r:embed="rId4"/>
          <a:stretch>
            <a:fillRect/>
          </a:stretch>
        </p:blipFill>
        <p:spPr>
          <a:xfrm>
            <a:off x="9947643" y="2823210"/>
            <a:ext cx="617220" cy="617220"/>
          </a:xfrm>
          <a:prstGeom prst="rect">
            <a:avLst/>
          </a:prstGeom>
        </p:spPr>
      </p:pic>
      <p:sp>
        <p:nvSpPr>
          <p:cNvPr id="19" name="Flow 3 title"/>
          <p:cNvSpPr txBox="1"/>
          <p:nvPr/>
        </p:nvSpPr>
        <p:spPr>
          <a:xfrm>
            <a:off x="9006611" y="4023360"/>
            <a:ext cx="2499284" cy="502920"/>
          </a:xfrm>
          <a:prstGeom prst="rect">
            <a:avLst/>
          </a:prstGeom>
          <a:noFill/>
          <a:ln/>
        </p:spPr>
        <p:txBody>
          <a:bodyPr wrap="square" lIns="0" tIns="0" rIns="0" bIns="0" rtlCol="0" anchor="ctr"/>
          <a:lstStyle/>
          <a:p>
            <a:pPr algn="ctr" indent="0" marL="0">
              <a:buNone/>
            </a:pPr>
            <a:r>
              <a:rPr lang="en-US" sz="2600" b="1" dirty="0">
                <a:solidFill>
                  <a:schemeClr val="tx2"/>
                </a:solidFill>
              </a:rPr>
              <a:t>Live</a:t>
            </a:r>
            <a:endParaRPr lang="en-US" sz="2600" dirty="0"/>
          </a:p>
        </p:txBody>
      </p:sp>
      <p:sp>
        <p:nvSpPr>
          <p:cNvPr id="20" name="Flow 3 body"/>
          <p:cNvSpPr txBox="1"/>
          <p:nvPr/>
        </p:nvSpPr>
        <p:spPr>
          <a:xfrm>
            <a:off x="9052331" y="4572000"/>
            <a:ext cx="2407844" cy="914400"/>
          </a:xfrm>
          <a:prstGeom prst="rect">
            <a:avLst/>
          </a:prstGeom>
          <a:noFill/>
          <a:ln/>
        </p:spPr>
        <p:txBody>
          <a:bodyPr wrap="square" lIns="0" tIns="0" rIns="0" bIns="0" rtlCol="0" anchor="t"/>
          <a:lstStyle/>
          <a:p>
            <a:pPr algn="ctr" indent="0" marL="0">
              <a:buNone/>
            </a:pPr>
            <a:r>
              <a:rPr lang="en-US" sz="1800" dirty="0">
                <a:solidFill>
                  <a:schemeClr val="accent4"/>
                </a:solidFill>
              </a:rPr>
              <a:t>Runs on your line and reports the same day.</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childTnLst>
                                </p:cTn>
                              </p:par>
                              <p:par>
                                <p:cTn id="8" presetID="10" presetClass="entr" presetSubtype="0" fill="hold" grpId="0" nodeType="withEffect">
                                  <p:stCondLst>
                                    <p:cond delay="7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450"/>
                                        <p:tgtEl>
                                          <p:spTgt spid="5"/>
                                        </p:tgtEl>
                                      </p:cBhvr>
                                    </p:animEffect>
                                  </p:childTnLst>
                                </p:cTn>
                              </p:par>
                              <p:par>
                                <p:cTn id="11" presetID="10" presetClass="entr" presetSubtype="0" fill="hold" grpId="0" nodeType="withEffect">
                                  <p:stCondLst>
                                    <p:cond delay="7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450"/>
                                        <p:tgtEl>
                                          <p:spTgt spid="6"/>
                                        </p:tgtEl>
                                      </p:cBhvr>
                                    </p:animEffect>
                                  </p:childTnLst>
                                </p:cTn>
                              </p:par>
                              <p:par>
                                <p:cTn id="14" presetID="10" presetClass="entr" presetSubtype="0" fill="hold" grpId="0" nodeType="withEffect">
                                  <p:stCondLst>
                                    <p:cond delay="7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450"/>
                                        <p:tgtEl>
                                          <p:spTgt spid="7"/>
                                        </p:tgtEl>
                                      </p:cBhvr>
                                    </p:animEffect>
                                  </p:childTnLst>
                                </p:cTn>
                              </p:par>
                              <p:par>
                                <p:cTn id="17" presetID="10" presetClass="entr" presetSubtype="0" fill="hold" grpId="0" nodeType="withEffect">
                                  <p:stCondLst>
                                    <p:cond delay="7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14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140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140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14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par>
                                <p:cTn id="32" presetID="10" presetClass="entr" presetSubtype="0" fill="hold" grpId="0" nodeType="withEffect">
                                  <p:stCondLst>
                                    <p:cond delay="210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50"/>
                                        <p:tgtEl>
                                          <p:spTgt spid="13"/>
                                        </p:tgtEl>
                                      </p:cBhvr>
                                    </p:animEffect>
                                  </p:childTnLst>
                                </p:cTn>
                              </p:par>
                              <p:par>
                                <p:cTn id="35" presetID="10" presetClass="entr" presetSubtype="0" fill="hold" grpId="0" nodeType="withEffect">
                                  <p:stCondLst>
                                    <p:cond delay="210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210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210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280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280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280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280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1" grpId="0" animBg="1"/>
      <p:bldP spid="12" grpId="0" animBg="1"/>
      <p:bldP spid="13" grpId="0" animBg="1"/>
      <p:bldP spid="15" grpId="0" animBg="1"/>
      <p:bldP spid="16" grpId="0" animBg="1"/>
      <p:bldP spid="17" grpId="0" animBg="1"/>
      <p:bldP spid="19" grpId="0" animBg="1"/>
      <p:bldP spid="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8229600" cy="274320"/>
          </a:xfrm>
          <a:prstGeom prst="rect">
            <a:avLst/>
          </a:prstGeom>
          <a:noFill/>
          <a:ln/>
        </p:spPr>
        <p:txBody>
          <a:bodyPr wrap="square" lIns="0" tIns="0" rIns="0" bIns="0" rtlCol="0"/>
          <a:lstStyle/>
          <a:p>
            <a:pPr indent="0" marL="0">
              <a:buNone/>
            </a:pPr>
            <a:r>
              <a:rPr lang="en-US" sz="1100" b="1" spc="300" kern="0" dirty="0">
                <a:solidFill>
                  <a:schemeClr val="accent1"/>
                </a:solidFill>
              </a:rPr>
              <a:t>HOW WE COMPARE</a:t>
            </a:r>
            <a:endParaRPr lang="en-US" sz="1100" dirty="0"/>
          </a:p>
        </p:txBody>
      </p:sp>
      <p:sp>
        <p:nvSpPr>
          <p:cNvPr id="3" name="Text 1"/>
          <p:cNvSpPr/>
          <p:nvPr>
            <p:ph idx="102" type="title" hasCustomPrompt="1"/>
          </p:nvPr>
        </p:nvSpPr>
        <p:spPr>
          <a:xfrm>
            <a:off x="548640" y="713232"/>
            <a:ext cx="11094415" cy="731520"/>
          </a:xfrm>
          <a:prstGeom prst="rect">
            <a:avLst/>
          </a:prstGeom>
          <a:noFill/>
          <a:ln/>
        </p:spPr>
        <p:txBody>
          <a:bodyPr wrap="square" lIns="0" tIns="0" rIns="0" bIns="0" rtlCol="0" anchor="t"/>
          <a:lstStyle/>
          <a:p>
            <a:pPr algn="l" indent="0" marL="0">
              <a:buNone/>
            </a:pPr>
            <a:r>
              <a:rPr lang="en-US" sz="3600" b="1" dirty="0">
                <a:solidFill>
                  <a:schemeClr val="tx2"/>
                </a:solidFill>
              </a:rPr>
              <a:t>The QC station, without the project</a:t>
            </a:r>
            <a:endParaRPr lang="en-US" sz="3600" dirty="0"/>
          </a:p>
        </p:txBody>
      </p:sp>
      <p:sp>
        <p:nvSpPr>
          <p:cNvPr id="4" name="Us bg"/>
          <p:cNvSpPr/>
          <p:nvPr/>
        </p:nvSpPr>
        <p:spPr>
          <a:xfrm>
            <a:off x="8869680" y="1581912"/>
            <a:ext cx="2770632" cy="4526280"/>
          </a:xfrm>
          <a:prstGeom prst="roundRect">
            <a:avLst>
              <a:gd name="adj" fmla="val 3960"/>
            </a:avLst>
          </a:prstGeom>
          <a:solidFill>
            <a:schemeClr val="tx2"/>
          </a:solidFill>
          <a:ln/>
        </p:spPr>
      </p:sp>
      <p:sp>
        <p:nvSpPr>
          <p:cNvPr id="5" name="Text 3"/>
          <p:cNvSpPr txBox="1"/>
          <p:nvPr/>
        </p:nvSpPr>
        <p:spPr>
          <a:xfrm>
            <a:off x="548640" y="1691640"/>
            <a:ext cx="2240280" cy="411480"/>
          </a:xfrm>
          <a:prstGeom prst="rect">
            <a:avLst/>
          </a:prstGeom>
          <a:noFill/>
          <a:ln/>
        </p:spPr>
        <p:txBody>
          <a:bodyPr wrap="square" lIns="0" tIns="0" rIns="0" bIns="0" rtlCol="0" anchor="ctr"/>
          <a:lstStyle/>
          <a:p>
            <a:pPr indent="0" marL="0">
              <a:buNone/>
            </a:pPr>
            <a:endParaRPr lang="en-US" sz="1400" dirty="0"/>
          </a:p>
        </p:txBody>
      </p:sp>
      <p:sp>
        <p:nvSpPr>
          <p:cNvPr id="6" name="Text 4"/>
          <p:cNvSpPr txBox="1"/>
          <p:nvPr/>
        </p:nvSpPr>
        <p:spPr>
          <a:xfrm>
            <a:off x="3063240" y="1691640"/>
            <a:ext cx="1691640" cy="411480"/>
          </a:xfrm>
          <a:prstGeom prst="rect">
            <a:avLst/>
          </a:prstGeom>
          <a:noFill/>
          <a:ln/>
        </p:spPr>
        <p:txBody>
          <a:bodyPr wrap="square" lIns="0" tIns="0" rIns="0" bIns="0" rtlCol="0" anchor="ctr"/>
          <a:lstStyle/>
          <a:p>
            <a:pPr indent="0" marL="0">
              <a:buNone/>
            </a:pPr>
            <a:r>
              <a:rPr lang="en-US" sz="1400" b="1" dirty="0">
                <a:solidFill>
                  <a:schemeClr val="accent4"/>
                </a:solidFill>
              </a:rPr>
              <a:t>Manual QC</a:t>
            </a:r>
            <a:endParaRPr lang="en-US" sz="1400" dirty="0"/>
          </a:p>
        </p:txBody>
      </p:sp>
      <p:sp>
        <p:nvSpPr>
          <p:cNvPr id="7" name="Text 5"/>
          <p:cNvSpPr txBox="1"/>
          <p:nvPr/>
        </p:nvSpPr>
        <p:spPr>
          <a:xfrm>
            <a:off x="5029200" y="1691640"/>
            <a:ext cx="1691640" cy="411480"/>
          </a:xfrm>
          <a:prstGeom prst="rect">
            <a:avLst/>
          </a:prstGeom>
          <a:noFill/>
          <a:ln/>
        </p:spPr>
        <p:txBody>
          <a:bodyPr wrap="square" lIns="0" tIns="0" rIns="0" bIns="0" rtlCol="0" anchor="ctr"/>
          <a:lstStyle/>
          <a:p>
            <a:pPr indent="0" marL="0">
              <a:buNone/>
            </a:pPr>
            <a:r>
              <a:rPr lang="en-US" sz="1400" b="1" dirty="0">
                <a:solidFill>
                  <a:schemeClr val="accent4"/>
                </a:solidFill>
              </a:rPr>
              <a:t>Rule-based vision</a:t>
            </a:r>
            <a:endParaRPr lang="en-US" sz="1400" dirty="0"/>
          </a:p>
        </p:txBody>
      </p:sp>
      <p:sp>
        <p:nvSpPr>
          <p:cNvPr id="8" name="Text 6"/>
          <p:cNvSpPr txBox="1"/>
          <p:nvPr/>
        </p:nvSpPr>
        <p:spPr>
          <a:xfrm>
            <a:off x="6995160" y="1691640"/>
            <a:ext cx="1691640" cy="411480"/>
          </a:xfrm>
          <a:prstGeom prst="rect">
            <a:avLst/>
          </a:prstGeom>
          <a:noFill/>
          <a:ln/>
        </p:spPr>
        <p:txBody>
          <a:bodyPr wrap="square" lIns="0" tIns="0" rIns="0" bIns="0" rtlCol="0" anchor="ctr"/>
          <a:lstStyle/>
          <a:p>
            <a:pPr indent="0" marL="0">
              <a:buNone/>
            </a:pPr>
            <a:r>
              <a:rPr lang="en-US" sz="1400" b="1" dirty="0">
                <a:solidFill>
                  <a:schemeClr val="accent4"/>
                </a:solidFill>
              </a:rPr>
              <a:t>AI vision platforms</a:t>
            </a:r>
            <a:endParaRPr lang="en-US" sz="1400" dirty="0"/>
          </a:p>
        </p:txBody>
      </p:sp>
      <p:sp>
        <p:nvSpPr>
          <p:cNvPr id="9" name="Us head"/>
          <p:cNvSpPr txBox="1"/>
          <p:nvPr/>
        </p:nvSpPr>
        <p:spPr>
          <a:xfrm>
            <a:off x="8961120" y="1691640"/>
            <a:ext cx="2542032" cy="411480"/>
          </a:xfrm>
          <a:prstGeom prst="rect">
            <a:avLst/>
          </a:prstGeom>
          <a:noFill/>
          <a:ln/>
        </p:spPr>
        <p:txBody>
          <a:bodyPr wrap="square" lIns="0" tIns="0" rIns="0" bIns="0" rtlCol="0" anchor="ctr"/>
          <a:lstStyle/>
          <a:p>
            <a:pPr indent="0" marL="0">
              <a:buNone/>
            </a:pPr>
            <a:r>
              <a:rPr lang="en-US" sz="1400" b="1" dirty="0">
                <a:solidFill>
                  <a:schemeClr val="bg1"/>
                </a:solidFill>
              </a:rPr>
              <a:t>MetriQ</a:t>
            </a:r>
            <a:endParaRPr lang="en-US" sz="1400" dirty="0"/>
          </a:p>
        </p:txBody>
      </p:sp>
      <p:sp>
        <p:nvSpPr>
          <p:cNvPr id="10" name="Text 8"/>
          <p:cNvSpPr txBox="1"/>
          <p:nvPr/>
        </p:nvSpPr>
        <p:spPr>
          <a:xfrm>
            <a:off x="548640" y="2194560"/>
            <a:ext cx="2240280" cy="585216"/>
          </a:xfrm>
          <a:prstGeom prst="rect">
            <a:avLst/>
          </a:prstGeom>
          <a:noFill/>
          <a:ln/>
        </p:spPr>
        <p:txBody>
          <a:bodyPr wrap="square" lIns="0" tIns="0" rIns="0" bIns="0" rtlCol="0" anchor="ctr"/>
          <a:lstStyle/>
          <a:p>
            <a:pPr indent="0" marL="0">
              <a:buNone/>
            </a:pPr>
            <a:r>
              <a:rPr lang="en-US" sz="1400" b="1" dirty="0">
                <a:solidFill>
                  <a:schemeClr val="tx1"/>
                </a:solidFill>
              </a:rPr>
              <a:t>Time to go live</a:t>
            </a:r>
            <a:endParaRPr lang="en-US" sz="1400" dirty="0"/>
          </a:p>
        </p:txBody>
      </p:sp>
      <p:sp>
        <p:nvSpPr>
          <p:cNvPr id="11" name="Text 9"/>
          <p:cNvSpPr txBox="1"/>
          <p:nvPr/>
        </p:nvSpPr>
        <p:spPr>
          <a:xfrm>
            <a:off x="3063240" y="2194560"/>
            <a:ext cx="1691640" cy="585216"/>
          </a:xfrm>
          <a:prstGeom prst="rect">
            <a:avLst/>
          </a:prstGeom>
          <a:noFill/>
          <a:ln/>
        </p:spPr>
        <p:txBody>
          <a:bodyPr wrap="square" lIns="0" tIns="0" rIns="0" bIns="0" rtlCol="0" anchor="ctr"/>
          <a:lstStyle/>
          <a:p>
            <a:pPr indent="0" marL="0">
              <a:buNone/>
            </a:pPr>
            <a:r>
              <a:rPr lang="en-US" sz="1300" dirty="0">
                <a:solidFill>
                  <a:schemeClr val="accent4"/>
                </a:solidFill>
              </a:rPr>
              <a:t>Hire and train</a:t>
            </a:r>
            <a:endParaRPr lang="en-US" sz="1300" dirty="0"/>
          </a:p>
        </p:txBody>
      </p:sp>
      <p:sp>
        <p:nvSpPr>
          <p:cNvPr id="12" name="Text 10"/>
          <p:cNvSpPr txBox="1"/>
          <p:nvPr/>
        </p:nvSpPr>
        <p:spPr>
          <a:xfrm>
            <a:off x="5029200" y="2194560"/>
            <a:ext cx="1691640" cy="585216"/>
          </a:xfrm>
          <a:prstGeom prst="rect">
            <a:avLst/>
          </a:prstGeom>
          <a:noFill/>
          <a:ln/>
        </p:spPr>
        <p:txBody>
          <a:bodyPr wrap="square" lIns="0" tIns="0" rIns="0" bIns="0" rtlCol="0" anchor="ctr"/>
          <a:lstStyle/>
          <a:p>
            <a:pPr indent="0" marL="0">
              <a:buNone/>
            </a:pPr>
            <a:r>
              <a:rPr lang="en-US" sz="1300" dirty="0">
                <a:solidFill>
                  <a:schemeClr val="accent4"/>
                </a:solidFill>
              </a:rPr>
              <a:t>Weeks to months</a:t>
            </a:r>
            <a:endParaRPr lang="en-US" sz="1300" dirty="0"/>
          </a:p>
        </p:txBody>
      </p:sp>
      <p:sp>
        <p:nvSpPr>
          <p:cNvPr id="13" name="Text 11"/>
          <p:cNvSpPr txBox="1"/>
          <p:nvPr/>
        </p:nvSpPr>
        <p:spPr>
          <a:xfrm>
            <a:off x="6995160" y="2194560"/>
            <a:ext cx="1691640" cy="585216"/>
          </a:xfrm>
          <a:prstGeom prst="rect">
            <a:avLst/>
          </a:prstGeom>
          <a:noFill/>
          <a:ln/>
        </p:spPr>
        <p:txBody>
          <a:bodyPr wrap="square" lIns="0" tIns="0" rIns="0" bIns="0" rtlCol="0" anchor="ctr"/>
          <a:lstStyle/>
          <a:p>
            <a:pPr indent="0" marL="0">
              <a:buNone/>
            </a:pPr>
            <a:r>
              <a:rPr lang="en-US" sz="1300" dirty="0">
                <a:solidFill>
                  <a:schemeClr val="accent4"/>
                </a:solidFill>
              </a:rPr>
              <a:t>1–4 weeks</a:t>
            </a:r>
            <a:endParaRPr lang="en-US" sz="1300" dirty="0"/>
          </a:p>
        </p:txBody>
      </p:sp>
      <p:sp>
        <p:nvSpPr>
          <p:cNvPr id="14" name="Us 0"/>
          <p:cNvSpPr txBox="1"/>
          <p:nvPr/>
        </p:nvSpPr>
        <p:spPr>
          <a:xfrm>
            <a:off x="8961120" y="2194560"/>
            <a:ext cx="2542032" cy="585216"/>
          </a:xfrm>
          <a:prstGeom prst="rect">
            <a:avLst/>
          </a:prstGeom>
          <a:noFill/>
          <a:ln/>
        </p:spPr>
        <p:txBody>
          <a:bodyPr wrap="square" lIns="0" tIns="0" rIns="0" bIns="0" rtlCol="0" anchor="ctr"/>
          <a:lstStyle/>
          <a:p>
            <a:pPr indent="0" marL="0">
              <a:buNone/>
            </a:pPr>
            <a:r>
              <a:rPr lang="en-US" sz="1300" b="1" dirty="0">
                <a:solidFill>
                  <a:schemeClr val="bg1"/>
                </a:solidFill>
              </a:rPr>
              <a:t>Same day</a:t>
            </a:r>
            <a:endParaRPr lang="en-US" sz="1300" dirty="0"/>
          </a:p>
        </p:txBody>
      </p:sp>
      <p:sp>
        <p:nvSpPr>
          <p:cNvPr id="15" name="Shape 13"/>
          <p:cNvSpPr/>
          <p:nvPr/>
        </p:nvSpPr>
        <p:spPr>
          <a:xfrm>
            <a:off x="548640" y="2816352"/>
            <a:ext cx="8229600" cy="0"/>
          </a:xfrm>
          <a:prstGeom prst="line">
            <a:avLst/>
          </a:prstGeom>
          <a:noFill/>
          <a:ln w="12700">
            <a:solidFill>
              <a:schemeClr val="accent5"/>
            </a:solidFill>
            <a:prstDash val="solid"/>
          </a:ln>
        </p:spPr>
      </p:sp>
      <p:sp>
        <p:nvSpPr>
          <p:cNvPr id="16" name="Text 14"/>
          <p:cNvSpPr txBox="1"/>
          <p:nvPr/>
        </p:nvSpPr>
        <p:spPr>
          <a:xfrm>
            <a:off x="548640" y="2834640"/>
            <a:ext cx="2240280" cy="585216"/>
          </a:xfrm>
          <a:prstGeom prst="rect">
            <a:avLst/>
          </a:prstGeom>
          <a:noFill/>
          <a:ln/>
        </p:spPr>
        <p:txBody>
          <a:bodyPr wrap="square" lIns="0" tIns="0" rIns="0" bIns="0" rtlCol="0" anchor="ctr"/>
          <a:lstStyle/>
          <a:p>
            <a:pPr indent="0" marL="0">
              <a:buNone/>
            </a:pPr>
            <a:r>
              <a:rPr lang="en-US" sz="1400" b="1" dirty="0">
                <a:solidFill>
                  <a:schemeClr val="tx1"/>
                </a:solidFill>
              </a:rPr>
              <a:t>New product or defect</a:t>
            </a:r>
            <a:endParaRPr lang="en-US" sz="1400" dirty="0"/>
          </a:p>
        </p:txBody>
      </p:sp>
      <p:sp>
        <p:nvSpPr>
          <p:cNvPr id="17" name="Text 15"/>
          <p:cNvSpPr txBox="1"/>
          <p:nvPr/>
        </p:nvSpPr>
        <p:spPr>
          <a:xfrm>
            <a:off x="3063240" y="2834640"/>
            <a:ext cx="1691640" cy="585216"/>
          </a:xfrm>
          <a:prstGeom prst="rect">
            <a:avLst/>
          </a:prstGeom>
          <a:noFill/>
          <a:ln/>
        </p:spPr>
        <p:txBody>
          <a:bodyPr wrap="square" lIns="0" tIns="0" rIns="0" bIns="0" rtlCol="0" anchor="ctr"/>
          <a:lstStyle/>
          <a:p>
            <a:pPr indent="0" marL="0">
              <a:buNone/>
            </a:pPr>
            <a:r>
              <a:rPr lang="en-US" sz="1300" dirty="0">
                <a:solidFill>
                  <a:schemeClr val="accent4"/>
                </a:solidFill>
              </a:rPr>
              <a:t>Retrain people</a:t>
            </a:r>
            <a:endParaRPr lang="en-US" sz="1300" dirty="0"/>
          </a:p>
        </p:txBody>
      </p:sp>
      <p:sp>
        <p:nvSpPr>
          <p:cNvPr id="18" name="Text 16"/>
          <p:cNvSpPr txBox="1"/>
          <p:nvPr/>
        </p:nvSpPr>
        <p:spPr>
          <a:xfrm>
            <a:off x="5029200" y="2834640"/>
            <a:ext cx="1691640" cy="585216"/>
          </a:xfrm>
          <a:prstGeom prst="rect">
            <a:avLst/>
          </a:prstGeom>
          <a:noFill/>
          <a:ln/>
        </p:spPr>
        <p:txBody>
          <a:bodyPr wrap="square" lIns="0" tIns="0" rIns="0" bIns="0" rtlCol="0" anchor="ctr"/>
          <a:lstStyle/>
          <a:p>
            <a:pPr indent="0" marL="0">
              <a:buNone/>
            </a:pPr>
            <a:r>
              <a:rPr lang="en-US" sz="1300" dirty="0">
                <a:solidFill>
                  <a:schemeClr val="accent4"/>
                </a:solidFill>
              </a:rPr>
              <a:t>Integrator reprograms</a:t>
            </a:r>
            <a:endParaRPr lang="en-US" sz="1300" dirty="0"/>
          </a:p>
        </p:txBody>
      </p:sp>
      <p:sp>
        <p:nvSpPr>
          <p:cNvPr id="19" name="Text 17"/>
          <p:cNvSpPr txBox="1"/>
          <p:nvPr/>
        </p:nvSpPr>
        <p:spPr>
          <a:xfrm>
            <a:off x="6995160" y="2834640"/>
            <a:ext cx="1691640" cy="585216"/>
          </a:xfrm>
          <a:prstGeom prst="rect">
            <a:avLst/>
          </a:prstGeom>
          <a:noFill/>
          <a:ln/>
        </p:spPr>
        <p:txBody>
          <a:bodyPr wrap="square" lIns="0" tIns="0" rIns="0" bIns="0" rtlCol="0" anchor="ctr"/>
          <a:lstStyle/>
          <a:p>
            <a:pPr indent="0" marL="0">
              <a:buNone/>
            </a:pPr>
            <a:r>
              <a:rPr lang="en-US" sz="1300" dirty="0">
                <a:solidFill>
                  <a:schemeClr val="accent4"/>
                </a:solidFill>
              </a:rPr>
              <a:t>Relabel and retrain</a:t>
            </a:r>
            <a:endParaRPr lang="en-US" sz="1300" dirty="0"/>
          </a:p>
        </p:txBody>
      </p:sp>
      <p:sp>
        <p:nvSpPr>
          <p:cNvPr id="20" name="Us 1"/>
          <p:cNvSpPr txBox="1"/>
          <p:nvPr/>
        </p:nvSpPr>
        <p:spPr>
          <a:xfrm>
            <a:off x="8961120" y="2834640"/>
            <a:ext cx="2542032" cy="585216"/>
          </a:xfrm>
          <a:prstGeom prst="rect">
            <a:avLst/>
          </a:prstGeom>
          <a:noFill/>
          <a:ln/>
        </p:spPr>
        <p:txBody>
          <a:bodyPr wrap="square" lIns="0" tIns="0" rIns="0" bIns="0" rtlCol="0" anchor="ctr"/>
          <a:lstStyle/>
          <a:p>
            <a:pPr indent="0" marL="0">
              <a:buNone/>
            </a:pPr>
            <a:r>
              <a:rPr lang="en-US" sz="1300" b="1" dirty="0">
                <a:solidFill>
                  <a:schemeClr val="bg1"/>
                </a:solidFill>
              </a:rPr>
              <a:t>Teach MetriQ in minutes</a:t>
            </a:r>
            <a:endParaRPr lang="en-US" sz="1300" dirty="0"/>
          </a:p>
        </p:txBody>
      </p:sp>
      <p:sp>
        <p:nvSpPr>
          <p:cNvPr id="21" name="Shape 19"/>
          <p:cNvSpPr/>
          <p:nvPr/>
        </p:nvSpPr>
        <p:spPr>
          <a:xfrm>
            <a:off x="548640" y="3456432"/>
            <a:ext cx="8229600" cy="0"/>
          </a:xfrm>
          <a:prstGeom prst="line">
            <a:avLst/>
          </a:prstGeom>
          <a:noFill/>
          <a:ln w="12700">
            <a:solidFill>
              <a:schemeClr val="accent5"/>
            </a:solidFill>
            <a:prstDash val="solid"/>
          </a:ln>
        </p:spPr>
      </p:sp>
      <p:sp>
        <p:nvSpPr>
          <p:cNvPr id="22" name="Text 20"/>
          <p:cNvSpPr txBox="1"/>
          <p:nvPr/>
        </p:nvSpPr>
        <p:spPr>
          <a:xfrm>
            <a:off x="548640" y="3474720"/>
            <a:ext cx="2240280" cy="585216"/>
          </a:xfrm>
          <a:prstGeom prst="rect">
            <a:avLst/>
          </a:prstGeom>
          <a:noFill/>
          <a:ln/>
        </p:spPr>
        <p:txBody>
          <a:bodyPr wrap="square" lIns="0" tIns="0" rIns="0" bIns="0" rtlCol="0" anchor="ctr"/>
          <a:lstStyle/>
          <a:p>
            <a:pPr indent="0" marL="0">
              <a:buNone/>
            </a:pPr>
            <a:r>
              <a:rPr lang="en-US" sz="1400" b="1" dirty="0">
                <a:solidFill>
                  <a:schemeClr val="tx1"/>
                </a:solidFill>
              </a:rPr>
              <a:t>Recipe switching</a:t>
            </a:r>
            <a:endParaRPr lang="en-US" sz="1400" dirty="0"/>
          </a:p>
        </p:txBody>
      </p:sp>
      <p:sp>
        <p:nvSpPr>
          <p:cNvPr id="23" name="Text 21"/>
          <p:cNvSpPr txBox="1"/>
          <p:nvPr/>
        </p:nvSpPr>
        <p:spPr>
          <a:xfrm>
            <a:off x="3063240" y="3474720"/>
            <a:ext cx="1691640" cy="585216"/>
          </a:xfrm>
          <a:prstGeom prst="rect">
            <a:avLst/>
          </a:prstGeom>
          <a:noFill/>
          <a:ln/>
        </p:spPr>
        <p:txBody>
          <a:bodyPr wrap="square" lIns="0" tIns="0" rIns="0" bIns="0" rtlCol="0" anchor="ctr"/>
          <a:lstStyle/>
          <a:p>
            <a:pPr indent="0" marL="0">
              <a:buNone/>
            </a:pPr>
            <a:r>
              <a:rPr lang="en-US" sz="1300" dirty="0">
                <a:solidFill>
                  <a:schemeClr val="accent4"/>
                </a:solidFill>
              </a:rPr>
              <a:t>Re-brief the shift</a:t>
            </a:r>
            <a:endParaRPr lang="en-US" sz="1300" dirty="0"/>
          </a:p>
        </p:txBody>
      </p:sp>
      <p:sp>
        <p:nvSpPr>
          <p:cNvPr id="24" name="Text 22"/>
          <p:cNvSpPr txBox="1"/>
          <p:nvPr/>
        </p:nvSpPr>
        <p:spPr>
          <a:xfrm>
            <a:off x="5029200" y="3474720"/>
            <a:ext cx="1691640" cy="585216"/>
          </a:xfrm>
          <a:prstGeom prst="rect">
            <a:avLst/>
          </a:prstGeom>
          <a:noFill/>
          <a:ln/>
        </p:spPr>
        <p:txBody>
          <a:bodyPr wrap="square" lIns="0" tIns="0" rIns="0" bIns="0" rtlCol="0" anchor="ctr"/>
          <a:lstStyle/>
          <a:p>
            <a:pPr indent="0" marL="0">
              <a:buNone/>
            </a:pPr>
            <a:r>
              <a:rPr lang="en-US" sz="1300" dirty="0">
                <a:solidFill>
                  <a:schemeClr val="accent4"/>
                </a:solidFill>
              </a:rPr>
              <a:t>Reprogram per product</a:t>
            </a:r>
            <a:endParaRPr lang="en-US" sz="1300" dirty="0"/>
          </a:p>
        </p:txBody>
      </p:sp>
      <p:sp>
        <p:nvSpPr>
          <p:cNvPr id="25" name="Text 23"/>
          <p:cNvSpPr txBox="1"/>
          <p:nvPr/>
        </p:nvSpPr>
        <p:spPr>
          <a:xfrm>
            <a:off x="6995160" y="3474720"/>
            <a:ext cx="1691640" cy="585216"/>
          </a:xfrm>
          <a:prstGeom prst="rect">
            <a:avLst/>
          </a:prstGeom>
          <a:noFill/>
          <a:ln/>
        </p:spPr>
        <p:txBody>
          <a:bodyPr wrap="square" lIns="0" tIns="0" rIns="0" bIns="0" rtlCol="0" anchor="ctr"/>
          <a:lstStyle/>
          <a:p>
            <a:pPr indent="0" marL="0">
              <a:buNone/>
            </a:pPr>
            <a:r>
              <a:rPr lang="en-US" sz="1300" dirty="0">
                <a:solidFill>
                  <a:schemeClr val="accent4"/>
                </a:solidFill>
              </a:rPr>
              <a:t>Switch job by hand or PLC</a:t>
            </a:r>
            <a:endParaRPr lang="en-US" sz="1300" dirty="0"/>
          </a:p>
        </p:txBody>
      </p:sp>
      <p:sp>
        <p:nvSpPr>
          <p:cNvPr id="26" name="Us 2"/>
          <p:cNvSpPr txBox="1"/>
          <p:nvPr/>
        </p:nvSpPr>
        <p:spPr>
          <a:xfrm>
            <a:off x="8961120" y="3474720"/>
            <a:ext cx="2542032" cy="585216"/>
          </a:xfrm>
          <a:prstGeom prst="rect">
            <a:avLst/>
          </a:prstGeom>
          <a:noFill/>
          <a:ln/>
        </p:spPr>
        <p:txBody>
          <a:bodyPr wrap="square" lIns="0" tIns="0" rIns="0" bIns="0" rtlCol="0" anchor="ctr"/>
          <a:lstStyle/>
          <a:p>
            <a:pPr indent="0" marL="0">
              <a:buNone/>
            </a:pPr>
            <a:r>
              <a:rPr lang="en-US" sz="1300" b="1" dirty="0">
                <a:solidFill>
                  <a:schemeClr val="bg1"/>
                </a:solidFill>
              </a:rPr>
              <a:t>Automatic: recognises the product</a:t>
            </a:r>
            <a:endParaRPr lang="en-US" sz="1300" dirty="0"/>
          </a:p>
        </p:txBody>
      </p:sp>
      <p:sp>
        <p:nvSpPr>
          <p:cNvPr id="27" name="Shape 25"/>
          <p:cNvSpPr/>
          <p:nvPr/>
        </p:nvSpPr>
        <p:spPr>
          <a:xfrm>
            <a:off x="548640" y="4096512"/>
            <a:ext cx="8229600" cy="0"/>
          </a:xfrm>
          <a:prstGeom prst="line">
            <a:avLst/>
          </a:prstGeom>
          <a:noFill/>
          <a:ln w="12700">
            <a:solidFill>
              <a:schemeClr val="accent5"/>
            </a:solidFill>
            <a:prstDash val="solid"/>
          </a:ln>
        </p:spPr>
      </p:sp>
      <p:sp>
        <p:nvSpPr>
          <p:cNvPr id="28" name="Text 26"/>
          <p:cNvSpPr txBox="1"/>
          <p:nvPr/>
        </p:nvSpPr>
        <p:spPr>
          <a:xfrm>
            <a:off x="548640" y="4114800"/>
            <a:ext cx="2240280" cy="585216"/>
          </a:xfrm>
          <a:prstGeom prst="rect">
            <a:avLst/>
          </a:prstGeom>
          <a:noFill/>
          <a:ln/>
        </p:spPr>
        <p:txBody>
          <a:bodyPr wrap="square" lIns="0" tIns="0" rIns="0" bIns="0" rtlCol="0" anchor="ctr"/>
          <a:lstStyle/>
          <a:p>
            <a:pPr indent="0" marL="0">
              <a:buNone/>
            </a:pPr>
            <a:r>
              <a:rPr lang="en-US" sz="1400" b="1" dirty="0">
                <a:solidFill>
                  <a:schemeClr val="tx1"/>
                </a:solidFill>
              </a:rPr>
              <a:t>Defects never seen before</a:t>
            </a:r>
            <a:endParaRPr lang="en-US" sz="1400" dirty="0"/>
          </a:p>
        </p:txBody>
      </p:sp>
      <p:sp>
        <p:nvSpPr>
          <p:cNvPr id="29" name="Text 27"/>
          <p:cNvSpPr txBox="1"/>
          <p:nvPr/>
        </p:nvSpPr>
        <p:spPr>
          <a:xfrm>
            <a:off x="3063240" y="4114800"/>
            <a:ext cx="1691640" cy="585216"/>
          </a:xfrm>
          <a:prstGeom prst="rect">
            <a:avLst/>
          </a:prstGeom>
          <a:noFill/>
          <a:ln/>
        </p:spPr>
        <p:txBody>
          <a:bodyPr wrap="square" lIns="0" tIns="0" rIns="0" bIns="0" rtlCol="0" anchor="ctr"/>
          <a:lstStyle/>
          <a:p>
            <a:pPr indent="0" marL="0">
              <a:buNone/>
            </a:pPr>
            <a:r>
              <a:rPr lang="en-US" sz="1300" dirty="0">
                <a:solidFill>
                  <a:schemeClr val="accent4"/>
                </a:solidFill>
              </a:rPr>
              <a:t>Depends on the person</a:t>
            </a:r>
            <a:endParaRPr lang="en-US" sz="1300" dirty="0"/>
          </a:p>
        </p:txBody>
      </p:sp>
      <p:sp>
        <p:nvSpPr>
          <p:cNvPr id="30" name="Text 28"/>
          <p:cNvSpPr txBox="1"/>
          <p:nvPr/>
        </p:nvSpPr>
        <p:spPr>
          <a:xfrm>
            <a:off x="5029200" y="4114800"/>
            <a:ext cx="1691640" cy="585216"/>
          </a:xfrm>
          <a:prstGeom prst="rect">
            <a:avLst/>
          </a:prstGeom>
          <a:noFill/>
          <a:ln/>
        </p:spPr>
        <p:txBody>
          <a:bodyPr wrap="square" lIns="0" tIns="0" rIns="0" bIns="0" rtlCol="0" anchor="ctr"/>
          <a:lstStyle/>
          <a:p>
            <a:pPr indent="0" marL="0">
              <a:buNone/>
            </a:pPr>
            <a:r>
              <a:rPr lang="en-US" sz="1300" dirty="0">
                <a:solidFill>
                  <a:schemeClr val="accent4"/>
                </a:solidFill>
              </a:rPr>
              <a:t>Only what rules describe</a:t>
            </a:r>
            <a:endParaRPr lang="en-US" sz="1300" dirty="0"/>
          </a:p>
        </p:txBody>
      </p:sp>
      <p:sp>
        <p:nvSpPr>
          <p:cNvPr id="31" name="Text 29"/>
          <p:cNvSpPr txBox="1"/>
          <p:nvPr/>
        </p:nvSpPr>
        <p:spPr>
          <a:xfrm>
            <a:off x="6995160" y="4114800"/>
            <a:ext cx="1691640" cy="585216"/>
          </a:xfrm>
          <a:prstGeom prst="rect">
            <a:avLst/>
          </a:prstGeom>
          <a:noFill/>
          <a:ln/>
        </p:spPr>
        <p:txBody>
          <a:bodyPr wrap="square" lIns="0" tIns="0" rIns="0" bIns="0" rtlCol="0" anchor="ctr"/>
          <a:lstStyle/>
          <a:p>
            <a:pPr indent="0" marL="0">
              <a:buNone/>
            </a:pPr>
            <a:r>
              <a:rPr lang="en-US" sz="1300" dirty="0">
                <a:solidFill>
                  <a:schemeClr val="accent4"/>
                </a:solidFill>
              </a:rPr>
              <a:t>Varies by tool</a:t>
            </a:r>
            <a:endParaRPr lang="en-US" sz="1300" dirty="0"/>
          </a:p>
        </p:txBody>
      </p:sp>
      <p:sp>
        <p:nvSpPr>
          <p:cNvPr id="32" name="Us 3"/>
          <p:cNvSpPr txBox="1"/>
          <p:nvPr/>
        </p:nvSpPr>
        <p:spPr>
          <a:xfrm>
            <a:off x="8961120" y="4114800"/>
            <a:ext cx="2542032" cy="585216"/>
          </a:xfrm>
          <a:prstGeom prst="rect">
            <a:avLst/>
          </a:prstGeom>
          <a:noFill/>
          <a:ln/>
        </p:spPr>
        <p:txBody>
          <a:bodyPr wrap="square" lIns="0" tIns="0" rIns="0" bIns="0" rtlCol="0" anchor="ctr"/>
          <a:lstStyle/>
          <a:p>
            <a:pPr indent="0" marL="0">
              <a:buNone/>
            </a:pPr>
            <a:r>
              <a:rPr lang="en-US" sz="1300" b="1" dirty="0">
                <a:solidFill>
                  <a:schemeClr val="bg1"/>
                </a:solidFill>
              </a:rPr>
              <a:t>Anomaly detection</a:t>
            </a:r>
            <a:endParaRPr lang="en-US" sz="1300" dirty="0"/>
          </a:p>
        </p:txBody>
      </p:sp>
      <p:sp>
        <p:nvSpPr>
          <p:cNvPr id="33" name="Shape 31"/>
          <p:cNvSpPr/>
          <p:nvPr/>
        </p:nvSpPr>
        <p:spPr>
          <a:xfrm>
            <a:off x="548640" y="4736592"/>
            <a:ext cx="8229600" cy="0"/>
          </a:xfrm>
          <a:prstGeom prst="line">
            <a:avLst/>
          </a:prstGeom>
          <a:noFill/>
          <a:ln w="12700">
            <a:solidFill>
              <a:schemeClr val="accent5"/>
            </a:solidFill>
            <a:prstDash val="solid"/>
          </a:ln>
        </p:spPr>
      </p:sp>
      <p:sp>
        <p:nvSpPr>
          <p:cNvPr id="34" name="Text 32"/>
          <p:cNvSpPr txBox="1"/>
          <p:nvPr/>
        </p:nvSpPr>
        <p:spPr>
          <a:xfrm>
            <a:off x="548640" y="4754880"/>
            <a:ext cx="2240280" cy="585216"/>
          </a:xfrm>
          <a:prstGeom prst="rect">
            <a:avLst/>
          </a:prstGeom>
          <a:noFill/>
          <a:ln/>
        </p:spPr>
        <p:txBody>
          <a:bodyPr wrap="square" lIns="0" tIns="0" rIns="0" bIns="0" rtlCol="0" anchor="ctr"/>
          <a:lstStyle/>
          <a:p>
            <a:pPr indent="0" marL="0">
              <a:buNone/>
            </a:pPr>
            <a:r>
              <a:rPr lang="en-US" sz="1400" b="1" dirty="0">
                <a:solidFill>
                  <a:schemeClr val="tx1"/>
                </a:solidFill>
              </a:rPr>
              <a:t>Data</a:t>
            </a:r>
            <a:endParaRPr lang="en-US" sz="1400" dirty="0"/>
          </a:p>
        </p:txBody>
      </p:sp>
      <p:sp>
        <p:nvSpPr>
          <p:cNvPr id="35" name="Text 33"/>
          <p:cNvSpPr txBox="1"/>
          <p:nvPr/>
        </p:nvSpPr>
        <p:spPr>
          <a:xfrm>
            <a:off x="3063240" y="4754880"/>
            <a:ext cx="1691640" cy="585216"/>
          </a:xfrm>
          <a:prstGeom prst="rect">
            <a:avLst/>
          </a:prstGeom>
          <a:noFill/>
          <a:ln/>
        </p:spPr>
        <p:txBody>
          <a:bodyPr wrap="square" lIns="0" tIns="0" rIns="0" bIns="0" rtlCol="0" anchor="ctr"/>
          <a:lstStyle/>
          <a:p>
            <a:pPr indent="0" marL="0">
              <a:buNone/>
            </a:pPr>
            <a:r>
              <a:rPr lang="en-US" sz="1300" dirty="0">
                <a:solidFill>
                  <a:schemeClr val="accent4"/>
                </a:solidFill>
              </a:rPr>
              <a:t>Paper logs</a:t>
            </a:r>
            <a:endParaRPr lang="en-US" sz="1300" dirty="0"/>
          </a:p>
        </p:txBody>
      </p:sp>
      <p:sp>
        <p:nvSpPr>
          <p:cNvPr id="36" name="Text 34"/>
          <p:cNvSpPr txBox="1"/>
          <p:nvPr/>
        </p:nvSpPr>
        <p:spPr>
          <a:xfrm>
            <a:off x="5029200" y="4754880"/>
            <a:ext cx="1691640" cy="585216"/>
          </a:xfrm>
          <a:prstGeom prst="rect">
            <a:avLst/>
          </a:prstGeom>
          <a:noFill/>
          <a:ln/>
        </p:spPr>
        <p:txBody>
          <a:bodyPr wrap="square" lIns="0" tIns="0" rIns="0" bIns="0" rtlCol="0" anchor="ctr"/>
          <a:lstStyle/>
          <a:p>
            <a:pPr indent="0" marL="0">
              <a:buNone/>
            </a:pPr>
            <a:r>
              <a:rPr lang="en-US" sz="1300" dirty="0">
                <a:solidFill>
                  <a:schemeClr val="accent4"/>
                </a:solidFill>
              </a:rPr>
              <a:t>Pass / fail signal</a:t>
            </a:r>
            <a:endParaRPr lang="en-US" sz="1300" dirty="0"/>
          </a:p>
        </p:txBody>
      </p:sp>
      <p:sp>
        <p:nvSpPr>
          <p:cNvPr id="37" name="Text 35"/>
          <p:cNvSpPr txBox="1"/>
          <p:nvPr/>
        </p:nvSpPr>
        <p:spPr>
          <a:xfrm>
            <a:off x="6995160" y="4754880"/>
            <a:ext cx="1691640" cy="585216"/>
          </a:xfrm>
          <a:prstGeom prst="rect">
            <a:avLst/>
          </a:prstGeom>
          <a:noFill/>
          <a:ln/>
        </p:spPr>
        <p:txBody>
          <a:bodyPr wrap="square" lIns="0" tIns="0" rIns="0" bIns="0" rtlCol="0" anchor="ctr"/>
          <a:lstStyle/>
          <a:p>
            <a:pPr indent="0" marL="0">
              <a:buNone/>
            </a:pPr>
            <a:r>
              <a:rPr lang="en-US" sz="1300" dirty="0">
                <a:solidFill>
                  <a:schemeClr val="accent4"/>
                </a:solidFill>
              </a:rPr>
              <a:t>Pass / fail and images</a:t>
            </a:r>
            <a:endParaRPr lang="en-US" sz="1300" dirty="0"/>
          </a:p>
        </p:txBody>
      </p:sp>
      <p:sp>
        <p:nvSpPr>
          <p:cNvPr id="38" name="Us 4"/>
          <p:cNvSpPr txBox="1"/>
          <p:nvPr/>
        </p:nvSpPr>
        <p:spPr>
          <a:xfrm>
            <a:off x="8961120" y="4754880"/>
            <a:ext cx="2542032" cy="585216"/>
          </a:xfrm>
          <a:prstGeom prst="rect">
            <a:avLst/>
          </a:prstGeom>
          <a:noFill/>
          <a:ln/>
        </p:spPr>
        <p:txBody>
          <a:bodyPr wrap="square" lIns="0" tIns="0" rIns="0" bIns="0" rtlCol="0" anchor="ctr"/>
          <a:lstStyle/>
          <a:p>
            <a:pPr indent="0" marL="0">
              <a:buNone/>
            </a:pPr>
            <a:r>
              <a:rPr lang="en-US" sz="1300" b="1" dirty="0">
                <a:solidFill>
                  <a:schemeClr val="bg1"/>
                </a:solidFill>
              </a:rPr>
              <a:t>Dashboard, reports, AI advice</a:t>
            </a:r>
            <a:endParaRPr lang="en-US" sz="1300" dirty="0"/>
          </a:p>
        </p:txBody>
      </p:sp>
      <p:sp>
        <p:nvSpPr>
          <p:cNvPr id="39" name="Shape 37"/>
          <p:cNvSpPr/>
          <p:nvPr/>
        </p:nvSpPr>
        <p:spPr>
          <a:xfrm>
            <a:off x="548640" y="5376672"/>
            <a:ext cx="8229600" cy="0"/>
          </a:xfrm>
          <a:prstGeom prst="line">
            <a:avLst/>
          </a:prstGeom>
          <a:noFill/>
          <a:ln w="12700">
            <a:solidFill>
              <a:schemeClr val="accent5"/>
            </a:solidFill>
            <a:prstDash val="solid"/>
          </a:ln>
        </p:spPr>
      </p:sp>
      <p:sp>
        <p:nvSpPr>
          <p:cNvPr id="40" name="Text 38"/>
          <p:cNvSpPr txBox="1"/>
          <p:nvPr/>
        </p:nvSpPr>
        <p:spPr>
          <a:xfrm>
            <a:off x="548640" y="5394960"/>
            <a:ext cx="2240280" cy="585216"/>
          </a:xfrm>
          <a:prstGeom prst="rect">
            <a:avLst/>
          </a:prstGeom>
          <a:noFill/>
          <a:ln/>
        </p:spPr>
        <p:txBody>
          <a:bodyPr wrap="square" lIns="0" tIns="0" rIns="0" bIns="0" rtlCol="0" anchor="ctr"/>
          <a:lstStyle/>
          <a:p>
            <a:pPr indent="0" marL="0">
              <a:buNone/>
            </a:pPr>
            <a:r>
              <a:rPr lang="en-US" sz="1400" b="1" dirty="0">
                <a:solidFill>
                  <a:schemeClr val="tx1"/>
                </a:solidFill>
              </a:rPr>
              <a:t>Hardware</a:t>
            </a:r>
            <a:endParaRPr lang="en-US" sz="1400" dirty="0"/>
          </a:p>
        </p:txBody>
      </p:sp>
      <p:sp>
        <p:nvSpPr>
          <p:cNvPr id="41" name="Text 39"/>
          <p:cNvSpPr txBox="1"/>
          <p:nvPr/>
        </p:nvSpPr>
        <p:spPr>
          <a:xfrm>
            <a:off x="3063240" y="5394960"/>
            <a:ext cx="1691640" cy="585216"/>
          </a:xfrm>
          <a:prstGeom prst="rect">
            <a:avLst/>
          </a:prstGeom>
          <a:noFill/>
          <a:ln/>
        </p:spPr>
        <p:txBody>
          <a:bodyPr wrap="square" lIns="0" tIns="0" rIns="0" bIns="0" rtlCol="0" anchor="ctr"/>
          <a:lstStyle/>
          <a:p>
            <a:pPr indent="0" marL="0">
              <a:buNone/>
            </a:pPr>
            <a:r>
              <a:rPr lang="en-US" sz="1300" dirty="0">
                <a:solidFill>
                  <a:schemeClr val="accent4"/>
                </a:solidFill>
              </a:rPr>
              <a:t>—</a:t>
            </a:r>
            <a:endParaRPr lang="en-US" sz="1300" dirty="0"/>
          </a:p>
        </p:txBody>
      </p:sp>
      <p:sp>
        <p:nvSpPr>
          <p:cNvPr id="42" name="Text 40"/>
          <p:cNvSpPr txBox="1"/>
          <p:nvPr/>
        </p:nvSpPr>
        <p:spPr>
          <a:xfrm>
            <a:off x="5029200" y="5394960"/>
            <a:ext cx="1691640" cy="585216"/>
          </a:xfrm>
          <a:prstGeom prst="rect">
            <a:avLst/>
          </a:prstGeom>
          <a:noFill/>
          <a:ln/>
        </p:spPr>
        <p:txBody>
          <a:bodyPr wrap="square" lIns="0" tIns="0" rIns="0" bIns="0" rtlCol="0" anchor="ctr"/>
          <a:lstStyle/>
          <a:p>
            <a:pPr indent="0" marL="0">
              <a:buNone/>
            </a:pPr>
            <a:r>
              <a:rPr lang="en-US" sz="1300" dirty="0">
                <a:solidFill>
                  <a:schemeClr val="accent4"/>
                </a:solidFill>
              </a:rPr>
              <a:t>Integrator's choice</a:t>
            </a:r>
            <a:endParaRPr lang="en-US" sz="1300" dirty="0"/>
          </a:p>
        </p:txBody>
      </p:sp>
      <p:sp>
        <p:nvSpPr>
          <p:cNvPr id="43" name="Text 41"/>
          <p:cNvSpPr txBox="1"/>
          <p:nvPr/>
        </p:nvSpPr>
        <p:spPr>
          <a:xfrm>
            <a:off x="6995160" y="5394960"/>
            <a:ext cx="1691640" cy="585216"/>
          </a:xfrm>
          <a:prstGeom prst="rect">
            <a:avLst/>
          </a:prstGeom>
          <a:noFill/>
          <a:ln/>
        </p:spPr>
        <p:txBody>
          <a:bodyPr wrap="square" lIns="0" tIns="0" rIns="0" bIns="0" rtlCol="0" anchor="ctr"/>
          <a:lstStyle/>
          <a:p>
            <a:pPr indent="0" marL="0">
              <a:buNone/>
            </a:pPr>
            <a:r>
              <a:rPr lang="en-US" sz="1300" dirty="0">
                <a:solidFill>
                  <a:schemeClr val="accent4"/>
                </a:solidFill>
              </a:rPr>
              <a:t>Vendor's cameras</a:t>
            </a:r>
            <a:endParaRPr lang="en-US" sz="1300" dirty="0"/>
          </a:p>
        </p:txBody>
      </p:sp>
      <p:sp>
        <p:nvSpPr>
          <p:cNvPr id="44" name="Us 5"/>
          <p:cNvSpPr txBox="1"/>
          <p:nvPr/>
        </p:nvSpPr>
        <p:spPr>
          <a:xfrm>
            <a:off x="8961120" y="5394960"/>
            <a:ext cx="2542032" cy="585216"/>
          </a:xfrm>
          <a:prstGeom prst="rect">
            <a:avLst/>
          </a:prstGeom>
          <a:noFill/>
          <a:ln/>
        </p:spPr>
        <p:txBody>
          <a:bodyPr wrap="square" lIns="0" tIns="0" rIns="0" bIns="0" rtlCol="0" anchor="ctr"/>
          <a:lstStyle/>
          <a:p>
            <a:pPr indent="0" marL="0">
              <a:buNone/>
            </a:pPr>
            <a:r>
              <a:rPr lang="en-US" sz="1300" b="1" dirty="0">
                <a:solidFill>
                  <a:schemeClr val="bg1"/>
                </a:solidFill>
              </a:rPr>
              <a:t>Customized to your line</a:t>
            </a:r>
            <a:endParaRPr lang="en-US" sz="1300" dirty="0"/>
          </a:p>
        </p:txBody>
      </p:sp>
      <p:sp>
        <p:nvSpPr>
          <p:cNvPr id="45" name="Text 43"/>
          <p:cNvSpPr txBox="1"/>
          <p:nvPr/>
        </p:nvSpPr>
        <p:spPr>
          <a:xfrm>
            <a:off x="548640" y="6053328"/>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Click to reveal MetriQ. Typical market figures; projects vary.</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5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5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5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50"/>
                                        <p:tgtEl>
                                          <p:spTgt spid="2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50"/>
                                        <p:tgtEl>
                                          <p:spTgt spid="3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8"/>
                                        </p:tgtEl>
                                        <p:attrNameLst>
                                          <p:attrName>style.visibility</p:attrName>
                                        </p:attrNameLst>
                                      </p:cBhvr>
                                      <p:to>
                                        <p:strVal val="visible"/>
                                      </p:to>
                                    </p:set>
                                    <p:animEffect transition="in" filter="fade">
                                      <p:cBhvr>
                                        <p:cTn id="25" dur="450"/>
                                        <p:tgtEl>
                                          <p:spTgt spid="3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5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animBg="1"/>
      <p:bldP spid="14" grpId="0" animBg="1"/>
      <p:bldP spid="20" grpId="0" animBg="1"/>
      <p:bldP spid="26" grpId="0" animBg="1"/>
      <p:bldP spid="32" grpId="0" animBg="1"/>
      <p:bldP spid="38" grpId="0" animBg="1"/>
      <p:bldP spid="4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8229600" cy="274320"/>
          </a:xfrm>
          <a:prstGeom prst="rect">
            <a:avLst/>
          </a:prstGeom>
          <a:noFill/>
          <a:ln/>
        </p:spPr>
        <p:txBody>
          <a:bodyPr wrap="square" lIns="0" tIns="0" rIns="0" bIns="0" rtlCol="0"/>
          <a:lstStyle/>
          <a:p>
            <a:pPr indent="0" marL="0">
              <a:buNone/>
            </a:pPr>
            <a:r>
              <a:rPr lang="en-US" sz="1100" b="1" spc="300" kern="0" dirty="0">
                <a:solidFill>
                  <a:schemeClr val="accent1"/>
                </a:solidFill>
              </a:rPr>
              <a:t>REPORTING</a:t>
            </a:r>
            <a:endParaRPr lang="en-US" sz="1100" dirty="0"/>
          </a:p>
        </p:txBody>
      </p:sp>
      <p:sp>
        <p:nvSpPr>
          <p:cNvPr id="3" name="Text 1"/>
          <p:cNvSpPr/>
          <p:nvPr>
            <p:ph idx="102" type="title" hasCustomPrompt="1"/>
          </p:nvPr>
        </p:nvSpPr>
        <p:spPr>
          <a:xfrm>
            <a:off x="548640" y="713232"/>
            <a:ext cx="11094415" cy="731520"/>
          </a:xfrm>
          <a:prstGeom prst="rect">
            <a:avLst/>
          </a:prstGeom>
          <a:noFill/>
          <a:ln/>
        </p:spPr>
        <p:txBody>
          <a:bodyPr wrap="square" lIns="0" tIns="0" rIns="0" bIns="0" rtlCol="0" anchor="t"/>
          <a:lstStyle/>
          <a:p>
            <a:pPr algn="l" indent="0" marL="0">
              <a:buNone/>
            </a:pPr>
            <a:r>
              <a:rPr lang="en-US" sz="3600" b="1" dirty="0">
                <a:solidFill>
                  <a:schemeClr val="tx2"/>
                </a:solidFill>
              </a:rPr>
              <a:t>Every shift ends with a report</a:t>
            </a:r>
            <a:endParaRPr lang="en-US" sz="3600" dirty="0"/>
          </a:p>
        </p:txBody>
      </p:sp>
      <p:sp>
        <p:nvSpPr>
          <p:cNvPr id="4" name="Report frame 1"/>
          <p:cNvSpPr/>
          <p:nvPr/>
        </p:nvSpPr>
        <p:spPr>
          <a:xfrm>
            <a:off x="548640" y="1600200"/>
            <a:ext cx="3529584" cy="4663440"/>
          </a:xfrm>
          <a:prstGeom prst="roundRect">
            <a:avLst>
              <a:gd name="adj" fmla="val 3109"/>
            </a:avLst>
          </a:prstGeom>
          <a:solidFill>
            <a:schemeClr val="bg1"/>
          </a:solidFill>
          <a:ln w="12700">
            <a:solidFill>
              <a:schemeClr val="accent5"/>
            </a:solidFill>
            <a:prstDash val="solid"/>
          </a:ln>
        </p:spPr>
      </p:sp>
      <p:pic>
        <p:nvPicPr>
          <p:cNvPr id="5" name="Image 0" descr="Shift report page 1">    </p:cNvPr>
          <p:cNvPicPr>
            <a:picLocks noChangeAspect="1"/>
          </p:cNvPicPr>
          <p:nvPr/>
        </p:nvPicPr>
        <p:blipFill>
          <a:blip r:embed="rId1"/>
          <a:stretch>
            <a:fillRect/>
          </a:stretch>
        </p:blipFill>
        <p:spPr>
          <a:xfrm>
            <a:off x="667512" y="1664208"/>
            <a:ext cx="3291840" cy="4535424"/>
          </a:xfrm>
          <a:prstGeom prst="rect">
            <a:avLst/>
          </a:prstGeom>
        </p:spPr>
      </p:pic>
      <p:sp>
        <p:nvSpPr>
          <p:cNvPr id="6" name="Report frame 2"/>
          <p:cNvSpPr/>
          <p:nvPr/>
        </p:nvSpPr>
        <p:spPr>
          <a:xfrm>
            <a:off x="4261104" y="1600200"/>
            <a:ext cx="3529584" cy="4663440"/>
          </a:xfrm>
          <a:prstGeom prst="roundRect">
            <a:avLst>
              <a:gd name="adj" fmla="val 3109"/>
            </a:avLst>
          </a:prstGeom>
          <a:solidFill>
            <a:schemeClr val="bg1"/>
          </a:solidFill>
          <a:ln w="12700">
            <a:solidFill>
              <a:schemeClr val="accent5"/>
            </a:solidFill>
            <a:prstDash val="solid"/>
          </a:ln>
        </p:spPr>
      </p:sp>
      <p:pic>
        <p:nvPicPr>
          <p:cNvPr id="7" name="Image 1" descr="Shift report page 2">    </p:cNvPr>
          <p:cNvPicPr>
            <a:picLocks noChangeAspect="1"/>
          </p:cNvPicPr>
          <p:nvPr/>
        </p:nvPicPr>
        <p:blipFill>
          <a:blip r:embed="rId2"/>
          <a:stretch>
            <a:fillRect/>
          </a:stretch>
        </p:blipFill>
        <p:spPr>
          <a:xfrm>
            <a:off x="4379976" y="1664208"/>
            <a:ext cx="3291840" cy="4535424"/>
          </a:xfrm>
          <a:prstGeom prst="rect">
            <a:avLst/>
          </a:prstGeom>
        </p:spPr>
      </p:pic>
      <p:sp>
        <p:nvSpPr>
          <p:cNvPr id="8" name="Rep 0"/>
          <p:cNvSpPr txBox="1"/>
          <p:nvPr/>
        </p:nvSpPr>
        <p:spPr>
          <a:xfrm>
            <a:off x="8229600" y="1691640"/>
            <a:ext cx="3410712" cy="868680"/>
          </a:xfrm>
          <a:prstGeom prst="rect">
            <a:avLst/>
          </a:prstGeom>
          <a:noFill/>
          <a:ln/>
        </p:spPr>
        <p:txBody>
          <a:bodyPr wrap="square" lIns="0" tIns="0" rIns="0" bIns="0" rtlCol="0" anchor="t"/>
          <a:lstStyle/>
          <a:p>
            <a:pPr indent="0" marL="0">
              <a:buNone/>
            </a:pPr>
            <a:r>
              <a:rPr lang="en-US" sz="1500" b="1" dirty="0">
                <a:solidFill>
                  <a:schemeClr val="tx1"/>
                </a:solidFill>
              </a:rPr>
              <a:t>Counts and reject rate</a:t>
            </a:r>
            <a:endParaRPr lang="en-US" sz="1500" dirty="0"/>
          </a:p>
          <a:p>
            <a:pPr indent="0" marL="0">
              <a:buNone/>
            </a:pPr>
            <a:r>
              <a:rPr lang="en-US" sz="1500" dirty="0">
                <a:solidFill>
                  <a:schemeClr val="accent4"/>
                </a:solidFill>
              </a:rPr>
              <a:t>per hour.</a:t>
            </a:r>
            <a:endParaRPr lang="en-US" sz="1500" dirty="0"/>
          </a:p>
        </p:txBody>
      </p:sp>
      <p:sp>
        <p:nvSpPr>
          <p:cNvPr id="9" name="Rep 1"/>
          <p:cNvSpPr txBox="1"/>
          <p:nvPr/>
        </p:nvSpPr>
        <p:spPr>
          <a:xfrm>
            <a:off x="8229600" y="2679192"/>
            <a:ext cx="3410712" cy="868680"/>
          </a:xfrm>
          <a:prstGeom prst="rect">
            <a:avLst/>
          </a:prstGeom>
          <a:noFill/>
          <a:ln/>
        </p:spPr>
        <p:txBody>
          <a:bodyPr wrap="square" lIns="0" tIns="0" rIns="0" bIns="0" rtlCol="0" anchor="t"/>
          <a:lstStyle/>
          <a:p>
            <a:pPr indent="0" marL="0">
              <a:buNone/>
            </a:pPr>
            <a:r>
              <a:rPr lang="en-US" sz="1500" b="1" dirty="0">
                <a:solidFill>
                  <a:schemeClr val="tx1"/>
                </a:solidFill>
              </a:rPr>
              <a:t>Target against actual</a:t>
            </a:r>
            <a:endParaRPr lang="en-US" sz="1500" dirty="0"/>
          </a:p>
          <a:p>
            <a:pPr indent="0" marL="0">
              <a:buNone/>
            </a:pPr>
            <a:r>
              <a:rPr lang="en-US" sz="1500" dirty="0">
                <a:solidFill>
                  <a:schemeClr val="accent4"/>
                </a:solidFill>
              </a:rPr>
              <a:t>OK, Watch or Act for every check.</a:t>
            </a:r>
            <a:endParaRPr lang="en-US" sz="1500" dirty="0"/>
          </a:p>
        </p:txBody>
      </p:sp>
      <p:sp>
        <p:nvSpPr>
          <p:cNvPr id="10" name="Rep 2"/>
          <p:cNvSpPr txBox="1"/>
          <p:nvPr/>
        </p:nvSpPr>
        <p:spPr>
          <a:xfrm>
            <a:off x="8229600" y="3666744"/>
            <a:ext cx="3410712" cy="868680"/>
          </a:xfrm>
          <a:prstGeom prst="rect">
            <a:avLst/>
          </a:prstGeom>
          <a:noFill/>
          <a:ln/>
        </p:spPr>
        <p:txBody>
          <a:bodyPr wrap="square" lIns="0" tIns="0" rIns="0" bIns="0" rtlCol="0" anchor="t"/>
          <a:lstStyle/>
          <a:p>
            <a:pPr indent="0" marL="0">
              <a:buNone/>
            </a:pPr>
            <a:r>
              <a:rPr lang="en-US" sz="1500" b="1" dirty="0">
                <a:solidFill>
                  <a:schemeClr val="tx1"/>
                </a:solidFill>
              </a:rPr>
              <a:t>Cpk and drift per size</a:t>
            </a:r>
            <a:endParaRPr lang="en-US" sz="1500" dirty="0"/>
          </a:p>
          <a:p>
            <a:pPr indent="0" marL="0">
              <a:buNone/>
            </a:pPr>
            <a:r>
              <a:rPr lang="en-US" sz="1500" dirty="0">
                <a:solidFill>
                  <a:schemeClr val="accent4"/>
                </a:solidFill>
              </a:rPr>
              <a:t>fix the process, not just the part.</a:t>
            </a:r>
            <a:endParaRPr lang="en-US" sz="1500" dirty="0"/>
          </a:p>
        </p:txBody>
      </p:sp>
      <p:sp>
        <p:nvSpPr>
          <p:cNvPr id="11" name="Rep 3"/>
          <p:cNvSpPr txBox="1"/>
          <p:nvPr/>
        </p:nvSpPr>
        <p:spPr>
          <a:xfrm>
            <a:off x="8229600" y="4654296"/>
            <a:ext cx="3410712" cy="868680"/>
          </a:xfrm>
          <a:prstGeom prst="rect">
            <a:avLst/>
          </a:prstGeom>
          <a:noFill/>
          <a:ln/>
        </p:spPr>
        <p:txBody>
          <a:bodyPr wrap="square" lIns="0" tIns="0" rIns="0" bIns="0" rtlCol="0" anchor="t"/>
          <a:lstStyle/>
          <a:p>
            <a:pPr indent="0" marL="0">
              <a:buNone/>
            </a:pPr>
            <a:r>
              <a:rPr lang="en-US" sz="1500" b="1" dirty="0">
                <a:solidFill>
                  <a:schemeClr val="tx1"/>
                </a:solidFill>
              </a:rPr>
              <a:t>Recommendations</a:t>
            </a:r>
            <a:endParaRPr lang="en-US" sz="1500" dirty="0"/>
          </a:p>
          <a:p>
            <a:pPr indent="0" marL="0">
              <a:buNone/>
            </a:pPr>
            <a:r>
              <a:rPr lang="en-US" sz="1500" dirty="0">
                <a:solidFill>
                  <a:schemeClr val="accent4"/>
                </a:solidFill>
              </a:rPr>
              <a:t>ranked, with what to check.</a:t>
            </a:r>
            <a:endParaRPr lang="en-US" sz="1500" dirty="0"/>
          </a:p>
        </p:txBody>
      </p:sp>
      <p:sp>
        <p:nvSpPr>
          <p:cNvPr id="12" name="Text 8"/>
          <p:cNvSpPr txBox="1"/>
          <p:nvPr/>
        </p:nvSpPr>
        <p:spPr>
          <a:xfrm>
            <a:off x="8229600" y="5760720"/>
            <a:ext cx="3410712" cy="274320"/>
          </a:xfrm>
          <a:prstGeom prst="rect">
            <a:avLst/>
          </a:prstGeom>
          <a:noFill/>
          <a:ln/>
        </p:spPr>
        <p:txBody>
          <a:bodyPr wrap="square" lIns="0" tIns="0" rIns="0" bIns="0" rtlCol="0" anchor="ctr"/>
          <a:lstStyle/>
          <a:p>
            <a:pPr indent="0" marL="0">
              <a:buNone/>
            </a:pPr>
            <a:r>
              <a:rPr lang="en-US" sz="1000" dirty="0">
                <a:solidFill>
                  <a:schemeClr val="accent6"/>
                </a:solidFill>
              </a:rPr>
              <a:t>Sample data.</a:t>
            </a:r>
            <a:endParaRPr lang="en-US" sz="1000" dirty="0"/>
          </a:p>
        </p:txBody>
      </p:sp>
      <p:sp>
        <p:nvSpPr>
          <p:cNvPr id="13" name="Back link"/>
          <p:cNvSpPr txBox="1"/>
          <p:nvPr/>
        </p:nvSpPr>
        <p:spPr>
          <a:xfrm>
            <a:off x="8716975" y="6382512"/>
            <a:ext cx="2194560" cy="310896"/>
          </a:xfrm>
          <a:prstGeom prst="rect">
            <a:avLst/>
          </a:prstGeom>
          <a:noFill/>
          <a:ln/>
        </p:spPr>
        <p:txBody>
          <a:bodyPr wrap="square" lIns="0" tIns="0" rIns="0" bIns="0" rtlCol="0" anchor="ctr"/>
          <a:lstStyle/>
          <a:p>
            <a:pPr algn="r" indent="0" marL="0">
              <a:buNone/>
            </a:pPr>
            <a:r>
              <a:rPr lang="en-US" sz="1100" u="sng" dirty="0">
                <a:solidFill>
                  <a:schemeClr val="accent1"/>
                </a:solidFill>
                <a:hlinkClick r:id="rId3" action="ppaction://hlinksldjump" tooltip="Back to capabilities">
                  <a:extLst>
                    <a:ext uri="{A12FA001-AC4F-418D-AE19-62706E023703}">
                      <ahyp:hlinkClr xmlns:ahyp="http://schemas.microsoft.com/office/drawing/2018/hyperlinkcolor" val="tx"/>
                    </a:ext>
                  </a:extLst>
                </a:hlinkClick>
              </a:rPr>
              <a:t>← All capabilities</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par>
                                <p:cTn id="8" presetID="10" presetClass="entr" presetSubtype="0" fill="hold" grpId="0" nodeType="withEffect">
                                  <p:stCondLst>
                                    <p:cond delay="25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50"/>
                                        <p:tgtEl>
                                          <p:spTgt spid="9"/>
                                        </p:tgtEl>
                                      </p:cBhvr>
                                    </p:animEffect>
                                  </p:childTnLst>
                                </p:cTn>
                              </p:par>
                              <p:par>
                                <p:cTn id="11" presetID="10" presetClass="entr" presetSubtype="0" fill="hold" grpId="0" nodeType="withEffect">
                                  <p:stCondLst>
                                    <p:cond delay="50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50"/>
                                        <p:tgtEl>
                                          <p:spTgt spid="10"/>
                                        </p:tgtEl>
                                      </p:cBhvr>
                                    </p:animEffect>
                                  </p:childTnLst>
                                </p:cTn>
                              </p:par>
                              <p:par>
                                <p:cTn id="14" presetID="10" presetClass="entr" presetSubtype="0" fill="hold" grpId="0" nodeType="withEffect">
                                  <p:stCondLst>
                                    <p:cond delay="75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8229600" cy="274320"/>
          </a:xfrm>
          <a:prstGeom prst="rect">
            <a:avLst/>
          </a:prstGeom>
          <a:noFill/>
          <a:ln/>
        </p:spPr>
        <p:txBody>
          <a:bodyPr wrap="square" lIns="0" tIns="0" rIns="0" bIns="0" rtlCol="0"/>
          <a:lstStyle/>
          <a:p>
            <a:pPr indent="0" marL="0">
              <a:buNone/>
            </a:pPr>
            <a:r>
              <a:rPr lang="en-US" sz="1100" b="1" spc="300" kern="0" dirty="0">
                <a:solidFill>
                  <a:schemeClr val="accent1"/>
                </a:solidFill>
              </a:rPr>
              <a:t>CUSTOMIZATION</a:t>
            </a:r>
            <a:endParaRPr lang="en-US" sz="1100" dirty="0"/>
          </a:p>
        </p:txBody>
      </p:sp>
      <p:sp>
        <p:nvSpPr>
          <p:cNvPr id="3" name="Text 1"/>
          <p:cNvSpPr/>
          <p:nvPr>
            <p:ph idx="102" type="title" hasCustomPrompt="1"/>
          </p:nvPr>
        </p:nvSpPr>
        <p:spPr>
          <a:xfrm>
            <a:off x="548640" y="713232"/>
            <a:ext cx="11094415" cy="731520"/>
          </a:xfrm>
          <a:prstGeom prst="rect">
            <a:avLst/>
          </a:prstGeom>
          <a:noFill/>
          <a:ln/>
        </p:spPr>
        <p:txBody>
          <a:bodyPr wrap="square" lIns="0" tIns="0" rIns="0" bIns="0" rtlCol="0" anchor="t"/>
          <a:lstStyle/>
          <a:p>
            <a:pPr algn="l" indent="0" marL="0">
              <a:buNone/>
            </a:pPr>
            <a:r>
              <a:rPr lang="en-US" sz="3600" b="1" dirty="0">
                <a:solidFill>
                  <a:schemeClr val="tx2"/>
                </a:solidFill>
              </a:rPr>
              <a:t>Built around your line</a:t>
            </a:r>
            <a:endParaRPr lang="en-US" sz="3600" dirty="0"/>
          </a:p>
        </p:txBody>
      </p:sp>
      <p:sp>
        <p:nvSpPr>
          <p:cNvPr id="4" name="Cell frame"/>
          <p:cNvSpPr/>
          <p:nvPr/>
        </p:nvSpPr>
        <p:spPr>
          <a:xfrm>
            <a:off x="548640" y="1691640"/>
            <a:ext cx="5120640" cy="4206240"/>
          </a:xfrm>
          <a:prstGeom prst="roundRect">
            <a:avLst>
              <a:gd name="adj" fmla="val 2609"/>
            </a:avLst>
          </a:prstGeom>
          <a:solidFill>
            <a:schemeClr val="bg1"/>
          </a:solidFill>
          <a:ln w="12700">
            <a:solidFill>
              <a:schemeClr val="accent5"/>
            </a:solidFill>
            <a:prstDash val="solid"/>
          </a:ln>
        </p:spPr>
      </p:sp>
      <p:pic>
        <p:nvPicPr>
          <p:cNvPr id="5" name="Cell" descr="MetriQ inspection cell">    </p:cNvPr>
          <p:cNvPicPr>
            <a:picLocks noChangeAspect="1"/>
          </p:cNvPicPr>
          <p:nvPr/>
        </p:nvPicPr>
        <p:blipFill>
          <a:blip r:embed="rId1"/>
          <a:stretch>
            <a:fillRect/>
          </a:stretch>
        </p:blipFill>
        <p:spPr>
          <a:xfrm>
            <a:off x="777240" y="1828800"/>
            <a:ext cx="4663440" cy="3730752"/>
          </a:xfrm>
          <a:prstGeom prst="rect">
            <a:avLst/>
          </a:prstGeom>
        </p:spPr>
      </p:pic>
      <p:sp>
        <p:nvSpPr>
          <p:cNvPr id="6" name="Cus 0 dot"/>
          <p:cNvSpPr/>
          <p:nvPr/>
        </p:nvSpPr>
        <p:spPr>
          <a:xfrm>
            <a:off x="6172200" y="1783080"/>
            <a:ext cx="457200" cy="457200"/>
          </a:xfrm>
          <a:prstGeom prst="ellipse">
            <a:avLst/>
          </a:prstGeom>
          <a:solidFill>
            <a:schemeClr val="tx2"/>
          </a:solidFill>
          <a:ln/>
        </p:spPr>
      </p:sp>
      <p:pic>
        <p:nvPicPr>
          <p:cNvPr id="7" name="Cus 0 icon" descr="preencoded.png">    </p:cNvPr>
          <p:cNvPicPr>
            <a:picLocks noChangeAspect="1"/>
          </p:cNvPicPr>
          <p:nvPr/>
        </p:nvPicPr>
        <p:blipFill>
          <a:blip r:embed="rId2"/>
          <a:stretch>
            <a:fillRect/>
          </a:stretch>
        </p:blipFill>
        <p:spPr>
          <a:xfrm>
            <a:off x="6286500" y="1897380"/>
            <a:ext cx="228600" cy="228600"/>
          </a:xfrm>
          <a:prstGeom prst="rect">
            <a:avLst/>
          </a:prstGeom>
        </p:spPr>
      </p:pic>
      <p:sp>
        <p:nvSpPr>
          <p:cNvPr id="8" name="Cus 0 text"/>
          <p:cNvSpPr txBox="1"/>
          <p:nvPr/>
        </p:nvSpPr>
        <p:spPr>
          <a:xfrm>
            <a:off x="6812280" y="1737360"/>
            <a:ext cx="4846320" cy="777240"/>
          </a:xfrm>
          <a:prstGeom prst="rect">
            <a:avLst/>
          </a:prstGeom>
          <a:noFill/>
          <a:ln/>
        </p:spPr>
        <p:txBody>
          <a:bodyPr wrap="square" lIns="0" tIns="0" rIns="0" bIns="0" rtlCol="0" anchor="t"/>
          <a:lstStyle/>
          <a:p>
            <a:pPr indent="0" marL="0">
              <a:buNone/>
            </a:pPr>
            <a:r>
              <a:rPr lang="en-US" sz="1500" b="1" dirty="0">
                <a:solidFill>
                  <a:schemeClr val="tx2"/>
                </a:solidFill>
              </a:rPr>
              <a:t>Camera</a:t>
            </a:r>
            <a:endParaRPr lang="en-US" sz="1500" dirty="0"/>
          </a:p>
          <a:p>
            <a:pPr indent="0" marL="0">
              <a:buNone/>
            </a:pPr>
            <a:r>
              <a:rPr lang="en-US" sz="1500" dirty="0">
                <a:solidFill>
                  <a:schemeClr val="accent4"/>
                </a:solidFill>
              </a:rPr>
              <a:t>Line-scan, area-scan or 3D, for your part.</a:t>
            </a:r>
            <a:endParaRPr lang="en-US" sz="1500" dirty="0"/>
          </a:p>
        </p:txBody>
      </p:sp>
      <p:sp>
        <p:nvSpPr>
          <p:cNvPr id="9" name="Cus 1 dot"/>
          <p:cNvSpPr/>
          <p:nvPr/>
        </p:nvSpPr>
        <p:spPr>
          <a:xfrm>
            <a:off x="6172200" y="2624328"/>
            <a:ext cx="457200" cy="457200"/>
          </a:xfrm>
          <a:prstGeom prst="ellipse">
            <a:avLst/>
          </a:prstGeom>
          <a:solidFill>
            <a:schemeClr val="tx2"/>
          </a:solidFill>
          <a:ln/>
        </p:spPr>
      </p:sp>
      <p:pic>
        <p:nvPicPr>
          <p:cNvPr id="10" name="Cus 1 icon" descr="preencoded.png">    </p:cNvPr>
          <p:cNvPicPr>
            <a:picLocks noChangeAspect="1"/>
          </p:cNvPicPr>
          <p:nvPr/>
        </p:nvPicPr>
        <p:blipFill>
          <a:blip r:embed="rId3"/>
          <a:stretch>
            <a:fillRect/>
          </a:stretch>
        </p:blipFill>
        <p:spPr>
          <a:xfrm>
            <a:off x="6286500" y="2738628"/>
            <a:ext cx="228600" cy="228600"/>
          </a:xfrm>
          <a:prstGeom prst="rect">
            <a:avLst/>
          </a:prstGeom>
        </p:spPr>
      </p:pic>
      <p:sp>
        <p:nvSpPr>
          <p:cNvPr id="11" name="Cus 1 text"/>
          <p:cNvSpPr txBox="1"/>
          <p:nvPr/>
        </p:nvSpPr>
        <p:spPr>
          <a:xfrm>
            <a:off x="6812280" y="2578608"/>
            <a:ext cx="4846320" cy="777240"/>
          </a:xfrm>
          <a:prstGeom prst="rect">
            <a:avLst/>
          </a:prstGeom>
          <a:noFill/>
          <a:ln/>
        </p:spPr>
        <p:txBody>
          <a:bodyPr wrap="square" lIns="0" tIns="0" rIns="0" bIns="0" rtlCol="0" anchor="t"/>
          <a:lstStyle/>
          <a:p>
            <a:pPr indent="0" marL="0">
              <a:buNone/>
            </a:pPr>
            <a:r>
              <a:rPr lang="en-US" sz="1500" b="1" dirty="0">
                <a:solidFill>
                  <a:schemeClr val="tx2"/>
                </a:solidFill>
              </a:rPr>
              <a:t>Frame and lighting</a:t>
            </a:r>
            <a:endParaRPr lang="en-US" sz="1500" dirty="0"/>
          </a:p>
          <a:p>
            <a:pPr indent="0" marL="0">
              <a:buNone/>
            </a:pPr>
            <a:r>
              <a:rPr lang="en-US" sz="1500" dirty="0">
                <a:solidFill>
                  <a:schemeClr val="accent4"/>
                </a:solidFill>
              </a:rPr>
              <a:t>Sized to your conveyor. No line changes.</a:t>
            </a:r>
            <a:endParaRPr lang="en-US" sz="1500" dirty="0"/>
          </a:p>
        </p:txBody>
      </p:sp>
      <p:sp>
        <p:nvSpPr>
          <p:cNvPr id="12" name="Cus 2 dot"/>
          <p:cNvSpPr/>
          <p:nvPr/>
        </p:nvSpPr>
        <p:spPr>
          <a:xfrm>
            <a:off x="6172200" y="3465576"/>
            <a:ext cx="457200" cy="457200"/>
          </a:xfrm>
          <a:prstGeom prst="ellipse">
            <a:avLst/>
          </a:prstGeom>
          <a:solidFill>
            <a:schemeClr val="tx2"/>
          </a:solidFill>
          <a:ln/>
        </p:spPr>
      </p:sp>
      <p:pic>
        <p:nvPicPr>
          <p:cNvPr id="13" name="Cus 2 icon" descr="preencoded.png">    </p:cNvPr>
          <p:cNvPicPr>
            <a:picLocks noChangeAspect="1"/>
          </p:cNvPicPr>
          <p:nvPr/>
        </p:nvPicPr>
        <p:blipFill>
          <a:blip r:embed="rId4"/>
          <a:stretch>
            <a:fillRect/>
          </a:stretch>
        </p:blipFill>
        <p:spPr>
          <a:xfrm>
            <a:off x="6286500" y="3579876"/>
            <a:ext cx="228600" cy="228600"/>
          </a:xfrm>
          <a:prstGeom prst="rect">
            <a:avLst/>
          </a:prstGeom>
        </p:spPr>
      </p:pic>
      <p:sp>
        <p:nvSpPr>
          <p:cNvPr id="14" name="Cus 2 text"/>
          <p:cNvSpPr txBox="1"/>
          <p:nvPr/>
        </p:nvSpPr>
        <p:spPr>
          <a:xfrm>
            <a:off x="6812280" y="3419856"/>
            <a:ext cx="4846320" cy="777240"/>
          </a:xfrm>
          <a:prstGeom prst="rect">
            <a:avLst/>
          </a:prstGeom>
          <a:noFill/>
          <a:ln/>
        </p:spPr>
        <p:txBody>
          <a:bodyPr wrap="square" lIns="0" tIns="0" rIns="0" bIns="0" rtlCol="0" anchor="t"/>
          <a:lstStyle/>
          <a:p>
            <a:pPr indent="0" marL="0">
              <a:buNone/>
            </a:pPr>
            <a:r>
              <a:rPr lang="en-US" sz="1500" b="1" dirty="0">
                <a:solidFill>
                  <a:schemeClr val="tx2"/>
                </a:solidFill>
              </a:rPr>
              <a:t>Checks</a:t>
            </a:r>
            <a:endParaRPr lang="en-US" sz="1500" dirty="0"/>
          </a:p>
          <a:p>
            <a:pPr indent="0" marL="0">
              <a:buNone/>
            </a:pPr>
            <a:r>
              <a:rPr lang="en-US" sz="1500" dirty="0">
                <a:solidFill>
                  <a:schemeClr val="accent4"/>
                </a:solidFill>
              </a:rPr>
              <a:t>Your defects, tolerances and reject rules.</a:t>
            </a:r>
            <a:endParaRPr lang="en-US" sz="1500" dirty="0"/>
          </a:p>
        </p:txBody>
      </p:sp>
      <p:sp>
        <p:nvSpPr>
          <p:cNvPr id="15" name="Cus 3 dot"/>
          <p:cNvSpPr/>
          <p:nvPr/>
        </p:nvSpPr>
        <p:spPr>
          <a:xfrm>
            <a:off x="6172200" y="4306824"/>
            <a:ext cx="457200" cy="457200"/>
          </a:xfrm>
          <a:prstGeom prst="ellipse">
            <a:avLst/>
          </a:prstGeom>
          <a:solidFill>
            <a:schemeClr val="tx2"/>
          </a:solidFill>
          <a:ln/>
        </p:spPr>
      </p:sp>
      <p:pic>
        <p:nvPicPr>
          <p:cNvPr id="16" name="Cus 3 icon" descr="preencoded.png">    </p:cNvPr>
          <p:cNvPicPr>
            <a:picLocks noChangeAspect="1"/>
          </p:cNvPicPr>
          <p:nvPr/>
        </p:nvPicPr>
        <p:blipFill>
          <a:blip r:embed="rId5"/>
          <a:stretch>
            <a:fillRect/>
          </a:stretch>
        </p:blipFill>
        <p:spPr>
          <a:xfrm>
            <a:off x="6286500" y="4421124"/>
            <a:ext cx="228600" cy="228600"/>
          </a:xfrm>
          <a:prstGeom prst="rect">
            <a:avLst/>
          </a:prstGeom>
        </p:spPr>
      </p:pic>
      <p:sp>
        <p:nvSpPr>
          <p:cNvPr id="17" name="Cus 3 text"/>
          <p:cNvSpPr txBox="1"/>
          <p:nvPr/>
        </p:nvSpPr>
        <p:spPr>
          <a:xfrm>
            <a:off x="6812280" y="4261104"/>
            <a:ext cx="4846320" cy="777240"/>
          </a:xfrm>
          <a:prstGeom prst="rect">
            <a:avLst/>
          </a:prstGeom>
          <a:noFill/>
          <a:ln/>
        </p:spPr>
        <p:txBody>
          <a:bodyPr wrap="square" lIns="0" tIns="0" rIns="0" bIns="0" rtlCol="0" anchor="t"/>
          <a:lstStyle/>
          <a:p>
            <a:pPr indent="0" marL="0">
              <a:buNone/>
            </a:pPr>
            <a:r>
              <a:rPr lang="en-US" sz="1500" b="1" dirty="0">
                <a:solidFill>
                  <a:schemeClr val="tx2"/>
                </a:solidFill>
              </a:rPr>
              <a:t>Connection</a:t>
            </a:r>
            <a:endParaRPr lang="en-US" sz="1500" dirty="0"/>
          </a:p>
          <a:p>
            <a:pPr indent="0" marL="0">
              <a:buNone/>
            </a:pPr>
            <a:r>
              <a:rPr lang="en-US" sz="1500" dirty="0">
                <a:solidFill>
                  <a:schemeClr val="accent4"/>
                </a:solidFill>
              </a:rPr>
              <a:t>OPC UA, SQL, PLC reject signal, Excel.</a:t>
            </a:r>
            <a:endParaRPr lang="en-US" sz="1500" dirty="0"/>
          </a:p>
        </p:txBody>
      </p:sp>
      <p:sp>
        <p:nvSpPr>
          <p:cNvPr id="18" name="Cus 4 dot"/>
          <p:cNvSpPr/>
          <p:nvPr/>
        </p:nvSpPr>
        <p:spPr>
          <a:xfrm>
            <a:off x="6172200" y="5148072"/>
            <a:ext cx="457200" cy="457200"/>
          </a:xfrm>
          <a:prstGeom prst="ellipse">
            <a:avLst/>
          </a:prstGeom>
          <a:solidFill>
            <a:schemeClr val="tx2"/>
          </a:solidFill>
          <a:ln/>
        </p:spPr>
      </p:sp>
      <p:pic>
        <p:nvPicPr>
          <p:cNvPr id="19" name="Cus 4 icon" descr="preencoded.png">    </p:cNvPr>
          <p:cNvPicPr>
            <a:picLocks noChangeAspect="1"/>
          </p:cNvPicPr>
          <p:nvPr/>
        </p:nvPicPr>
        <p:blipFill>
          <a:blip r:embed="rId6"/>
          <a:stretch>
            <a:fillRect/>
          </a:stretch>
        </p:blipFill>
        <p:spPr>
          <a:xfrm>
            <a:off x="6286500" y="5262372"/>
            <a:ext cx="228600" cy="228600"/>
          </a:xfrm>
          <a:prstGeom prst="rect">
            <a:avLst/>
          </a:prstGeom>
        </p:spPr>
      </p:pic>
      <p:sp>
        <p:nvSpPr>
          <p:cNvPr id="20" name="Cus 4 text"/>
          <p:cNvSpPr txBox="1"/>
          <p:nvPr/>
        </p:nvSpPr>
        <p:spPr>
          <a:xfrm>
            <a:off x="6812280" y="5102352"/>
            <a:ext cx="4846320" cy="777240"/>
          </a:xfrm>
          <a:prstGeom prst="rect">
            <a:avLst/>
          </a:prstGeom>
          <a:noFill/>
          <a:ln/>
        </p:spPr>
        <p:txBody>
          <a:bodyPr wrap="square" lIns="0" tIns="0" rIns="0" bIns="0" rtlCol="0" anchor="t"/>
          <a:lstStyle/>
          <a:p>
            <a:pPr indent="0" marL="0">
              <a:buNone/>
            </a:pPr>
            <a:r>
              <a:rPr lang="en-US" sz="1500" b="1" dirty="0">
                <a:solidFill>
                  <a:schemeClr val="tx2"/>
                </a:solidFill>
              </a:rPr>
              <a:t>Compute</a:t>
            </a:r>
            <a:endParaRPr lang="en-US" sz="1500" dirty="0"/>
          </a:p>
          <a:p>
            <a:pPr indent="0" marL="0">
              <a:buNone/>
            </a:pPr>
            <a:r>
              <a:rPr lang="en-US" sz="1500" dirty="0">
                <a:solidFill>
                  <a:schemeClr val="accent4"/>
                </a:solidFill>
              </a:rPr>
              <a:t>GPU PC, industrial PC or Jetson edge.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5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50"/>
                                        <p:tgtEl>
                                          <p:spTgt spid="8"/>
                                        </p:tgtEl>
                                      </p:cBhvr>
                                    </p:animEffect>
                                  </p:childTnLst>
                                </p:cTn>
                              </p:par>
                              <p:par>
                                <p:cTn id="14" presetID="10" presetClass="entr" presetSubtype="0" fill="hold" grpId="0" nodeType="withEffect">
                                  <p:stCondLst>
                                    <p:cond delay="3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50"/>
                                        <p:tgtEl>
                                          <p:spTgt spid="9"/>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50"/>
                                        <p:tgtEl>
                                          <p:spTgt spid="10"/>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50"/>
                                        <p:tgtEl>
                                          <p:spTgt spid="11"/>
                                        </p:tgtEl>
                                      </p:cBhvr>
                                    </p:animEffect>
                                  </p:childTnLst>
                                </p:cTn>
                              </p:par>
                              <p:par>
                                <p:cTn id="23" presetID="10" presetClass="entr" presetSubtype="0" fill="hold" grpId="0" nodeType="withEffect">
                                  <p:stCondLst>
                                    <p:cond delay="60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450"/>
                                        <p:tgtEl>
                                          <p:spTgt spid="12"/>
                                        </p:tgtEl>
                                      </p:cBhvr>
                                    </p:animEffect>
                                  </p:childTnLst>
                                </p:cTn>
                              </p:par>
                              <p:par>
                                <p:cTn id="26" presetID="10" presetClass="entr" presetSubtype="0" fill="hold" grpId="0" nodeType="withEffect">
                                  <p:stCondLst>
                                    <p:cond delay="60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450"/>
                                        <p:tgtEl>
                                          <p:spTgt spid="13"/>
                                        </p:tgtEl>
                                      </p:cBhvr>
                                    </p:animEffect>
                                  </p:childTnLst>
                                </p:cTn>
                              </p:par>
                              <p:par>
                                <p:cTn id="29" presetID="10" presetClass="entr" presetSubtype="0" fill="hold" grpId="0" nodeType="withEffect">
                                  <p:stCondLst>
                                    <p:cond delay="60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50"/>
                                        <p:tgtEl>
                                          <p:spTgt spid="14"/>
                                        </p:tgtEl>
                                      </p:cBhvr>
                                    </p:animEffect>
                                  </p:childTnLst>
                                </p:cTn>
                              </p:par>
                              <p:par>
                                <p:cTn id="32" presetID="10" presetClass="entr" presetSubtype="0" fill="hold" grpId="0" nodeType="withEffect">
                                  <p:stCondLst>
                                    <p:cond delay="90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50"/>
                                        <p:tgtEl>
                                          <p:spTgt spid="15"/>
                                        </p:tgtEl>
                                      </p:cBhvr>
                                    </p:animEffect>
                                  </p:childTnLst>
                                </p:cTn>
                              </p:par>
                              <p:par>
                                <p:cTn id="35" presetID="10" presetClass="entr" presetSubtype="0" fill="hold" grpId="0" nodeType="withEffect">
                                  <p:stCondLst>
                                    <p:cond delay="90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50"/>
                                        <p:tgtEl>
                                          <p:spTgt spid="16"/>
                                        </p:tgtEl>
                                      </p:cBhvr>
                                    </p:animEffect>
                                  </p:childTnLst>
                                </p:cTn>
                              </p:par>
                              <p:par>
                                <p:cTn id="38" presetID="10" presetClass="entr" presetSubtype="0" fill="hold" grpId="0" nodeType="withEffect">
                                  <p:stCondLst>
                                    <p:cond delay="90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450"/>
                                        <p:tgtEl>
                                          <p:spTgt spid="17"/>
                                        </p:tgtEl>
                                      </p:cBhvr>
                                    </p:animEffect>
                                  </p:childTnLst>
                                </p:cTn>
                              </p:par>
                              <p:par>
                                <p:cTn id="41" presetID="10" presetClass="entr" presetSubtype="0" fill="hold" grpId="0" nodeType="withEffect">
                                  <p:stCondLst>
                                    <p:cond delay="120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450"/>
                                        <p:tgtEl>
                                          <p:spTgt spid="18"/>
                                        </p:tgtEl>
                                      </p:cBhvr>
                                    </p:animEffect>
                                  </p:childTnLst>
                                </p:cTn>
                              </p:par>
                              <p:par>
                                <p:cTn id="44" presetID="10" presetClass="entr" presetSubtype="0" fill="hold" grpId="0" nodeType="withEffect">
                                  <p:stCondLst>
                                    <p:cond delay="120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450"/>
                                        <p:tgtEl>
                                          <p:spTgt spid="19"/>
                                        </p:tgtEl>
                                      </p:cBhvr>
                                    </p:animEffect>
                                  </p:childTnLst>
                                </p:cTn>
                              </p:par>
                              <p:par>
                                <p:cTn id="47" presetID="10" presetClass="entr" presetSubtype="0" fill="hold" grpId="0" nodeType="withEffect">
                                  <p:stCondLst>
                                    <p:cond delay="120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1" grpId="0" animBg="1"/>
      <p:bldP spid="12" grpId="0" animBg="1"/>
      <p:bldP spid="14" grpId="0" animBg="1"/>
      <p:bldP spid="15" grpId="0" animBg="1"/>
      <p:bldP spid="17" grpId="0" animBg="1"/>
      <p:bldP spid="18" grpId="0" animBg="1"/>
      <p:bldP spid="2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Wordmark"/>
          <p:cNvSpPr txBox="1"/>
          <p:nvPr/>
        </p:nvSpPr>
        <p:spPr>
          <a:xfrm>
            <a:off x="548640" y="548640"/>
            <a:ext cx="3657600" cy="365760"/>
          </a:xfrm>
          <a:prstGeom prst="rect">
            <a:avLst/>
          </a:prstGeom>
          <a:noFill/>
          <a:ln/>
        </p:spPr>
        <p:txBody>
          <a:bodyPr wrap="square" lIns="0" tIns="0" rIns="0" bIns="0" rtlCol="0" anchor="ctr"/>
          <a:lstStyle/>
          <a:p>
            <a:pPr indent="0" marL="0">
              <a:buNone/>
            </a:pPr>
            <a:r>
              <a:rPr lang="en-US" sz="1400" b="1" spc="600" kern="0" dirty="0">
                <a:solidFill>
                  <a:schemeClr val="accent2"/>
                </a:solidFill>
              </a:rPr>
              <a:t>MT</a:t>
            </a:r>
            <a:pPr indent="0" marL="0">
              <a:buNone/>
            </a:pPr>
            <a:r>
              <a:rPr lang="en-US" sz="1400" b="1" spc="600" kern="0" dirty="0">
                <a:solidFill>
                  <a:schemeClr val="bg1"/>
                </a:solidFill>
              </a:rPr>
              <a:t>ROBOTIX</a:t>
            </a:r>
            <a:endParaRPr lang="en-US" sz="1400" dirty="0"/>
          </a:p>
        </p:txBody>
      </p:sp>
      <p:sp>
        <p:nvSpPr>
          <p:cNvPr id="3" name="Text 1"/>
          <p:cNvSpPr txBox="1"/>
          <p:nvPr/>
        </p:nvSpPr>
        <p:spPr>
          <a:xfrm>
            <a:off x="548640" y="1737360"/>
            <a:ext cx="6583680" cy="1463040"/>
          </a:xfrm>
          <a:prstGeom prst="rect">
            <a:avLst/>
          </a:prstGeom>
          <a:noFill/>
          <a:ln/>
        </p:spPr>
        <p:txBody>
          <a:bodyPr wrap="square" lIns="0" tIns="0" rIns="0" bIns="0" rtlCol="0" anchor="t"/>
          <a:lstStyle/>
          <a:p>
            <a:pPr indent="0" marL="0">
              <a:buNone/>
            </a:pPr>
            <a:r>
              <a:rPr lang="en-US" sz="4800" b="1" dirty="0">
                <a:solidFill>
                  <a:schemeClr val="bg1"/>
                </a:solidFill>
              </a:rPr>
              <a:t>See MetriQ on your product</a:t>
            </a:r>
            <a:endParaRPr lang="en-US" sz="4800" dirty="0"/>
          </a:p>
        </p:txBody>
      </p:sp>
      <p:sp>
        <p:nvSpPr>
          <p:cNvPr id="4" name="Text 2"/>
          <p:cNvSpPr txBox="1"/>
          <p:nvPr/>
        </p:nvSpPr>
        <p:spPr>
          <a:xfrm>
            <a:off x="548640" y="3291840"/>
            <a:ext cx="6400800" cy="457200"/>
          </a:xfrm>
          <a:prstGeom prst="rect">
            <a:avLst/>
          </a:prstGeom>
          <a:noFill/>
          <a:ln/>
        </p:spPr>
        <p:txBody>
          <a:bodyPr wrap="square" lIns="0" tIns="0" rIns="0" bIns="0" rtlCol="0" anchor="ctr"/>
          <a:lstStyle/>
          <a:p>
            <a:pPr indent="0" marL="0">
              <a:buNone/>
            </a:pPr>
            <a:r>
              <a:rPr lang="en-US" sz="2000" dirty="0">
                <a:solidFill>
                  <a:schemeClr val="accent5"/>
                </a:solidFill>
              </a:rPr>
              <a:t>A 30-minute demo on your parts.</a:t>
            </a:r>
            <a:endParaRPr lang="en-US" sz="2000" dirty="0"/>
          </a:p>
        </p:txBody>
      </p:sp>
      <p:pic>
        <p:nvPicPr>
          <p:cNvPr id="5" name="Image 0" descr="preencoded.png">    </p:cNvPr>
          <p:cNvPicPr>
            <a:picLocks noChangeAspect="1"/>
          </p:cNvPicPr>
          <p:nvPr/>
        </p:nvPicPr>
        <p:blipFill>
          <a:blip r:embed="rId1"/>
          <a:stretch>
            <a:fillRect/>
          </a:stretch>
        </p:blipFill>
        <p:spPr>
          <a:xfrm>
            <a:off x="548640" y="4297680"/>
            <a:ext cx="274320" cy="274320"/>
          </a:xfrm>
          <a:prstGeom prst="rect">
            <a:avLst/>
          </a:prstGeom>
        </p:spPr>
      </p:pic>
      <p:sp>
        <p:nvSpPr>
          <p:cNvPr id="6" name="Text 3"/>
          <p:cNvSpPr txBox="1"/>
          <p:nvPr/>
        </p:nvSpPr>
        <p:spPr>
          <a:xfrm>
            <a:off x="1005840" y="4251960"/>
            <a:ext cx="5943600" cy="365760"/>
          </a:xfrm>
          <a:prstGeom prst="rect">
            <a:avLst/>
          </a:prstGeom>
          <a:noFill/>
          <a:ln/>
        </p:spPr>
        <p:txBody>
          <a:bodyPr wrap="square" lIns="0" tIns="0" rIns="0" bIns="0" rtlCol="0" anchor="ctr"/>
          <a:lstStyle/>
          <a:p>
            <a:pPr indent="0" marL="0">
              <a:buNone/>
            </a:pPr>
            <a:r>
              <a:rPr lang="en-US" sz="1600" u="sng" dirty="0">
                <a:solidFill>
                  <a:schemeClr val="bg1"/>
                </a:solidFill>
                <a:hlinkClick r:id="rId2" invalidUrl="" action="" tgtFrame="" tooltip="" history="1" highlightClick="0" endSnd="0">
                  <a:extLst>
                    <a:ext uri="{A12FA001-AC4F-418D-AE19-62706E023703}">
                      <ahyp:hlinkClr xmlns:ahyp="http://schemas.microsoft.com/office/drawing/2018/hyperlinkcolor" val="tx"/>
                    </a:ext>
                  </a:extLst>
                </a:hlinkClick>
              </a:rPr>
              <a:t>mtrobotix@gmail.com</a:t>
            </a:r>
            <a:endParaRPr lang="en-US" sz="1600" dirty="0"/>
          </a:p>
        </p:txBody>
      </p:sp>
      <p:pic>
        <p:nvPicPr>
          <p:cNvPr id="7" name="Image 1" descr="preencoded.png">    </p:cNvPr>
          <p:cNvPicPr>
            <a:picLocks noChangeAspect="1"/>
          </p:cNvPicPr>
          <p:nvPr/>
        </p:nvPicPr>
        <p:blipFill>
          <a:blip r:embed="rId3"/>
          <a:stretch>
            <a:fillRect/>
          </a:stretch>
        </p:blipFill>
        <p:spPr>
          <a:xfrm>
            <a:off x="548640" y="4800600"/>
            <a:ext cx="274320" cy="274320"/>
          </a:xfrm>
          <a:prstGeom prst="rect">
            <a:avLst/>
          </a:prstGeom>
        </p:spPr>
      </p:pic>
      <p:sp>
        <p:nvSpPr>
          <p:cNvPr id="8" name="Text 4"/>
          <p:cNvSpPr txBox="1"/>
          <p:nvPr/>
        </p:nvSpPr>
        <p:spPr>
          <a:xfrm>
            <a:off x="1005840" y="4754880"/>
            <a:ext cx="5943600" cy="365760"/>
          </a:xfrm>
          <a:prstGeom prst="rect">
            <a:avLst/>
          </a:prstGeom>
          <a:noFill/>
          <a:ln/>
        </p:spPr>
        <p:txBody>
          <a:bodyPr wrap="square" lIns="0" tIns="0" rIns="0" bIns="0" rtlCol="0" anchor="ctr"/>
          <a:lstStyle/>
          <a:p>
            <a:pPr indent="0" marL="0">
              <a:buNone/>
            </a:pPr>
            <a:r>
              <a:rPr lang="en-US" sz="1600" dirty="0">
                <a:solidFill>
                  <a:schemeClr val="bg1"/>
                </a:solidFill>
              </a:rPr>
              <a:t>+84 835 760 735  ·  +1 905 924 5498</a:t>
            </a:r>
            <a:endParaRPr lang="en-US" sz="1600" dirty="0"/>
          </a:p>
        </p:txBody>
      </p:sp>
      <p:pic>
        <p:nvPicPr>
          <p:cNvPr id="9" name="Image 2" descr="preencoded.png">    </p:cNvPr>
          <p:cNvPicPr>
            <a:picLocks noChangeAspect="1"/>
          </p:cNvPicPr>
          <p:nvPr/>
        </p:nvPicPr>
        <p:blipFill>
          <a:blip r:embed="rId4"/>
          <a:stretch>
            <a:fillRect/>
          </a:stretch>
        </p:blipFill>
        <p:spPr>
          <a:xfrm>
            <a:off x="548640" y="5303520"/>
            <a:ext cx="274320" cy="274320"/>
          </a:xfrm>
          <a:prstGeom prst="rect">
            <a:avLst/>
          </a:prstGeom>
        </p:spPr>
      </p:pic>
      <p:sp>
        <p:nvSpPr>
          <p:cNvPr id="10" name="Text 5"/>
          <p:cNvSpPr txBox="1"/>
          <p:nvPr/>
        </p:nvSpPr>
        <p:spPr>
          <a:xfrm>
            <a:off x="1005840" y="5257800"/>
            <a:ext cx="5943600" cy="365760"/>
          </a:xfrm>
          <a:prstGeom prst="rect">
            <a:avLst/>
          </a:prstGeom>
          <a:noFill/>
          <a:ln/>
        </p:spPr>
        <p:txBody>
          <a:bodyPr wrap="square" lIns="0" tIns="0" rIns="0" bIns="0" rtlCol="0" anchor="ctr"/>
          <a:lstStyle/>
          <a:p>
            <a:pPr indent="0" marL="0">
              <a:buNone/>
            </a:pPr>
            <a:r>
              <a:rPr lang="en-US" sz="1600" u="sng" dirty="0">
                <a:solidFill>
                  <a:schemeClr val="bg1"/>
                </a:solidFill>
                <a:hlinkClick r:id="rId5" invalidUrl="" action="" tgtFrame="" tooltip="" history="1" highlightClick="0" endSnd="0">
                  <a:extLst>
                    <a:ext uri="{A12FA001-AC4F-418D-AE19-62706E023703}">
                      <ahyp:hlinkClr xmlns:ahyp="http://schemas.microsoft.com/office/drawing/2018/hyperlinkcolor" val="tx"/>
                    </a:ext>
                  </a:extLst>
                </a:hlinkClick>
              </a:rPr>
              <a:t>mtrobotix.com</a:t>
            </a:r>
            <a:endParaRPr lang="en-US" sz="1600" dirty="0"/>
          </a:p>
        </p:txBody>
      </p:sp>
      <p:pic>
        <p:nvPicPr>
          <p:cNvPr id="11" name="Image 3" descr="MTRobotix logo">    </p:cNvPr>
          <p:cNvPicPr>
            <a:picLocks noChangeAspect="1"/>
          </p:cNvPicPr>
          <p:nvPr/>
        </p:nvPicPr>
        <p:blipFill>
          <a:blip r:embed="rId6"/>
          <a:stretch>
            <a:fillRect/>
          </a:stretch>
        </p:blipFill>
        <p:spPr>
          <a:xfrm>
            <a:off x="8613648" y="1828800"/>
            <a:ext cx="2286000" cy="2286000"/>
          </a:xfrm>
          <a:prstGeom prst="rect">
            <a:avLst/>
          </a:prstGeom>
        </p:spPr>
      </p:pic>
      <p:sp>
        <p:nvSpPr>
          <p:cNvPr id="12" name="Text 6"/>
          <p:cNvSpPr txBox="1"/>
          <p:nvPr/>
        </p:nvSpPr>
        <p:spPr>
          <a:xfrm>
            <a:off x="7680960" y="4343400"/>
            <a:ext cx="4160520" cy="868680"/>
          </a:xfrm>
          <a:prstGeom prst="rect">
            <a:avLst/>
          </a:prstGeom>
          <a:noFill/>
          <a:ln/>
        </p:spPr>
        <p:txBody>
          <a:bodyPr wrap="square" lIns="0" tIns="0" rIns="0" bIns="0" rtlCol="0" anchor="ctr"/>
          <a:lstStyle/>
          <a:p>
            <a:pPr algn="ctr" indent="0" marL="0">
              <a:buNone/>
            </a:pPr>
            <a:r>
              <a:rPr lang="en-US" sz="5400" b="1" dirty="0">
                <a:solidFill>
                  <a:schemeClr val="bg1"/>
                </a:solidFill>
              </a:rPr>
              <a:t>MetriQ</a:t>
            </a:r>
            <a:endParaRPr lang="en-US" sz="5400" dirty="0"/>
          </a:p>
        </p:txBody>
      </p:sp>
      <p:sp>
        <p:nvSpPr>
          <p:cNvPr id="13" name="Text 7"/>
          <p:cNvSpPr txBox="1"/>
          <p:nvPr/>
        </p:nvSpPr>
        <p:spPr>
          <a:xfrm>
            <a:off x="548640" y="6035040"/>
            <a:ext cx="4572000" cy="274320"/>
          </a:xfrm>
          <a:prstGeom prst="rect">
            <a:avLst/>
          </a:prstGeom>
          <a:noFill/>
          <a:ln/>
        </p:spPr>
        <p:txBody>
          <a:bodyPr wrap="square" lIns="0" tIns="0" rIns="0" bIns="0" rtlCol="0" anchor="ctr"/>
          <a:lstStyle/>
          <a:p>
            <a:pPr indent="0" marL="0">
              <a:buNone/>
            </a:pPr>
            <a:r>
              <a:rPr lang="en-US" sz="1100" spc="200" kern="0" dirty="0">
                <a:solidFill>
                  <a:schemeClr val="accent6"/>
                </a:solidFill>
              </a:rPr>
              <a:t>Ho Chi Minh City  ·  Toronto</a:t>
            </a:r>
            <a:endParaRPr lang="en-US" sz="1100" dirty="0"/>
          </a:p>
        </p:txBody>
      </p:sp>
    </p:spTree>
  </p:cSld>
  <p:clrMapOvr>
    <a:masterClrMapping/>
  </p:clrMapOvr>
  <p:transition spd="med">
    <p:fade/>
  </p:transition>
</p:sld>
</file>

<file path=ppt/theme/theme1.xml><?xml version="1.0" encoding="utf-8"?>
<a:theme xmlns:a="http://schemas.openxmlformats.org/drawingml/2006/main" name="MTRobotix">
  <a:themeElements>
    <a:clrScheme name="MTRobotix">
      <a:dk1>
        <a:srgbClr val="17181A"/>
      </a:dk1>
      <a:lt1>
        <a:srgbClr val="FFFFFF"/>
      </a:lt1>
      <a:dk2>
        <a:srgbClr val="1D2D3D"/>
      </a:dk2>
      <a:lt2>
        <a:srgbClr val="F2F1EC"/>
      </a:lt2>
      <a:accent1>
        <a:srgbClr val="2F5D8A"/>
      </a:accent1>
      <a:accent2>
        <a:srgbClr val="E5463D"/>
      </a:accent2>
      <a:accent3>
        <a:srgbClr val="2F7D52"/>
      </a:accent3>
      <a:accent4>
        <a:srgbClr val="5B5D63"/>
      </a:accent4>
      <a:accent5>
        <a:srgbClr val="E6E4DC"/>
      </a:accent5>
      <a:accent6>
        <a:srgbClr val="8B8D92"/>
      </a:accent6>
      <a:hlink>
        <a:srgbClr val="2F5D8A"/>
      </a:hlink>
      <a:folHlink>
        <a:srgbClr val="1D2D3D"/>
      </a:folHlink>
    </a:clrScheme>
    <a:fontScheme name="MTRobotix">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MTRobotix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MetriQ — vision inspection by MTRobotix</dc:title>
  <dc:subject>PptxGenJS Presentation</dc:subject>
  <dc:creator>Thong Huynh, MTRobotix</dc:creator>
  <cp:lastModifiedBy>Thong Huynh, MTRobotix</cp:lastModifiedBy>
  <cp:revision>1</cp:revision>
  <dcterms:created xsi:type="dcterms:W3CDTF">2026-10-14T02:14:54Z</dcterms:created>
  <dcterms:modified xsi:type="dcterms:W3CDTF">2026-10-14T02:14:54Z</dcterms:modified>
</cp:coreProperties>
</file>