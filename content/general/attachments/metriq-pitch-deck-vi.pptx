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8364f4d-827c-fc8f-a4b7-3d89588adcd5}">
          <p14:sldIdLst>
            <p14:sldId id="256"/>
            <p14:sldId id="257"/>
          </p14:sldIdLst>
        </p14:section>
        <p14:section name="Capability" id="{64aef7c9-6270-6663-169c-63e0c7a7a3c9}">
          <p14:sldIdLst>
            <p14:sldId id="258"/>
            <p14:sldId id="259"/>
            <p14:sldId id="260"/>
            <p14:sldId id="261"/>
            <p14:sldId id="262"/>
            <p14:sldId id="263"/>
          </p14:sldIdLst>
        </p14:section>
        <p14:section name="Why MetriQ" id="{ec0e4557-dab9-8235-72a3-96ab67d5cb30}">
          <p14:sldIdLst>
            <p14:sldId id="264"/>
            <p14:sldId id="265"/>
            <p14:sldId id="266"/>
            <p14:sldId id="267"/>
          </p14:sldIdLst>
        </p14:section>
        <p14:section name="Your line" id="{dd72a709-73de-956f-9250-b25031025209}">
          <p14:sldIdLst>
            <p14:sldId id="268"/>
          </p14:sldIdLst>
        </p14:section>
        <p14:section name="Next" id="{5b775e30-9d7d-d1eb-efd8-8b74683e5070}">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2D3D"/>
                </a:solidFill>
                <a:latin typeface="+mn-lt"/>
              </a:defRPr>
            </a:pPr>
            <a:r>
              <a:rPr sz="1300" b="0" i="0" u="none" strike="noStrike">
                <a:solidFill>
                  <a:srgbClr val="1D2D3D"/>
                </a:solidFill>
                <a:latin typeface="+mn-lt"/>
              </a:rPr>
              <a:t>Màu so với vàng loại A, ΔE (một ca)</a:t>
            </a:r>
          </a:p>
        </c:rich>
      </c:tx>
      <c:layout/>
      <c:overlay val="0"/>
    </c:title>
    <c:autoTitleDeleted val="0"/>
    <c:plotArea>
      <c:layout/>
      <c:barChart>
        <c:barDir val="col"/>
        <c:grouping val="clustered"/>
        <c:varyColors val="0"/>
        <c:ser>
          <c:idx val="0"/>
          <c:order val="0"/>
          <c:tx>
            <c:strRef>
              <c:f>Sheet1!$B$1</c:f>
              <c:strCache>
                <c:ptCount val="1"/>
                <c:pt idx="0">
                  <c:v>Chanh</c:v>
                </c:pt>
              </c:strCache>
            </c:strRef>
          </c:tx>
          <c:spPr>
            <a:solidFill>
              <a:srgbClr val="E9C46A"/>
            </a:solidFill>
            <a:effectLst/>
          </c:spPr>
          <c:invertIfNegative val="0"/>
          <c:dLbls>
            <c:numFmt formatCode="#,##0" sourceLinked="0"/>
            <c:txPr>
              <a:bodyPr/>
              <a:lstStyle/>
              <a:p>
                <a:pPr>
                  <a:defRPr b="0" i="0" strike="noStrike" sz="1100" u="none">
                    <a:solidFill>
                      <a:srgbClr val="17181A"/>
                    </a:solidFill>
                    <a:latin typeface="+mn-lt"/>
                  </a:defRPr>
                </a:pPr>
              </a:p>
            </c:txPr>
            <c:showLegendKey val="0"/>
            <c:showVal val="1"/>
            <c:showCatName val="0"/>
            <c:showSerName val="0"/>
            <c:showPercent val="0"/>
            <c:showBubbleSize val="0"/>
            <c:showLeaderLines val="0"/>
          </c:dLbls>
          <c:dPt>
            <c:idx val="0"/>
            <c:invertIfNegative val="0"/>
            <c:bubble3D val="0"/>
            <c:spPr>
              <a:solidFill>
                <a:srgbClr val="E9C46A"/>
              </a:solidFill>
              <a:effectLst/>
            </c:spPr>
          </c:dPt>
          <c:dPt>
            <c:idx val="1"/>
            <c:invertIfNegative val="0"/>
            <c:bubble3D val="0"/>
            <c:spPr>
              <a:solidFill>
                <a:srgbClr val="E9C46A"/>
              </a:solidFill>
              <a:effectLst/>
            </c:spPr>
          </c:dPt>
          <c:dPt>
            <c:idx val="2"/>
            <c:invertIfNegative val="0"/>
            <c:bubble3D val="0"/>
            <c:spPr>
              <a:solidFill>
                <a:srgbClr val="E9C46A"/>
              </a:solidFill>
              <a:effectLst/>
            </c:spPr>
          </c:dPt>
          <c:dPt>
            <c:idx val="3"/>
            <c:invertIfNegative val="0"/>
            <c:bubble3D val="0"/>
            <c:spPr>
              <a:solidFill>
                <a:srgbClr val="D4B85A"/>
              </a:solidFill>
              <a:effectLst/>
            </c:spPr>
          </c:dPt>
          <c:dPt>
            <c:idx val="4"/>
            <c:invertIfNegative val="0"/>
            <c:bubble3D val="0"/>
            <c:spPr>
              <a:solidFill>
                <a:srgbClr val="7FA35A"/>
              </a:solidFill>
              <a:effectLst/>
            </c:spPr>
          </c:dPt>
          <c:cat>
            <c:multiLvlStrRef>
              <c:f>Sheet1!$A$2:$A$6</c:f>
              <c:multiLvlStrCache>
                <c:ptCount val="5"/>
                <c:lvl>
                  <c:pt idx="0">
                    <c:v>0–2</c:v>
                  </c:pt>
                  <c:pt idx="1">
                    <c:v>2–4</c:v>
                  </c:pt>
                  <c:pt idx="2">
                    <c:v>4–6</c:v>
                  </c:pt>
                  <c:pt idx="3">
                    <c:v>6–8</c:v>
                  </c:pt>
                  <c:pt idx="4">
                    <c:v>&gt; 8</c:v>
                  </c:pt>
                </c:lvl>
              </c:multiLvlStrCache>
            </c:multiLvlStrRef>
          </c:cat>
          <c:val>
            <c:numRef>
              <c:f>Sheet1!$B$2:$B$6</c:f>
              <c:numCache>
                <c:formatCode>General</c:formatCode>
                <c:ptCount val="5"/>
                <c:pt idx="0">
                  <c:v>6850</c:v>
                </c:pt>
                <c:pt idx="1">
                  <c:v>17420</c:v>
                </c:pt>
                <c:pt idx="2">
                  <c:v>16890</c:v>
                </c:pt>
                <c:pt idx="3">
                  <c:v>7252</c:v>
                </c:pt>
                <c:pt idx="4">
                  <c:v>548</c:v>
                </c:pt>
              </c:numCache>
            </c:numRef>
          </c:val>
        </c:ser>
        <c:dLbls>
          <c:numFmt formatCode="#,##0" sourceLinked="0"/>
          <c:txPr>
            <a:bodyPr/>
            <a:lstStyle/>
            <a:p>
              <a:pPr>
                <a:defRPr b="0" i="0" strike="noStrike" sz="1100" u="none">
                  <a:solidFill>
                    <a:srgbClr val="17181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5D63"/>
                </a:solidFill>
                <a:latin typeface="+mn-lt"/>
              </a:defRPr>
            </a:pPr>
            <a:endParaRPr lang="vi-VN"/>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vi-VN"/>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Tôi là Thong Huynh, nhà sáng lập MTRobotix. MetriQ lắp phía trên băng tải bạn đang chạy, vận hành sau vài giờ và phát hiện lỗi ngay khi sản phẩm đi qua.</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1</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Một vòng: camera kiểm tra từng sản phẩm, phân loại, và bộ đẩy tùy chọn loại bỏ hàng lỗi. MetriQ cũng có thể điều khiển hệ thống loại bỏ sẵn có của khách hàng.</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2</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Năng suất, lỗi nhỏ nhất, tỷ lệ phát hiện, thời gian đến khi vận hành.</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3</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Một khung hình camera với nhiều loại chi tiết lẫn lộn: MetriQ đếm và nhận diện từng chi tiết, đo từng con vít, kiểm tra màu lớp hoàn thiện, tìm hai bu lông gãy và chi tiết nằm sai hướng, đánh dấu tụ điện chưa từng được dạy, và đưa ra kết luận. Kết quả đo được vẽ minh họa trên ảnh thật.</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4</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Từ trên xuống, MetriQ đếm các thùng, kiểm tra chiều dài, chiều rộng và màu nhãn. Sau đó góc nhìn chuyển sang 3D: kiểm tra chiều cao, tìm góc bị móp qua chiều cao, và đưa ra kết luận.</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5</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Video thật từ dây chuyền của khách hàng. Khâu cài đặt chỉ là đặt tên sản phẩm. Mỗi sản phẩm có một ID nên chỉ được đếm một lần. Cách này áp dụng cho mọi sản phẩm.</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6</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Màu được đo trong hệ CIELAB so với mẫu chuẩn đã hiệu chuẩn, nên kết quả phân loại là một con số, không phải cảm nhận.</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7</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MetriQ cho người giám sát biết thông số nào đang sai lệch và cần kiểm tra gì, trước khi sản phẩm bắt đầu lỗi.</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8</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Góc dưới bên trái là nhanh hơn và rẻ hơn. Một trạm do nhà tích hợp xây dựng mất vài tuần đến vài tháng và $30k–150k trong năm đầu; nền tảng thị giác AI mất 1–4 tuần và khoảng $16k–87k. MetriQ do chúng tôi lắp đặt và vận hành ngay trong ngày, không có phí tích hợp.</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9</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Chúng tôi gắn camera phía trên dây chuyền đang chạy, hiệu chuẩn tỷ lệ, màu sắc và ánh sáng, dạy MetriQ bằng vài ảnh mẫu, và hệ thống vận hành, báo cáo ngay trong ngày.</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10</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Giới thiệu ba cột trước, rồi nhấp để hiện MetriQ.</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11</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Báo cáo ca MetriQ tạo từ cùng số liệu với màn hình Đo lường. Dữ liệu mẫu cho một dây chuyền phân loại chanh.</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12</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Mỗi hệ thống MetriQ được cấu hình theo sản phẩm, băng tải và hệ thống nhà máy của khách hàng.</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13</a:t>
            </a:fld>
            <a:endParaRPr lang="vi-VN"/>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Kết thúc bằng lời mời: demo trên sản phẩm của khách hàng. Đề xuất hai ngày.</a:t>
            </a:r>
            <a:endParaRPr lang="vi-VN" dirty="0"/>
          </a:p>
        </p:txBody>
      </p:sp>
      <p:sp>
        <p:nvSpPr>
          <p:cNvPr id="4" name="Slide Number Placeholder 3"/>
          <p:cNvSpPr>
            <a:spLocks noGrp="1"/>
          </p:cNvSpPr>
          <p:nvPr>
            <p:ph type="sldNum" sz="quarter" idx="10"/>
          </p:nvPr>
        </p:nvSpPr>
        <p:spPr/>
        <p:txBody>
          <a:bodyPr/>
          <a:lstStyle/>
          <a:p>
            <a:fld id="{F7021451-1387-4CA6-816F-3879F97B5CBC}" type="slidenum">
              <a:rPr lang="vi-VN"/>
              <a:t>14</a:t>
            </a:fld>
            <a:endParaRPr lang="vi-VN"/>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spc="200" kern="0" dirty="0">
                <a:solidFill>
                  <a:schemeClr val="accent6"/>
                </a:solidFill>
              </a:rPr>
              <a:t>MTROBOTIX  ·  MetriQ</a:t>
            </a:r>
            <a:endParaRPr lang="en-US" sz="1000" dirty="0"/>
          </a:p>
        </p:txBody>
      </p:sp>
      <p:sp>
        <p:nvSpPr>
          <p:cNvPr id="3" name="Text 1"/>
          <p:cNvSpPr/>
          <p:nvPr>
            <p:ph idx="101" type="body" hasCustomPrompt="1"/>
          </p:nvPr>
        </p:nvSpPr>
        <p:spPr>
          <a:xfrm>
            <a:off x="548640" y="411480"/>
            <a:ext cx="8229600" cy="274320"/>
          </a:xfrm>
          <a:prstGeom prst="rect">
            <a:avLst/>
          </a:prstGeom>
          <a:noFill/>
          <a:ln/>
        </p:spPr>
        <p:txBody>
          <a:bodyPr wrap="square" rtlCol="0"/>
          <a:lstStyle>
            <a:lvl1pPr indent="0" marL="0">
              <a:buNone/>
              <a:defRPr lang="en-US" sz="1100" b="1" spc="300" kern="0" dirty="0">
                <a:solidFill>
                  <a:schemeClr val="accent1"/>
                </a:solidFill>
              </a:defRPr>
            </a:lvl1pPr>
          </a:lstStyle>
          <a:p>
            <a:pPr indent="0" marL="0">
              <a:buNone/>
            </a:pPr>
            <a:endParaRPr lang="en-US" sz="1100" dirty="0"/>
          </a:p>
        </p:txBody>
      </p:sp>
      <p:sp>
        <p:nvSpPr>
          <p:cNvPr id="4" name="Text 1"/>
          <p:cNvSpPr/>
          <p:nvPr>
            <p:ph idx="102" type="title" hasCustomPrompt="1"/>
          </p:nvPr>
        </p:nvSpPr>
        <p:spPr>
          <a:xfrm>
            <a:off x="548640" y="713232"/>
            <a:ext cx="11094415" cy="7315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slide" Target="slide4.xml"/><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4" Type="http://schemas.openxmlformats.org/officeDocument/2006/relationships/slide" Target="slide4.xml"/><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chart" Target="/ppt/charts/chart1.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image" Target="../media/image-8-1.jp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 Target="slide4.xm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mailto:mtrobotix@gmail.com" TargetMode="External"/><Relationship Id="rId5" Type="http://schemas.openxmlformats.org/officeDocument/2006/relationships/hyperlink" Target="https://www.mtrobotix.com" TargetMode="External"/><Relationship Id="rId1"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6" Type="http://schemas.openxmlformats.org/officeDocument/2006/relationships/image" Target="../media/image-14-4.pn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Wordmark"/>
          <p:cNvSpPr txBox="1"/>
          <p:nvPr/>
        </p:nvSpPr>
        <p:spPr>
          <a:xfrm>
            <a:off x="548640" y="548640"/>
            <a:ext cx="3657600" cy="365760"/>
          </a:xfrm>
          <a:prstGeom prst="rect">
            <a:avLst/>
          </a:prstGeom>
          <a:noFill/>
          <a:ln/>
        </p:spPr>
        <p:txBody>
          <a:bodyPr wrap="square" lIns="0" tIns="0" rIns="0" bIns="0" rtlCol="0" anchor="ctr"/>
          <a:lstStyle/>
          <a:p>
            <a:pPr indent="0" marL="0">
              <a:buNone/>
            </a:pPr>
            <a:r>
              <a:rPr lang="vi-VN" sz="1400" b="1" spc="600" kern="0" dirty="0">
                <a:solidFill>
                  <a:schemeClr val="accent2"/>
                </a:solidFill>
              </a:rPr>
              <a:t>MT</a:t>
            </a:r>
            <a:pPr indent="0" marL="0">
              <a:buNone/>
            </a:pPr>
            <a:r>
              <a:rPr lang="vi-VN" sz="1400" b="1" spc="600" kern="0" dirty="0">
                <a:solidFill>
                  <a:schemeClr val="bg1"/>
                </a:solidFill>
              </a:rPr>
              <a:t>ROBOTIX</a:t>
            </a:r>
            <a:endParaRPr lang="vi-VN" sz="1400" dirty="0"/>
          </a:p>
        </p:txBody>
      </p:sp>
      <p:sp>
        <p:nvSpPr>
          <p:cNvPr id="3" name="Product"/>
          <p:cNvSpPr txBox="1"/>
          <p:nvPr/>
        </p:nvSpPr>
        <p:spPr>
          <a:xfrm>
            <a:off x="548640" y="1828800"/>
            <a:ext cx="5486400" cy="1188720"/>
          </a:xfrm>
          <a:prstGeom prst="rect">
            <a:avLst/>
          </a:prstGeom>
          <a:noFill/>
          <a:ln/>
        </p:spPr>
        <p:txBody>
          <a:bodyPr wrap="square" lIns="0" tIns="0" rIns="0" bIns="0" rtlCol="0" anchor="ctr"/>
          <a:lstStyle/>
          <a:p>
            <a:pPr indent="0" marL="0">
              <a:buNone/>
            </a:pPr>
            <a:r>
              <a:rPr lang="vi-VN" sz="8000" b="1" dirty="0">
                <a:solidFill>
                  <a:schemeClr val="bg1"/>
                </a:solidFill>
              </a:rPr>
              <a:t>MetriQ</a:t>
            </a:r>
            <a:endParaRPr lang="vi-VN" sz="8000" dirty="0"/>
          </a:p>
        </p:txBody>
      </p:sp>
      <p:sp>
        <p:nvSpPr>
          <p:cNvPr id="4" name="Lead"/>
          <p:cNvSpPr txBox="1"/>
          <p:nvPr/>
        </p:nvSpPr>
        <p:spPr>
          <a:xfrm>
            <a:off x="548640" y="3108960"/>
            <a:ext cx="5486400" cy="1005840"/>
          </a:xfrm>
          <a:prstGeom prst="rect">
            <a:avLst/>
          </a:prstGeom>
          <a:noFill/>
          <a:ln/>
        </p:spPr>
        <p:txBody>
          <a:bodyPr wrap="square" lIns="0" tIns="0" rIns="0" bIns="0" rtlCol="0" anchor="t"/>
          <a:lstStyle/>
          <a:p>
            <a:pPr indent="0" marL="0">
              <a:buNone/>
            </a:pPr>
            <a:r>
              <a:rPr lang="vi-VN" sz="2600" dirty="0">
                <a:solidFill>
                  <a:schemeClr val="bg1"/>
                </a:solidFill>
              </a:rPr>
              <a:t>Lắp đặt trong vài giờ.</a:t>
            </a:r>
            <a:endParaRPr lang="vi-VN" sz="2600" dirty="0"/>
          </a:p>
          <a:p>
            <a:pPr indent="0" marL="0">
              <a:buNone/>
            </a:pPr>
            <a:r>
              <a:rPr lang="vi-VN" sz="2600" dirty="0">
                <a:solidFill>
                  <a:schemeClr val="bg1"/>
                </a:solidFill>
              </a:rPr>
              <a:t>Không dừng dây chuyền.</a:t>
            </a:r>
            <a:endParaRPr lang="vi-VN" sz="2600" dirty="0"/>
          </a:p>
        </p:txBody>
      </p:sp>
      <p:sp>
        <p:nvSpPr>
          <p:cNvPr id="5" name="Sub"/>
          <p:cNvSpPr txBox="1"/>
          <p:nvPr/>
        </p:nvSpPr>
        <p:spPr>
          <a:xfrm>
            <a:off x="548640" y="4389120"/>
            <a:ext cx="5486400" cy="457200"/>
          </a:xfrm>
          <a:prstGeom prst="rect">
            <a:avLst/>
          </a:prstGeom>
          <a:noFill/>
          <a:ln/>
        </p:spPr>
        <p:txBody>
          <a:bodyPr wrap="square" lIns="0" tIns="0" rIns="0" bIns="0" rtlCol="0" anchor="ctr"/>
          <a:lstStyle/>
          <a:p>
            <a:pPr indent="0" marL="0">
              <a:buNone/>
            </a:pPr>
            <a:r>
              <a:rPr lang="vi-VN" sz="1800" b="1" dirty="0">
                <a:solidFill>
                  <a:schemeClr val="accent2"/>
                </a:solidFill>
              </a:rPr>
              <a:t>Phát hiện mọi lỗi, ngay lập tức.</a:t>
            </a:r>
            <a:endParaRPr lang="vi-VN" sz="1800" dirty="0"/>
          </a:p>
        </p:txBody>
      </p:sp>
      <p:sp>
        <p:nvSpPr>
          <p:cNvPr id="6" name="Hero frame"/>
          <p:cNvSpPr/>
          <p:nvPr/>
        </p:nvSpPr>
        <p:spPr>
          <a:xfrm>
            <a:off x="6309360" y="822960"/>
            <a:ext cx="5349240" cy="5212080"/>
          </a:xfrm>
          <a:prstGeom prst="roundRect">
            <a:avLst>
              <a:gd name="adj" fmla="val 3158"/>
            </a:avLst>
          </a:prstGeom>
          <a:solidFill>
            <a:schemeClr val="bg1"/>
          </a:solidFill>
          <a:ln/>
        </p:spPr>
      </p:sp>
      <p:pic>
        <p:nvPicPr>
          <p:cNvPr id="7" name="MetriQ cell" descr="Trạm kiểm tra MetriQ: đầu camera gắn phía trên băng tải">    </p:cNvPr>
          <p:cNvPicPr>
            <a:picLocks noChangeAspect="1"/>
          </p:cNvPicPr>
          <p:nvPr/>
        </p:nvPicPr>
        <p:blipFill>
          <a:blip r:embed="rId1"/>
          <a:stretch>
            <a:fillRect/>
          </a:stretch>
        </p:blipFill>
        <p:spPr>
          <a:xfrm>
            <a:off x="6537960" y="1252728"/>
            <a:ext cx="4892040" cy="391363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50"/>
                                        <p:tgtEl>
                                          <p:spTgt spid="3"/>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vi-VN" sz="1100" b="1" spc="300" kern="0" dirty="0">
                <a:solidFill>
                  <a:schemeClr val="accent1"/>
                </a:solidFill>
              </a:rPr>
              <a:t>CÁCH HOẠT ĐỘNG</a:t>
            </a:r>
            <a:endParaRPr lang="vi-VN"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vi-VN" sz="3600" b="1" dirty="0">
                <a:solidFill>
                  <a:schemeClr val="tx2"/>
                </a:solidFill>
              </a:rPr>
              <a:t>Kiểm tra từng sản phẩm. Loại bỏ hàng lỗi.</a:t>
            </a:r>
            <a:endParaRPr lang="vi-VN" sz="3600" dirty="0"/>
          </a:p>
        </p:txBody>
      </p:sp>
      <p:sp>
        <p:nvSpPr>
          <p:cNvPr id="4" name="Video frame"/>
          <p:cNvSpPr/>
          <p:nvPr/>
        </p:nvSpPr>
        <p:spPr>
          <a:xfrm>
            <a:off x="548640" y="1691640"/>
            <a:ext cx="6949440" cy="4343400"/>
          </a:xfrm>
          <a:prstGeom prst="roundRect">
            <a:avLst>
              <a:gd name="adj" fmla="val 2526"/>
            </a:avLst>
          </a:prstGeom>
          <a:solidFill>
            <a:schemeClr val="bg1"/>
          </a:solidFill>
          <a:ln w="12700">
            <a:solidFill>
              <a:schemeClr val="accent5"/>
            </a:solidFill>
            <a:prstDash val="solid"/>
          </a:ln>
        </p:spPr>
      </p:sp>
      <p:pic>
        <p:nvPicPr>
          <p:cNvPr id="3" name="Line animation">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94360" y="1737360"/>
            <a:ext cx="6858000" cy="4251960"/>
          </a:xfrm>
          <a:prstGeom prst="rect">
            <a:avLst/>
          </a:prstGeom>
        </p:spPr>
      </p:pic>
      <p:sp>
        <p:nvSpPr>
          <p:cNvPr id="6" name="Shape 3"/>
          <p:cNvSpPr/>
          <p:nvPr/>
        </p:nvSpPr>
        <p:spPr>
          <a:xfrm>
            <a:off x="8001000" y="1920240"/>
            <a:ext cx="457200" cy="457200"/>
          </a:xfrm>
          <a:prstGeom prst="ellipse">
            <a:avLst/>
          </a:prstGeom>
          <a:solidFill>
            <a:schemeClr val="tx2"/>
          </a:solidFill>
          <a:ln/>
        </p:spPr>
      </p:sp>
      <p:sp>
        <p:nvSpPr>
          <p:cNvPr id="7" name="Text 4"/>
          <p:cNvSpPr txBox="1"/>
          <p:nvPr/>
        </p:nvSpPr>
        <p:spPr>
          <a:xfrm>
            <a:off x="8001000" y="1920240"/>
            <a:ext cx="457200" cy="457200"/>
          </a:xfrm>
          <a:prstGeom prst="rect">
            <a:avLst/>
          </a:prstGeom>
          <a:noFill/>
          <a:ln/>
        </p:spPr>
        <p:txBody>
          <a:bodyPr wrap="square" lIns="0" tIns="0" rIns="0" bIns="0" rtlCol="0" anchor="ctr"/>
          <a:lstStyle/>
          <a:p>
            <a:pPr algn="ctr" indent="0" marL="0">
              <a:buNone/>
            </a:pPr>
            <a:r>
              <a:rPr lang="vi-VN" sz="1600" b="1" dirty="0">
                <a:solidFill>
                  <a:schemeClr val="bg1"/>
                </a:solidFill>
              </a:rPr>
              <a:t>1</a:t>
            </a:r>
            <a:endParaRPr lang="vi-VN" sz="1600" dirty="0"/>
          </a:p>
        </p:txBody>
      </p:sp>
      <p:sp>
        <p:nvSpPr>
          <p:cNvPr id="8" name="Text 5"/>
          <p:cNvSpPr txBox="1"/>
          <p:nvPr/>
        </p:nvSpPr>
        <p:spPr>
          <a:xfrm>
            <a:off x="8641080" y="1901952"/>
            <a:ext cx="3017520" cy="914400"/>
          </a:xfrm>
          <a:prstGeom prst="rect">
            <a:avLst/>
          </a:prstGeom>
          <a:noFill/>
          <a:ln/>
        </p:spPr>
        <p:txBody>
          <a:bodyPr wrap="square" lIns="0" tIns="0" rIns="0" bIns="0" rtlCol="0" anchor="t"/>
          <a:lstStyle/>
          <a:p>
            <a:pPr indent="0" marL="0">
              <a:buNone/>
            </a:pPr>
            <a:r>
              <a:rPr lang="vi-VN" sz="1600" b="1" dirty="0">
                <a:solidFill>
                  <a:schemeClr val="tx1"/>
                </a:solidFill>
              </a:rPr>
              <a:t>Camera kiểm tra từng sản phẩm</a:t>
            </a:r>
            <a:endParaRPr lang="vi-VN" sz="1600" dirty="0"/>
          </a:p>
          <a:p>
            <a:pPr indent="0" marL="0">
              <a:buNone/>
            </a:pPr>
            <a:r>
              <a:rPr lang="vi-VN" sz="1600" dirty="0">
                <a:solidFill>
                  <a:schemeClr val="accent4"/>
                </a:solidFill>
              </a:rPr>
              <a:t>ở tốc độ dây chuyền.</a:t>
            </a:r>
            <a:endParaRPr lang="vi-VN" sz="1600" dirty="0"/>
          </a:p>
        </p:txBody>
      </p:sp>
      <p:sp>
        <p:nvSpPr>
          <p:cNvPr id="9" name="Shape 6"/>
          <p:cNvSpPr/>
          <p:nvPr/>
        </p:nvSpPr>
        <p:spPr>
          <a:xfrm>
            <a:off x="8001000" y="3108960"/>
            <a:ext cx="457200" cy="457200"/>
          </a:xfrm>
          <a:prstGeom prst="ellipse">
            <a:avLst/>
          </a:prstGeom>
          <a:solidFill>
            <a:schemeClr val="accent3"/>
          </a:solidFill>
          <a:ln/>
        </p:spPr>
      </p:sp>
      <p:sp>
        <p:nvSpPr>
          <p:cNvPr id="10" name="Text 7"/>
          <p:cNvSpPr txBox="1"/>
          <p:nvPr/>
        </p:nvSpPr>
        <p:spPr>
          <a:xfrm>
            <a:off x="8001000" y="3108960"/>
            <a:ext cx="457200" cy="457200"/>
          </a:xfrm>
          <a:prstGeom prst="rect">
            <a:avLst/>
          </a:prstGeom>
          <a:noFill/>
          <a:ln/>
        </p:spPr>
        <p:txBody>
          <a:bodyPr wrap="square" lIns="0" tIns="0" rIns="0" bIns="0" rtlCol="0" anchor="ctr"/>
          <a:lstStyle/>
          <a:p>
            <a:pPr algn="ctr" indent="0" marL="0">
              <a:buNone/>
            </a:pPr>
            <a:r>
              <a:rPr lang="vi-VN" sz="1600" b="1" dirty="0">
                <a:solidFill>
                  <a:schemeClr val="bg1"/>
                </a:solidFill>
              </a:rPr>
              <a:t>2</a:t>
            </a:r>
            <a:endParaRPr lang="vi-VN" sz="1600" dirty="0"/>
          </a:p>
        </p:txBody>
      </p:sp>
      <p:sp>
        <p:nvSpPr>
          <p:cNvPr id="11" name="Text 8"/>
          <p:cNvSpPr txBox="1"/>
          <p:nvPr/>
        </p:nvSpPr>
        <p:spPr>
          <a:xfrm>
            <a:off x="8641080" y="3090672"/>
            <a:ext cx="3017520" cy="914400"/>
          </a:xfrm>
          <a:prstGeom prst="rect">
            <a:avLst/>
          </a:prstGeom>
          <a:noFill/>
          <a:ln/>
        </p:spPr>
        <p:txBody>
          <a:bodyPr wrap="square" lIns="0" tIns="0" rIns="0" bIns="0" rtlCol="0" anchor="t"/>
          <a:lstStyle/>
          <a:p>
            <a:pPr indent="0" marL="0">
              <a:buNone/>
            </a:pPr>
            <a:r>
              <a:rPr lang="vi-VN" sz="1600" b="1" dirty="0">
                <a:solidFill>
                  <a:schemeClr val="tx1"/>
                </a:solidFill>
              </a:rPr>
              <a:t>Đạt hiện xanh, lỗi hiện đỏ</a:t>
            </a:r>
            <a:endParaRPr lang="vi-VN" sz="1600" dirty="0"/>
          </a:p>
          <a:p>
            <a:pPr indent="0" marL="0">
              <a:buNone/>
            </a:pPr>
            <a:r>
              <a:rPr lang="vi-VN" sz="1600" dirty="0">
                <a:solidFill>
                  <a:schemeClr val="accent4"/>
                </a:solidFill>
              </a:rPr>
              <a:t>kèm tên lỗi.</a:t>
            </a:r>
            <a:endParaRPr lang="vi-VN" sz="1600" dirty="0"/>
          </a:p>
        </p:txBody>
      </p:sp>
      <p:sp>
        <p:nvSpPr>
          <p:cNvPr id="12" name="Shape 9"/>
          <p:cNvSpPr/>
          <p:nvPr/>
        </p:nvSpPr>
        <p:spPr>
          <a:xfrm>
            <a:off x="8001000" y="4297680"/>
            <a:ext cx="457200" cy="457200"/>
          </a:xfrm>
          <a:prstGeom prst="ellipse">
            <a:avLst/>
          </a:prstGeom>
          <a:solidFill>
            <a:schemeClr val="accent2"/>
          </a:solidFill>
          <a:ln/>
        </p:spPr>
      </p:sp>
      <p:sp>
        <p:nvSpPr>
          <p:cNvPr id="13" name="Text 10"/>
          <p:cNvSpPr txBox="1"/>
          <p:nvPr/>
        </p:nvSpPr>
        <p:spPr>
          <a:xfrm>
            <a:off x="8001000" y="4297680"/>
            <a:ext cx="457200" cy="457200"/>
          </a:xfrm>
          <a:prstGeom prst="rect">
            <a:avLst/>
          </a:prstGeom>
          <a:noFill/>
          <a:ln/>
        </p:spPr>
        <p:txBody>
          <a:bodyPr wrap="square" lIns="0" tIns="0" rIns="0" bIns="0" rtlCol="0" anchor="ctr"/>
          <a:lstStyle/>
          <a:p>
            <a:pPr algn="ctr" indent="0" marL="0">
              <a:buNone/>
            </a:pPr>
            <a:r>
              <a:rPr lang="vi-VN" sz="1600" b="1" dirty="0">
                <a:solidFill>
                  <a:schemeClr val="bg1"/>
                </a:solidFill>
              </a:rPr>
              <a:t>3</a:t>
            </a:r>
            <a:endParaRPr lang="vi-VN" sz="1600" dirty="0"/>
          </a:p>
        </p:txBody>
      </p:sp>
      <p:sp>
        <p:nvSpPr>
          <p:cNvPr id="14" name="Text 11"/>
          <p:cNvSpPr txBox="1"/>
          <p:nvPr/>
        </p:nvSpPr>
        <p:spPr>
          <a:xfrm>
            <a:off x="8641080" y="4279392"/>
            <a:ext cx="3017520" cy="914400"/>
          </a:xfrm>
          <a:prstGeom prst="rect">
            <a:avLst/>
          </a:prstGeom>
          <a:noFill/>
          <a:ln/>
        </p:spPr>
        <p:txBody>
          <a:bodyPr wrap="square" lIns="0" tIns="0" rIns="0" bIns="0" rtlCol="0" anchor="t"/>
          <a:lstStyle/>
          <a:p>
            <a:pPr indent="0" marL="0">
              <a:buNone/>
            </a:pPr>
            <a:r>
              <a:rPr lang="vi-VN" sz="1600" b="1" dirty="0">
                <a:solidFill>
                  <a:schemeClr val="tx1"/>
                </a:solidFill>
              </a:rPr>
              <a:t>Loại bỏ hàng lỗi</a:t>
            </a:r>
            <a:endParaRPr lang="vi-VN" sz="1600" dirty="0"/>
          </a:p>
          <a:p>
            <a:pPr indent="0" marL="0">
              <a:buNone/>
            </a:pPr>
            <a:r>
              <a:rPr lang="vi-VN" sz="1600" dirty="0">
                <a:solidFill>
                  <a:schemeClr val="accent4"/>
                </a:solidFill>
              </a:rPr>
              <a:t>bằng bộ đẩy của chúng tôi hoặc hệ thống loại bỏ của bạn.</a:t>
            </a:r>
            <a:endParaRPr lang="vi-VN" sz="1600" dirty="0"/>
          </a:p>
        </p:txBody>
      </p:sp>
      <p:sp>
        <p:nvSpPr>
          <p:cNvPr id="15" name="Back link"/>
          <p:cNvSpPr txBox="1"/>
          <p:nvPr/>
        </p:nvSpPr>
        <p:spPr>
          <a:xfrm>
            <a:off x="8716975" y="6382512"/>
            <a:ext cx="2194560" cy="310896"/>
          </a:xfrm>
          <a:prstGeom prst="rect">
            <a:avLst/>
          </a:prstGeom>
          <a:noFill/>
          <a:ln/>
        </p:spPr>
        <p:txBody>
          <a:bodyPr wrap="square" lIns="0" tIns="0" rIns="0" bIns="0" rtlCol="0" anchor="ctr"/>
          <a:lstStyle/>
          <a:p>
            <a:pPr algn="r" indent="0" marL="0">
              <a:buNone/>
            </a:pPr>
            <a:r>
              <a:rPr lang="vi-VN" sz="1100" u="sng" dirty="0">
                <a:solidFill>
                  <a:schemeClr val="accent1"/>
                </a:solidFill>
                <a:hlinkClick r:id="rId4" action="ppaction://hlinksldjump" tooltip="Back to capabilities">
                  <a:extLst>
                    <a:ext uri="{A12FA001-AC4F-418D-AE19-62706E023703}">
                      <ahyp:hlinkClr xmlns:ahyp="http://schemas.microsoft.com/office/drawing/2018/hyperlinkcolor" val="tx"/>
                    </a:ext>
                  </a:extLst>
                </a:hlinkClick>
              </a:rPr>
              <a:t>← Tất cả tính năng</a:t>
            </a:r>
            <a:endParaRPr lang="vi-VN"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vi-VN"/>
              <a:t>2</a:t>
            </a:fld>
            <a:endParaRPr lang="vi-V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65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fill="hold" display="0">
                  <p:stCondLst>
                    <p:cond delay="indefinite"/>
                  </p:stCondLst>
                </p:cTn>
                <p:tgtEl>
                  <p:spTgt spid="3"/>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5486400" cy="274320"/>
          </a:xfrm>
          <a:prstGeom prst="rect">
            <a:avLst/>
          </a:prstGeom>
          <a:noFill/>
          <a:ln/>
        </p:spPr>
        <p:txBody>
          <a:bodyPr wrap="square" lIns="0" tIns="0" rIns="0" bIns="0" rtlCol="0" anchor="ctr"/>
          <a:lstStyle/>
          <a:p>
            <a:pPr indent="0" marL="0">
              <a:buNone/>
            </a:pPr>
            <a:r>
              <a:rPr lang="vi-VN" sz="1100" b="1" spc="300" kern="0" dirty="0">
                <a:solidFill>
                  <a:schemeClr val="accent6"/>
                </a:solidFill>
              </a:rPr>
              <a:t>HIỆU NĂNG</a:t>
            </a:r>
            <a:endParaRPr lang="vi-VN" sz="1100" dirty="0"/>
          </a:p>
        </p:txBody>
      </p:sp>
      <p:sp>
        <p:nvSpPr>
          <p:cNvPr id="3" name="Text 1"/>
          <p:cNvSpPr txBox="1"/>
          <p:nvPr/>
        </p:nvSpPr>
        <p:spPr>
          <a:xfrm>
            <a:off x="548640" y="713232"/>
            <a:ext cx="9144000" cy="731520"/>
          </a:xfrm>
          <a:prstGeom prst="rect">
            <a:avLst/>
          </a:prstGeom>
          <a:noFill/>
          <a:ln/>
        </p:spPr>
        <p:txBody>
          <a:bodyPr wrap="square" lIns="0" tIns="0" rIns="0" bIns="0" rtlCol="0" anchor="ctr"/>
          <a:lstStyle/>
          <a:p>
            <a:pPr indent="0" marL="0">
              <a:buNone/>
            </a:pPr>
            <a:r>
              <a:rPr lang="vi-VN" sz="3600" b="1" dirty="0">
                <a:solidFill>
                  <a:schemeClr val="bg1"/>
                </a:solidFill>
              </a:rPr>
              <a:t>Theo kịp tốc độ dây chuyền</a:t>
            </a:r>
            <a:endParaRPr lang="vi-VN" sz="3600" dirty="0"/>
          </a:p>
        </p:txBody>
      </p:sp>
      <p:sp>
        <p:nvSpPr>
          <p:cNvPr id="4" name="Stat 0 value"/>
          <p:cNvSpPr txBox="1"/>
          <p:nvPr/>
        </p:nvSpPr>
        <p:spPr>
          <a:xfrm>
            <a:off x="548640" y="2468880"/>
            <a:ext cx="2407844" cy="1188720"/>
          </a:xfrm>
          <a:prstGeom prst="rect">
            <a:avLst/>
          </a:prstGeom>
          <a:noFill/>
          <a:ln/>
        </p:spPr>
        <p:txBody>
          <a:bodyPr wrap="square" lIns="0" tIns="0" rIns="0" bIns="0" rtlCol="0" anchor="b"/>
          <a:lstStyle/>
          <a:p>
            <a:pPr indent="0" marL="0">
              <a:buNone/>
            </a:pPr>
            <a:r>
              <a:rPr lang="vi-VN" sz="5000" b="1" dirty="0">
                <a:solidFill>
                  <a:schemeClr val="bg1"/>
                </a:solidFill>
              </a:rPr>
              <a:t>100+</a:t>
            </a:r>
            <a:endParaRPr lang="vi-VN" sz="5000" dirty="0"/>
          </a:p>
        </p:txBody>
      </p:sp>
      <p:sp>
        <p:nvSpPr>
          <p:cNvPr id="5" name="Stat 0 label"/>
          <p:cNvSpPr txBox="1"/>
          <p:nvPr/>
        </p:nvSpPr>
        <p:spPr>
          <a:xfrm>
            <a:off x="548640" y="3794760"/>
            <a:ext cx="2316404" cy="640080"/>
          </a:xfrm>
          <a:prstGeom prst="rect">
            <a:avLst/>
          </a:prstGeom>
          <a:noFill/>
          <a:ln/>
        </p:spPr>
        <p:txBody>
          <a:bodyPr wrap="square" lIns="0" tIns="0" rIns="0" bIns="0" rtlCol="0" anchor="t"/>
          <a:lstStyle/>
          <a:p>
            <a:pPr indent="0" marL="0">
              <a:buNone/>
            </a:pPr>
            <a:r>
              <a:rPr lang="vi-VN" sz="1700" dirty="0">
                <a:solidFill>
                  <a:schemeClr val="accent5"/>
                </a:solidFill>
              </a:rPr>
              <a:t>sản phẩm mỗi giây</a:t>
            </a:r>
            <a:endParaRPr lang="vi-VN" sz="1700" dirty="0"/>
          </a:p>
        </p:txBody>
      </p:sp>
      <p:sp>
        <p:nvSpPr>
          <p:cNvPr id="6" name="Stat 1 rule"/>
          <p:cNvSpPr/>
          <p:nvPr/>
        </p:nvSpPr>
        <p:spPr>
          <a:xfrm>
            <a:off x="3322244" y="2514600"/>
            <a:ext cx="0" cy="1920240"/>
          </a:xfrm>
          <a:prstGeom prst="line">
            <a:avLst/>
          </a:prstGeom>
          <a:noFill/>
          <a:ln w="12700">
            <a:solidFill>
              <a:srgbClr val="3A4A5B"/>
            </a:solidFill>
            <a:prstDash val="solid"/>
          </a:ln>
        </p:spPr>
      </p:sp>
      <p:sp>
        <p:nvSpPr>
          <p:cNvPr id="7" name="Stat 1 value"/>
          <p:cNvSpPr txBox="1"/>
          <p:nvPr/>
        </p:nvSpPr>
        <p:spPr>
          <a:xfrm>
            <a:off x="3642284" y="2468880"/>
            <a:ext cx="2407844" cy="1188720"/>
          </a:xfrm>
          <a:prstGeom prst="rect">
            <a:avLst/>
          </a:prstGeom>
          <a:noFill/>
          <a:ln/>
        </p:spPr>
        <p:txBody>
          <a:bodyPr wrap="square" lIns="0" tIns="0" rIns="0" bIns="0" rtlCol="0" anchor="b"/>
          <a:lstStyle/>
          <a:p>
            <a:pPr indent="0" marL="0">
              <a:buNone/>
            </a:pPr>
            <a:r>
              <a:rPr lang="vi-VN" sz="5000" b="1" dirty="0">
                <a:solidFill>
                  <a:schemeClr val="bg1"/>
                </a:solidFill>
              </a:rPr>
              <a:t>&lt;1 mm</a:t>
            </a:r>
            <a:endParaRPr lang="vi-VN" sz="5000" dirty="0"/>
          </a:p>
        </p:txBody>
      </p:sp>
      <p:sp>
        <p:nvSpPr>
          <p:cNvPr id="8" name="Stat 1 label"/>
          <p:cNvSpPr txBox="1"/>
          <p:nvPr/>
        </p:nvSpPr>
        <p:spPr>
          <a:xfrm>
            <a:off x="3642284" y="3794760"/>
            <a:ext cx="2316404" cy="640080"/>
          </a:xfrm>
          <a:prstGeom prst="rect">
            <a:avLst/>
          </a:prstGeom>
          <a:noFill/>
          <a:ln/>
        </p:spPr>
        <p:txBody>
          <a:bodyPr wrap="square" lIns="0" tIns="0" rIns="0" bIns="0" rtlCol="0" anchor="t"/>
          <a:lstStyle/>
          <a:p>
            <a:pPr indent="0" marL="0">
              <a:buNone/>
            </a:pPr>
            <a:r>
              <a:rPr lang="vi-VN" sz="1700" dirty="0">
                <a:solidFill>
                  <a:schemeClr val="accent5"/>
                </a:solidFill>
              </a:rPr>
              <a:t>lỗi nhỏ nhất phát hiện được</a:t>
            </a:r>
            <a:endParaRPr lang="vi-VN" sz="1700" dirty="0"/>
          </a:p>
        </p:txBody>
      </p:sp>
      <p:sp>
        <p:nvSpPr>
          <p:cNvPr id="9" name="Stat 2 rule"/>
          <p:cNvSpPr/>
          <p:nvPr/>
        </p:nvSpPr>
        <p:spPr>
          <a:xfrm>
            <a:off x="6095848" y="2514600"/>
            <a:ext cx="0" cy="1920240"/>
          </a:xfrm>
          <a:prstGeom prst="line">
            <a:avLst/>
          </a:prstGeom>
          <a:noFill/>
          <a:ln w="12700">
            <a:solidFill>
              <a:srgbClr val="3A4A5B"/>
            </a:solidFill>
            <a:prstDash val="solid"/>
          </a:ln>
        </p:spPr>
      </p:sp>
      <p:sp>
        <p:nvSpPr>
          <p:cNvPr id="10" name="Stat 2 value"/>
          <p:cNvSpPr txBox="1"/>
          <p:nvPr/>
        </p:nvSpPr>
        <p:spPr>
          <a:xfrm>
            <a:off x="6415888" y="2468880"/>
            <a:ext cx="2407844" cy="1188720"/>
          </a:xfrm>
          <a:prstGeom prst="rect">
            <a:avLst/>
          </a:prstGeom>
          <a:noFill/>
          <a:ln/>
        </p:spPr>
        <p:txBody>
          <a:bodyPr wrap="square" lIns="0" tIns="0" rIns="0" bIns="0" rtlCol="0" anchor="b"/>
          <a:lstStyle/>
          <a:p>
            <a:pPr indent="0" marL="0">
              <a:buNone/>
            </a:pPr>
            <a:r>
              <a:rPr lang="vi-VN" sz="5000" b="1" dirty="0">
                <a:solidFill>
                  <a:schemeClr val="accent2"/>
                </a:solidFill>
              </a:rPr>
              <a:t>&gt;99,5%</a:t>
            </a:r>
            <a:endParaRPr lang="vi-VN" sz="5000" dirty="0"/>
          </a:p>
        </p:txBody>
      </p:sp>
      <p:sp>
        <p:nvSpPr>
          <p:cNvPr id="11" name="Stat 2 label"/>
          <p:cNvSpPr txBox="1"/>
          <p:nvPr/>
        </p:nvSpPr>
        <p:spPr>
          <a:xfrm>
            <a:off x="6415888" y="3794760"/>
            <a:ext cx="2316404" cy="640080"/>
          </a:xfrm>
          <a:prstGeom prst="rect">
            <a:avLst/>
          </a:prstGeom>
          <a:noFill/>
          <a:ln/>
        </p:spPr>
        <p:txBody>
          <a:bodyPr wrap="square" lIns="0" tIns="0" rIns="0" bIns="0" rtlCol="0" anchor="t"/>
          <a:lstStyle/>
          <a:p>
            <a:pPr indent="0" marL="0">
              <a:buNone/>
            </a:pPr>
            <a:r>
              <a:rPr lang="vi-VN" sz="1700" dirty="0">
                <a:solidFill>
                  <a:schemeClr val="accent5"/>
                </a:solidFill>
              </a:rPr>
              <a:t>lỗi được phát hiện</a:t>
            </a:r>
            <a:endParaRPr lang="vi-VN" sz="1700" dirty="0"/>
          </a:p>
        </p:txBody>
      </p:sp>
      <p:sp>
        <p:nvSpPr>
          <p:cNvPr id="12" name="Stat 3 rule"/>
          <p:cNvSpPr/>
          <p:nvPr/>
        </p:nvSpPr>
        <p:spPr>
          <a:xfrm>
            <a:off x="8869451" y="2514600"/>
            <a:ext cx="0" cy="1920240"/>
          </a:xfrm>
          <a:prstGeom prst="line">
            <a:avLst/>
          </a:prstGeom>
          <a:noFill/>
          <a:ln w="12700">
            <a:solidFill>
              <a:srgbClr val="3A4A5B"/>
            </a:solidFill>
            <a:prstDash val="solid"/>
          </a:ln>
        </p:spPr>
      </p:sp>
      <p:sp>
        <p:nvSpPr>
          <p:cNvPr id="13" name="Stat 3 value"/>
          <p:cNvSpPr txBox="1"/>
          <p:nvPr/>
        </p:nvSpPr>
        <p:spPr>
          <a:xfrm>
            <a:off x="9189491" y="2468880"/>
            <a:ext cx="2407844" cy="1188720"/>
          </a:xfrm>
          <a:prstGeom prst="rect">
            <a:avLst/>
          </a:prstGeom>
          <a:noFill/>
          <a:ln/>
        </p:spPr>
        <p:txBody>
          <a:bodyPr wrap="square" lIns="0" tIns="0" rIns="0" bIns="0" rtlCol="0" anchor="b"/>
          <a:lstStyle/>
          <a:p>
            <a:pPr indent="0" marL="0">
              <a:buNone/>
            </a:pPr>
            <a:r>
              <a:rPr lang="vi-VN" sz="5000" b="1" dirty="0">
                <a:solidFill>
                  <a:schemeClr val="bg1"/>
                </a:solidFill>
              </a:rPr>
              <a:t>Vài giờ</a:t>
            </a:r>
            <a:endParaRPr lang="vi-VN" sz="5000" dirty="0"/>
          </a:p>
        </p:txBody>
      </p:sp>
      <p:sp>
        <p:nvSpPr>
          <p:cNvPr id="14" name="Stat 3 label"/>
          <p:cNvSpPr txBox="1"/>
          <p:nvPr/>
        </p:nvSpPr>
        <p:spPr>
          <a:xfrm>
            <a:off x="9189491" y="3794760"/>
            <a:ext cx="2316404" cy="640080"/>
          </a:xfrm>
          <a:prstGeom prst="rect">
            <a:avLst/>
          </a:prstGeom>
          <a:noFill/>
          <a:ln/>
        </p:spPr>
        <p:txBody>
          <a:bodyPr wrap="square" lIns="0" tIns="0" rIns="0" bIns="0" rtlCol="0" anchor="t"/>
          <a:lstStyle/>
          <a:p>
            <a:pPr indent="0" marL="0">
              <a:buNone/>
            </a:pPr>
            <a:r>
              <a:rPr lang="vi-VN" sz="1700" dirty="0">
                <a:solidFill>
                  <a:schemeClr val="accent5"/>
                </a:solidFill>
              </a:rPr>
              <a:t>từ lắp đặt đến vận hành</a:t>
            </a:r>
            <a:endParaRPr lang="vi-VN" sz="1700" dirty="0"/>
          </a:p>
        </p:txBody>
      </p:sp>
      <p:sp>
        <p:nvSpPr>
          <p:cNvPr id="15" name="Stat line"/>
          <p:cNvSpPr txBox="1"/>
          <p:nvPr/>
        </p:nvSpPr>
        <p:spPr>
          <a:xfrm>
            <a:off x="548640" y="5394960"/>
            <a:ext cx="11094415" cy="457200"/>
          </a:xfrm>
          <a:prstGeom prst="rect">
            <a:avLst/>
          </a:prstGeom>
          <a:noFill/>
          <a:ln/>
        </p:spPr>
        <p:txBody>
          <a:bodyPr wrap="square" lIns="0" tIns="0" rIns="0" bIns="0" rtlCol="0" anchor="ctr"/>
          <a:lstStyle/>
          <a:p>
            <a:pPr indent="0" marL="0">
              <a:buNone/>
            </a:pPr>
            <a:r>
              <a:rPr lang="vi-VN" sz="2000" b="1" dirty="0">
                <a:solidFill>
                  <a:schemeClr val="bg1"/>
                </a:solidFill>
              </a:rPr>
              <a:t>Nhân viên QC giỏi nhất của bạn. Trên từng sản phẩm, mọi ca.</a:t>
            </a:r>
            <a:endParaRPr lang="vi-VN"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3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3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35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7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7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7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105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105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105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14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vi-VN" sz="1100" b="1" spc="300" kern="0" dirty="0">
                <a:solidFill>
                  <a:schemeClr val="accent1"/>
                </a:solidFill>
              </a:rPr>
              <a:t>TÍNH NĂNG</a:t>
            </a:r>
            <a:endParaRPr lang="vi-VN"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vi-VN" sz="3600" b="1" dirty="0">
                <a:solidFill>
                  <a:schemeClr val="tx2"/>
                </a:solidFill>
              </a:rPr>
              <a:t>Một khung hình. Mọi phép kiểm tra.</a:t>
            </a:r>
            <a:endParaRPr lang="vi-VN" sz="3600" dirty="0"/>
          </a:p>
        </p:txBody>
      </p:sp>
      <p:sp>
        <p:nvSpPr>
          <p:cNvPr id="4" name="A frame"/>
          <p:cNvSpPr/>
          <p:nvPr/>
        </p:nvSpPr>
        <p:spPr>
          <a:xfrm>
            <a:off x="484632" y="1536192"/>
            <a:ext cx="5843016" cy="4795266"/>
          </a:xfrm>
          <a:prstGeom prst="roundRect">
            <a:avLst>
              <a:gd name="adj" fmla="val 2288"/>
            </a:avLst>
          </a:prstGeom>
          <a:solidFill>
            <a:schemeClr val="bg1"/>
          </a:solidFill>
          <a:ln w="12700">
            <a:solidFill>
              <a:schemeClr val="accent5"/>
            </a:solidFill>
            <a:prstDash val="solid"/>
          </a:ln>
        </p:spPr>
      </p:sp>
      <p:pic>
        <p:nvPicPr>
          <p:cNvPr id="5" name="A photo" descr="Vít, chi tiết nhựa trắng và một tụ điện trên băng tải">    </p:cNvPr>
          <p:cNvPicPr>
            <a:picLocks noChangeAspect="1"/>
          </p:cNvPicPr>
          <p:nvPr/>
        </p:nvPicPr>
        <p:blipFill>
          <a:blip r:embed="rId1"/>
          <a:stretch>
            <a:fillRect/>
          </a:stretch>
        </p:blipFill>
        <p:spPr>
          <a:xfrm>
            <a:off x="548640" y="1600200"/>
            <a:ext cx="5715000" cy="4667250"/>
          </a:xfrm>
          <a:prstGeom prst="rect">
            <a:avLst/>
          </a:prstGeom>
        </p:spPr>
      </p:pic>
      <p:sp>
        <p:nvSpPr>
          <p:cNvPr id="6" name="A s0 a box"/>
          <p:cNvSpPr/>
          <p:nvPr/>
        </p:nvSpPr>
        <p:spPr>
          <a:xfrm>
            <a:off x="953453" y="1885950"/>
            <a:ext cx="1619250" cy="976312"/>
          </a:xfrm>
          <a:prstGeom prst="rect">
            <a:avLst/>
          </a:prstGeom>
          <a:solidFill>
            <a:srgbClr val="FFFFFF">
              <a:alpha val="0"/>
            </a:srgbClr>
          </a:solidFill>
          <a:ln w="28575">
            <a:solidFill>
              <a:srgbClr val="2F5D8A"/>
            </a:solidFill>
            <a:prstDash val="solid"/>
          </a:ln>
        </p:spPr>
      </p:sp>
      <p:sp>
        <p:nvSpPr>
          <p:cNvPr id="7" name="A s0 a tag"/>
          <p:cNvSpPr txBox="1"/>
          <p:nvPr/>
        </p:nvSpPr>
        <p:spPr>
          <a:xfrm>
            <a:off x="953453" y="1611630"/>
            <a:ext cx="594360" cy="246888"/>
          </a:xfrm>
          <a:prstGeom prst="rect">
            <a:avLst/>
          </a:prstGeom>
          <a:solidFill>
            <a:srgbClr val="2F5D8A"/>
          </a:solidFill>
          <a:ln/>
        </p:spPr>
        <p:txBody>
          <a:bodyPr wrap="square" lIns="25400" tIns="25400" rIns="25400" bIns="25400" rtlCol="0" anchor="ctr"/>
          <a:lstStyle/>
          <a:p>
            <a:pPr algn="ctr" indent="0" marL="0">
              <a:buNone/>
            </a:pPr>
            <a:r>
              <a:rPr lang="vi-VN" sz="1100" b="1" dirty="0">
                <a:solidFill>
                  <a:schemeClr val="bg1"/>
                </a:solidFill>
              </a:rPr>
              <a:t>M4×20</a:t>
            </a:r>
            <a:endParaRPr lang="vi-VN" sz="1100" dirty="0"/>
          </a:p>
        </p:txBody>
      </p:sp>
      <p:sp>
        <p:nvSpPr>
          <p:cNvPr id="8" name="A s0 f box"/>
          <p:cNvSpPr/>
          <p:nvPr/>
        </p:nvSpPr>
        <p:spPr>
          <a:xfrm>
            <a:off x="3406140" y="4362450"/>
            <a:ext cx="1000125" cy="1595437"/>
          </a:xfrm>
          <a:prstGeom prst="rect">
            <a:avLst/>
          </a:prstGeom>
          <a:solidFill>
            <a:srgbClr val="FFFFFF">
              <a:alpha val="0"/>
            </a:srgbClr>
          </a:solidFill>
          <a:ln w="28575">
            <a:solidFill>
              <a:srgbClr val="2F5D8A"/>
            </a:solidFill>
            <a:prstDash val="solid"/>
          </a:ln>
        </p:spPr>
      </p:sp>
      <p:sp>
        <p:nvSpPr>
          <p:cNvPr id="9" name="A s0 f tag"/>
          <p:cNvSpPr txBox="1"/>
          <p:nvPr/>
        </p:nvSpPr>
        <p:spPr>
          <a:xfrm>
            <a:off x="3406140" y="4088130"/>
            <a:ext cx="594360" cy="246888"/>
          </a:xfrm>
          <a:prstGeom prst="rect">
            <a:avLst/>
          </a:prstGeom>
          <a:solidFill>
            <a:srgbClr val="2F5D8A"/>
          </a:solidFill>
          <a:ln/>
        </p:spPr>
        <p:txBody>
          <a:bodyPr wrap="square" lIns="25400" tIns="25400" rIns="25400" bIns="25400" rtlCol="0" anchor="ctr"/>
          <a:lstStyle/>
          <a:p>
            <a:pPr algn="ctr" indent="0" marL="0">
              <a:buNone/>
            </a:pPr>
            <a:r>
              <a:rPr lang="vi-VN" sz="1100" b="1" dirty="0">
                <a:solidFill>
                  <a:schemeClr val="bg1"/>
                </a:solidFill>
              </a:rPr>
              <a:t>M4×20</a:t>
            </a:r>
            <a:endParaRPr lang="vi-VN" sz="1100" dirty="0"/>
          </a:p>
        </p:txBody>
      </p:sp>
      <p:sp>
        <p:nvSpPr>
          <p:cNvPr id="10" name="A s0 e box"/>
          <p:cNvSpPr/>
          <p:nvPr/>
        </p:nvSpPr>
        <p:spPr>
          <a:xfrm>
            <a:off x="2572703" y="4886325"/>
            <a:ext cx="604837" cy="561975"/>
          </a:xfrm>
          <a:prstGeom prst="rect">
            <a:avLst/>
          </a:prstGeom>
          <a:solidFill>
            <a:srgbClr val="FFFFFF">
              <a:alpha val="0"/>
            </a:srgbClr>
          </a:solidFill>
          <a:ln w="28575">
            <a:solidFill>
              <a:srgbClr val="2F5D8A"/>
            </a:solidFill>
            <a:prstDash val="solid"/>
          </a:ln>
        </p:spPr>
      </p:sp>
      <p:sp>
        <p:nvSpPr>
          <p:cNvPr id="11" name="A s0 e tag"/>
          <p:cNvSpPr txBox="1"/>
          <p:nvPr/>
        </p:nvSpPr>
        <p:spPr>
          <a:xfrm>
            <a:off x="2572703" y="5475732"/>
            <a:ext cx="526694" cy="246888"/>
          </a:xfrm>
          <a:prstGeom prst="rect">
            <a:avLst/>
          </a:prstGeom>
          <a:solidFill>
            <a:srgbClr val="2F5D8A"/>
          </a:solidFill>
          <a:ln/>
        </p:spPr>
        <p:txBody>
          <a:bodyPr wrap="square" lIns="25400" tIns="25400" rIns="25400" bIns="25400" rtlCol="0" anchor="ctr"/>
          <a:lstStyle/>
          <a:p>
            <a:pPr algn="ctr" indent="0" marL="0">
              <a:buNone/>
            </a:pPr>
            <a:r>
              <a:rPr lang="vi-VN" sz="1100" b="1" dirty="0">
                <a:solidFill>
                  <a:schemeClr val="bg1"/>
                </a:solidFill>
              </a:rPr>
              <a:t>M3×6</a:t>
            </a:r>
            <a:endParaRPr lang="vi-VN" sz="1100" dirty="0"/>
          </a:p>
        </p:txBody>
      </p:sp>
      <p:sp>
        <p:nvSpPr>
          <p:cNvPr id="12" name="A s0 c box"/>
          <p:cNvSpPr/>
          <p:nvPr/>
        </p:nvSpPr>
        <p:spPr>
          <a:xfrm>
            <a:off x="1896427" y="3448050"/>
            <a:ext cx="566738" cy="571500"/>
          </a:xfrm>
          <a:prstGeom prst="rect">
            <a:avLst/>
          </a:prstGeom>
          <a:solidFill>
            <a:srgbClr val="FFFFFF">
              <a:alpha val="0"/>
            </a:srgbClr>
          </a:solidFill>
          <a:ln w="28575">
            <a:solidFill>
              <a:srgbClr val="2F5D8A"/>
            </a:solidFill>
            <a:prstDash val="solid"/>
          </a:ln>
        </p:spPr>
      </p:sp>
      <p:sp>
        <p:nvSpPr>
          <p:cNvPr id="13" name="A s0 c tag"/>
          <p:cNvSpPr txBox="1"/>
          <p:nvPr/>
        </p:nvSpPr>
        <p:spPr>
          <a:xfrm>
            <a:off x="1896427" y="3173730"/>
            <a:ext cx="729691" cy="246888"/>
          </a:xfrm>
          <a:prstGeom prst="rect">
            <a:avLst/>
          </a:prstGeom>
          <a:solidFill>
            <a:srgbClr val="2F5D8A"/>
          </a:solidFill>
          <a:ln/>
        </p:spPr>
        <p:txBody>
          <a:bodyPr wrap="square" lIns="25400" tIns="25400" rIns="25400" bIns="25400" rtlCol="0" anchor="ctr"/>
          <a:lstStyle/>
          <a:p>
            <a:pPr algn="ctr" indent="0" marL="0">
              <a:buNone/>
            </a:pPr>
            <a:r>
              <a:rPr lang="vi-VN" sz="1100" b="1" dirty="0">
                <a:solidFill>
                  <a:schemeClr val="bg1"/>
                </a:solidFill>
              </a:rPr>
              <a:t>Nhựa</a:t>
            </a:r>
            <a:endParaRPr lang="vi-VN" sz="1100" dirty="0"/>
          </a:p>
        </p:txBody>
      </p:sp>
      <p:sp>
        <p:nvSpPr>
          <p:cNvPr id="14" name="A s0 d box"/>
          <p:cNvSpPr/>
          <p:nvPr/>
        </p:nvSpPr>
        <p:spPr>
          <a:xfrm>
            <a:off x="2777490" y="4162425"/>
            <a:ext cx="590550" cy="571500"/>
          </a:xfrm>
          <a:prstGeom prst="rect">
            <a:avLst/>
          </a:prstGeom>
          <a:solidFill>
            <a:srgbClr val="FFFFFF">
              <a:alpha val="0"/>
            </a:srgbClr>
          </a:solidFill>
          <a:ln w="28575">
            <a:solidFill>
              <a:srgbClr val="2F5D8A"/>
            </a:solidFill>
            <a:prstDash val="solid"/>
          </a:ln>
        </p:spPr>
      </p:sp>
      <p:sp>
        <p:nvSpPr>
          <p:cNvPr id="15" name="A s0 d tag"/>
          <p:cNvSpPr txBox="1"/>
          <p:nvPr/>
        </p:nvSpPr>
        <p:spPr>
          <a:xfrm>
            <a:off x="2777490" y="3888105"/>
            <a:ext cx="729691" cy="246888"/>
          </a:xfrm>
          <a:prstGeom prst="rect">
            <a:avLst/>
          </a:prstGeom>
          <a:solidFill>
            <a:srgbClr val="2F5D8A"/>
          </a:solidFill>
          <a:ln/>
        </p:spPr>
        <p:txBody>
          <a:bodyPr wrap="square" lIns="25400" tIns="25400" rIns="25400" bIns="25400" rtlCol="0" anchor="ctr"/>
          <a:lstStyle/>
          <a:p>
            <a:pPr algn="ctr" indent="0" marL="0">
              <a:buNone/>
            </a:pPr>
            <a:r>
              <a:rPr lang="vi-VN" sz="1100" b="1" dirty="0">
                <a:solidFill>
                  <a:schemeClr val="bg1"/>
                </a:solidFill>
              </a:rPr>
              <a:t>Nhựa</a:t>
            </a:r>
            <a:endParaRPr lang="vi-VN" sz="1100" dirty="0"/>
          </a:p>
        </p:txBody>
      </p:sp>
      <p:sp>
        <p:nvSpPr>
          <p:cNvPr id="16" name="A s0 g box"/>
          <p:cNvSpPr/>
          <p:nvPr/>
        </p:nvSpPr>
        <p:spPr>
          <a:xfrm>
            <a:off x="1015365" y="5233988"/>
            <a:ext cx="628650" cy="500063"/>
          </a:xfrm>
          <a:prstGeom prst="rect">
            <a:avLst/>
          </a:prstGeom>
          <a:solidFill>
            <a:srgbClr val="FFFFFF">
              <a:alpha val="0"/>
            </a:srgbClr>
          </a:solidFill>
          <a:ln w="28575">
            <a:solidFill>
              <a:srgbClr val="2F5D8A"/>
            </a:solidFill>
            <a:prstDash val="solid"/>
          </a:ln>
        </p:spPr>
      </p:sp>
      <p:sp>
        <p:nvSpPr>
          <p:cNvPr id="17" name="A s0 g tag"/>
          <p:cNvSpPr txBox="1"/>
          <p:nvPr/>
        </p:nvSpPr>
        <p:spPr>
          <a:xfrm>
            <a:off x="1015365" y="4959668"/>
            <a:ext cx="729691" cy="246888"/>
          </a:xfrm>
          <a:prstGeom prst="rect">
            <a:avLst/>
          </a:prstGeom>
          <a:solidFill>
            <a:srgbClr val="2F5D8A"/>
          </a:solidFill>
          <a:ln/>
        </p:spPr>
        <p:txBody>
          <a:bodyPr wrap="square" lIns="25400" tIns="25400" rIns="25400" bIns="25400" rtlCol="0" anchor="ctr"/>
          <a:lstStyle/>
          <a:p>
            <a:pPr algn="ctr" indent="0" marL="0">
              <a:buNone/>
            </a:pPr>
            <a:r>
              <a:rPr lang="vi-VN" sz="1100" b="1" dirty="0">
                <a:solidFill>
                  <a:schemeClr val="bg1"/>
                </a:solidFill>
              </a:rPr>
              <a:t>Nhựa</a:t>
            </a:r>
            <a:endParaRPr lang="vi-VN" sz="1100" dirty="0"/>
          </a:p>
        </p:txBody>
      </p:sp>
      <p:sp>
        <p:nvSpPr>
          <p:cNvPr id="18" name="A s0 b box"/>
          <p:cNvSpPr/>
          <p:nvPr/>
        </p:nvSpPr>
        <p:spPr>
          <a:xfrm>
            <a:off x="3158490" y="2838450"/>
            <a:ext cx="2676525" cy="942975"/>
          </a:xfrm>
          <a:prstGeom prst="rect">
            <a:avLst/>
          </a:prstGeom>
          <a:solidFill>
            <a:srgbClr val="FFFFFF">
              <a:alpha val="0"/>
            </a:srgbClr>
          </a:solidFill>
          <a:ln w="28575">
            <a:solidFill>
              <a:srgbClr val="2F5D8A"/>
            </a:solidFill>
            <a:prstDash val="solid"/>
          </a:ln>
        </p:spPr>
      </p:sp>
      <p:sp>
        <p:nvSpPr>
          <p:cNvPr id="19" name="A s0 b tag"/>
          <p:cNvSpPr txBox="1"/>
          <p:nvPr/>
        </p:nvSpPr>
        <p:spPr>
          <a:xfrm>
            <a:off x="3158490" y="2564130"/>
            <a:ext cx="729691" cy="246888"/>
          </a:xfrm>
          <a:prstGeom prst="rect">
            <a:avLst/>
          </a:prstGeom>
          <a:solidFill>
            <a:srgbClr val="2F5D8A"/>
          </a:solidFill>
          <a:ln/>
        </p:spPr>
        <p:txBody>
          <a:bodyPr wrap="square" lIns="25400" tIns="25400" rIns="25400" bIns="25400" rtlCol="0" anchor="ctr"/>
          <a:lstStyle/>
          <a:p>
            <a:pPr algn="ctr" indent="0" marL="0">
              <a:buNone/>
            </a:pPr>
            <a:r>
              <a:rPr lang="vi-VN" sz="1100" b="1" dirty="0">
                <a:solidFill>
                  <a:schemeClr val="bg1"/>
                </a:solidFill>
              </a:rPr>
              <a:t>Không xác định</a:t>
            </a:r>
            <a:endParaRPr lang="vi-VN" sz="1100" dirty="0"/>
          </a:p>
        </p:txBody>
      </p:sp>
      <p:sp>
        <p:nvSpPr>
          <p:cNvPr id="20" name="A s1 a dim"/>
          <p:cNvSpPr/>
          <p:nvPr/>
        </p:nvSpPr>
        <p:spPr>
          <a:xfrm flipV="1">
            <a:off x="915353" y="2066925"/>
            <a:ext cx="1071563" cy="428625"/>
          </a:xfrm>
          <a:prstGeom prst="line">
            <a:avLst/>
          </a:prstGeom>
          <a:noFill/>
          <a:ln w="22225">
            <a:solidFill>
              <a:srgbClr val="2F5D8A"/>
            </a:solidFill>
            <a:prstDash val="solid"/>
            <a:headEnd type="triangle"/>
            <a:tailEnd type="triangle"/>
          </a:ln>
        </p:spPr>
      </p:sp>
      <p:sp>
        <p:nvSpPr>
          <p:cNvPr id="21" name="A s1 a len"/>
          <p:cNvSpPr txBox="1"/>
          <p:nvPr/>
        </p:nvSpPr>
        <p:spPr>
          <a:xfrm>
            <a:off x="1024890" y="1909762"/>
            <a:ext cx="729691" cy="246888"/>
          </a:xfrm>
          <a:prstGeom prst="rect">
            <a:avLst/>
          </a:prstGeom>
          <a:solidFill>
            <a:srgbClr val="1D2D3D"/>
          </a:solidFill>
          <a:ln/>
        </p:spPr>
        <p:txBody>
          <a:bodyPr wrap="square" lIns="25400" tIns="25400" rIns="25400" bIns="25400" rtlCol="0" anchor="ctr"/>
          <a:lstStyle/>
          <a:p>
            <a:pPr algn="ctr" indent="0" marL="0">
              <a:buNone/>
            </a:pPr>
            <a:r>
              <a:rPr lang="vi-VN" sz="1100" b="1" dirty="0">
                <a:solidFill>
                  <a:schemeClr val="bg1"/>
                </a:solidFill>
              </a:rPr>
              <a:t>20,1 mm</a:t>
            </a:r>
            <a:endParaRPr lang="vi-VN" sz="1100" dirty="0"/>
          </a:p>
        </p:txBody>
      </p:sp>
      <p:sp>
        <p:nvSpPr>
          <p:cNvPr id="22" name="A s1 f dim"/>
          <p:cNvSpPr/>
          <p:nvPr/>
        </p:nvSpPr>
        <p:spPr>
          <a:xfrm>
            <a:off x="4025265" y="4738687"/>
            <a:ext cx="476250" cy="1023938"/>
          </a:xfrm>
          <a:prstGeom prst="line">
            <a:avLst/>
          </a:prstGeom>
          <a:noFill/>
          <a:ln w="22225">
            <a:solidFill>
              <a:srgbClr val="2F5D8A"/>
            </a:solidFill>
            <a:prstDash val="solid"/>
            <a:headEnd type="triangle"/>
            <a:tailEnd type="triangle"/>
          </a:ln>
        </p:spPr>
      </p:sp>
      <p:sp>
        <p:nvSpPr>
          <p:cNvPr id="23" name="A s1 f len"/>
          <p:cNvSpPr txBox="1"/>
          <p:nvPr/>
        </p:nvSpPr>
        <p:spPr>
          <a:xfrm>
            <a:off x="4596765" y="5124450"/>
            <a:ext cx="729691" cy="246888"/>
          </a:xfrm>
          <a:prstGeom prst="rect">
            <a:avLst/>
          </a:prstGeom>
          <a:solidFill>
            <a:srgbClr val="1D2D3D"/>
          </a:solidFill>
          <a:ln/>
        </p:spPr>
        <p:txBody>
          <a:bodyPr wrap="square" lIns="25400" tIns="25400" rIns="25400" bIns="25400" rtlCol="0" anchor="ctr"/>
          <a:lstStyle/>
          <a:p>
            <a:pPr algn="ctr" indent="0" marL="0">
              <a:buNone/>
            </a:pPr>
            <a:r>
              <a:rPr lang="vi-VN" sz="1100" b="1" dirty="0">
                <a:solidFill>
                  <a:schemeClr val="bg1"/>
                </a:solidFill>
              </a:rPr>
              <a:t>19,9 mm</a:t>
            </a:r>
            <a:endParaRPr lang="vi-VN" sz="1100" dirty="0"/>
          </a:p>
        </p:txBody>
      </p:sp>
      <p:sp>
        <p:nvSpPr>
          <p:cNvPr id="24" name="A s1 e dim"/>
          <p:cNvSpPr/>
          <p:nvPr/>
        </p:nvSpPr>
        <p:spPr>
          <a:xfrm flipV="1">
            <a:off x="2758440" y="5257800"/>
            <a:ext cx="276225" cy="247650"/>
          </a:xfrm>
          <a:prstGeom prst="line">
            <a:avLst/>
          </a:prstGeom>
          <a:noFill/>
          <a:ln w="22225">
            <a:solidFill>
              <a:srgbClr val="2F5D8A"/>
            </a:solidFill>
            <a:prstDash val="solid"/>
            <a:headEnd type="triangle"/>
            <a:tailEnd type="triangle"/>
          </a:ln>
        </p:spPr>
      </p:sp>
      <p:sp>
        <p:nvSpPr>
          <p:cNvPr id="25" name="A s1 e len"/>
          <p:cNvSpPr txBox="1"/>
          <p:nvPr/>
        </p:nvSpPr>
        <p:spPr>
          <a:xfrm>
            <a:off x="3144203" y="5386388"/>
            <a:ext cx="662026" cy="246888"/>
          </a:xfrm>
          <a:prstGeom prst="rect">
            <a:avLst/>
          </a:prstGeom>
          <a:solidFill>
            <a:srgbClr val="1D2D3D"/>
          </a:solidFill>
          <a:ln/>
        </p:spPr>
        <p:txBody>
          <a:bodyPr wrap="square" lIns="25400" tIns="25400" rIns="25400" bIns="25400" rtlCol="0" anchor="ctr"/>
          <a:lstStyle/>
          <a:p>
            <a:pPr algn="ctr" indent="0" marL="0">
              <a:buNone/>
            </a:pPr>
            <a:r>
              <a:rPr lang="vi-VN" sz="1100" b="1" dirty="0">
                <a:solidFill>
                  <a:schemeClr val="bg1"/>
                </a:solidFill>
              </a:rPr>
              <a:t>6,0 mm</a:t>
            </a:r>
            <a:endParaRPr lang="vi-VN" sz="1100" dirty="0"/>
          </a:p>
        </p:txBody>
      </p:sp>
      <p:sp>
        <p:nvSpPr>
          <p:cNvPr id="26" name="A s2 a cbox"/>
          <p:cNvSpPr/>
          <p:nvPr/>
        </p:nvSpPr>
        <p:spPr>
          <a:xfrm>
            <a:off x="953453" y="1885950"/>
            <a:ext cx="1619250" cy="976312"/>
          </a:xfrm>
          <a:prstGeom prst="rect">
            <a:avLst/>
          </a:prstGeom>
          <a:solidFill>
            <a:srgbClr val="FFFFFF">
              <a:alpha val="0"/>
            </a:srgbClr>
          </a:solidFill>
          <a:ln w="28575">
            <a:solidFill>
              <a:srgbClr val="2F7D52"/>
            </a:solidFill>
            <a:prstDash val="solid"/>
          </a:ln>
        </p:spPr>
      </p:sp>
      <p:sp>
        <p:nvSpPr>
          <p:cNvPr id="27" name="A s2 a de"/>
          <p:cNvSpPr txBox="1"/>
          <p:nvPr/>
        </p:nvSpPr>
        <p:spPr>
          <a:xfrm>
            <a:off x="953453" y="2889694"/>
            <a:ext cx="662026" cy="246888"/>
          </a:xfrm>
          <a:prstGeom prst="rect">
            <a:avLst/>
          </a:prstGeom>
          <a:solidFill>
            <a:srgbClr val="2F7D52"/>
          </a:solidFill>
          <a:ln/>
        </p:spPr>
        <p:txBody>
          <a:bodyPr wrap="square" lIns="25400" tIns="25400" rIns="25400" bIns="25400" rtlCol="0" anchor="ctr"/>
          <a:lstStyle/>
          <a:p>
            <a:pPr algn="ctr" indent="0" marL="0">
              <a:buNone/>
            </a:pPr>
            <a:r>
              <a:rPr lang="vi-VN" sz="1100" b="1" dirty="0">
                <a:solidFill>
                  <a:schemeClr val="bg1"/>
                </a:solidFill>
              </a:rPr>
              <a:t>ΔE 1,2</a:t>
            </a:r>
            <a:endParaRPr lang="vi-VN" sz="1100" dirty="0"/>
          </a:p>
        </p:txBody>
      </p:sp>
      <p:sp>
        <p:nvSpPr>
          <p:cNvPr id="28" name="A s2 f cbox"/>
          <p:cNvSpPr/>
          <p:nvPr/>
        </p:nvSpPr>
        <p:spPr>
          <a:xfrm>
            <a:off x="3406140" y="4362450"/>
            <a:ext cx="1000125" cy="1595437"/>
          </a:xfrm>
          <a:prstGeom prst="rect">
            <a:avLst/>
          </a:prstGeom>
          <a:solidFill>
            <a:srgbClr val="FFFFFF">
              <a:alpha val="0"/>
            </a:srgbClr>
          </a:solidFill>
          <a:ln w="28575">
            <a:solidFill>
              <a:srgbClr val="2F7D52"/>
            </a:solidFill>
            <a:prstDash val="solid"/>
          </a:ln>
        </p:spPr>
      </p:sp>
      <p:sp>
        <p:nvSpPr>
          <p:cNvPr id="29" name="A s2 f de"/>
          <p:cNvSpPr txBox="1"/>
          <p:nvPr/>
        </p:nvSpPr>
        <p:spPr>
          <a:xfrm>
            <a:off x="4430077" y="5219700"/>
            <a:ext cx="662026" cy="246888"/>
          </a:xfrm>
          <a:prstGeom prst="rect">
            <a:avLst/>
          </a:prstGeom>
          <a:solidFill>
            <a:srgbClr val="2F7D52"/>
          </a:solidFill>
          <a:ln/>
        </p:spPr>
        <p:txBody>
          <a:bodyPr wrap="square" lIns="25400" tIns="25400" rIns="25400" bIns="25400" rtlCol="0" anchor="ctr"/>
          <a:lstStyle/>
          <a:p>
            <a:pPr algn="ctr" indent="0" marL="0">
              <a:buNone/>
            </a:pPr>
            <a:r>
              <a:rPr lang="vi-VN" sz="1100" b="1" dirty="0">
                <a:solidFill>
                  <a:schemeClr val="bg1"/>
                </a:solidFill>
              </a:rPr>
              <a:t>ΔE 0,9</a:t>
            </a:r>
            <a:endParaRPr lang="vi-VN" sz="1100" dirty="0"/>
          </a:p>
        </p:txBody>
      </p:sp>
      <p:sp>
        <p:nvSpPr>
          <p:cNvPr id="30" name="A s2 e cbox"/>
          <p:cNvSpPr/>
          <p:nvPr/>
        </p:nvSpPr>
        <p:spPr>
          <a:xfrm>
            <a:off x="2572703" y="4886325"/>
            <a:ext cx="604837" cy="561975"/>
          </a:xfrm>
          <a:prstGeom prst="rect">
            <a:avLst/>
          </a:prstGeom>
          <a:solidFill>
            <a:srgbClr val="FFFFFF">
              <a:alpha val="0"/>
            </a:srgbClr>
          </a:solidFill>
          <a:ln w="28575">
            <a:solidFill>
              <a:srgbClr val="2F7D52"/>
            </a:solidFill>
            <a:prstDash val="solid"/>
          </a:ln>
        </p:spPr>
      </p:sp>
      <p:sp>
        <p:nvSpPr>
          <p:cNvPr id="31" name="A s2 e de"/>
          <p:cNvSpPr txBox="1"/>
          <p:nvPr/>
        </p:nvSpPr>
        <p:spPr>
          <a:xfrm>
            <a:off x="2572703" y="5475732"/>
            <a:ext cx="662026" cy="246888"/>
          </a:xfrm>
          <a:prstGeom prst="rect">
            <a:avLst/>
          </a:prstGeom>
          <a:solidFill>
            <a:srgbClr val="2F7D52"/>
          </a:solidFill>
          <a:ln/>
        </p:spPr>
        <p:txBody>
          <a:bodyPr wrap="square" lIns="25400" tIns="25400" rIns="25400" bIns="25400" rtlCol="0" anchor="ctr"/>
          <a:lstStyle/>
          <a:p>
            <a:pPr algn="ctr" indent="0" marL="0">
              <a:buNone/>
            </a:pPr>
            <a:r>
              <a:rPr lang="vi-VN" sz="1100" b="1" dirty="0">
                <a:solidFill>
                  <a:schemeClr val="bg1"/>
                </a:solidFill>
              </a:rPr>
              <a:t>ΔE 1,4</a:t>
            </a:r>
            <a:endParaRPr lang="vi-VN" sz="1100" dirty="0"/>
          </a:p>
        </p:txBody>
      </p:sp>
      <p:sp>
        <p:nvSpPr>
          <p:cNvPr id="32" name="A s2 c cbox"/>
          <p:cNvSpPr/>
          <p:nvPr/>
        </p:nvSpPr>
        <p:spPr>
          <a:xfrm>
            <a:off x="1896427" y="3448050"/>
            <a:ext cx="566738" cy="571500"/>
          </a:xfrm>
          <a:prstGeom prst="rect">
            <a:avLst/>
          </a:prstGeom>
          <a:solidFill>
            <a:srgbClr val="FFFFFF">
              <a:alpha val="0"/>
            </a:srgbClr>
          </a:solidFill>
          <a:ln w="28575">
            <a:solidFill>
              <a:srgbClr val="E5463D"/>
            </a:solidFill>
            <a:prstDash val="solid"/>
          </a:ln>
        </p:spPr>
      </p:sp>
      <p:sp>
        <p:nvSpPr>
          <p:cNvPr id="33" name="A s2 c de"/>
          <p:cNvSpPr txBox="1"/>
          <p:nvPr/>
        </p:nvSpPr>
        <p:spPr>
          <a:xfrm>
            <a:off x="1896427" y="3173730"/>
            <a:ext cx="729691" cy="246888"/>
          </a:xfrm>
          <a:prstGeom prst="rect">
            <a:avLst/>
          </a:prstGeom>
          <a:solidFill>
            <a:srgbClr val="E5463D"/>
          </a:solidFill>
          <a:ln/>
        </p:spPr>
        <p:txBody>
          <a:bodyPr wrap="square" lIns="25400" tIns="25400" rIns="25400" bIns="25400" rtlCol="0" anchor="ctr"/>
          <a:lstStyle/>
          <a:p>
            <a:pPr algn="ctr" indent="0" marL="0">
              <a:buNone/>
            </a:pPr>
            <a:r>
              <a:rPr lang="vi-VN" sz="1100" b="1" dirty="0">
                <a:solidFill>
                  <a:schemeClr val="bg1"/>
                </a:solidFill>
              </a:rPr>
              <a:t>ΔE 63,8</a:t>
            </a:r>
            <a:endParaRPr lang="vi-VN" sz="1100" dirty="0"/>
          </a:p>
        </p:txBody>
      </p:sp>
      <p:sp>
        <p:nvSpPr>
          <p:cNvPr id="34" name="A s2 d cbox"/>
          <p:cNvSpPr/>
          <p:nvPr/>
        </p:nvSpPr>
        <p:spPr>
          <a:xfrm>
            <a:off x="2777490" y="4162425"/>
            <a:ext cx="590550" cy="571500"/>
          </a:xfrm>
          <a:prstGeom prst="rect">
            <a:avLst/>
          </a:prstGeom>
          <a:solidFill>
            <a:srgbClr val="FFFFFF">
              <a:alpha val="0"/>
            </a:srgbClr>
          </a:solidFill>
          <a:ln w="28575">
            <a:solidFill>
              <a:srgbClr val="E5463D"/>
            </a:solidFill>
            <a:prstDash val="solid"/>
          </a:ln>
        </p:spPr>
      </p:sp>
      <p:sp>
        <p:nvSpPr>
          <p:cNvPr id="35" name="A s2 d de"/>
          <p:cNvSpPr txBox="1"/>
          <p:nvPr/>
        </p:nvSpPr>
        <p:spPr>
          <a:xfrm>
            <a:off x="2777490" y="3886200"/>
            <a:ext cx="729691" cy="246888"/>
          </a:xfrm>
          <a:prstGeom prst="rect">
            <a:avLst/>
          </a:prstGeom>
          <a:solidFill>
            <a:srgbClr val="E5463D"/>
          </a:solidFill>
          <a:ln/>
        </p:spPr>
        <p:txBody>
          <a:bodyPr wrap="square" lIns="25400" tIns="25400" rIns="25400" bIns="25400" rtlCol="0" anchor="ctr"/>
          <a:lstStyle/>
          <a:p>
            <a:pPr algn="ctr" indent="0" marL="0">
              <a:buNone/>
            </a:pPr>
            <a:r>
              <a:rPr lang="vi-VN" sz="1100" b="1" dirty="0">
                <a:solidFill>
                  <a:schemeClr val="bg1"/>
                </a:solidFill>
              </a:rPr>
              <a:t>ΔE 64,1</a:t>
            </a:r>
            <a:endParaRPr lang="vi-VN" sz="1100" dirty="0"/>
          </a:p>
        </p:txBody>
      </p:sp>
      <p:sp>
        <p:nvSpPr>
          <p:cNvPr id="36" name="A s2 g cbox"/>
          <p:cNvSpPr/>
          <p:nvPr/>
        </p:nvSpPr>
        <p:spPr>
          <a:xfrm>
            <a:off x="1015365" y="5233988"/>
            <a:ext cx="628650" cy="500063"/>
          </a:xfrm>
          <a:prstGeom prst="rect">
            <a:avLst/>
          </a:prstGeom>
          <a:solidFill>
            <a:srgbClr val="FFFFFF">
              <a:alpha val="0"/>
            </a:srgbClr>
          </a:solidFill>
          <a:ln w="28575">
            <a:solidFill>
              <a:srgbClr val="E5463D"/>
            </a:solidFill>
            <a:prstDash val="solid"/>
          </a:ln>
        </p:spPr>
      </p:sp>
      <p:sp>
        <p:nvSpPr>
          <p:cNvPr id="37" name="A s2 g de"/>
          <p:cNvSpPr txBox="1"/>
          <p:nvPr/>
        </p:nvSpPr>
        <p:spPr>
          <a:xfrm>
            <a:off x="1015365" y="5761482"/>
            <a:ext cx="729691" cy="246888"/>
          </a:xfrm>
          <a:prstGeom prst="rect">
            <a:avLst/>
          </a:prstGeom>
          <a:solidFill>
            <a:srgbClr val="E5463D"/>
          </a:solidFill>
          <a:ln/>
        </p:spPr>
        <p:txBody>
          <a:bodyPr wrap="square" lIns="25400" tIns="25400" rIns="25400" bIns="25400" rtlCol="0" anchor="ctr"/>
          <a:lstStyle/>
          <a:p>
            <a:pPr algn="ctr" indent="0" marL="0">
              <a:buNone/>
            </a:pPr>
            <a:r>
              <a:rPr lang="vi-VN" sz="1100" b="1" dirty="0">
                <a:solidFill>
                  <a:schemeClr val="bg1"/>
                </a:solidFill>
              </a:rPr>
              <a:t>ΔE 62,5</a:t>
            </a:r>
            <a:endParaRPr lang="vi-VN" sz="1100" dirty="0"/>
          </a:p>
        </p:txBody>
      </p:sp>
      <p:sp>
        <p:nvSpPr>
          <p:cNvPr id="38" name="A s3 c box"/>
          <p:cNvSpPr/>
          <p:nvPr/>
        </p:nvSpPr>
        <p:spPr>
          <a:xfrm>
            <a:off x="1896427" y="3448050"/>
            <a:ext cx="566738" cy="571500"/>
          </a:xfrm>
          <a:prstGeom prst="rect">
            <a:avLst/>
          </a:prstGeom>
          <a:solidFill>
            <a:srgbClr val="FFFFFF">
              <a:alpha val="0"/>
            </a:srgbClr>
          </a:solidFill>
          <a:ln w="28575">
            <a:solidFill>
              <a:srgbClr val="E5463D"/>
            </a:solidFill>
            <a:prstDash val="solid"/>
          </a:ln>
        </p:spPr>
      </p:sp>
      <p:sp>
        <p:nvSpPr>
          <p:cNvPr id="39" name="A s3 c tag"/>
          <p:cNvSpPr txBox="1"/>
          <p:nvPr/>
        </p:nvSpPr>
        <p:spPr>
          <a:xfrm>
            <a:off x="1896427" y="3173730"/>
            <a:ext cx="1000354" cy="246888"/>
          </a:xfrm>
          <a:prstGeom prst="rect">
            <a:avLst/>
          </a:prstGeom>
          <a:solidFill>
            <a:srgbClr val="E5463D"/>
          </a:solidFill>
          <a:ln/>
        </p:spPr>
        <p:txBody>
          <a:bodyPr wrap="square" lIns="25400" tIns="25400" rIns="25400" bIns="25400" rtlCol="0" anchor="ctr"/>
          <a:lstStyle/>
          <a:p>
            <a:pPr algn="ctr" indent="0" marL="0">
              <a:buNone/>
            </a:pPr>
            <a:r>
              <a:rPr lang="vi-VN" sz="1100" b="1" dirty="0">
                <a:solidFill>
                  <a:schemeClr val="bg1"/>
                </a:solidFill>
              </a:rPr>
              <a:t>Bu lông gãy</a:t>
            </a:r>
            <a:endParaRPr lang="vi-VN" sz="1100" dirty="0"/>
          </a:p>
        </p:txBody>
      </p:sp>
      <p:sp>
        <p:nvSpPr>
          <p:cNvPr id="40" name="A s3 d box"/>
          <p:cNvSpPr/>
          <p:nvPr/>
        </p:nvSpPr>
        <p:spPr>
          <a:xfrm>
            <a:off x="2777490" y="4162425"/>
            <a:ext cx="590550" cy="571500"/>
          </a:xfrm>
          <a:prstGeom prst="rect">
            <a:avLst/>
          </a:prstGeom>
          <a:solidFill>
            <a:srgbClr val="FFFFFF">
              <a:alpha val="0"/>
            </a:srgbClr>
          </a:solidFill>
          <a:ln w="28575">
            <a:solidFill>
              <a:srgbClr val="E5463D"/>
            </a:solidFill>
            <a:prstDash val="solid"/>
          </a:ln>
        </p:spPr>
      </p:sp>
      <p:sp>
        <p:nvSpPr>
          <p:cNvPr id="41" name="A s3 d tag"/>
          <p:cNvSpPr txBox="1"/>
          <p:nvPr/>
        </p:nvSpPr>
        <p:spPr>
          <a:xfrm>
            <a:off x="2777490" y="3886200"/>
            <a:ext cx="1000354" cy="246888"/>
          </a:xfrm>
          <a:prstGeom prst="rect">
            <a:avLst/>
          </a:prstGeom>
          <a:solidFill>
            <a:srgbClr val="E5463D"/>
          </a:solidFill>
          <a:ln/>
        </p:spPr>
        <p:txBody>
          <a:bodyPr wrap="square" lIns="25400" tIns="25400" rIns="25400" bIns="25400" rtlCol="0" anchor="ctr"/>
          <a:lstStyle/>
          <a:p>
            <a:pPr algn="ctr" indent="0" marL="0">
              <a:buNone/>
            </a:pPr>
            <a:r>
              <a:rPr lang="vi-VN" sz="1100" b="1" dirty="0">
                <a:solidFill>
                  <a:schemeClr val="bg1"/>
                </a:solidFill>
              </a:rPr>
              <a:t>Bu lông gãy</a:t>
            </a:r>
            <a:endParaRPr lang="vi-VN" sz="1100" dirty="0"/>
          </a:p>
        </p:txBody>
      </p:sp>
      <p:sp>
        <p:nvSpPr>
          <p:cNvPr id="42" name="A s3 g box"/>
          <p:cNvSpPr/>
          <p:nvPr/>
        </p:nvSpPr>
        <p:spPr>
          <a:xfrm>
            <a:off x="1015365" y="5233988"/>
            <a:ext cx="628650" cy="500063"/>
          </a:xfrm>
          <a:prstGeom prst="rect">
            <a:avLst/>
          </a:prstGeom>
          <a:solidFill>
            <a:srgbClr val="FFFFFF">
              <a:alpha val="0"/>
            </a:srgbClr>
          </a:solidFill>
          <a:ln w="28575">
            <a:solidFill>
              <a:srgbClr val="E5463D"/>
            </a:solidFill>
            <a:prstDash val="solid"/>
          </a:ln>
        </p:spPr>
      </p:sp>
      <p:sp>
        <p:nvSpPr>
          <p:cNvPr id="43" name="A s3 g tag"/>
          <p:cNvSpPr txBox="1"/>
          <p:nvPr/>
        </p:nvSpPr>
        <p:spPr>
          <a:xfrm>
            <a:off x="1015365" y="4959668"/>
            <a:ext cx="1406347" cy="246888"/>
          </a:xfrm>
          <a:prstGeom prst="rect">
            <a:avLst/>
          </a:prstGeom>
          <a:solidFill>
            <a:srgbClr val="E5463D"/>
          </a:solidFill>
          <a:ln/>
        </p:spPr>
        <p:txBody>
          <a:bodyPr wrap="square" lIns="25400" tIns="25400" rIns="25400" bIns="25400" rtlCol="0" anchor="ctr"/>
          <a:lstStyle/>
          <a:p>
            <a:pPr algn="ctr" indent="0" marL="0">
              <a:buNone/>
            </a:pPr>
            <a:r>
              <a:rPr lang="vi-VN" sz="1100" b="1" dirty="0">
                <a:solidFill>
                  <a:schemeClr val="bg1"/>
                </a:solidFill>
              </a:rPr>
              <a:t>Sai hướng</a:t>
            </a:r>
            <a:endParaRPr lang="vi-VN" sz="1100" dirty="0"/>
          </a:p>
        </p:txBody>
      </p:sp>
      <p:sp>
        <p:nvSpPr>
          <p:cNvPr id="44" name="A s4 b box"/>
          <p:cNvSpPr/>
          <p:nvPr/>
        </p:nvSpPr>
        <p:spPr>
          <a:xfrm>
            <a:off x="3158490" y="2838450"/>
            <a:ext cx="2676525" cy="942975"/>
          </a:xfrm>
          <a:prstGeom prst="rect">
            <a:avLst/>
          </a:prstGeom>
          <a:solidFill>
            <a:srgbClr val="FFFFFF">
              <a:alpha val="0"/>
            </a:srgbClr>
          </a:solidFill>
          <a:ln w="28575">
            <a:solidFill>
              <a:srgbClr val="B7791F"/>
            </a:solidFill>
            <a:prstDash val="solid"/>
          </a:ln>
        </p:spPr>
      </p:sp>
      <p:sp>
        <p:nvSpPr>
          <p:cNvPr id="45" name="A s4 b tag"/>
          <p:cNvSpPr txBox="1"/>
          <p:nvPr/>
        </p:nvSpPr>
        <p:spPr>
          <a:xfrm>
            <a:off x="3158490" y="2564130"/>
            <a:ext cx="1203350" cy="246888"/>
          </a:xfrm>
          <a:prstGeom prst="rect">
            <a:avLst/>
          </a:prstGeom>
          <a:solidFill>
            <a:srgbClr val="B7791F"/>
          </a:solidFill>
          <a:ln/>
        </p:spPr>
        <p:txBody>
          <a:bodyPr wrap="square" lIns="25400" tIns="25400" rIns="25400" bIns="25400" rtlCol="0" anchor="ctr"/>
          <a:lstStyle/>
          <a:p>
            <a:pPr algn="ctr" indent="0" marL="0">
              <a:buNone/>
            </a:pPr>
            <a:r>
              <a:rPr lang="vi-VN" sz="1100" b="1" dirty="0">
                <a:solidFill>
                  <a:schemeClr val="bg1"/>
                </a:solidFill>
              </a:rPr>
              <a:t>Vật lạ</a:t>
            </a:r>
            <a:endParaRPr lang="vi-VN" sz="1100" dirty="0"/>
          </a:p>
        </p:txBody>
      </p:sp>
      <p:sp>
        <p:nvSpPr>
          <p:cNvPr id="46" name="A s5 a box"/>
          <p:cNvSpPr/>
          <p:nvPr/>
        </p:nvSpPr>
        <p:spPr>
          <a:xfrm>
            <a:off x="953453" y="1885950"/>
            <a:ext cx="1619250" cy="976312"/>
          </a:xfrm>
          <a:prstGeom prst="rect">
            <a:avLst/>
          </a:prstGeom>
          <a:solidFill>
            <a:srgbClr val="FFFFFF">
              <a:alpha val="0"/>
            </a:srgbClr>
          </a:solidFill>
          <a:ln w="28575">
            <a:solidFill>
              <a:srgbClr val="2F7D52"/>
            </a:solidFill>
            <a:prstDash val="solid"/>
          </a:ln>
        </p:spPr>
      </p:sp>
      <p:sp>
        <p:nvSpPr>
          <p:cNvPr id="47" name="A s5 a tag"/>
          <p:cNvSpPr txBox="1"/>
          <p:nvPr/>
        </p:nvSpPr>
        <p:spPr>
          <a:xfrm>
            <a:off x="953453" y="1611630"/>
            <a:ext cx="526694" cy="246888"/>
          </a:xfrm>
          <a:prstGeom prst="rect">
            <a:avLst/>
          </a:prstGeom>
          <a:solidFill>
            <a:srgbClr val="2F7D52"/>
          </a:solidFill>
          <a:ln/>
        </p:spPr>
        <p:txBody>
          <a:bodyPr wrap="square" lIns="25400" tIns="25400" rIns="25400" bIns="25400" rtlCol="0" anchor="ctr"/>
          <a:lstStyle/>
          <a:p>
            <a:pPr algn="ctr" indent="0" marL="0">
              <a:buNone/>
            </a:pPr>
            <a:r>
              <a:rPr lang="vi-VN" sz="1100" b="1" dirty="0">
                <a:solidFill>
                  <a:schemeClr val="bg1"/>
                </a:solidFill>
              </a:rPr>
              <a:t>Đạt</a:t>
            </a:r>
            <a:endParaRPr lang="vi-VN" sz="1100" dirty="0"/>
          </a:p>
        </p:txBody>
      </p:sp>
      <p:sp>
        <p:nvSpPr>
          <p:cNvPr id="48" name="A s5 f box"/>
          <p:cNvSpPr/>
          <p:nvPr/>
        </p:nvSpPr>
        <p:spPr>
          <a:xfrm>
            <a:off x="3406140" y="4362450"/>
            <a:ext cx="1000125" cy="1595437"/>
          </a:xfrm>
          <a:prstGeom prst="rect">
            <a:avLst/>
          </a:prstGeom>
          <a:solidFill>
            <a:srgbClr val="FFFFFF">
              <a:alpha val="0"/>
            </a:srgbClr>
          </a:solidFill>
          <a:ln w="28575">
            <a:solidFill>
              <a:srgbClr val="2F7D52"/>
            </a:solidFill>
            <a:prstDash val="solid"/>
          </a:ln>
        </p:spPr>
      </p:sp>
      <p:sp>
        <p:nvSpPr>
          <p:cNvPr id="49" name="A s5 f tag"/>
          <p:cNvSpPr txBox="1"/>
          <p:nvPr/>
        </p:nvSpPr>
        <p:spPr>
          <a:xfrm>
            <a:off x="3406140" y="4088130"/>
            <a:ext cx="526694" cy="246888"/>
          </a:xfrm>
          <a:prstGeom prst="rect">
            <a:avLst/>
          </a:prstGeom>
          <a:solidFill>
            <a:srgbClr val="2F7D52"/>
          </a:solidFill>
          <a:ln/>
        </p:spPr>
        <p:txBody>
          <a:bodyPr wrap="square" lIns="25400" tIns="25400" rIns="25400" bIns="25400" rtlCol="0" anchor="ctr"/>
          <a:lstStyle/>
          <a:p>
            <a:pPr algn="ctr" indent="0" marL="0">
              <a:buNone/>
            </a:pPr>
            <a:r>
              <a:rPr lang="vi-VN" sz="1100" b="1" dirty="0">
                <a:solidFill>
                  <a:schemeClr val="bg1"/>
                </a:solidFill>
              </a:rPr>
              <a:t>Đạt</a:t>
            </a:r>
            <a:endParaRPr lang="vi-VN" sz="1100" dirty="0"/>
          </a:p>
        </p:txBody>
      </p:sp>
      <p:sp>
        <p:nvSpPr>
          <p:cNvPr id="50" name="A s5 e box"/>
          <p:cNvSpPr/>
          <p:nvPr/>
        </p:nvSpPr>
        <p:spPr>
          <a:xfrm>
            <a:off x="2572703" y="4886325"/>
            <a:ext cx="604837" cy="561975"/>
          </a:xfrm>
          <a:prstGeom prst="rect">
            <a:avLst/>
          </a:prstGeom>
          <a:solidFill>
            <a:srgbClr val="FFFFFF">
              <a:alpha val="0"/>
            </a:srgbClr>
          </a:solidFill>
          <a:ln w="28575">
            <a:solidFill>
              <a:srgbClr val="2F7D52"/>
            </a:solidFill>
            <a:prstDash val="solid"/>
          </a:ln>
        </p:spPr>
      </p:sp>
      <p:sp>
        <p:nvSpPr>
          <p:cNvPr id="51" name="A s5 e tag"/>
          <p:cNvSpPr txBox="1"/>
          <p:nvPr/>
        </p:nvSpPr>
        <p:spPr>
          <a:xfrm>
            <a:off x="2572703" y="5475732"/>
            <a:ext cx="526694" cy="246888"/>
          </a:xfrm>
          <a:prstGeom prst="rect">
            <a:avLst/>
          </a:prstGeom>
          <a:solidFill>
            <a:srgbClr val="2F7D52"/>
          </a:solidFill>
          <a:ln/>
        </p:spPr>
        <p:txBody>
          <a:bodyPr wrap="square" lIns="25400" tIns="25400" rIns="25400" bIns="25400" rtlCol="0" anchor="ctr"/>
          <a:lstStyle/>
          <a:p>
            <a:pPr algn="ctr" indent="0" marL="0">
              <a:buNone/>
            </a:pPr>
            <a:r>
              <a:rPr lang="vi-VN" sz="1100" b="1" dirty="0">
                <a:solidFill>
                  <a:schemeClr val="bg1"/>
                </a:solidFill>
              </a:rPr>
              <a:t>Đạt</a:t>
            </a:r>
            <a:endParaRPr lang="vi-VN" sz="1100" dirty="0"/>
          </a:p>
        </p:txBody>
      </p:sp>
      <p:sp>
        <p:nvSpPr>
          <p:cNvPr id="52" name="A s5 c box"/>
          <p:cNvSpPr/>
          <p:nvPr/>
        </p:nvSpPr>
        <p:spPr>
          <a:xfrm>
            <a:off x="1896427" y="3448050"/>
            <a:ext cx="566738" cy="571500"/>
          </a:xfrm>
          <a:prstGeom prst="rect">
            <a:avLst/>
          </a:prstGeom>
          <a:solidFill>
            <a:srgbClr val="FFFFFF">
              <a:alpha val="0"/>
            </a:srgbClr>
          </a:solidFill>
          <a:ln w="28575">
            <a:solidFill>
              <a:srgbClr val="E5463D"/>
            </a:solidFill>
            <a:prstDash val="solid"/>
          </a:ln>
        </p:spPr>
      </p:sp>
      <p:sp>
        <p:nvSpPr>
          <p:cNvPr id="53" name="A s5 c tag"/>
          <p:cNvSpPr txBox="1"/>
          <p:nvPr/>
        </p:nvSpPr>
        <p:spPr>
          <a:xfrm>
            <a:off x="1896427" y="3173730"/>
            <a:ext cx="662026" cy="246888"/>
          </a:xfrm>
          <a:prstGeom prst="rect">
            <a:avLst/>
          </a:prstGeom>
          <a:solidFill>
            <a:srgbClr val="E5463D"/>
          </a:solidFill>
          <a:ln/>
        </p:spPr>
        <p:txBody>
          <a:bodyPr wrap="square" lIns="25400" tIns="25400" rIns="25400" bIns="25400" rtlCol="0" anchor="ctr"/>
          <a:lstStyle/>
          <a:p>
            <a:pPr algn="ctr" indent="0" marL="0">
              <a:buNone/>
            </a:pPr>
            <a:r>
              <a:rPr lang="vi-VN" sz="1100" b="1" dirty="0">
                <a:solidFill>
                  <a:schemeClr val="bg1"/>
                </a:solidFill>
              </a:rPr>
              <a:t>Loại</a:t>
            </a:r>
            <a:endParaRPr lang="vi-VN" sz="1100" dirty="0"/>
          </a:p>
        </p:txBody>
      </p:sp>
      <p:sp>
        <p:nvSpPr>
          <p:cNvPr id="54" name="A s5 d box"/>
          <p:cNvSpPr/>
          <p:nvPr/>
        </p:nvSpPr>
        <p:spPr>
          <a:xfrm>
            <a:off x="2777490" y="4162425"/>
            <a:ext cx="590550" cy="571500"/>
          </a:xfrm>
          <a:prstGeom prst="rect">
            <a:avLst/>
          </a:prstGeom>
          <a:solidFill>
            <a:srgbClr val="FFFFFF">
              <a:alpha val="0"/>
            </a:srgbClr>
          </a:solidFill>
          <a:ln w="28575">
            <a:solidFill>
              <a:srgbClr val="E5463D"/>
            </a:solidFill>
            <a:prstDash val="solid"/>
          </a:ln>
        </p:spPr>
      </p:sp>
      <p:sp>
        <p:nvSpPr>
          <p:cNvPr id="55" name="A s5 d tag"/>
          <p:cNvSpPr txBox="1"/>
          <p:nvPr/>
        </p:nvSpPr>
        <p:spPr>
          <a:xfrm>
            <a:off x="2777490" y="3886200"/>
            <a:ext cx="662026" cy="246888"/>
          </a:xfrm>
          <a:prstGeom prst="rect">
            <a:avLst/>
          </a:prstGeom>
          <a:solidFill>
            <a:srgbClr val="E5463D"/>
          </a:solidFill>
          <a:ln/>
        </p:spPr>
        <p:txBody>
          <a:bodyPr wrap="square" lIns="25400" tIns="25400" rIns="25400" bIns="25400" rtlCol="0" anchor="ctr"/>
          <a:lstStyle/>
          <a:p>
            <a:pPr algn="ctr" indent="0" marL="0">
              <a:buNone/>
            </a:pPr>
            <a:r>
              <a:rPr lang="vi-VN" sz="1100" b="1" dirty="0">
                <a:solidFill>
                  <a:schemeClr val="bg1"/>
                </a:solidFill>
              </a:rPr>
              <a:t>Loại</a:t>
            </a:r>
            <a:endParaRPr lang="vi-VN" sz="1100" dirty="0"/>
          </a:p>
        </p:txBody>
      </p:sp>
      <p:sp>
        <p:nvSpPr>
          <p:cNvPr id="56" name="A s5 g box"/>
          <p:cNvSpPr/>
          <p:nvPr/>
        </p:nvSpPr>
        <p:spPr>
          <a:xfrm>
            <a:off x="1015365" y="5233988"/>
            <a:ext cx="628650" cy="500063"/>
          </a:xfrm>
          <a:prstGeom prst="rect">
            <a:avLst/>
          </a:prstGeom>
          <a:solidFill>
            <a:srgbClr val="FFFFFF">
              <a:alpha val="0"/>
            </a:srgbClr>
          </a:solidFill>
          <a:ln w="28575">
            <a:solidFill>
              <a:srgbClr val="E5463D"/>
            </a:solidFill>
            <a:prstDash val="solid"/>
          </a:ln>
        </p:spPr>
      </p:sp>
      <p:sp>
        <p:nvSpPr>
          <p:cNvPr id="57" name="A s5 g tag"/>
          <p:cNvSpPr txBox="1"/>
          <p:nvPr/>
        </p:nvSpPr>
        <p:spPr>
          <a:xfrm>
            <a:off x="1015365" y="4959668"/>
            <a:ext cx="662026" cy="246888"/>
          </a:xfrm>
          <a:prstGeom prst="rect">
            <a:avLst/>
          </a:prstGeom>
          <a:solidFill>
            <a:srgbClr val="E5463D"/>
          </a:solidFill>
          <a:ln/>
        </p:spPr>
        <p:txBody>
          <a:bodyPr wrap="square" lIns="25400" tIns="25400" rIns="25400" bIns="25400" rtlCol="0" anchor="ctr"/>
          <a:lstStyle/>
          <a:p>
            <a:pPr algn="ctr" indent="0" marL="0">
              <a:buNone/>
            </a:pPr>
            <a:r>
              <a:rPr lang="vi-VN" sz="1100" b="1" dirty="0">
                <a:solidFill>
                  <a:schemeClr val="bg1"/>
                </a:solidFill>
              </a:rPr>
              <a:t>Loại</a:t>
            </a:r>
            <a:endParaRPr lang="vi-VN" sz="1100" dirty="0"/>
          </a:p>
        </p:txBody>
      </p:sp>
      <p:sp>
        <p:nvSpPr>
          <p:cNvPr id="58" name="A s5 b box"/>
          <p:cNvSpPr/>
          <p:nvPr/>
        </p:nvSpPr>
        <p:spPr>
          <a:xfrm>
            <a:off x="3158490" y="2838450"/>
            <a:ext cx="2676525" cy="942975"/>
          </a:xfrm>
          <a:prstGeom prst="rect">
            <a:avLst/>
          </a:prstGeom>
          <a:solidFill>
            <a:srgbClr val="FFFFFF">
              <a:alpha val="0"/>
            </a:srgbClr>
          </a:solidFill>
          <a:ln w="28575">
            <a:solidFill>
              <a:srgbClr val="E5463D"/>
            </a:solidFill>
            <a:prstDash val="solid"/>
          </a:ln>
        </p:spPr>
      </p:sp>
      <p:sp>
        <p:nvSpPr>
          <p:cNvPr id="59" name="A s5 b tag"/>
          <p:cNvSpPr txBox="1"/>
          <p:nvPr/>
        </p:nvSpPr>
        <p:spPr>
          <a:xfrm>
            <a:off x="3158490" y="2564130"/>
            <a:ext cx="662026" cy="246888"/>
          </a:xfrm>
          <a:prstGeom prst="rect">
            <a:avLst/>
          </a:prstGeom>
          <a:solidFill>
            <a:srgbClr val="E5463D"/>
          </a:solidFill>
          <a:ln/>
        </p:spPr>
        <p:txBody>
          <a:bodyPr wrap="square" lIns="25400" tIns="25400" rIns="25400" bIns="25400" rtlCol="0" anchor="ctr"/>
          <a:lstStyle/>
          <a:p>
            <a:pPr algn="ctr" indent="0" marL="0">
              <a:buNone/>
            </a:pPr>
            <a:r>
              <a:rPr lang="vi-VN" sz="1100" b="1" dirty="0">
                <a:solidFill>
                  <a:schemeClr val="bg1"/>
                </a:solidFill>
              </a:rPr>
              <a:t>Loại</a:t>
            </a:r>
            <a:endParaRPr lang="vi-VN" sz="1100" dirty="0"/>
          </a:p>
        </p:txBody>
      </p:sp>
      <p:sp>
        <p:nvSpPr>
          <p:cNvPr id="60" name="A s5 sum"/>
          <p:cNvSpPr txBox="1"/>
          <p:nvPr/>
        </p:nvSpPr>
        <p:spPr>
          <a:xfrm>
            <a:off x="4549140" y="1695450"/>
            <a:ext cx="2177270" cy="365760"/>
          </a:xfrm>
          <a:prstGeom prst="rect">
            <a:avLst/>
          </a:prstGeom>
          <a:solidFill>
            <a:srgbClr val="1D2D3D"/>
          </a:solidFill>
          <a:ln/>
        </p:spPr>
        <p:txBody>
          <a:bodyPr wrap="square" lIns="25400" tIns="25400" rIns="25400" bIns="25400" rtlCol="0" anchor="ctr"/>
          <a:lstStyle/>
          <a:p>
            <a:pPr algn="ctr" indent="0" marL="0">
              <a:buNone/>
            </a:pPr>
            <a:r>
              <a:rPr lang="vi-VN" sz="1400" b="1" dirty="0">
                <a:solidFill>
                  <a:schemeClr val="bg1"/>
                </a:solidFill>
              </a:rPr>
              <a:t>Đạt 3 · Loại 4</a:t>
            </a:r>
            <a:endParaRPr lang="vi-VN" sz="1400" dirty="0"/>
          </a:p>
        </p:txBody>
      </p:sp>
      <p:sp>
        <p:nvSpPr>
          <p:cNvPr id="61" name="A row 0 dot"/>
          <p:cNvSpPr/>
          <p:nvPr/>
        </p:nvSpPr>
        <p:spPr>
          <a:xfrm>
            <a:off x="6629400" y="1728216"/>
            <a:ext cx="402336" cy="402336"/>
          </a:xfrm>
          <a:prstGeom prst="ellipse">
            <a:avLst/>
          </a:prstGeom>
          <a:solidFill>
            <a:schemeClr val="tx2"/>
          </a:solidFill>
          <a:ln/>
        </p:spPr>
      </p:sp>
      <p:pic>
        <p:nvPicPr>
          <p:cNvPr id="62" name="A row 0 icon" descr="preencoded.png">    </p:cNvPr>
          <p:cNvPicPr>
            <a:picLocks noChangeAspect="1"/>
          </p:cNvPicPr>
          <p:nvPr/>
        </p:nvPicPr>
        <p:blipFill>
          <a:blip r:embed="rId2"/>
          <a:stretch>
            <a:fillRect/>
          </a:stretch>
        </p:blipFill>
        <p:spPr>
          <a:xfrm>
            <a:off x="6729984" y="1828800"/>
            <a:ext cx="201168" cy="201168"/>
          </a:xfrm>
          <a:prstGeom prst="rect">
            <a:avLst/>
          </a:prstGeom>
        </p:spPr>
      </p:pic>
      <p:sp>
        <p:nvSpPr>
          <p:cNvPr id="63" name="A row 0 text"/>
          <p:cNvSpPr txBox="1"/>
          <p:nvPr/>
        </p:nvSpPr>
        <p:spPr>
          <a:xfrm>
            <a:off x="7178040" y="1673352"/>
            <a:ext cx="4480560" cy="658368"/>
          </a:xfrm>
          <a:prstGeom prst="rect">
            <a:avLst/>
          </a:prstGeom>
          <a:noFill/>
          <a:ln/>
        </p:spPr>
        <p:txBody>
          <a:bodyPr wrap="square" lIns="0" tIns="0" rIns="0" bIns="0" rtlCol="0" anchor="t"/>
          <a:lstStyle/>
          <a:p>
            <a:pPr indent="0" marL="0">
              <a:buNone/>
            </a:pPr>
            <a:r>
              <a:rPr lang="vi-VN" sz="1600" b="1" dirty="0">
                <a:solidFill>
                  <a:schemeClr val="tx2"/>
                </a:solidFill>
              </a:rPr>
              <a:t>Đếm và nhận diện</a:t>
            </a:r>
            <a:endParaRPr lang="vi-VN" sz="1600" dirty="0"/>
          </a:p>
          <a:p>
            <a:pPr indent="0" marL="0">
              <a:buNone/>
            </a:pPr>
            <a:r>
              <a:rPr lang="vi-VN" sz="1300" dirty="0">
                <a:solidFill>
                  <a:schemeClr val="accent4"/>
                </a:solidFill>
              </a:rPr>
              <a:t>7 chi tiết: 2 M4×20, 1 M3×6, 3 nhựa, 1 không xác định.</a:t>
            </a:r>
            <a:endParaRPr lang="vi-VN" sz="1600" dirty="0"/>
          </a:p>
        </p:txBody>
      </p:sp>
      <p:sp>
        <p:nvSpPr>
          <p:cNvPr id="64" name="A row 1 dot"/>
          <p:cNvSpPr/>
          <p:nvPr/>
        </p:nvSpPr>
        <p:spPr>
          <a:xfrm>
            <a:off x="6629400" y="2459736"/>
            <a:ext cx="402336" cy="402336"/>
          </a:xfrm>
          <a:prstGeom prst="ellipse">
            <a:avLst/>
          </a:prstGeom>
          <a:solidFill>
            <a:schemeClr val="tx2"/>
          </a:solidFill>
          <a:ln/>
        </p:spPr>
      </p:sp>
      <p:pic>
        <p:nvPicPr>
          <p:cNvPr id="65" name="A row 1 icon" descr="preencoded.png">    </p:cNvPr>
          <p:cNvPicPr>
            <a:picLocks noChangeAspect="1"/>
          </p:cNvPicPr>
          <p:nvPr/>
        </p:nvPicPr>
        <p:blipFill>
          <a:blip r:embed="rId3"/>
          <a:stretch>
            <a:fillRect/>
          </a:stretch>
        </p:blipFill>
        <p:spPr>
          <a:xfrm>
            <a:off x="6729984" y="2560320"/>
            <a:ext cx="201168" cy="201168"/>
          </a:xfrm>
          <a:prstGeom prst="rect">
            <a:avLst/>
          </a:prstGeom>
        </p:spPr>
      </p:pic>
      <p:sp>
        <p:nvSpPr>
          <p:cNvPr id="66" name="A row 1 text"/>
          <p:cNvSpPr txBox="1"/>
          <p:nvPr/>
        </p:nvSpPr>
        <p:spPr>
          <a:xfrm>
            <a:off x="7178040" y="2404872"/>
            <a:ext cx="4480560" cy="658368"/>
          </a:xfrm>
          <a:prstGeom prst="rect">
            <a:avLst/>
          </a:prstGeom>
          <a:noFill/>
          <a:ln/>
        </p:spPr>
        <p:txBody>
          <a:bodyPr wrap="square" lIns="0" tIns="0" rIns="0" bIns="0" rtlCol="0" anchor="t"/>
          <a:lstStyle/>
          <a:p>
            <a:pPr indent="0" marL="0">
              <a:buNone/>
            </a:pPr>
            <a:r>
              <a:rPr lang="vi-VN" sz="1600" b="1" dirty="0">
                <a:solidFill>
                  <a:schemeClr val="tx2"/>
                </a:solidFill>
              </a:rPr>
              <a:t>Đo kích thước</a:t>
            </a:r>
            <a:endParaRPr lang="vi-VN" sz="1600" dirty="0"/>
          </a:p>
          <a:p>
            <a:pPr indent="0" marL="0">
              <a:buNone/>
            </a:pPr>
            <a:r>
              <a:rPr lang="vi-VN" sz="1300" dirty="0">
                <a:solidFill>
                  <a:schemeClr val="accent4"/>
                </a:solidFill>
              </a:rPr>
              <a:t>Chiều dài từng con vít, tính bằng mm.</a:t>
            </a:r>
            <a:endParaRPr lang="vi-VN" sz="1600" dirty="0"/>
          </a:p>
        </p:txBody>
      </p:sp>
      <p:sp>
        <p:nvSpPr>
          <p:cNvPr id="67" name="A row 2 dot"/>
          <p:cNvSpPr/>
          <p:nvPr/>
        </p:nvSpPr>
        <p:spPr>
          <a:xfrm>
            <a:off x="6629400" y="3191256"/>
            <a:ext cx="402336" cy="402336"/>
          </a:xfrm>
          <a:prstGeom prst="ellipse">
            <a:avLst/>
          </a:prstGeom>
          <a:solidFill>
            <a:schemeClr val="tx2"/>
          </a:solidFill>
          <a:ln/>
        </p:spPr>
      </p:sp>
      <p:pic>
        <p:nvPicPr>
          <p:cNvPr id="68" name="A row 2 icon" descr="preencoded.png">    </p:cNvPr>
          <p:cNvPicPr>
            <a:picLocks noChangeAspect="1"/>
          </p:cNvPicPr>
          <p:nvPr/>
        </p:nvPicPr>
        <p:blipFill>
          <a:blip r:embed="rId4"/>
          <a:stretch>
            <a:fillRect/>
          </a:stretch>
        </p:blipFill>
        <p:spPr>
          <a:xfrm>
            <a:off x="6729984" y="3291840"/>
            <a:ext cx="201168" cy="201168"/>
          </a:xfrm>
          <a:prstGeom prst="rect">
            <a:avLst/>
          </a:prstGeom>
        </p:spPr>
      </p:pic>
      <p:sp>
        <p:nvSpPr>
          <p:cNvPr id="69" name="A row 2 text"/>
          <p:cNvSpPr txBox="1"/>
          <p:nvPr/>
        </p:nvSpPr>
        <p:spPr>
          <a:xfrm>
            <a:off x="7178040" y="3136392"/>
            <a:ext cx="4480560" cy="658368"/>
          </a:xfrm>
          <a:prstGeom prst="rect">
            <a:avLst/>
          </a:prstGeom>
          <a:noFill/>
          <a:ln/>
        </p:spPr>
        <p:txBody>
          <a:bodyPr wrap="square" lIns="0" tIns="0" rIns="0" bIns="0" rtlCol="0" anchor="t"/>
          <a:lstStyle/>
          <a:p>
            <a:pPr indent="0" marL="0">
              <a:buNone/>
            </a:pPr>
            <a:r>
              <a:rPr lang="vi-VN" sz="1600" b="1" dirty="0">
                <a:solidFill>
                  <a:schemeClr val="tx2"/>
                </a:solidFill>
              </a:rPr>
              <a:t>Màu sắc</a:t>
            </a:r>
            <a:endParaRPr lang="vi-VN" sz="1600" dirty="0"/>
          </a:p>
          <a:p>
            <a:pPr indent="0" marL="0">
              <a:buNone/>
            </a:pPr>
            <a:r>
              <a:rPr lang="vi-VN" sz="1300" dirty="0">
                <a:solidFill>
                  <a:schemeClr val="accent4"/>
                </a:solidFill>
              </a:rPr>
              <a:t>Lớp hoàn thiện so với mẫu chuẩn oxit đen.</a:t>
            </a:r>
            <a:endParaRPr lang="vi-VN" sz="1600" dirty="0"/>
          </a:p>
        </p:txBody>
      </p:sp>
      <p:sp>
        <p:nvSpPr>
          <p:cNvPr id="70" name="A row 3 dot"/>
          <p:cNvSpPr/>
          <p:nvPr/>
        </p:nvSpPr>
        <p:spPr>
          <a:xfrm>
            <a:off x="6629400" y="3922776"/>
            <a:ext cx="402336" cy="402336"/>
          </a:xfrm>
          <a:prstGeom prst="ellipse">
            <a:avLst/>
          </a:prstGeom>
          <a:solidFill>
            <a:schemeClr val="tx2"/>
          </a:solidFill>
          <a:ln/>
        </p:spPr>
      </p:sp>
      <p:pic>
        <p:nvPicPr>
          <p:cNvPr id="71" name="A row 3 icon" descr="preencoded.png">    </p:cNvPr>
          <p:cNvPicPr>
            <a:picLocks noChangeAspect="1"/>
          </p:cNvPicPr>
          <p:nvPr/>
        </p:nvPicPr>
        <p:blipFill>
          <a:blip r:embed="rId5"/>
          <a:stretch>
            <a:fillRect/>
          </a:stretch>
        </p:blipFill>
        <p:spPr>
          <a:xfrm>
            <a:off x="6729984" y="4023360"/>
            <a:ext cx="201168" cy="201168"/>
          </a:xfrm>
          <a:prstGeom prst="rect">
            <a:avLst/>
          </a:prstGeom>
        </p:spPr>
      </p:pic>
      <p:sp>
        <p:nvSpPr>
          <p:cNvPr id="72" name="A row 3 text"/>
          <p:cNvSpPr txBox="1"/>
          <p:nvPr/>
        </p:nvSpPr>
        <p:spPr>
          <a:xfrm>
            <a:off x="7178040" y="3867912"/>
            <a:ext cx="4480560" cy="658368"/>
          </a:xfrm>
          <a:prstGeom prst="rect">
            <a:avLst/>
          </a:prstGeom>
          <a:noFill/>
          <a:ln/>
        </p:spPr>
        <p:txBody>
          <a:bodyPr wrap="square" lIns="0" tIns="0" rIns="0" bIns="0" rtlCol="0" anchor="t"/>
          <a:lstStyle/>
          <a:p>
            <a:pPr indent="0" marL="0">
              <a:buNone/>
            </a:pPr>
            <a:r>
              <a:rPr lang="vi-VN" sz="1600" b="1" dirty="0">
                <a:solidFill>
                  <a:schemeClr val="tx2"/>
                </a:solidFill>
              </a:rPr>
              <a:t>Lỗi</a:t>
            </a:r>
            <a:endParaRPr lang="vi-VN" sz="1600" dirty="0"/>
          </a:p>
          <a:p>
            <a:pPr indent="0" marL="0">
              <a:buNone/>
            </a:pPr>
            <a:r>
              <a:rPr lang="vi-VN" sz="1300" dirty="0">
                <a:solidFill>
                  <a:schemeClr val="accent4"/>
                </a:solidFill>
              </a:rPr>
              <a:t>2 bu lông gãy, 1 chi tiết sai hướng.</a:t>
            </a:r>
            <a:endParaRPr lang="vi-VN" sz="1600" dirty="0"/>
          </a:p>
        </p:txBody>
      </p:sp>
      <p:sp>
        <p:nvSpPr>
          <p:cNvPr id="73" name="A row 4 dot"/>
          <p:cNvSpPr/>
          <p:nvPr/>
        </p:nvSpPr>
        <p:spPr>
          <a:xfrm>
            <a:off x="6629400" y="4654296"/>
            <a:ext cx="402336" cy="402336"/>
          </a:xfrm>
          <a:prstGeom prst="ellipse">
            <a:avLst/>
          </a:prstGeom>
          <a:solidFill>
            <a:schemeClr val="tx2"/>
          </a:solidFill>
          <a:ln/>
        </p:spPr>
      </p:sp>
      <p:pic>
        <p:nvPicPr>
          <p:cNvPr id="74" name="A row 4 icon" descr="preencoded.png">    </p:cNvPr>
          <p:cNvPicPr>
            <a:picLocks noChangeAspect="1"/>
          </p:cNvPicPr>
          <p:nvPr/>
        </p:nvPicPr>
        <p:blipFill>
          <a:blip r:embed="rId6"/>
          <a:stretch>
            <a:fillRect/>
          </a:stretch>
        </p:blipFill>
        <p:spPr>
          <a:xfrm>
            <a:off x="6729984" y="4754880"/>
            <a:ext cx="201168" cy="201168"/>
          </a:xfrm>
          <a:prstGeom prst="rect">
            <a:avLst/>
          </a:prstGeom>
        </p:spPr>
      </p:pic>
      <p:sp>
        <p:nvSpPr>
          <p:cNvPr id="75" name="A row 4 text"/>
          <p:cNvSpPr txBox="1"/>
          <p:nvPr/>
        </p:nvSpPr>
        <p:spPr>
          <a:xfrm>
            <a:off x="7178040" y="4599432"/>
            <a:ext cx="4480560" cy="658368"/>
          </a:xfrm>
          <a:prstGeom prst="rect">
            <a:avLst/>
          </a:prstGeom>
          <a:noFill/>
          <a:ln/>
        </p:spPr>
        <p:txBody>
          <a:bodyPr wrap="square" lIns="0" tIns="0" rIns="0" bIns="0" rtlCol="0" anchor="t"/>
          <a:lstStyle/>
          <a:p>
            <a:pPr indent="0" marL="0">
              <a:buNone/>
            </a:pPr>
            <a:r>
              <a:rPr lang="vi-VN" sz="1600" b="1" dirty="0">
                <a:solidFill>
                  <a:schemeClr val="tx2"/>
                </a:solidFill>
              </a:rPr>
              <a:t>Bất thường</a:t>
            </a:r>
            <a:endParaRPr lang="vi-VN" sz="1600" dirty="0"/>
          </a:p>
          <a:p>
            <a:pPr indent="0" marL="0">
              <a:buNone/>
            </a:pPr>
            <a:r>
              <a:rPr lang="vi-VN" sz="1300" dirty="0">
                <a:solidFill>
                  <a:schemeClr val="accent4"/>
                </a:solidFill>
              </a:rPr>
              <a:t>1 vật chưa từng được huấn luyện.</a:t>
            </a:r>
            <a:endParaRPr lang="vi-VN" sz="1600" dirty="0"/>
          </a:p>
        </p:txBody>
      </p:sp>
      <p:sp>
        <p:nvSpPr>
          <p:cNvPr id="76" name="A row 5 dot"/>
          <p:cNvSpPr/>
          <p:nvPr/>
        </p:nvSpPr>
        <p:spPr>
          <a:xfrm>
            <a:off x="6629400" y="5385816"/>
            <a:ext cx="402336" cy="402336"/>
          </a:xfrm>
          <a:prstGeom prst="ellipse">
            <a:avLst/>
          </a:prstGeom>
          <a:solidFill>
            <a:schemeClr val="tx2"/>
          </a:solidFill>
          <a:ln/>
        </p:spPr>
      </p:sp>
      <p:pic>
        <p:nvPicPr>
          <p:cNvPr id="77" name="A row 5 icon" descr="preencoded.png">    </p:cNvPr>
          <p:cNvPicPr>
            <a:picLocks noChangeAspect="1"/>
          </p:cNvPicPr>
          <p:nvPr/>
        </p:nvPicPr>
        <p:blipFill>
          <a:blip r:embed="rId7"/>
          <a:stretch>
            <a:fillRect/>
          </a:stretch>
        </p:blipFill>
        <p:spPr>
          <a:xfrm>
            <a:off x="6729984" y="5486400"/>
            <a:ext cx="201168" cy="201168"/>
          </a:xfrm>
          <a:prstGeom prst="rect">
            <a:avLst/>
          </a:prstGeom>
        </p:spPr>
      </p:pic>
      <p:sp>
        <p:nvSpPr>
          <p:cNvPr id="78" name="A row 5 text"/>
          <p:cNvSpPr txBox="1"/>
          <p:nvPr/>
        </p:nvSpPr>
        <p:spPr>
          <a:xfrm>
            <a:off x="7178040" y="5330952"/>
            <a:ext cx="4480560" cy="658368"/>
          </a:xfrm>
          <a:prstGeom prst="rect">
            <a:avLst/>
          </a:prstGeom>
          <a:noFill/>
          <a:ln/>
        </p:spPr>
        <p:txBody>
          <a:bodyPr wrap="square" lIns="0" tIns="0" rIns="0" bIns="0" rtlCol="0" anchor="t"/>
          <a:lstStyle/>
          <a:p>
            <a:pPr indent="0" marL="0">
              <a:buNone/>
            </a:pPr>
            <a:r>
              <a:rPr lang="vi-VN" sz="1600" b="1" dirty="0">
                <a:solidFill>
                  <a:schemeClr val="tx2"/>
                </a:solidFill>
              </a:rPr>
              <a:t>Kết luận</a:t>
            </a:r>
            <a:endParaRPr lang="vi-VN" sz="1600" dirty="0"/>
          </a:p>
          <a:p>
            <a:pPr indent="0" marL="0">
              <a:buNone/>
            </a:pPr>
            <a:r>
              <a:rPr lang="vi-VN" sz="1300" dirty="0">
                <a:solidFill>
                  <a:schemeClr val="accent4"/>
                </a:solidFill>
              </a:rPr>
              <a:t>3 đạt, 4 loại. Ghi vào báo cáo ca.</a:t>
            </a:r>
            <a:endParaRPr lang="vi-VN" sz="1600" dirty="0"/>
          </a:p>
        </p:txBody>
      </p:sp>
      <p:sp>
        <p:nvSpPr>
          <p:cNvPr id="79" name="Text 70"/>
          <p:cNvSpPr txBox="1"/>
          <p:nvPr/>
        </p:nvSpPr>
        <p:spPr>
          <a:xfrm>
            <a:off x="6629400" y="6172200"/>
            <a:ext cx="5029200" cy="228600"/>
          </a:xfrm>
          <a:prstGeom prst="rect">
            <a:avLst/>
          </a:prstGeom>
          <a:noFill/>
          <a:ln/>
        </p:spPr>
        <p:txBody>
          <a:bodyPr wrap="square" lIns="0" tIns="0" rIns="0" bIns="0" rtlCol="0" anchor="ctr"/>
          <a:lstStyle/>
          <a:p>
            <a:pPr indent="0" marL="0">
              <a:buNone/>
            </a:pPr>
            <a:r>
              <a:rPr lang="vi-VN" sz="900" dirty="0">
                <a:solidFill>
                  <a:schemeClr val="accent6"/>
                </a:solidFill>
              </a:rPr>
              <a:t>Ảnh thật, kết quả đo của MetriQ được vẽ minh họa.</a:t>
            </a:r>
            <a:endParaRPr lang="vi-VN" sz="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vi-VN"/>
              <a:t>4</a:t>
            </a:fld>
            <a:endParaRPr lang="vi-V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fade">
                                      <p:cBhvr>
                                        <p:cTn id="7" dur="450"/>
                                        <p:tgtEl>
                                          <p:spTgt spid="6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2"/>
                                        </p:tgtEl>
                                        <p:attrNameLst>
                                          <p:attrName>style.visibility</p:attrName>
                                        </p:attrNameLst>
                                      </p:cBhvr>
                                      <p:to>
                                        <p:strVal val="visible"/>
                                      </p:to>
                                    </p:set>
                                    <p:animEffect transition="in" filter="fade">
                                      <p:cBhvr>
                                        <p:cTn id="10" dur="450"/>
                                        <p:tgtEl>
                                          <p:spTgt spid="6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3"/>
                                        </p:tgtEl>
                                        <p:attrNameLst>
                                          <p:attrName>style.visibility</p:attrName>
                                        </p:attrNameLst>
                                      </p:cBhvr>
                                      <p:to>
                                        <p:strVal val="visible"/>
                                      </p:to>
                                    </p:set>
                                    <p:animEffect transition="in" filter="fade">
                                      <p:cBhvr>
                                        <p:cTn id="13" dur="450"/>
                                        <p:tgtEl>
                                          <p:spTgt spid="6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50"/>
                                        <p:tgtEl>
                                          <p:spTgt spid="1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50"/>
                                        <p:tgtEl>
                                          <p:spTgt spid="1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5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45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450"/>
                                        <p:tgtEl>
                                          <p:spTgt spid="16"/>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5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5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xit" presetSubtype="0" fill="hold" grpId="1" nodeType="withEffect">
                                  <p:stCondLst>
                                    <p:cond delay="2600"/>
                                  </p:stCondLst>
                                  <p:childTnLst>
                                    <p:animEffect transition="out" filter="fade">
                                      <p:cBhvr>
                                        <p:cTn id="57" dur="450"/>
                                        <p:tgtEl>
                                          <p:spTgt spid="6"/>
                                        </p:tgtEl>
                                      </p:cBhvr>
                                    </p:animEffect>
                                    <p:set>
                                      <p:cBhvr>
                                        <p:cTn id="58" dur="1" fill="hold">
                                          <p:stCondLst>
                                            <p:cond delay="449"/>
                                          </p:stCondLst>
                                        </p:cTn>
                                        <p:tgtEl>
                                          <p:spTgt spid="6"/>
                                        </p:tgtEl>
                                        <p:attrNameLst>
                                          <p:attrName>style.visibility</p:attrName>
                                        </p:attrNameLst>
                                      </p:cBhvr>
                                      <p:to>
                                        <p:strVal val="hidden"/>
                                      </p:to>
                                    </p:set>
                                  </p:childTnLst>
                                </p:cTn>
                              </p:par>
                              <p:par>
                                <p:cTn id="59" presetID="10" presetClass="exit" presetSubtype="0" fill="hold" grpId="1" nodeType="withEffect">
                                  <p:stCondLst>
                                    <p:cond delay="2600"/>
                                  </p:stCondLst>
                                  <p:childTnLst>
                                    <p:animEffect transition="out" filter="fade">
                                      <p:cBhvr>
                                        <p:cTn id="60" dur="450"/>
                                        <p:tgtEl>
                                          <p:spTgt spid="7"/>
                                        </p:tgtEl>
                                      </p:cBhvr>
                                    </p:animEffect>
                                    <p:set>
                                      <p:cBhvr>
                                        <p:cTn id="61" dur="1" fill="hold">
                                          <p:stCondLst>
                                            <p:cond delay="449"/>
                                          </p:stCondLst>
                                        </p:cTn>
                                        <p:tgtEl>
                                          <p:spTgt spid="7"/>
                                        </p:tgtEl>
                                        <p:attrNameLst>
                                          <p:attrName>style.visibility</p:attrName>
                                        </p:attrNameLst>
                                      </p:cBhvr>
                                      <p:to>
                                        <p:strVal val="hidden"/>
                                      </p:to>
                                    </p:set>
                                  </p:childTnLst>
                                </p:cTn>
                              </p:par>
                              <p:par>
                                <p:cTn id="62" presetID="10" presetClass="exit" presetSubtype="0" fill="hold" grpId="1" nodeType="withEffect">
                                  <p:stCondLst>
                                    <p:cond delay="2600"/>
                                  </p:stCondLst>
                                  <p:childTnLst>
                                    <p:animEffect transition="out" filter="fade">
                                      <p:cBhvr>
                                        <p:cTn id="63" dur="450"/>
                                        <p:tgtEl>
                                          <p:spTgt spid="8"/>
                                        </p:tgtEl>
                                      </p:cBhvr>
                                    </p:animEffect>
                                    <p:set>
                                      <p:cBhvr>
                                        <p:cTn id="64" dur="1" fill="hold">
                                          <p:stCondLst>
                                            <p:cond delay="449"/>
                                          </p:stCondLst>
                                        </p:cTn>
                                        <p:tgtEl>
                                          <p:spTgt spid="8"/>
                                        </p:tgtEl>
                                        <p:attrNameLst>
                                          <p:attrName>style.visibility</p:attrName>
                                        </p:attrNameLst>
                                      </p:cBhvr>
                                      <p:to>
                                        <p:strVal val="hidden"/>
                                      </p:to>
                                    </p:set>
                                  </p:childTnLst>
                                </p:cTn>
                              </p:par>
                              <p:par>
                                <p:cTn id="65" presetID="10" presetClass="exit" presetSubtype="0" fill="hold" grpId="1" nodeType="withEffect">
                                  <p:stCondLst>
                                    <p:cond delay="2600"/>
                                  </p:stCondLst>
                                  <p:childTnLst>
                                    <p:animEffect transition="out" filter="fade">
                                      <p:cBhvr>
                                        <p:cTn id="66" dur="450"/>
                                        <p:tgtEl>
                                          <p:spTgt spid="9"/>
                                        </p:tgtEl>
                                      </p:cBhvr>
                                    </p:animEffect>
                                    <p:set>
                                      <p:cBhvr>
                                        <p:cTn id="67" dur="1" fill="hold">
                                          <p:stCondLst>
                                            <p:cond delay="449"/>
                                          </p:stCondLst>
                                        </p:cTn>
                                        <p:tgtEl>
                                          <p:spTgt spid="9"/>
                                        </p:tgtEl>
                                        <p:attrNameLst>
                                          <p:attrName>style.visibility</p:attrName>
                                        </p:attrNameLst>
                                      </p:cBhvr>
                                      <p:to>
                                        <p:strVal val="hidden"/>
                                      </p:to>
                                    </p:set>
                                  </p:childTnLst>
                                </p:cTn>
                              </p:par>
                              <p:par>
                                <p:cTn id="68" presetID="10" presetClass="exit" presetSubtype="0" fill="hold" grpId="1" nodeType="withEffect">
                                  <p:stCondLst>
                                    <p:cond delay="2600"/>
                                  </p:stCondLst>
                                  <p:childTnLst>
                                    <p:animEffect transition="out" filter="fade">
                                      <p:cBhvr>
                                        <p:cTn id="69" dur="450"/>
                                        <p:tgtEl>
                                          <p:spTgt spid="10"/>
                                        </p:tgtEl>
                                      </p:cBhvr>
                                    </p:animEffect>
                                    <p:set>
                                      <p:cBhvr>
                                        <p:cTn id="70" dur="1" fill="hold">
                                          <p:stCondLst>
                                            <p:cond delay="449"/>
                                          </p:stCondLst>
                                        </p:cTn>
                                        <p:tgtEl>
                                          <p:spTgt spid="10"/>
                                        </p:tgtEl>
                                        <p:attrNameLst>
                                          <p:attrName>style.visibility</p:attrName>
                                        </p:attrNameLst>
                                      </p:cBhvr>
                                      <p:to>
                                        <p:strVal val="hidden"/>
                                      </p:to>
                                    </p:set>
                                  </p:childTnLst>
                                </p:cTn>
                              </p:par>
                              <p:par>
                                <p:cTn id="71" presetID="10" presetClass="exit" presetSubtype="0" fill="hold" grpId="1" nodeType="withEffect">
                                  <p:stCondLst>
                                    <p:cond delay="2600"/>
                                  </p:stCondLst>
                                  <p:childTnLst>
                                    <p:animEffect transition="out" filter="fade">
                                      <p:cBhvr>
                                        <p:cTn id="72" dur="450"/>
                                        <p:tgtEl>
                                          <p:spTgt spid="11"/>
                                        </p:tgtEl>
                                      </p:cBhvr>
                                    </p:animEffect>
                                    <p:set>
                                      <p:cBhvr>
                                        <p:cTn id="73" dur="1" fill="hold">
                                          <p:stCondLst>
                                            <p:cond delay="449"/>
                                          </p:stCondLst>
                                        </p:cTn>
                                        <p:tgtEl>
                                          <p:spTgt spid="11"/>
                                        </p:tgtEl>
                                        <p:attrNameLst>
                                          <p:attrName>style.visibility</p:attrName>
                                        </p:attrNameLst>
                                      </p:cBhvr>
                                      <p:to>
                                        <p:strVal val="hidden"/>
                                      </p:to>
                                    </p:set>
                                  </p:childTnLst>
                                </p:cTn>
                              </p:par>
                              <p:par>
                                <p:cTn id="74" presetID="10" presetClass="exit" presetSubtype="0" fill="hold" grpId="1" nodeType="withEffect">
                                  <p:stCondLst>
                                    <p:cond delay="2600"/>
                                  </p:stCondLst>
                                  <p:childTnLst>
                                    <p:animEffect transition="out" filter="fade">
                                      <p:cBhvr>
                                        <p:cTn id="75" dur="450"/>
                                        <p:tgtEl>
                                          <p:spTgt spid="12"/>
                                        </p:tgtEl>
                                      </p:cBhvr>
                                    </p:animEffect>
                                    <p:set>
                                      <p:cBhvr>
                                        <p:cTn id="76" dur="1" fill="hold">
                                          <p:stCondLst>
                                            <p:cond delay="449"/>
                                          </p:stCondLst>
                                        </p:cTn>
                                        <p:tgtEl>
                                          <p:spTgt spid="12"/>
                                        </p:tgtEl>
                                        <p:attrNameLst>
                                          <p:attrName>style.visibility</p:attrName>
                                        </p:attrNameLst>
                                      </p:cBhvr>
                                      <p:to>
                                        <p:strVal val="hidden"/>
                                      </p:to>
                                    </p:set>
                                  </p:childTnLst>
                                </p:cTn>
                              </p:par>
                              <p:par>
                                <p:cTn id="77" presetID="10" presetClass="exit" presetSubtype="0" fill="hold" grpId="1" nodeType="withEffect">
                                  <p:stCondLst>
                                    <p:cond delay="2600"/>
                                  </p:stCondLst>
                                  <p:childTnLst>
                                    <p:animEffect transition="out" filter="fade">
                                      <p:cBhvr>
                                        <p:cTn id="78" dur="450"/>
                                        <p:tgtEl>
                                          <p:spTgt spid="13"/>
                                        </p:tgtEl>
                                      </p:cBhvr>
                                    </p:animEffect>
                                    <p:set>
                                      <p:cBhvr>
                                        <p:cTn id="79" dur="1" fill="hold">
                                          <p:stCondLst>
                                            <p:cond delay="449"/>
                                          </p:stCondLst>
                                        </p:cTn>
                                        <p:tgtEl>
                                          <p:spTgt spid="13"/>
                                        </p:tgtEl>
                                        <p:attrNameLst>
                                          <p:attrName>style.visibility</p:attrName>
                                        </p:attrNameLst>
                                      </p:cBhvr>
                                      <p:to>
                                        <p:strVal val="hidden"/>
                                      </p:to>
                                    </p:set>
                                  </p:childTnLst>
                                </p:cTn>
                              </p:par>
                              <p:par>
                                <p:cTn id="80" presetID="10" presetClass="exit" presetSubtype="0" fill="hold" grpId="1" nodeType="withEffect">
                                  <p:stCondLst>
                                    <p:cond delay="2600"/>
                                  </p:stCondLst>
                                  <p:childTnLst>
                                    <p:animEffect transition="out" filter="fade">
                                      <p:cBhvr>
                                        <p:cTn id="81" dur="450"/>
                                        <p:tgtEl>
                                          <p:spTgt spid="14"/>
                                        </p:tgtEl>
                                      </p:cBhvr>
                                    </p:animEffect>
                                    <p:set>
                                      <p:cBhvr>
                                        <p:cTn id="82" dur="1" fill="hold">
                                          <p:stCondLst>
                                            <p:cond delay="449"/>
                                          </p:stCondLst>
                                        </p:cTn>
                                        <p:tgtEl>
                                          <p:spTgt spid="14"/>
                                        </p:tgtEl>
                                        <p:attrNameLst>
                                          <p:attrName>style.visibility</p:attrName>
                                        </p:attrNameLst>
                                      </p:cBhvr>
                                      <p:to>
                                        <p:strVal val="hidden"/>
                                      </p:to>
                                    </p:set>
                                  </p:childTnLst>
                                </p:cTn>
                              </p:par>
                              <p:par>
                                <p:cTn id="83" presetID="10" presetClass="exit" presetSubtype="0" fill="hold" grpId="1" nodeType="withEffect">
                                  <p:stCondLst>
                                    <p:cond delay="2600"/>
                                  </p:stCondLst>
                                  <p:childTnLst>
                                    <p:animEffect transition="out" filter="fade">
                                      <p:cBhvr>
                                        <p:cTn id="84" dur="450"/>
                                        <p:tgtEl>
                                          <p:spTgt spid="15"/>
                                        </p:tgtEl>
                                      </p:cBhvr>
                                    </p:animEffect>
                                    <p:set>
                                      <p:cBhvr>
                                        <p:cTn id="85" dur="1" fill="hold">
                                          <p:stCondLst>
                                            <p:cond delay="449"/>
                                          </p:stCondLst>
                                        </p:cTn>
                                        <p:tgtEl>
                                          <p:spTgt spid="15"/>
                                        </p:tgtEl>
                                        <p:attrNameLst>
                                          <p:attrName>style.visibility</p:attrName>
                                        </p:attrNameLst>
                                      </p:cBhvr>
                                      <p:to>
                                        <p:strVal val="hidden"/>
                                      </p:to>
                                    </p:set>
                                  </p:childTnLst>
                                </p:cTn>
                              </p:par>
                              <p:par>
                                <p:cTn id="86" presetID="10" presetClass="exit" presetSubtype="0" fill="hold" grpId="1" nodeType="withEffect">
                                  <p:stCondLst>
                                    <p:cond delay="2600"/>
                                  </p:stCondLst>
                                  <p:childTnLst>
                                    <p:animEffect transition="out" filter="fade">
                                      <p:cBhvr>
                                        <p:cTn id="87" dur="450"/>
                                        <p:tgtEl>
                                          <p:spTgt spid="16"/>
                                        </p:tgtEl>
                                      </p:cBhvr>
                                    </p:animEffect>
                                    <p:set>
                                      <p:cBhvr>
                                        <p:cTn id="88" dur="1" fill="hold">
                                          <p:stCondLst>
                                            <p:cond delay="449"/>
                                          </p:stCondLst>
                                        </p:cTn>
                                        <p:tgtEl>
                                          <p:spTgt spid="16"/>
                                        </p:tgtEl>
                                        <p:attrNameLst>
                                          <p:attrName>style.visibility</p:attrName>
                                        </p:attrNameLst>
                                      </p:cBhvr>
                                      <p:to>
                                        <p:strVal val="hidden"/>
                                      </p:to>
                                    </p:set>
                                  </p:childTnLst>
                                </p:cTn>
                              </p:par>
                              <p:par>
                                <p:cTn id="89" presetID="10" presetClass="exit" presetSubtype="0" fill="hold" grpId="1" nodeType="withEffect">
                                  <p:stCondLst>
                                    <p:cond delay="2600"/>
                                  </p:stCondLst>
                                  <p:childTnLst>
                                    <p:animEffect transition="out" filter="fade">
                                      <p:cBhvr>
                                        <p:cTn id="90" dur="450"/>
                                        <p:tgtEl>
                                          <p:spTgt spid="17"/>
                                        </p:tgtEl>
                                      </p:cBhvr>
                                    </p:animEffect>
                                    <p:set>
                                      <p:cBhvr>
                                        <p:cTn id="91" dur="1" fill="hold">
                                          <p:stCondLst>
                                            <p:cond delay="449"/>
                                          </p:stCondLst>
                                        </p:cTn>
                                        <p:tgtEl>
                                          <p:spTgt spid="17"/>
                                        </p:tgtEl>
                                        <p:attrNameLst>
                                          <p:attrName>style.visibility</p:attrName>
                                        </p:attrNameLst>
                                      </p:cBhvr>
                                      <p:to>
                                        <p:strVal val="hidden"/>
                                      </p:to>
                                    </p:set>
                                  </p:childTnLst>
                                </p:cTn>
                              </p:par>
                              <p:par>
                                <p:cTn id="92" presetID="10" presetClass="exit" presetSubtype="0" fill="hold" grpId="1" nodeType="withEffect">
                                  <p:stCondLst>
                                    <p:cond delay="2600"/>
                                  </p:stCondLst>
                                  <p:childTnLst>
                                    <p:animEffect transition="out" filter="fade">
                                      <p:cBhvr>
                                        <p:cTn id="93" dur="450"/>
                                        <p:tgtEl>
                                          <p:spTgt spid="18"/>
                                        </p:tgtEl>
                                      </p:cBhvr>
                                    </p:animEffect>
                                    <p:set>
                                      <p:cBhvr>
                                        <p:cTn id="94" dur="1" fill="hold">
                                          <p:stCondLst>
                                            <p:cond delay="449"/>
                                          </p:stCondLst>
                                        </p:cTn>
                                        <p:tgtEl>
                                          <p:spTgt spid="18"/>
                                        </p:tgtEl>
                                        <p:attrNameLst>
                                          <p:attrName>style.visibility</p:attrName>
                                        </p:attrNameLst>
                                      </p:cBhvr>
                                      <p:to>
                                        <p:strVal val="hidden"/>
                                      </p:to>
                                    </p:set>
                                  </p:childTnLst>
                                </p:cTn>
                              </p:par>
                              <p:par>
                                <p:cTn id="95" presetID="10" presetClass="exit" presetSubtype="0" fill="hold" grpId="1" nodeType="withEffect">
                                  <p:stCondLst>
                                    <p:cond delay="2600"/>
                                  </p:stCondLst>
                                  <p:childTnLst>
                                    <p:animEffect transition="out" filter="fade">
                                      <p:cBhvr>
                                        <p:cTn id="96" dur="450"/>
                                        <p:tgtEl>
                                          <p:spTgt spid="19"/>
                                        </p:tgtEl>
                                      </p:cBhvr>
                                    </p:animEffect>
                                    <p:set>
                                      <p:cBhvr>
                                        <p:cTn id="97" dur="1" fill="hold">
                                          <p:stCondLst>
                                            <p:cond delay="449"/>
                                          </p:stCondLst>
                                        </p:cTn>
                                        <p:tgtEl>
                                          <p:spTgt spid="19"/>
                                        </p:tgtEl>
                                        <p:attrNameLst>
                                          <p:attrName>style.visibility</p:attrName>
                                        </p:attrNameLst>
                                      </p:cBhvr>
                                      <p:to>
                                        <p:strVal val="hidden"/>
                                      </p:to>
                                    </p:set>
                                  </p:childTnLst>
                                </p:cTn>
                              </p:par>
                              <p:par>
                                <p:cTn id="98" presetID="10" presetClass="entr" presetSubtype="0" fill="hold" grpId="0" nodeType="withEffect">
                                  <p:stCondLst>
                                    <p:cond delay="2600"/>
                                  </p:stCondLst>
                                  <p:childTnLst>
                                    <p:set>
                                      <p:cBhvr>
                                        <p:cTn id="99" dur="1" fill="hold">
                                          <p:stCondLst>
                                            <p:cond delay="0"/>
                                          </p:stCondLst>
                                        </p:cTn>
                                        <p:tgtEl>
                                          <p:spTgt spid="64"/>
                                        </p:tgtEl>
                                        <p:attrNameLst>
                                          <p:attrName>style.visibility</p:attrName>
                                        </p:attrNameLst>
                                      </p:cBhvr>
                                      <p:to>
                                        <p:strVal val="visible"/>
                                      </p:to>
                                    </p:set>
                                    <p:animEffect transition="in" filter="fade">
                                      <p:cBhvr>
                                        <p:cTn id="100" dur="450"/>
                                        <p:tgtEl>
                                          <p:spTgt spid="64"/>
                                        </p:tgtEl>
                                      </p:cBhvr>
                                    </p:animEffect>
                                  </p:childTnLst>
                                </p:cTn>
                              </p:par>
                              <p:par>
                                <p:cTn id="101" presetID="10" presetClass="entr" presetSubtype="0" fill="hold" grpId="0" nodeType="withEffect">
                                  <p:stCondLst>
                                    <p:cond delay="2600"/>
                                  </p:stCondLst>
                                  <p:childTnLst>
                                    <p:set>
                                      <p:cBhvr>
                                        <p:cTn id="102" dur="1" fill="hold">
                                          <p:stCondLst>
                                            <p:cond delay="0"/>
                                          </p:stCondLst>
                                        </p:cTn>
                                        <p:tgtEl>
                                          <p:spTgt spid="65"/>
                                        </p:tgtEl>
                                        <p:attrNameLst>
                                          <p:attrName>style.visibility</p:attrName>
                                        </p:attrNameLst>
                                      </p:cBhvr>
                                      <p:to>
                                        <p:strVal val="visible"/>
                                      </p:to>
                                    </p:set>
                                    <p:animEffect transition="in" filter="fade">
                                      <p:cBhvr>
                                        <p:cTn id="103" dur="450"/>
                                        <p:tgtEl>
                                          <p:spTgt spid="65"/>
                                        </p:tgtEl>
                                      </p:cBhvr>
                                    </p:animEffect>
                                  </p:childTnLst>
                                </p:cTn>
                              </p:par>
                              <p:par>
                                <p:cTn id="104" presetID="10" presetClass="entr" presetSubtype="0" fill="hold" grpId="0" nodeType="withEffect">
                                  <p:stCondLst>
                                    <p:cond delay="2600"/>
                                  </p:stCondLst>
                                  <p:childTnLst>
                                    <p:set>
                                      <p:cBhvr>
                                        <p:cTn id="105" dur="1" fill="hold">
                                          <p:stCondLst>
                                            <p:cond delay="0"/>
                                          </p:stCondLst>
                                        </p:cTn>
                                        <p:tgtEl>
                                          <p:spTgt spid="66"/>
                                        </p:tgtEl>
                                        <p:attrNameLst>
                                          <p:attrName>style.visibility</p:attrName>
                                        </p:attrNameLst>
                                      </p:cBhvr>
                                      <p:to>
                                        <p:strVal val="visible"/>
                                      </p:to>
                                    </p:set>
                                    <p:animEffect transition="in" filter="fade">
                                      <p:cBhvr>
                                        <p:cTn id="106" dur="450"/>
                                        <p:tgtEl>
                                          <p:spTgt spid="66"/>
                                        </p:tgtEl>
                                      </p:cBhvr>
                                    </p:animEffect>
                                  </p:childTnLst>
                                </p:cTn>
                              </p:par>
                              <p:par>
                                <p:cTn id="107" presetID="10" presetClass="entr" presetSubtype="0" fill="hold" grpId="0" nodeType="withEffect">
                                  <p:stCondLst>
                                    <p:cond delay="2600"/>
                                  </p:stCondLst>
                                  <p:childTnLst>
                                    <p:set>
                                      <p:cBhvr>
                                        <p:cTn id="108" dur="1" fill="hold">
                                          <p:stCondLst>
                                            <p:cond delay="0"/>
                                          </p:stCondLst>
                                        </p:cTn>
                                        <p:tgtEl>
                                          <p:spTgt spid="20"/>
                                        </p:tgtEl>
                                        <p:attrNameLst>
                                          <p:attrName>style.visibility</p:attrName>
                                        </p:attrNameLst>
                                      </p:cBhvr>
                                      <p:to>
                                        <p:strVal val="visible"/>
                                      </p:to>
                                    </p:set>
                                    <p:animEffect transition="in" filter="fade">
                                      <p:cBhvr>
                                        <p:cTn id="109" dur="450"/>
                                        <p:tgtEl>
                                          <p:spTgt spid="20"/>
                                        </p:tgtEl>
                                      </p:cBhvr>
                                    </p:animEffect>
                                  </p:childTnLst>
                                </p:cTn>
                              </p:par>
                              <p:par>
                                <p:cTn id="110" presetID="10" presetClass="entr" presetSubtype="0" fill="hold" grpId="0" nodeType="withEffect">
                                  <p:stCondLst>
                                    <p:cond delay="2600"/>
                                  </p:stCondLst>
                                  <p:childTnLst>
                                    <p:set>
                                      <p:cBhvr>
                                        <p:cTn id="111" dur="1" fill="hold">
                                          <p:stCondLst>
                                            <p:cond delay="0"/>
                                          </p:stCondLst>
                                        </p:cTn>
                                        <p:tgtEl>
                                          <p:spTgt spid="21"/>
                                        </p:tgtEl>
                                        <p:attrNameLst>
                                          <p:attrName>style.visibility</p:attrName>
                                        </p:attrNameLst>
                                      </p:cBhvr>
                                      <p:to>
                                        <p:strVal val="visible"/>
                                      </p:to>
                                    </p:set>
                                    <p:animEffect transition="in" filter="fade">
                                      <p:cBhvr>
                                        <p:cTn id="112" dur="450"/>
                                        <p:tgtEl>
                                          <p:spTgt spid="21"/>
                                        </p:tgtEl>
                                      </p:cBhvr>
                                    </p:animEffect>
                                  </p:childTnLst>
                                </p:cTn>
                              </p:par>
                              <p:par>
                                <p:cTn id="113" presetID="10" presetClass="entr" presetSubtype="0" fill="hold" grpId="0" nodeType="withEffect">
                                  <p:stCondLst>
                                    <p:cond delay="2600"/>
                                  </p:stCondLst>
                                  <p:childTnLst>
                                    <p:set>
                                      <p:cBhvr>
                                        <p:cTn id="114" dur="1" fill="hold">
                                          <p:stCondLst>
                                            <p:cond delay="0"/>
                                          </p:stCondLst>
                                        </p:cTn>
                                        <p:tgtEl>
                                          <p:spTgt spid="22"/>
                                        </p:tgtEl>
                                        <p:attrNameLst>
                                          <p:attrName>style.visibility</p:attrName>
                                        </p:attrNameLst>
                                      </p:cBhvr>
                                      <p:to>
                                        <p:strVal val="visible"/>
                                      </p:to>
                                    </p:set>
                                    <p:animEffect transition="in" filter="fade">
                                      <p:cBhvr>
                                        <p:cTn id="115" dur="450"/>
                                        <p:tgtEl>
                                          <p:spTgt spid="22"/>
                                        </p:tgtEl>
                                      </p:cBhvr>
                                    </p:animEffect>
                                  </p:childTnLst>
                                </p:cTn>
                              </p:par>
                              <p:par>
                                <p:cTn id="116" presetID="10" presetClass="entr" presetSubtype="0" fill="hold" grpId="0" nodeType="withEffect">
                                  <p:stCondLst>
                                    <p:cond delay="2600"/>
                                  </p:stCondLst>
                                  <p:childTnLst>
                                    <p:set>
                                      <p:cBhvr>
                                        <p:cTn id="117" dur="1" fill="hold">
                                          <p:stCondLst>
                                            <p:cond delay="0"/>
                                          </p:stCondLst>
                                        </p:cTn>
                                        <p:tgtEl>
                                          <p:spTgt spid="23"/>
                                        </p:tgtEl>
                                        <p:attrNameLst>
                                          <p:attrName>style.visibility</p:attrName>
                                        </p:attrNameLst>
                                      </p:cBhvr>
                                      <p:to>
                                        <p:strVal val="visible"/>
                                      </p:to>
                                    </p:set>
                                    <p:animEffect transition="in" filter="fade">
                                      <p:cBhvr>
                                        <p:cTn id="118" dur="450"/>
                                        <p:tgtEl>
                                          <p:spTgt spid="23"/>
                                        </p:tgtEl>
                                      </p:cBhvr>
                                    </p:animEffect>
                                  </p:childTnLst>
                                </p:cTn>
                              </p:par>
                              <p:par>
                                <p:cTn id="119" presetID="10" presetClass="entr" presetSubtype="0" fill="hold" grpId="0" nodeType="withEffect">
                                  <p:stCondLst>
                                    <p:cond delay="2600"/>
                                  </p:stCondLst>
                                  <p:childTnLst>
                                    <p:set>
                                      <p:cBhvr>
                                        <p:cTn id="120" dur="1" fill="hold">
                                          <p:stCondLst>
                                            <p:cond delay="0"/>
                                          </p:stCondLst>
                                        </p:cTn>
                                        <p:tgtEl>
                                          <p:spTgt spid="24"/>
                                        </p:tgtEl>
                                        <p:attrNameLst>
                                          <p:attrName>style.visibility</p:attrName>
                                        </p:attrNameLst>
                                      </p:cBhvr>
                                      <p:to>
                                        <p:strVal val="visible"/>
                                      </p:to>
                                    </p:set>
                                    <p:animEffect transition="in" filter="fade">
                                      <p:cBhvr>
                                        <p:cTn id="121" dur="450"/>
                                        <p:tgtEl>
                                          <p:spTgt spid="24"/>
                                        </p:tgtEl>
                                      </p:cBhvr>
                                    </p:animEffect>
                                  </p:childTnLst>
                                </p:cTn>
                              </p:par>
                              <p:par>
                                <p:cTn id="122" presetID="10" presetClass="entr" presetSubtype="0" fill="hold" grpId="0" nodeType="withEffect">
                                  <p:stCondLst>
                                    <p:cond delay="2600"/>
                                  </p:stCondLst>
                                  <p:childTnLst>
                                    <p:set>
                                      <p:cBhvr>
                                        <p:cTn id="123" dur="1" fill="hold">
                                          <p:stCondLst>
                                            <p:cond delay="0"/>
                                          </p:stCondLst>
                                        </p:cTn>
                                        <p:tgtEl>
                                          <p:spTgt spid="25"/>
                                        </p:tgtEl>
                                        <p:attrNameLst>
                                          <p:attrName>style.visibility</p:attrName>
                                        </p:attrNameLst>
                                      </p:cBhvr>
                                      <p:to>
                                        <p:strVal val="visible"/>
                                      </p:to>
                                    </p:set>
                                    <p:animEffect transition="in" filter="fade">
                                      <p:cBhvr>
                                        <p:cTn id="124" dur="450"/>
                                        <p:tgtEl>
                                          <p:spTgt spid="25"/>
                                        </p:tgtEl>
                                      </p:cBhvr>
                                    </p:animEffect>
                                  </p:childTnLst>
                                </p:cTn>
                              </p:par>
                              <p:par>
                                <p:cTn id="125" presetID="10" presetClass="exit" presetSubtype="0" fill="hold" grpId="1" nodeType="withEffect">
                                  <p:stCondLst>
                                    <p:cond delay="5200"/>
                                  </p:stCondLst>
                                  <p:childTnLst>
                                    <p:animEffect transition="out" filter="fade">
                                      <p:cBhvr>
                                        <p:cTn id="126" dur="450"/>
                                        <p:tgtEl>
                                          <p:spTgt spid="20"/>
                                        </p:tgtEl>
                                      </p:cBhvr>
                                    </p:animEffect>
                                    <p:set>
                                      <p:cBhvr>
                                        <p:cTn id="127" dur="1" fill="hold">
                                          <p:stCondLst>
                                            <p:cond delay="449"/>
                                          </p:stCondLst>
                                        </p:cTn>
                                        <p:tgtEl>
                                          <p:spTgt spid="20"/>
                                        </p:tgtEl>
                                        <p:attrNameLst>
                                          <p:attrName>style.visibility</p:attrName>
                                        </p:attrNameLst>
                                      </p:cBhvr>
                                      <p:to>
                                        <p:strVal val="hidden"/>
                                      </p:to>
                                    </p:set>
                                  </p:childTnLst>
                                </p:cTn>
                              </p:par>
                              <p:par>
                                <p:cTn id="128" presetID="10" presetClass="exit" presetSubtype="0" fill="hold" grpId="1" nodeType="withEffect">
                                  <p:stCondLst>
                                    <p:cond delay="5200"/>
                                  </p:stCondLst>
                                  <p:childTnLst>
                                    <p:animEffect transition="out" filter="fade">
                                      <p:cBhvr>
                                        <p:cTn id="129" dur="450"/>
                                        <p:tgtEl>
                                          <p:spTgt spid="21"/>
                                        </p:tgtEl>
                                      </p:cBhvr>
                                    </p:animEffect>
                                    <p:set>
                                      <p:cBhvr>
                                        <p:cTn id="130" dur="1" fill="hold">
                                          <p:stCondLst>
                                            <p:cond delay="449"/>
                                          </p:stCondLst>
                                        </p:cTn>
                                        <p:tgtEl>
                                          <p:spTgt spid="21"/>
                                        </p:tgtEl>
                                        <p:attrNameLst>
                                          <p:attrName>style.visibility</p:attrName>
                                        </p:attrNameLst>
                                      </p:cBhvr>
                                      <p:to>
                                        <p:strVal val="hidden"/>
                                      </p:to>
                                    </p:set>
                                  </p:childTnLst>
                                </p:cTn>
                              </p:par>
                              <p:par>
                                <p:cTn id="131" presetID="10" presetClass="exit" presetSubtype="0" fill="hold" grpId="1" nodeType="withEffect">
                                  <p:stCondLst>
                                    <p:cond delay="5200"/>
                                  </p:stCondLst>
                                  <p:childTnLst>
                                    <p:animEffect transition="out" filter="fade">
                                      <p:cBhvr>
                                        <p:cTn id="132" dur="450"/>
                                        <p:tgtEl>
                                          <p:spTgt spid="22"/>
                                        </p:tgtEl>
                                      </p:cBhvr>
                                    </p:animEffect>
                                    <p:set>
                                      <p:cBhvr>
                                        <p:cTn id="133" dur="1" fill="hold">
                                          <p:stCondLst>
                                            <p:cond delay="449"/>
                                          </p:stCondLst>
                                        </p:cTn>
                                        <p:tgtEl>
                                          <p:spTgt spid="22"/>
                                        </p:tgtEl>
                                        <p:attrNameLst>
                                          <p:attrName>style.visibility</p:attrName>
                                        </p:attrNameLst>
                                      </p:cBhvr>
                                      <p:to>
                                        <p:strVal val="hidden"/>
                                      </p:to>
                                    </p:set>
                                  </p:childTnLst>
                                </p:cTn>
                              </p:par>
                              <p:par>
                                <p:cTn id="134" presetID="10" presetClass="exit" presetSubtype="0" fill="hold" grpId="1" nodeType="withEffect">
                                  <p:stCondLst>
                                    <p:cond delay="5200"/>
                                  </p:stCondLst>
                                  <p:childTnLst>
                                    <p:animEffect transition="out" filter="fade">
                                      <p:cBhvr>
                                        <p:cTn id="135" dur="450"/>
                                        <p:tgtEl>
                                          <p:spTgt spid="23"/>
                                        </p:tgtEl>
                                      </p:cBhvr>
                                    </p:animEffect>
                                    <p:set>
                                      <p:cBhvr>
                                        <p:cTn id="136" dur="1" fill="hold">
                                          <p:stCondLst>
                                            <p:cond delay="449"/>
                                          </p:stCondLst>
                                        </p:cTn>
                                        <p:tgtEl>
                                          <p:spTgt spid="23"/>
                                        </p:tgtEl>
                                        <p:attrNameLst>
                                          <p:attrName>style.visibility</p:attrName>
                                        </p:attrNameLst>
                                      </p:cBhvr>
                                      <p:to>
                                        <p:strVal val="hidden"/>
                                      </p:to>
                                    </p:set>
                                  </p:childTnLst>
                                </p:cTn>
                              </p:par>
                              <p:par>
                                <p:cTn id="137" presetID="10" presetClass="exit" presetSubtype="0" fill="hold" grpId="1" nodeType="withEffect">
                                  <p:stCondLst>
                                    <p:cond delay="5200"/>
                                  </p:stCondLst>
                                  <p:childTnLst>
                                    <p:animEffect transition="out" filter="fade">
                                      <p:cBhvr>
                                        <p:cTn id="138" dur="450"/>
                                        <p:tgtEl>
                                          <p:spTgt spid="24"/>
                                        </p:tgtEl>
                                      </p:cBhvr>
                                    </p:animEffect>
                                    <p:set>
                                      <p:cBhvr>
                                        <p:cTn id="139" dur="1" fill="hold">
                                          <p:stCondLst>
                                            <p:cond delay="449"/>
                                          </p:stCondLst>
                                        </p:cTn>
                                        <p:tgtEl>
                                          <p:spTgt spid="24"/>
                                        </p:tgtEl>
                                        <p:attrNameLst>
                                          <p:attrName>style.visibility</p:attrName>
                                        </p:attrNameLst>
                                      </p:cBhvr>
                                      <p:to>
                                        <p:strVal val="hidden"/>
                                      </p:to>
                                    </p:set>
                                  </p:childTnLst>
                                </p:cTn>
                              </p:par>
                              <p:par>
                                <p:cTn id="140" presetID="10" presetClass="exit" presetSubtype="0" fill="hold" grpId="1" nodeType="withEffect">
                                  <p:stCondLst>
                                    <p:cond delay="5200"/>
                                  </p:stCondLst>
                                  <p:childTnLst>
                                    <p:animEffect transition="out" filter="fade">
                                      <p:cBhvr>
                                        <p:cTn id="141" dur="450"/>
                                        <p:tgtEl>
                                          <p:spTgt spid="25"/>
                                        </p:tgtEl>
                                      </p:cBhvr>
                                    </p:animEffect>
                                    <p:set>
                                      <p:cBhvr>
                                        <p:cTn id="142" dur="1" fill="hold">
                                          <p:stCondLst>
                                            <p:cond delay="449"/>
                                          </p:stCondLst>
                                        </p:cTn>
                                        <p:tgtEl>
                                          <p:spTgt spid="25"/>
                                        </p:tgtEl>
                                        <p:attrNameLst>
                                          <p:attrName>style.visibility</p:attrName>
                                        </p:attrNameLst>
                                      </p:cBhvr>
                                      <p:to>
                                        <p:strVal val="hidden"/>
                                      </p:to>
                                    </p:set>
                                  </p:childTnLst>
                                </p:cTn>
                              </p:par>
                              <p:par>
                                <p:cTn id="143" presetID="10" presetClass="entr" presetSubtype="0" fill="hold" grpId="0" nodeType="withEffect">
                                  <p:stCondLst>
                                    <p:cond delay="5200"/>
                                  </p:stCondLst>
                                  <p:childTnLst>
                                    <p:set>
                                      <p:cBhvr>
                                        <p:cTn id="144" dur="1" fill="hold">
                                          <p:stCondLst>
                                            <p:cond delay="0"/>
                                          </p:stCondLst>
                                        </p:cTn>
                                        <p:tgtEl>
                                          <p:spTgt spid="67"/>
                                        </p:tgtEl>
                                        <p:attrNameLst>
                                          <p:attrName>style.visibility</p:attrName>
                                        </p:attrNameLst>
                                      </p:cBhvr>
                                      <p:to>
                                        <p:strVal val="visible"/>
                                      </p:to>
                                    </p:set>
                                    <p:animEffect transition="in" filter="fade">
                                      <p:cBhvr>
                                        <p:cTn id="145" dur="450"/>
                                        <p:tgtEl>
                                          <p:spTgt spid="67"/>
                                        </p:tgtEl>
                                      </p:cBhvr>
                                    </p:animEffect>
                                  </p:childTnLst>
                                </p:cTn>
                              </p:par>
                              <p:par>
                                <p:cTn id="146" presetID="10" presetClass="entr" presetSubtype="0" fill="hold" grpId="0" nodeType="withEffect">
                                  <p:stCondLst>
                                    <p:cond delay="5200"/>
                                  </p:stCondLst>
                                  <p:childTnLst>
                                    <p:set>
                                      <p:cBhvr>
                                        <p:cTn id="147" dur="1" fill="hold">
                                          <p:stCondLst>
                                            <p:cond delay="0"/>
                                          </p:stCondLst>
                                        </p:cTn>
                                        <p:tgtEl>
                                          <p:spTgt spid="68"/>
                                        </p:tgtEl>
                                        <p:attrNameLst>
                                          <p:attrName>style.visibility</p:attrName>
                                        </p:attrNameLst>
                                      </p:cBhvr>
                                      <p:to>
                                        <p:strVal val="visible"/>
                                      </p:to>
                                    </p:set>
                                    <p:animEffect transition="in" filter="fade">
                                      <p:cBhvr>
                                        <p:cTn id="148" dur="450"/>
                                        <p:tgtEl>
                                          <p:spTgt spid="68"/>
                                        </p:tgtEl>
                                      </p:cBhvr>
                                    </p:animEffect>
                                  </p:childTnLst>
                                </p:cTn>
                              </p:par>
                              <p:par>
                                <p:cTn id="149" presetID="10" presetClass="entr" presetSubtype="0" fill="hold" grpId="0" nodeType="withEffect">
                                  <p:stCondLst>
                                    <p:cond delay="5200"/>
                                  </p:stCondLst>
                                  <p:childTnLst>
                                    <p:set>
                                      <p:cBhvr>
                                        <p:cTn id="150" dur="1" fill="hold">
                                          <p:stCondLst>
                                            <p:cond delay="0"/>
                                          </p:stCondLst>
                                        </p:cTn>
                                        <p:tgtEl>
                                          <p:spTgt spid="69"/>
                                        </p:tgtEl>
                                        <p:attrNameLst>
                                          <p:attrName>style.visibility</p:attrName>
                                        </p:attrNameLst>
                                      </p:cBhvr>
                                      <p:to>
                                        <p:strVal val="visible"/>
                                      </p:to>
                                    </p:set>
                                    <p:animEffect transition="in" filter="fade">
                                      <p:cBhvr>
                                        <p:cTn id="151" dur="450"/>
                                        <p:tgtEl>
                                          <p:spTgt spid="69"/>
                                        </p:tgtEl>
                                      </p:cBhvr>
                                    </p:animEffect>
                                  </p:childTnLst>
                                </p:cTn>
                              </p:par>
                              <p:par>
                                <p:cTn id="152" presetID="10" presetClass="entr" presetSubtype="0" fill="hold" grpId="0" nodeType="withEffect">
                                  <p:stCondLst>
                                    <p:cond delay="5200"/>
                                  </p:stCondLst>
                                  <p:childTnLst>
                                    <p:set>
                                      <p:cBhvr>
                                        <p:cTn id="153" dur="1" fill="hold">
                                          <p:stCondLst>
                                            <p:cond delay="0"/>
                                          </p:stCondLst>
                                        </p:cTn>
                                        <p:tgtEl>
                                          <p:spTgt spid="26"/>
                                        </p:tgtEl>
                                        <p:attrNameLst>
                                          <p:attrName>style.visibility</p:attrName>
                                        </p:attrNameLst>
                                      </p:cBhvr>
                                      <p:to>
                                        <p:strVal val="visible"/>
                                      </p:to>
                                    </p:set>
                                    <p:animEffect transition="in" filter="fade">
                                      <p:cBhvr>
                                        <p:cTn id="154" dur="450"/>
                                        <p:tgtEl>
                                          <p:spTgt spid="26"/>
                                        </p:tgtEl>
                                      </p:cBhvr>
                                    </p:animEffect>
                                  </p:childTnLst>
                                </p:cTn>
                              </p:par>
                              <p:par>
                                <p:cTn id="155" presetID="10" presetClass="entr" presetSubtype="0" fill="hold" grpId="0" nodeType="withEffect">
                                  <p:stCondLst>
                                    <p:cond delay="5200"/>
                                  </p:stCondLst>
                                  <p:childTnLst>
                                    <p:set>
                                      <p:cBhvr>
                                        <p:cTn id="156" dur="1" fill="hold">
                                          <p:stCondLst>
                                            <p:cond delay="0"/>
                                          </p:stCondLst>
                                        </p:cTn>
                                        <p:tgtEl>
                                          <p:spTgt spid="27"/>
                                        </p:tgtEl>
                                        <p:attrNameLst>
                                          <p:attrName>style.visibility</p:attrName>
                                        </p:attrNameLst>
                                      </p:cBhvr>
                                      <p:to>
                                        <p:strVal val="visible"/>
                                      </p:to>
                                    </p:set>
                                    <p:animEffect transition="in" filter="fade">
                                      <p:cBhvr>
                                        <p:cTn id="157" dur="450"/>
                                        <p:tgtEl>
                                          <p:spTgt spid="27"/>
                                        </p:tgtEl>
                                      </p:cBhvr>
                                    </p:animEffect>
                                  </p:childTnLst>
                                </p:cTn>
                              </p:par>
                              <p:par>
                                <p:cTn id="158" presetID="10" presetClass="entr" presetSubtype="0" fill="hold" grpId="0" nodeType="withEffect">
                                  <p:stCondLst>
                                    <p:cond delay="5200"/>
                                  </p:stCondLst>
                                  <p:childTnLst>
                                    <p:set>
                                      <p:cBhvr>
                                        <p:cTn id="159" dur="1" fill="hold">
                                          <p:stCondLst>
                                            <p:cond delay="0"/>
                                          </p:stCondLst>
                                        </p:cTn>
                                        <p:tgtEl>
                                          <p:spTgt spid="28"/>
                                        </p:tgtEl>
                                        <p:attrNameLst>
                                          <p:attrName>style.visibility</p:attrName>
                                        </p:attrNameLst>
                                      </p:cBhvr>
                                      <p:to>
                                        <p:strVal val="visible"/>
                                      </p:to>
                                    </p:set>
                                    <p:animEffect transition="in" filter="fade">
                                      <p:cBhvr>
                                        <p:cTn id="160" dur="450"/>
                                        <p:tgtEl>
                                          <p:spTgt spid="28"/>
                                        </p:tgtEl>
                                      </p:cBhvr>
                                    </p:animEffect>
                                  </p:childTnLst>
                                </p:cTn>
                              </p:par>
                              <p:par>
                                <p:cTn id="161" presetID="10" presetClass="entr" presetSubtype="0" fill="hold" grpId="0" nodeType="withEffect">
                                  <p:stCondLst>
                                    <p:cond delay="5200"/>
                                  </p:stCondLst>
                                  <p:childTnLst>
                                    <p:set>
                                      <p:cBhvr>
                                        <p:cTn id="162" dur="1" fill="hold">
                                          <p:stCondLst>
                                            <p:cond delay="0"/>
                                          </p:stCondLst>
                                        </p:cTn>
                                        <p:tgtEl>
                                          <p:spTgt spid="29"/>
                                        </p:tgtEl>
                                        <p:attrNameLst>
                                          <p:attrName>style.visibility</p:attrName>
                                        </p:attrNameLst>
                                      </p:cBhvr>
                                      <p:to>
                                        <p:strVal val="visible"/>
                                      </p:to>
                                    </p:set>
                                    <p:animEffect transition="in" filter="fade">
                                      <p:cBhvr>
                                        <p:cTn id="163" dur="450"/>
                                        <p:tgtEl>
                                          <p:spTgt spid="29"/>
                                        </p:tgtEl>
                                      </p:cBhvr>
                                    </p:animEffect>
                                  </p:childTnLst>
                                </p:cTn>
                              </p:par>
                              <p:par>
                                <p:cTn id="164" presetID="10" presetClass="entr" presetSubtype="0" fill="hold" grpId="0" nodeType="withEffect">
                                  <p:stCondLst>
                                    <p:cond delay="5200"/>
                                  </p:stCondLst>
                                  <p:childTnLst>
                                    <p:set>
                                      <p:cBhvr>
                                        <p:cTn id="165" dur="1" fill="hold">
                                          <p:stCondLst>
                                            <p:cond delay="0"/>
                                          </p:stCondLst>
                                        </p:cTn>
                                        <p:tgtEl>
                                          <p:spTgt spid="30"/>
                                        </p:tgtEl>
                                        <p:attrNameLst>
                                          <p:attrName>style.visibility</p:attrName>
                                        </p:attrNameLst>
                                      </p:cBhvr>
                                      <p:to>
                                        <p:strVal val="visible"/>
                                      </p:to>
                                    </p:set>
                                    <p:animEffect transition="in" filter="fade">
                                      <p:cBhvr>
                                        <p:cTn id="166" dur="450"/>
                                        <p:tgtEl>
                                          <p:spTgt spid="30"/>
                                        </p:tgtEl>
                                      </p:cBhvr>
                                    </p:animEffect>
                                  </p:childTnLst>
                                </p:cTn>
                              </p:par>
                              <p:par>
                                <p:cTn id="167" presetID="10" presetClass="entr" presetSubtype="0" fill="hold" grpId="0" nodeType="withEffect">
                                  <p:stCondLst>
                                    <p:cond delay="5200"/>
                                  </p:stCondLst>
                                  <p:childTnLst>
                                    <p:set>
                                      <p:cBhvr>
                                        <p:cTn id="168" dur="1" fill="hold">
                                          <p:stCondLst>
                                            <p:cond delay="0"/>
                                          </p:stCondLst>
                                        </p:cTn>
                                        <p:tgtEl>
                                          <p:spTgt spid="31"/>
                                        </p:tgtEl>
                                        <p:attrNameLst>
                                          <p:attrName>style.visibility</p:attrName>
                                        </p:attrNameLst>
                                      </p:cBhvr>
                                      <p:to>
                                        <p:strVal val="visible"/>
                                      </p:to>
                                    </p:set>
                                    <p:animEffect transition="in" filter="fade">
                                      <p:cBhvr>
                                        <p:cTn id="169" dur="450"/>
                                        <p:tgtEl>
                                          <p:spTgt spid="31"/>
                                        </p:tgtEl>
                                      </p:cBhvr>
                                    </p:animEffect>
                                  </p:childTnLst>
                                </p:cTn>
                              </p:par>
                              <p:par>
                                <p:cTn id="170" presetID="10" presetClass="entr" presetSubtype="0" fill="hold" grpId="0" nodeType="withEffect">
                                  <p:stCondLst>
                                    <p:cond delay="5200"/>
                                  </p:stCondLst>
                                  <p:childTnLst>
                                    <p:set>
                                      <p:cBhvr>
                                        <p:cTn id="171" dur="1" fill="hold">
                                          <p:stCondLst>
                                            <p:cond delay="0"/>
                                          </p:stCondLst>
                                        </p:cTn>
                                        <p:tgtEl>
                                          <p:spTgt spid="32"/>
                                        </p:tgtEl>
                                        <p:attrNameLst>
                                          <p:attrName>style.visibility</p:attrName>
                                        </p:attrNameLst>
                                      </p:cBhvr>
                                      <p:to>
                                        <p:strVal val="visible"/>
                                      </p:to>
                                    </p:set>
                                    <p:animEffect transition="in" filter="fade">
                                      <p:cBhvr>
                                        <p:cTn id="172" dur="450"/>
                                        <p:tgtEl>
                                          <p:spTgt spid="32"/>
                                        </p:tgtEl>
                                      </p:cBhvr>
                                    </p:animEffect>
                                  </p:childTnLst>
                                </p:cTn>
                              </p:par>
                              <p:par>
                                <p:cTn id="173" presetID="10" presetClass="entr" presetSubtype="0" fill="hold" grpId="0" nodeType="withEffect">
                                  <p:stCondLst>
                                    <p:cond delay="5200"/>
                                  </p:stCondLst>
                                  <p:childTnLst>
                                    <p:set>
                                      <p:cBhvr>
                                        <p:cTn id="174" dur="1" fill="hold">
                                          <p:stCondLst>
                                            <p:cond delay="0"/>
                                          </p:stCondLst>
                                        </p:cTn>
                                        <p:tgtEl>
                                          <p:spTgt spid="33"/>
                                        </p:tgtEl>
                                        <p:attrNameLst>
                                          <p:attrName>style.visibility</p:attrName>
                                        </p:attrNameLst>
                                      </p:cBhvr>
                                      <p:to>
                                        <p:strVal val="visible"/>
                                      </p:to>
                                    </p:set>
                                    <p:animEffect transition="in" filter="fade">
                                      <p:cBhvr>
                                        <p:cTn id="175" dur="450"/>
                                        <p:tgtEl>
                                          <p:spTgt spid="33"/>
                                        </p:tgtEl>
                                      </p:cBhvr>
                                    </p:animEffect>
                                  </p:childTnLst>
                                </p:cTn>
                              </p:par>
                              <p:par>
                                <p:cTn id="176" presetID="10" presetClass="entr" presetSubtype="0" fill="hold" grpId="0" nodeType="withEffect">
                                  <p:stCondLst>
                                    <p:cond delay="5200"/>
                                  </p:stCondLst>
                                  <p:childTnLst>
                                    <p:set>
                                      <p:cBhvr>
                                        <p:cTn id="177" dur="1" fill="hold">
                                          <p:stCondLst>
                                            <p:cond delay="0"/>
                                          </p:stCondLst>
                                        </p:cTn>
                                        <p:tgtEl>
                                          <p:spTgt spid="34"/>
                                        </p:tgtEl>
                                        <p:attrNameLst>
                                          <p:attrName>style.visibility</p:attrName>
                                        </p:attrNameLst>
                                      </p:cBhvr>
                                      <p:to>
                                        <p:strVal val="visible"/>
                                      </p:to>
                                    </p:set>
                                    <p:animEffect transition="in" filter="fade">
                                      <p:cBhvr>
                                        <p:cTn id="178" dur="450"/>
                                        <p:tgtEl>
                                          <p:spTgt spid="34"/>
                                        </p:tgtEl>
                                      </p:cBhvr>
                                    </p:animEffect>
                                  </p:childTnLst>
                                </p:cTn>
                              </p:par>
                              <p:par>
                                <p:cTn id="179" presetID="10" presetClass="entr" presetSubtype="0" fill="hold" grpId="0" nodeType="withEffect">
                                  <p:stCondLst>
                                    <p:cond delay="5200"/>
                                  </p:stCondLst>
                                  <p:childTnLst>
                                    <p:set>
                                      <p:cBhvr>
                                        <p:cTn id="180" dur="1" fill="hold">
                                          <p:stCondLst>
                                            <p:cond delay="0"/>
                                          </p:stCondLst>
                                        </p:cTn>
                                        <p:tgtEl>
                                          <p:spTgt spid="35"/>
                                        </p:tgtEl>
                                        <p:attrNameLst>
                                          <p:attrName>style.visibility</p:attrName>
                                        </p:attrNameLst>
                                      </p:cBhvr>
                                      <p:to>
                                        <p:strVal val="visible"/>
                                      </p:to>
                                    </p:set>
                                    <p:animEffect transition="in" filter="fade">
                                      <p:cBhvr>
                                        <p:cTn id="181" dur="450"/>
                                        <p:tgtEl>
                                          <p:spTgt spid="35"/>
                                        </p:tgtEl>
                                      </p:cBhvr>
                                    </p:animEffect>
                                  </p:childTnLst>
                                </p:cTn>
                              </p:par>
                              <p:par>
                                <p:cTn id="182" presetID="10" presetClass="entr" presetSubtype="0" fill="hold" grpId="0" nodeType="withEffect">
                                  <p:stCondLst>
                                    <p:cond delay="5200"/>
                                  </p:stCondLst>
                                  <p:childTnLst>
                                    <p:set>
                                      <p:cBhvr>
                                        <p:cTn id="183" dur="1" fill="hold">
                                          <p:stCondLst>
                                            <p:cond delay="0"/>
                                          </p:stCondLst>
                                        </p:cTn>
                                        <p:tgtEl>
                                          <p:spTgt spid="36"/>
                                        </p:tgtEl>
                                        <p:attrNameLst>
                                          <p:attrName>style.visibility</p:attrName>
                                        </p:attrNameLst>
                                      </p:cBhvr>
                                      <p:to>
                                        <p:strVal val="visible"/>
                                      </p:to>
                                    </p:set>
                                    <p:animEffect transition="in" filter="fade">
                                      <p:cBhvr>
                                        <p:cTn id="184" dur="450"/>
                                        <p:tgtEl>
                                          <p:spTgt spid="36"/>
                                        </p:tgtEl>
                                      </p:cBhvr>
                                    </p:animEffect>
                                  </p:childTnLst>
                                </p:cTn>
                              </p:par>
                              <p:par>
                                <p:cTn id="185" presetID="10" presetClass="entr" presetSubtype="0" fill="hold" grpId="0" nodeType="withEffect">
                                  <p:stCondLst>
                                    <p:cond delay="5200"/>
                                  </p:stCondLst>
                                  <p:childTnLst>
                                    <p:set>
                                      <p:cBhvr>
                                        <p:cTn id="186" dur="1" fill="hold">
                                          <p:stCondLst>
                                            <p:cond delay="0"/>
                                          </p:stCondLst>
                                        </p:cTn>
                                        <p:tgtEl>
                                          <p:spTgt spid="37"/>
                                        </p:tgtEl>
                                        <p:attrNameLst>
                                          <p:attrName>style.visibility</p:attrName>
                                        </p:attrNameLst>
                                      </p:cBhvr>
                                      <p:to>
                                        <p:strVal val="visible"/>
                                      </p:to>
                                    </p:set>
                                    <p:animEffect transition="in" filter="fade">
                                      <p:cBhvr>
                                        <p:cTn id="187" dur="450"/>
                                        <p:tgtEl>
                                          <p:spTgt spid="37"/>
                                        </p:tgtEl>
                                      </p:cBhvr>
                                    </p:animEffect>
                                  </p:childTnLst>
                                </p:cTn>
                              </p:par>
                              <p:par>
                                <p:cTn id="188" presetID="10" presetClass="exit" presetSubtype="0" fill="hold" grpId="1" nodeType="withEffect">
                                  <p:stCondLst>
                                    <p:cond delay="7800"/>
                                  </p:stCondLst>
                                  <p:childTnLst>
                                    <p:animEffect transition="out" filter="fade">
                                      <p:cBhvr>
                                        <p:cTn id="189" dur="450"/>
                                        <p:tgtEl>
                                          <p:spTgt spid="26"/>
                                        </p:tgtEl>
                                      </p:cBhvr>
                                    </p:animEffect>
                                    <p:set>
                                      <p:cBhvr>
                                        <p:cTn id="190" dur="1" fill="hold">
                                          <p:stCondLst>
                                            <p:cond delay="449"/>
                                          </p:stCondLst>
                                        </p:cTn>
                                        <p:tgtEl>
                                          <p:spTgt spid="26"/>
                                        </p:tgtEl>
                                        <p:attrNameLst>
                                          <p:attrName>style.visibility</p:attrName>
                                        </p:attrNameLst>
                                      </p:cBhvr>
                                      <p:to>
                                        <p:strVal val="hidden"/>
                                      </p:to>
                                    </p:set>
                                  </p:childTnLst>
                                </p:cTn>
                              </p:par>
                              <p:par>
                                <p:cTn id="191" presetID="10" presetClass="exit" presetSubtype="0" fill="hold" grpId="1" nodeType="withEffect">
                                  <p:stCondLst>
                                    <p:cond delay="7800"/>
                                  </p:stCondLst>
                                  <p:childTnLst>
                                    <p:animEffect transition="out" filter="fade">
                                      <p:cBhvr>
                                        <p:cTn id="192" dur="450"/>
                                        <p:tgtEl>
                                          <p:spTgt spid="27"/>
                                        </p:tgtEl>
                                      </p:cBhvr>
                                    </p:animEffect>
                                    <p:set>
                                      <p:cBhvr>
                                        <p:cTn id="193" dur="1" fill="hold">
                                          <p:stCondLst>
                                            <p:cond delay="449"/>
                                          </p:stCondLst>
                                        </p:cTn>
                                        <p:tgtEl>
                                          <p:spTgt spid="27"/>
                                        </p:tgtEl>
                                        <p:attrNameLst>
                                          <p:attrName>style.visibility</p:attrName>
                                        </p:attrNameLst>
                                      </p:cBhvr>
                                      <p:to>
                                        <p:strVal val="hidden"/>
                                      </p:to>
                                    </p:set>
                                  </p:childTnLst>
                                </p:cTn>
                              </p:par>
                              <p:par>
                                <p:cTn id="194" presetID="10" presetClass="exit" presetSubtype="0" fill="hold" grpId="1" nodeType="withEffect">
                                  <p:stCondLst>
                                    <p:cond delay="7800"/>
                                  </p:stCondLst>
                                  <p:childTnLst>
                                    <p:animEffect transition="out" filter="fade">
                                      <p:cBhvr>
                                        <p:cTn id="195" dur="450"/>
                                        <p:tgtEl>
                                          <p:spTgt spid="28"/>
                                        </p:tgtEl>
                                      </p:cBhvr>
                                    </p:animEffect>
                                    <p:set>
                                      <p:cBhvr>
                                        <p:cTn id="196" dur="1" fill="hold">
                                          <p:stCondLst>
                                            <p:cond delay="449"/>
                                          </p:stCondLst>
                                        </p:cTn>
                                        <p:tgtEl>
                                          <p:spTgt spid="28"/>
                                        </p:tgtEl>
                                        <p:attrNameLst>
                                          <p:attrName>style.visibility</p:attrName>
                                        </p:attrNameLst>
                                      </p:cBhvr>
                                      <p:to>
                                        <p:strVal val="hidden"/>
                                      </p:to>
                                    </p:set>
                                  </p:childTnLst>
                                </p:cTn>
                              </p:par>
                              <p:par>
                                <p:cTn id="197" presetID="10" presetClass="exit" presetSubtype="0" fill="hold" grpId="1" nodeType="withEffect">
                                  <p:stCondLst>
                                    <p:cond delay="7800"/>
                                  </p:stCondLst>
                                  <p:childTnLst>
                                    <p:animEffect transition="out" filter="fade">
                                      <p:cBhvr>
                                        <p:cTn id="198" dur="450"/>
                                        <p:tgtEl>
                                          <p:spTgt spid="29"/>
                                        </p:tgtEl>
                                      </p:cBhvr>
                                    </p:animEffect>
                                    <p:set>
                                      <p:cBhvr>
                                        <p:cTn id="199" dur="1" fill="hold">
                                          <p:stCondLst>
                                            <p:cond delay="449"/>
                                          </p:stCondLst>
                                        </p:cTn>
                                        <p:tgtEl>
                                          <p:spTgt spid="29"/>
                                        </p:tgtEl>
                                        <p:attrNameLst>
                                          <p:attrName>style.visibility</p:attrName>
                                        </p:attrNameLst>
                                      </p:cBhvr>
                                      <p:to>
                                        <p:strVal val="hidden"/>
                                      </p:to>
                                    </p:set>
                                  </p:childTnLst>
                                </p:cTn>
                              </p:par>
                              <p:par>
                                <p:cTn id="200" presetID="10" presetClass="exit" presetSubtype="0" fill="hold" grpId="1" nodeType="withEffect">
                                  <p:stCondLst>
                                    <p:cond delay="7800"/>
                                  </p:stCondLst>
                                  <p:childTnLst>
                                    <p:animEffect transition="out" filter="fade">
                                      <p:cBhvr>
                                        <p:cTn id="201" dur="450"/>
                                        <p:tgtEl>
                                          <p:spTgt spid="30"/>
                                        </p:tgtEl>
                                      </p:cBhvr>
                                    </p:animEffect>
                                    <p:set>
                                      <p:cBhvr>
                                        <p:cTn id="202" dur="1" fill="hold">
                                          <p:stCondLst>
                                            <p:cond delay="449"/>
                                          </p:stCondLst>
                                        </p:cTn>
                                        <p:tgtEl>
                                          <p:spTgt spid="30"/>
                                        </p:tgtEl>
                                        <p:attrNameLst>
                                          <p:attrName>style.visibility</p:attrName>
                                        </p:attrNameLst>
                                      </p:cBhvr>
                                      <p:to>
                                        <p:strVal val="hidden"/>
                                      </p:to>
                                    </p:set>
                                  </p:childTnLst>
                                </p:cTn>
                              </p:par>
                              <p:par>
                                <p:cTn id="203" presetID="10" presetClass="exit" presetSubtype="0" fill="hold" grpId="1" nodeType="withEffect">
                                  <p:stCondLst>
                                    <p:cond delay="7800"/>
                                  </p:stCondLst>
                                  <p:childTnLst>
                                    <p:animEffect transition="out" filter="fade">
                                      <p:cBhvr>
                                        <p:cTn id="204" dur="450"/>
                                        <p:tgtEl>
                                          <p:spTgt spid="31"/>
                                        </p:tgtEl>
                                      </p:cBhvr>
                                    </p:animEffect>
                                    <p:set>
                                      <p:cBhvr>
                                        <p:cTn id="205" dur="1" fill="hold">
                                          <p:stCondLst>
                                            <p:cond delay="449"/>
                                          </p:stCondLst>
                                        </p:cTn>
                                        <p:tgtEl>
                                          <p:spTgt spid="31"/>
                                        </p:tgtEl>
                                        <p:attrNameLst>
                                          <p:attrName>style.visibility</p:attrName>
                                        </p:attrNameLst>
                                      </p:cBhvr>
                                      <p:to>
                                        <p:strVal val="hidden"/>
                                      </p:to>
                                    </p:set>
                                  </p:childTnLst>
                                </p:cTn>
                              </p:par>
                              <p:par>
                                <p:cTn id="206" presetID="10" presetClass="exit" presetSubtype="0" fill="hold" grpId="1" nodeType="withEffect">
                                  <p:stCondLst>
                                    <p:cond delay="7800"/>
                                  </p:stCondLst>
                                  <p:childTnLst>
                                    <p:animEffect transition="out" filter="fade">
                                      <p:cBhvr>
                                        <p:cTn id="207" dur="450"/>
                                        <p:tgtEl>
                                          <p:spTgt spid="32"/>
                                        </p:tgtEl>
                                      </p:cBhvr>
                                    </p:animEffect>
                                    <p:set>
                                      <p:cBhvr>
                                        <p:cTn id="208" dur="1" fill="hold">
                                          <p:stCondLst>
                                            <p:cond delay="449"/>
                                          </p:stCondLst>
                                        </p:cTn>
                                        <p:tgtEl>
                                          <p:spTgt spid="32"/>
                                        </p:tgtEl>
                                        <p:attrNameLst>
                                          <p:attrName>style.visibility</p:attrName>
                                        </p:attrNameLst>
                                      </p:cBhvr>
                                      <p:to>
                                        <p:strVal val="hidden"/>
                                      </p:to>
                                    </p:set>
                                  </p:childTnLst>
                                </p:cTn>
                              </p:par>
                              <p:par>
                                <p:cTn id="209" presetID="10" presetClass="exit" presetSubtype="0" fill="hold" grpId="1" nodeType="withEffect">
                                  <p:stCondLst>
                                    <p:cond delay="7800"/>
                                  </p:stCondLst>
                                  <p:childTnLst>
                                    <p:animEffect transition="out" filter="fade">
                                      <p:cBhvr>
                                        <p:cTn id="210" dur="450"/>
                                        <p:tgtEl>
                                          <p:spTgt spid="33"/>
                                        </p:tgtEl>
                                      </p:cBhvr>
                                    </p:animEffect>
                                    <p:set>
                                      <p:cBhvr>
                                        <p:cTn id="211" dur="1" fill="hold">
                                          <p:stCondLst>
                                            <p:cond delay="449"/>
                                          </p:stCondLst>
                                        </p:cTn>
                                        <p:tgtEl>
                                          <p:spTgt spid="33"/>
                                        </p:tgtEl>
                                        <p:attrNameLst>
                                          <p:attrName>style.visibility</p:attrName>
                                        </p:attrNameLst>
                                      </p:cBhvr>
                                      <p:to>
                                        <p:strVal val="hidden"/>
                                      </p:to>
                                    </p:set>
                                  </p:childTnLst>
                                </p:cTn>
                              </p:par>
                              <p:par>
                                <p:cTn id="212" presetID="10" presetClass="exit" presetSubtype="0" fill="hold" grpId="1" nodeType="withEffect">
                                  <p:stCondLst>
                                    <p:cond delay="7800"/>
                                  </p:stCondLst>
                                  <p:childTnLst>
                                    <p:animEffect transition="out" filter="fade">
                                      <p:cBhvr>
                                        <p:cTn id="213" dur="450"/>
                                        <p:tgtEl>
                                          <p:spTgt spid="34"/>
                                        </p:tgtEl>
                                      </p:cBhvr>
                                    </p:animEffect>
                                    <p:set>
                                      <p:cBhvr>
                                        <p:cTn id="214" dur="1" fill="hold">
                                          <p:stCondLst>
                                            <p:cond delay="449"/>
                                          </p:stCondLst>
                                        </p:cTn>
                                        <p:tgtEl>
                                          <p:spTgt spid="34"/>
                                        </p:tgtEl>
                                        <p:attrNameLst>
                                          <p:attrName>style.visibility</p:attrName>
                                        </p:attrNameLst>
                                      </p:cBhvr>
                                      <p:to>
                                        <p:strVal val="hidden"/>
                                      </p:to>
                                    </p:set>
                                  </p:childTnLst>
                                </p:cTn>
                              </p:par>
                              <p:par>
                                <p:cTn id="215" presetID="10" presetClass="exit" presetSubtype="0" fill="hold" grpId="1" nodeType="withEffect">
                                  <p:stCondLst>
                                    <p:cond delay="7800"/>
                                  </p:stCondLst>
                                  <p:childTnLst>
                                    <p:animEffect transition="out" filter="fade">
                                      <p:cBhvr>
                                        <p:cTn id="216" dur="450"/>
                                        <p:tgtEl>
                                          <p:spTgt spid="35"/>
                                        </p:tgtEl>
                                      </p:cBhvr>
                                    </p:animEffect>
                                    <p:set>
                                      <p:cBhvr>
                                        <p:cTn id="217" dur="1" fill="hold">
                                          <p:stCondLst>
                                            <p:cond delay="449"/>
                                          </p:stCondLst>
                                        </p:cTn>
                                        <p:tgtEl>
                                          <p:spTgt spid="35"/>
                                        </p:tgtEl>
                                        <p:attrNameLst>
                                          <p:attrName>style.visibility</p:attrName>
                                        </p:attrNameLst>
                                      </p:cBhvr>
                                      <p:to>
                                        <p:strVal val="hidden"/>
                                      </p:to>
                                    </p:set>
                                  </p:childTnLst>
                                </p:cTn>
                              </p:par>
                              <p:par>
                                <p:cTn id="218" presetID="10" presetClass="exit" presetSubtype="0" fill="hold" grpId="1" nodeType="withEffect">
                                  <p:stCondLst>
                                    <p:cond delay="7800"/>
                                  </p:stCondLst>
                                  <p:childTnLst>
                                    <p:animEffect transition="out" filter="fade">
                                      <p:cBhvr>
                                        <p:cTn id="219" dur="450"/>
                                        <p:tgtEl>
                                          <p:spTgt spid="36"/>
                                        </p:tgtEl>
                                      </p:cBhvr>
                                    </p:animEffect>
                                    <p:set>
                                      <p:cBhvr>
                                        <p:cTn id="220" dur="1" fill="hold">
                                          <p:stCondLst>
                                            <p:cond delay="449"/>
                                          </p:stCondLst>
                                        </p:cTn>
                                        <p:tgtEl>
                                          <p:spTgt spid="36"/>
                                        </p:tgtEl>
                                        <p:attrNameLst>
                                          <p:attrName>style.visibility</p:attrName>
                                        </p:attrNameLst>
                                      </p:cBhvr>
                                      <p:to>
                                        <p:strVal val="hidden"/>
                                      </p:to>
                                    </p:set>
                                  </p:childTnLst>
                                </p:cTn>
                              </p:par>
                              <p:par>
                                <p:cTn id="221" presetID="10" presetClass="exit" presetSubtype="0" fill="hold" grpId="1" nodeType="withEffect">
                                  <p:stCondLst>
                                    <p:cond delay="7800"/>
                                  </p:stCondLst>
                                  <p:childTnLst>
                                    <p:animEffect transition="out" filter="fade">
                                      <p:cBhvr>
                                        <p:cTn id="222" dur="450"/>
                                        <p:tgtEl>
                                          <p:spTgt spid="37"/>
                                        </p:tgtEl>
                                      </p:cBhvr>
                                    </p:animEffect>
                                    <p:set>
                                      <p:cBhvr>
                                        <p:cTn id="223" dur="1" fill="hold">
                                          <p:stCondLst>
                                            <p:cond delay="449"/>
                                          </p:stCondLst>
                                        </p:cTn>
                                        <p:tgtEl>
                                          <p:spTgt spid="37"/>
                                        </p:tgtEl>
                                        <p:attrNameLst>
                                          <p:attrName>style.visibility</p:attrName>
                                        </p:attrNameLst>
                                      </p:cBhvr>
                                      <p:to>
                                        <p:strVal val="hidden"/>
                                      </p:to>
                                    </p:set>
                                  </p:childTnLst>
                                </p:cTn>
                              </p:par>
                              <p:par>
                                <p:cTn id="224" presetID="10" presetClass="entr" presetSubtype="0" fill="hold" grpId="0" nodeType="withEffect">
                                  <p:stCondLst>
                                    <p:cond delay="7800"/>
                                  </p:stCondLst>
                                  <p:childTnLst>
                                    <p:set>
                                      <p:cBhvr>
                                        <p:cTn id="225" dur="1" fill="hold">
                                          <p:stCondLst>
                                            <p:cond delay="0"/>
                                          </p:stCondLst>
                                        </p:cTn>
                                        <p:tgtEl>
                                          <p:spTgt spid="70"/>
                                        </p:tgtEl>
                                        <p:attrNameLst>
                                          <p:attrName>style.visibility</p:attrName>
                                        </p:attrNameLst>
                                      </p:cBhvr>
                                      <p:to>
                                        <p:strVal val="visible"/>
                                      </p:to>
                                    </p:set>
                                    <p:animEffect transition="in" filter="fade">
                                      <p:cBhvr>
                                        <p:cTn id="226" dur="450"/>
                                        <p:tgtEl>
                                          <p:spTgt spid="70"/>
                                        </p:tgtEl>
                                      </p:cBhvr>
                                    </p:animEffect>
                                  </p:childTnLst>
                                </p:cTn>
                              </p:par>
                              <p:par>
                                <p:cTn id="227" presetID="10" presetClass="entr" presetSubtype="0" fill="hold" grpId="0" nodeType="withEffect">
                                  <p:stCondLst>
                                    <p:cond delay="7800"/>
                                  </p:stCondLst>
                                  <p:childTnLst>
                                    <p:set>
                                      <p:cBhvr>
                                        <p:cTn id="228" dur="1" fill="hold">
                                          <p:stCondLst>
                                            <p:cond delay="0"/>
                                          </p:stCondLst>
                                        </p:cTn>
                                        <p:tgtEl>
                                          <p:spTgt spid="71"/>
                                        </p:tgtEl>
                                        <p:attrNameLst>
                                          <p:attrName>style.visibility</p:attrName>
                                        </p:attrNameLst>
                                      </p:cBhvr>
                                      <p:to>
                                        <p:strVal val="visible"/>
                                      </p:to>
                                    </p:set>
                                    <p:animEffect transition="in" filter="fade">
                                      <p:cBhvr>
                                        <p:cTn id="229" dur="450"/>
                                        <p:tgtEl>
                                          <p:spTgt spid="71"/>
                                        </p:tgtEl>
                                      </p:cBhvr>
                                    </p:animEffect>
                                  </p:childTnLst>
                                </p:cTn>
                              </p:par>
                              <p:par>
                                <p:cTn id="230" presetID="10" presetClass="entr" presetSubtype="0" fill="hold" grpId="0" nodeType="withEffect">
                                  <p:stCondLst>
                                    <p:cond delay="7800"/>
                                  </p:stCondLst>
                                  <p:childTnLst>
                                    <p:set>
                                      <p:cBhvr>
                                        <p:cTn id="231" dur="1" fill="hold">
                                          <p:stCondLst>
                                            <p:cond delay="0"/>
                                          </p:stCondLst>
                                        </p:cTn>
                                        <p:tgtEl>
                                          <p:spTgt spid="72"/>
                                        </p:tgtEl>
                                        <p:attrNameLst>
                                          <p:attrName>style.visibility</p:attrName>
                                        </p:attrNameLst>
                                      </p:cBhvr>
                                      <p:to>
                                        <p:strVal val="visible"/>
                                      </p:to>
                                    </p:set>
                                    <p:animEffect transition="in" filter="fade">
                                      <p:cBhvr>
                                        <p:cTn id="232" dur="450"/>
                                        <p:tgtEl>
                                          <p:spTgt spid="72"/>
                                        </p:tgtEl>
                                      </p:cBhvr>
                                    </p:animEffect>
                                  </p:childTnLst>
                                </p:cTn>
                              </p:par>
                              <p:par>
                                <p:cTn id="233" presetID="10" presetClass="entr" presetSubtype="0" fill="hold" grpId="0" nodeType="withEffect">
                                  <p:stCondLst>
                                    <p:cond delay="7800"/>
                                  </p:stCondLst>
                                  <p:childTnLst>
                                    <p:set>
                                      <p:cBhvr>
                                        <p:cTn id="234" dur="1" fill="hold">
                                          <p:stCondLst>
                                            <p:cond delay="0"/>
                                          </p:stCondLst>
                                        </p:cTn>
                                        <p:tgtEl>
                                          <p:spTgt spid="38"/>
                                        </p:tgtEl>
                                        <p:attrNameLst>
                                          <p:attrName>style.visibility</p:attrName>
                                        </p:attrNameLst>
                                      </p:cBhvr>
                                      <p:to>
                                        <p:strVal val="visible"/>
                                      </p:to>
                                    </p:set>
                                    <p:animEffect transition="in" filter="fade">
                                      <p:cBhvr>
                                        <p:cTn id="235" dur="450"/>
                                        <p:tgtEl>
                                          <p:spTgt spid="38"/>
                                        </p:tgtEl>
                                      </p:cBhvr>
                                    </p:animEffect>
                                  </p:childTnLst>
                                </p:cTn>
                              </p:par>
                              <p:par>
                                <p:cTn id="236" presetID="10" presetClass="entr" presetSubtype="0" fill="hold" grpId="0" nodeType="withEffect">
                                  <p:stCondLst>
                                    <p:cond delay="7800"/>
                                  </p:stCondLst>
                                  <p:childTnLst>
                                    <p:set>
                                      <p:cBhvr>
                                        <p:cTn id="237" dur="1" fill="hold">
                                          <p:stCondLst>
                                            <p:cond delay="0"/>
                                          </p:stCondLst>
                                        </p:cTn>
                                        <p:tgtEl>
                                          <p:spTgt spid="39"/>
                                        </p:tgtEl>
                                        <p:attrNameLst>
                                          <p:attrName>style.visibility</p:attrName>
                                        </p:attrNameLst>
                                      </p:cBhvr>
                                      <p:to>
                                        <p:strVal val="visible"/>
                                      </p:to>
                                    </p:set>
                                    <p:animEffect transition="in" filter="fade">
                                      <p:cBhvr>
                                        <p:cTn id="238" dur="450"/>
                                        <p:tgtEl>
                                          <p:spTgt spid="39"/>
                                        </p:tgtEl>
                                      </p:cBhvr>
                                    </p:animEffect>
                                  </p:childTnLst>
                                </p:cTn>
                              </p:par>
                              <p:par>
                                <p:cTn id="239" presetID="10" presetClass="entr" presetSubtype="0" fill="hold" grpId="0" nodeType="withEffect">
                                  <p:stCondLst>
                                    <p:cond delay="7800"/>
                                  </p:stCondLst>
                                  <p:childTnLst>
                                    <p:set>
                                      <p:cBhvr>
                                        <p:cTn id="240" dur="1" fill="hold">
                                          <p:stCondLst>
                                            <p:cond delay="0"/>
                                          </p:stCondLst>
                                        </p:cTn>
                                        <p:tgtEl>
                                          <p:spTgt spid="40"/>
                                        </p:tgtEl>
                                        <p:attrNameLst>
                                          <p:attrName>style.visibility</p:attrName>
                                        </p:attrNameLst>
                                      </p:cBhvr>
                                      <p:to>
                                        <p:strVal val="visible"/>
                                      </p:to>
                                    </p:set>
                                    <p:animEffect transition="in" filter="fade">
                                      <p:cBhvr>
                                        <p:cTn id="241" dur="450"/>
                                        <p:tgtEl>
                                          <p:spTgt spid="40"/>
                                        </p:tgtEl>
                                      </p:cBhvr>
                                    </p:animEffect>
                                  </p:childTnLst>
                                </p:cTn>
                              </p:par>
                              <p:par>
                                <p:cTn id="242" presetID="10" presetClass="entr" presetSubtype="0" fill="hold" grpId="0" nodeType="withEffect">
                                  <p:stCondLst>
                                    <p:cond delay="7800"/>
                                  </p:stCondLst>
                                  <p:childTnLst>
                                    <p:set>
                                      <p:cBhvr>
                                        <p:cTn id="243" dur="1" fill="hold">
                                          <p:stCondLst>
                                            <p:cond delay="0"/>
                                          </p:stCondLst>
                                        </p:cTn>
                                        <p:tgtEl>
                                          <p:spTgt spid="41"/>
                                        </p:tgtEl>
                                        <p:attrNameLst>
                                          <p:attrName>style.visibility</p:attrName>
                                        </p:attrNameLst>
                                      </p:cBhvr>
                                      <p:to>
                                        <p:strVal val="visible"/>
                                      </p:to>
                                    </p:set>
                                    <p:animEffect transition="in" filter="fade">
                                      <p:cBhvr>
                                        <p:cTn id="244" dur="450"/>
                                        <p:tgtEl>
                                          <p:spTgt spid="41"/>
                                        </p:tgtEl>
                                      </p:cBhvr>
                                    </p:animEffect>
                                  </p:childTnLst>
                                </p:cTn>
                              </p:par>
                              <p:par>
                                <p:cTn id="245" presetID="10" presetClass="entr" presetSubtype="0" fill="hold" grpId="0" nodeType="withEffect">
                                  <p:stCondLst>
                                    <p:cond delay="7800"/>
                                  </p:stCondLst>
                                  <p:childTnLst>
                                    <p:set>
                                      <p:cBhvr>
                                        <p:cTn id="246" dur="1" fill="hold">
                                          <p:stCondLst>
                                            <p:cond delay="0"/>
                                          </p:stCondLst>
                                        </p:cTn>
                                        <p:tgtEl>
                                          <p:spTgt spid="42"/>
                                        </p:tgtEl>
                                        <p:attrNameLst>
                                          <p:attrName>style.visibility</p:attrName>
                                        </p:attrNameLst>
                                      </p:cBhvr>
                                      <p:to>
                                        <p:strVal val="visible"/>
                                      </p:to>
                                    </p:set>
                                    <p:animEffect transition="in" filter="fade">
                                      <p:cBhvr>
                                        <p:cTn id="247" dur="450"/>
                                        <p:tgtEl>
                                          <p:spTgt spid="42"/>
                                        </p:tgtEl>
                                      </p:cBhvr>
                                    </p:animEffect>
                                  </p:childTnLst>
                                </p:cTn>
                              </p:par>
                              <p:par>
                                <p:cTn id="248" presetID="10" presetClass="entr" presetSubtype="0" fill="hold" grpId="0" nodeType="withEffect">
                                  <p:stCondLst>
                                    <p:cond delay="7800"/>
                                  </p:stCondLst>
                                  <p:childTnLst>
                                    <p:set>
                                      <p:cBhvr>
                                        <p:cTn id="249" dur="1" fill="hold">
                                          <p:stCondLst>
                                            <p:cond delay="0"/>
                                          </p:stCondLst>
                                        </p:cTn>
                                        <p:tgtEl>
                                          <p:spTgt spid="43"/>
                                        </p:tgtEl>
                                        <p:attrNameLst>
                                          <p:attrName>style.visibility</p:attrName>
                                        </p:attrNameLst>
                                      </p:cBhvr>
                                      <p:to>
                                        <p:strVal val="visible"/>
                                      </p:to>
                                    </p:set>
                                    <p:animEffect transition="in" filter="fade">
                                      <p:cBhvr>
                                        <p:cTn id="250" dur="450"/>
                                        <p:tgtEl>
                                          <p:spTgt spid="43"/>
                                        </p:tgtEl>
                                      </p:cBhvr>
                                    </p:animEffect>
                                  </p:childTnLst>
                                </p:cTn>
                              </p:par>
                              <p:par>
                                <p:cTn id="251" presetID="10" presetClass="exit" presetSubtype="0" fill="hold" grpId="1" nodeType="withEffect">
                                  <p:stCondLst>
                                    <p:cond delay="10400"/>
                                  </p:stCondLst>
                                  <p:childTnLst>
                                    <p:animEffect transition="out" filter="fade">
                                      <p:cBhvr>
                                        <p:cTn id="252" dur="450"/>
                                        <p:tgtEl>
                                          <p:spTgt spid="38"/>
                                        </p:tgtEl>
                                      </p:cBhvr>
                                    </p:animEffect>
                                    <p:set>
                                      <p:cBhvr>
                                        <p:cTn id="253" dur="1" fill="hold">
                                          <p:stCondLst>
                                            <p:cond delay="449"/>
                                          </p:stCondLst>
                                        </p:cTn>
                                        <p:tgtEl>
                                          <p:spTgt spid="38"/>
                                        </p:tgtEl>
                                        <p:attrNameLst>
                                          <p:attrName>style.visibility</p:attrName>
                                        </p:attrNameLst>
                                      </p:cBhvr>
                                      <p:to>
                                        <p:strVal val="hidden"/>
                                      </p:to>
                                    </p:set>
                                  </p:childTnLst>
                                </p:cTn>
                              </p:par>
                              <p:par>
                                <p:cTn id="254" presetID="10" presetClass="exit" presetSubtype="0" fill="hold" grpId="1" nodeType="withEffect">
                                  <p:stCondLst>
                                    <p:cond delay="10400"/>
                                  </p:stCondLst>
                                  <p:childTnLst>
                                    <p:animEffect transition="out" filter="fade">
                                      <p:cBhvr>
                                        <p:cTn id="255" dur="450"/>
                                        <p:tgtEl>
                                          <p:spTgt spid="39"/>
                                        </p:tgtEl>
                                      </p:cBhvr>
                                    </p:animEffect>
                                    <p:set>
                                      <p:cBhvr>
                                        <p:cTn id="256" dur="1" fill="hold">
                                          <p:stCondLst>
                                            <p:cond delay="449"/>
                                          </p:stCondLst>
                                        </p:cTn>
                                        <p:tgtEl>
                                          <p:spTgt spid="39"/>
                                        </p:tgtEl>
                                        <p:attrNameLst>
                                          <p:attrName>style.visibility</p:attrName>
                                        </p:attrNameLst>
                                      </p:cBhvr>
                                      <p:to>
                                        <p:strVal val="hidden"/>
                                      </p:to>
                                    </p:set>
                                  </p:childTnLst>
                                </p:cTn>
                              </p:par>
                              <p:par>
                                <p:cTn id="257" presetID="10" presetClass="exit" presetSubtype="0" fill="hold" grpId="1" nodeType="withEffect">
                                  <p:stCondLst>
                                    <p:cond delay="10400"/>
                                  </p:stCondLst>
                                  <p:childTnLst>
                                    <p:animEffect transition="out" filter="fade">
                                      <p:cBhvr>
                                        <p:cTn id="258" dur="450"/>
                                        <p:tgtEl>
                                          <p:spTgt spid="40"/>
                                        </p:tgtEl>
                                      </p:cBhvr>
                                    </p:animEffect>
                                    <p:set>
                                      <p:cBhvr>
                                        <p:cTn id="259" dur="1" fill="hold">
                                          <p:stCondLst>
                                            <p:cond delay="449"/>
                                          </p:stCondLst>
                                        </p:cTn>
                                        <p:tgtEl>
                                          <p:spTgt spid="40"/>
                                        </p:tgtEl>
                                        <p:attrNameLst>
                                          <p:attrName>style.visibility</p:attrName>
                                        </p:attrNameLst>
                                      </p:cBhvr>
                                      <p:to>
                                        <p:strVal val="hidden"/>
                                      </p:to>
                                    </p:set>
                                  </p:childTnLst>
                                </p:cTn>
                              </p:par>
                              <p:par>
                                <p:cTn id="260" presetID="10" presetClass="exit" presetSubtype="0" fill="hold" grpId="1" nodeType="withEffect">
                                  <p:stCondLst>
                                    <p:cond delay="10400"/>
                                  </p:stCondLst>
                                  <p:childTnLst>
                                    <p:animEffect transition="out" filter="fade">
                                      <p:cBhvr>
                                        <p:cTn id="261" dur="450"/>
                                        <p:tgtEl>
                                          <p:spTgt spid="41"/>
                                        </p:tgtEl>
                                      </p:cBhvr>
                                    </p:animEffect>
                                    <p:set>
                                      <p:cBhvr>
                                        <p:cTn id="262" dur="1" fill="hold">
                                          <p:stCondLst>
                                            <p:cond delay="449"/>
                                          </p:stCondLst>
                                        </p:cTn>
                                        <p:tgtEl>
                                          <p:spTgt spid="41"/>
                                        </p:tgtEl>
                                        <p:attrNameLst>
                                          <p:attrName>style.visibility</p:attrName>
                                        </p:attrNameLst>
                                      </p:cBhvr>
                                      <p:to>
                                        <p:strVal val="hidden"/>
                                      </p:to>
                                    </p:set>
                                  </p:childTnLst>
                                </p:cTn>
                              </p:par>
                              <p:par>
                                <p:cTn id="263" presetID="10" presetClass="exit" presetSubtype="0" fill="hold" grpId="1" nodeType="withEffect">
                                  <p:stCondLst>
                                    <p:cond delay="10400"/>
                                  </p:stCondLst>
                                  <p:childTnLst>
                                    <p:animEffect transition="out" filter="fade">
                                      <p:cBhvr>
                                        <p:cTn id="264" dur="450"/>
                                        <p:tgtEl>
                                          <p:spTgt spid="42"/>
                                        </p:tgtEl>
                                      </p:cBhvr>
                                    </p:animEffect>
                                    <p:set>
                                      <p:cBhvr>
                                        <p:cTn id="265" dur="1" fill="hold">
                                          <p:stCondLst>
                                            <p:cond delay="449"/>
                                          </p:stCondLst>
                                        </p:cTn>
                                        <p:tgtEl>
                                          <p:spTgt spid="42"/>
                                        </p:tgtEl>
                                        <p:attrNameLst>
                                          <p:attrName>style.visibility</p:attrName>
                                        </p:attrNameLst>
                                      </p:cBhvr>
                                      <p:to>
                                        <p:strVal val="hidden"/>
                                      </p:to>
                                    </p:set>
                                  </p:childTnLst>
                                </p:cTn>
                              </p:par>
                              <p:par>
                                <p:cTn id="266" presetID="10" presetClass="exit" presetSubtype="0" fill="hold" grpId="1" nodeType="withEffect">
                                  <p:stCondLst>
                                    <p:cond delay="10400"/>
                                  </p:stCondLst>
                                  <p:childTnLst>
                                    <p:animEffect transition="out" filter="fade">
                                      <p:cBhvr>
                                        <p:cTn id="267" dur="450"/>
                                        <p:tgtEl>
                                          <p:spTgt spid="43"/>
                                        </p:tgtEl>
                                      </p:cBhvr>
                                    </p:animEffect>
                                    <p:set>
                                      <p:cBhvr>
                                        <p:cTn id="268" dur="1" fill="hold">
                                          <p:stCondLst>
                                            <p:cond delay="449"/>
                                          </p:stCondLst>
                                        </p:cTn>
                                        <p:tgtEl>
                                          <p:spTgt spid="43"/>
                                        </p:tgtEl>
                                        <p:attrNameLst>
                                          <p:attrName>style.visibility</p:attrName>
                                        </p:attrNameLst>
                                      </p:cBhvr>
                                      <p:to>
                                        <p:strVal val="hidden"/>
                                      </p:to>
                                    </p:set>
                                  </p:childTnLst>
                                </p:cTn>
                              </p:par>
                              <p:par>
                                <p:cTn id="269" presetID="10" presetClass="entr" presetSubtype="0" fill="hold" grpId="0" nodeType="withEffect">
                                  <p:stCondLst>
                                    <p:cond delay="10400"/>
                                  </p:stCondLst>
                                  <p:childTnLst>
                                    <p:set>
                                      <p:cBhvr>
                                        <p:cTn id="270" dur="1" fill="hold">
                                          <p:stCondLst>
                                            <p:cond delay="0"/>
                                          </p:stCondLst>
                                        </p:cTn>
                                        <p:tgtEl>
                                          <p:spTgt spid="73"/>
                                        </p:tgtEl>
                                        <p:attrNameLst>
                                          <p:attrName>style.visibility</p:attrName>
                                        </p:attrNameLst>
                                      </p:cBhvr>
                                      <p:to>
                                        <p:strVal val="visible"/>
                                      </p:to>
                                    </p:set>
                                    <p:animEffect transition="in" filter="fade">
                                      <p:cBhvr>
                                        <p:cTn id="271" dur="450"/>
                                        <p:tgtEl>
                                          <p:spTgt spid="73"/>
                                        </p:tgtEl>
                                      </p:cBhvr>
                                    </p:animEffect>
                                  </p:childTnLst>
                                </p:cTn>
                              </p:par>
                              <p:par>
                                <p:cTn id="272" presetID="10" presetClass="entr" presetSubtype="0" fill="hold" grpId="0" nodeType="withEffect">
                                  <p:stCondLst>
                                    <p:cond delay="10400"/>
                                  </p:stCondLst>
                                  <p:childTnLst>
                                    <p:set>
                                      <p:cBhvr>
                                        <p:cTn id="273" dur="1" fill="hold">
                                          <p:stCondLst>
                                            <p:cond delay="0"/>
                                          </p:stCondLst>
                                        </p:cTn>
                                        <p:tgtEl>
                                          <p:spTgt spid="74"/>
                                        </p:tgtEl>
                                        <p:attrNameLst>
                                          <p:attrName>style.visibility</p:attrName>
                                        </p:attrNameLst>
                                      </p:cBhvr>
                                      <p:to>
                                        <p:strVal val="visible"/>
                                      </p:to>
                                    </p:set>
                                    <p:animEffect transition="in" filter="fade">
                                      <p:cBhvr>
                                        <p:cTn id="274" dur="450"/>
                                        <p:tgtEl>
                                          <p:spTgt spid="74"/>
                                        </p:tgtEl>
                                      </p:cBhvr>
                                    </p:animEffect>
                                  </p:childTnLst>
                                </p:cTn>
                              </p:par>
                              <p:par>
                                <p:cTn id="275" presetID="10" presetClass="entr" presetSubtype="0" fill="hold" grpId="0" nodeType="withEffect">
                                  <p:stCondLst>
                                    <p:cond delay="10400"/>
                                  </p:stCondLst>
                                  <p:childTnLst>
                                    <p:set>
                                      <p:cBhvr>
                                        <p:cTn id="276" dur="1" fill="hold">
                                          <p:stCondLst>
                                            <p:cond delay="0"/>
                                          </p:stCondLst>
                                        </p:cTn>
                                        <p:tgtEl>
                                          <p:spTgt spid="75"/>
                                        </p:tgtEl>
                                        <p:attrNameLst>
                                          <p:attrName>style.visibility</p:attrName>
                                        </p:attrNameLst>
                                      </p:cBhvr>
                                      <p:to>
                                        <p:strVal val="visible"/>
                                      </p:to>
                                    </p:set>
                                    <p:animEffect transition="in" filter="fade">
                                      <p:cBhvr>
                                        <p:cTn id="277" dur="450"/>
                                        <p:tgtEl>
                                          <p:spTgt spid="75"/>
                                        </p:tgtEl>
                                      </p:cBhvr>
                                    </p:animEffect>
                                  </p:childTnLst>
                                </p:cTn>
                              </p:par>
                              <p:par>
                                <p:cTn id="278" presetID="10" presetClass="entr" presetSubtype="0" fill="hold" grpId="0" nodeType="withEffect">
                                  <p:stCondLst>
                                    <p:cond delay="10400"/>
                                  </p:stCondLst>
                                  <p:childTnLst>
                                    <p:set>
                                      <p:cBhvr>
                                        <p:cTn id="279" dur="1" fill="hold">
                                          <p:stCondLst>
                                            <p:cond delay="0"/>
                                          </p:stCondLst>
                                        </p:cTn>
                                        <p:tgtEl>
                                          <p:spTgt spid="44"/>
                                        </p:tgtEl>
                                        <p:attrNameLst>
                                          <p:attrName>style.visibility</p:attrName>
                                        </p:attrNameLst>
                                      </p:cBhvr>
                                      <p:to>
                                        <p:strVal val="visible"/>
                                      </p:to>
                                    </p:set>
                                    <p:animEffect transition="in" filter="fade">
                                      <p:cBhvr>
                                        <p:cTn id="280" dur="450"/>
                                        <p:tgtEl>
                                          <p:spTgt spid="44"/>
                                        </p:tgtEl>
                                      </p:cBhvr>
                                    </p:animEffect>
                                  </p:childTnLst>
                                </p:cTn>
                              </p:par>
                              <p:par>
                                <p:cTn id="281" presetID="10" presetClass="entr" presetSubtype="0" fill="hold" grpId="0" nodeType="withEffect">
                                  <p:stCondLst>
                                    <p:cond delay="10400"/>
                                  </p:stCondLst>
                                  <p:childTnLst>
                                    <p:set>
                                      <p:cBhvr>
                                        <p:cTn id="282" dur="1" fill="hold">
                                          <p:stCondLst>
                                            <p:cond delay="0"/>
                                          </p:stCondLst>
                                        </p:cTn>
                                        <p:tgtEl>
                                          <p:spTgt spid="45"/>
                                        </p:tgtEl>
                                        <p:attrNameLst>
                                          <p:attrName>style.visibility</p:attrName>
                                        </p:attrNameLst>
                                      </p:cBhvr>
                                      <p:to>
                                        <p:strVal val="visible"/>
                                      </p:to>
                                    </p:set>
                                    <p:animEffect transition="in" filter="fade">
                                      <p:cBhvr>
                                        <p:cTn id="283" dur="450"/>
                                        <p:tgtEl>
                                          <p:spTgt spid="45"/>
                                        </p:tgtEl>
                                      </p:cBhvr>
                                    </p:animEffect>
                                  </p:childTnLst>
                                </p:cTn>
                              </p:par>
                              <p:par>
                                <p:cTn id="284" presetID="10" presetClass="exit" presetSubtype="0" fill="hold" grpId="1" nodeType="withEffect">
                                  <p:stCondLst>
                                    <p:cond delay="13000"/>
                                  </p:stCondLst>
                                  <p:childTnLst>
                                    <p:animEffect transition="out" filter="fade">
                                      <p:cBhvr>
                                        <p:cTn id="285" dur="450"/>
                                        <p:tgtEl>
                                          <p:spTgt spid="44"/>
                                        </p:tgtEl>
                                      </p:cBhvr>
                                    </p:animEffect>
                                    <p:set>
                                      <p:cBhvr>
                                        <p:cTn id="286" dur="1" fill="hold">
                                          <p:stCondLst>
                                            <p:cond delay="449"/>
                                          </p:stCondLst>
                                        </p:cTn>
                                        <p:tgtEl>
                                          <p:spTgt spid="44"/>
                                        </p:tgtEl>
                                        <p:attrNameLst>
                                          <p:attrName>style.visibility</p:attrName>
                                        </p:attrNameLst>
                                      </p:cBhvr>
                                      <p:to>
                                        <p:strVal val="hidden"/>
                                      </p:to>
                                    </p:set>
                                  </p:childTnLst>
                                </p:cTn>
                              </p:par>
                              <p:par>
                                <p:cTn id="287" presetID="10" presetClass="exit" presetSubtype="0" fill="hold" grpId="1" nodeType="withEffect">
                                  <p:stCondLst>
                                    <p:cond delay="13000"/>
                                  </p:stCondLst>
                                  <p:childTnLst>
                                    <p:animEffect transition="out" filter="fade">
                                      <p:cBhvr>
                                        <p:cTn id="288" dur="450"/>
                                        <p:tgtEl>
                                          <p:spTgt spid="45"/>
                                        </p:tgtEl>
                                      </p:cBhvr>
                                    </p:animEffect>
                                    <p:set>
                                      <p:cBhvr>
                                        <p:cTn id="289" dur="1" fill="hold">
                                          <p:stCondLst>
                                            <p:cond delay="449"/>
                                          </p:stCondLst>
                                        </p:cTn>
                                        <p:tgtEl>
                                          <p:spTgt spid="45"/>
                                        </p:tgtEl>
                                        <p:attrNameLst>
                                          <p:attrName>style.visibility</p:attrName>
                                        </p:attrNameLst>
                                      </p:cBhvr>
                                      <p:to>
                                        <p:strVal val="hidden"/>
                                      </p:to>
                                    </p:set>
                                  </p:childTnLst>
                                </p:cTn>
                              </p:par>
                              <p:par>
                                <p:cTn id="290" presetID="10" presetClass="entr" presetSubtype="0" fill="hold" grpId="0" nodeType="withEffect">
                                  <p:stCondLst>
                                    <p:cond delay="13000"/>
                                  </p:stCondLst>
                                  <p:childTnLst>
                                    <p:set>
                                      <p:cBhvr>
                                        <p:cTn id="291" dur="1" fill="hold">
                                          <p:stCondLst>
                                            <p:cond delay="0"/>
                                          </p:stCondLst>
                                        </p:cTn>
                                        <p:tgtEl>
                                          <p:spTgt spid="76"/>
                                        </p:tgtEl>
                                        <p:attrNameLst>
                                          <p:attrName>style.visibility</p:attrName>
                                        </p:attrNameLst>
                                      </p:cBhvr>
                                      <p:to>
                                        <p:strVal val="visible"/>
                                      </p:to>
                                    </p:set>
                                    <p:animEffect transition="in" filter="fade">
                                      <p:cBhvr>
                                        <p:cTn id="292" dur="450"/>
                                        <p:tgtEl>
                                          <p:spTgt spid="76"/>
                                        </p:tgtEl>
                                      </p:cBhvr>
                                    </p:animEffect>
                                  </p:childTnLst>
                                </p:cTn>
                              </p:par>
                              <p:par>
                                <p:cTn id="293" presetID="10" presetClass="entr" presetSubtype="0" fill="hold" grpId="0" nodeType="withEffect">
                                  <p:stCondLst>
                                    <p:cond delay="13000"/>
                                  </p:stCondLst>
                                  <p:childTnLst>
                                    <p:set>
                                      <p:cBhvr>
                                        <p:cTn id="294" dur="1" fill="hold">
                                          <p:stCondLst>
                                            <p:cond delay="0"/>
                                          </p:stCondLst>
                                        </p:cTn>
                                        <p:tgtEl>
                                          <p:spTgt spid="77"/>
                                        </p:tgtEl>
                                        <p:attrNameLst>
                                          <p:attrName>style.visibility</p:attrName>
                                        </p:attrNameLst>
                                      </p:cBhvr>
                                      <p:to>
                                        <p:strVal val="visible"/>
                                      </p:to>
                                    </p:set>
                                    <p:animEffect transition="in" filter="fade">
                                      <p:cBhvr>
                                        <p:cTn id="295" dur="450"/>
                                        <p:tgtEl>
                                          <p:spTgt spid="77"/>
                                        </p:tgtEl>
                                      </p:cBhvr>
                                    </p:animEffect>
                                  </p:childTnLst>
                                </p:cTn>
                              </p:par>
                              <p:par>
                                <p:cTn id="296" presetID="10" presetClass="entr" presetSubtype="0" fill="hold" grpId="0" nodeType="withEffect">
                                  <p:stCondLst>
                                    <p:cond delay="13000"/>
                                  </p:stCondLst>
                                  <p:childTnLst>
                                    <p:set>
                                      <p:cBhvr>
                                        <p:cTn id="297" dur="1" fill="hold">
                                          <p:stCondLst>
                                            <p:cond delay="0"/>
                                          </p:stCondLst>
                                        </p:cTn>
                                        <p:tgtEl>
                                          <p:spTgt spid="78"/>
                                        </p:tgtEl>
                                        <p:attrNameLst>
                                          <p:attrName>style.visibility</p:attrName>
                                        </p:attrNameLst>
                                      </p:cBhvr>
                                      <p:to>
                                        <p:strVal val="visible"/>
                                      </p:to>
                                    </p:set>
                                    <p:animEffect transition="in" filter="fade">
                                      <p:cBhvr>
                                        <p:cTn id="298" dur="450"/>
                                        <p:tgtEl>
                                          <p:spTgt spid="78"/>
                                        </p:tgtEl>
                                      </p:cBhvr>
                                    </p:animEffect>
                                  </p:childTnLst>
                                </p:cTn>
                              </p:par>
                              <p:par>
                                <p:cTn id="299" presetID="10" presetClass="entr" presetSubtype="0" fill="hold" grpId="0" nodeType="withEffect">
                                  <p:stCondLst>
                                    <p:cond delay="13000"/>
                                  </p:stCondLst>
                                  <p:childTnLst>
                                    <p:set>
                                      <p:cBhvr>
                                        <p:cTn id="300" dur="1" fill="hold">
                                          <p:stCondLst>
                                            <p:cond delay="0"/>
                                          </p:stCondLst>
                                        </p:cTn>
                                        <p:tgtEl>
                                          <p:spTgt spid="46"/>
                                        </p:tgtEl>
                                        <p:attrNameLst>
                                          <p:attrName>style.visibility</p:attrName>
                                        </p:attrNameLst>
                                      </p:cBhvr>
                                      <p:to>
                                        <p:strVal val="visible"/>
                                      </p:to>
                                    </p:set>
                                    <p:animEffect transition="in" filter="fade">
                                      <p:cBhvr>
                                        <p:cTn id="301" dur="450"/>
                                        <p:tgtEl>
                                          <p:spTgt spid="46"/>
                                        </p:tgtEl>
                                      </p:cBhvr>
                                    </p:animEffect>
                                  </p:childTnLst>
                                </p:cTn>
                              </p:par>
                              <p:par>
                                <p:cTn id="302" presetID="10" presetClass="entr" presetSubtype="0" fill="hold" grpId="0" nodeType="withEffect">
                                  <p:stCondLst>
                                    <p:cond delay="13000"/>
                                  </p:stCondLst>
                                  <p:childTnLst>
                                    <p:set>
                                      <p:cBhvr>
                                        <p:cTn id="303" dur="1" fill="hold">
                                          <p:stCondLst>
                                            <p:cond delay="0"/>
                                          </p:stCondLst>
                                        </p:cTn>
                                        <p:tgtEl>
                                          <p:spTgt spid="47"/>
                                        </p:tgtEl>
                                        <p:attrNameLst>
                                          <p:attrName>style.visibility</p:attrName>
                                        </p:attrNameLst>
                                      </p:cBhvr>
                                      <p:to>
                                        <p:strVal val="visible"/>
                                      </p:to>
                                    </p:set>
                                    <p:animEffect transition="in" filter="fade">
                                      <p:cBhvr>
                                        <p:cTn id="304" dur="450"/>
                                        <p:tgtEl>
                                          <p:spTgt spid="47"/>
                                        </p:tgtEl>
                                      </p:cBhvr>
                                    </p:animEffect>
                                  </p:childTnLst>
                                </p:cTn>
                              </p:par>
                              <p:par>
                                <p:cTn id="305" presetID="10" presetClass="entr" presetSubtype="0" fill="hold" grpId="0" nodeType="withEffect">
                                  <p:stCondLst>
                                    <p:cond delay="13000"/>
                                  </p:stCondLst>
                                  <p:childTnLst>
                                    <p:set>
                                      <p:cBhvr>
                                        <p:cTn id="306" dur="1" fill="hold">
                                          <p:stCondLst>
                                            <p:cond delay="0"/>
                                          </p:stCondLst>
                                        </p:cTn>
                                        <p:tgtEl>
                                          <p:spTgt spid="48"/>
                                        </p:tgtEl>
                                        <p:attrNameLst>
                                          <p:attrName>style.visibility</p:attrName>
                                        </p:attrNameLst>
                                      </p:cBhvr>
                                      <p:to>
                                        <p:strVal val="visible"/>
                                      </p:to>
                                    </p:set>
                                    <p:animEffect transition="in" filter="fade">
                                      <p:cBhvr>
                                        <p:cTn id="307" dur="450"/>
                                        <p:tgtEl>
                                          <p:spTgt spid="48"/>
                                        </p:tgtEl>
                                      </p:cBhvr>
                                    </p:animEffect>
                                  </p:childTnLst>
                                </p:cTn>
                              </p:par>
                              <p:par>
                                <p:cTn id="308" presetID="10" presetClass="entr" presetSubtype="0" fill="hold" grpId="0" nodeType="withEffect">
                                  <p:stCondLst>
                                    <p:cond delay="13000"/>
                                  </p:stCondLst>
                                  <p:childTnLst>
                                    <p:set>
                                      <p:cBhvr>
                                        <p:cTn id="309" dur="1" fill="hold">
                                          <p:stCondLst>
                                            <p:cond delay="0"/>
                                          </p:stCondLst>
                                        </p:cTn>
                                        <p:tgtEl>
                                          <p:spTgt spid="49"/>
                                        </p:tgtEl>
                                        <p:attrNameLst>
                                          <p:attrName>style.visibility</p:attrName>
                                        </p:attrNameLst>
                                      </p:cBhvr>
                                      <p:to>
                                        <p:strVal val="visible"/>
                                      </p:to>
                                    </p:set>
                                    <p:animEffect transition="in" filter="fade">
                                      <p:cBhvr>
                                        <p:cTn id="310" dur="450"/>
                                        <p:tgtEl>
                                          <p:spTgt spid="49"/>
                                        </p:tgtEl>
                                      </p:cBhvr>
                                    </p:animEffect>
                                  </p:childTnLst>
                                </p:cTn>
                              </p:par>
                              <p:par>
                                <p:cTn id="311" presetID="10" presetClass="entr" presetSubtype="0" fill="hold" grpId="0" nodeType="withEffect">
                                  <p:stCondLst>
                                    <p:cond delay="13000"/>
                                  </p:stCondLst>
                                  <p:childTnLst>
                                    <p:set>
                                      <p:cBhvr>
                                        <p:cTn id="312" dur="1" fill="hold">
                                          <p:stCondLst>
                                            <p:cond delay="0"/>
                                          </p:stCondLst>
                                        </p:cTn>
                                        <p:tgtEl>
                                          <p:spTgt spid="50"/>
                                        </p:tgtEl>
                                        <p:attrNameLst>
                                          <p:attrName>style.visibility</p:attrName>
                                        </p:attrNameLst>
                                      </p:cBhvr>
                                      <p:to>
                                        <p:strVal val="visible"/>
                                      </p:to>
                                    </p:set>
                                    <p:animEffect transition="in" filter="fade">
                                      <p:cBhvr>
                                        <p:cTn id="313" dur="450"/>
                                        <p:tgtEl>
                                          <p:spTgt spid="50"/>
                                        </p:tgtEl>
                                      </p:cBhvr>
                                    </p:animEffect>
                                  </p:childTnLst>
                                </p:cTn>
                              </p:par>
                              <p:par>
                                <p:cTn id="314" presetID="10" presetClass="entr" presetSubtype="0" fill="hold" grpId="0" nodeType="withEffect">
                                  <p:stCondLst>
                                    <p:cond delay="13000"/>
                                  </p:stCondLst>
                                  <p:childTnLst>
                                    <p:set>
                                      <p:cBhvr>
                                        <p:cTn id="315" dur="1" fill="hold">
                                          <p:stCondLst>
                                            <p:cond delay="0"/>
                                          </p:stCondLst>
                                        </p:cTn>
                                        <p:tgtEl>
                                          <p:spTgt spid="51"/>
                                        </p:tgtEl>
                                        <p:attrNameLst>
                                          <p:attrName>style.visibility</p:attrName>
                                        </p:attrNameLst>
                                      </p:cBhvr>
                                      <p:to>
                                        <p:strVal val="visible"/>
                                      </p:to>
                                    </p:set>
                                    <p:animEffect transition="in" filter="fade">
                                      <p:cBhvr>
                                        <p:cTn id="316" dur="450"/>
                                        <p:tgtEl>
                                          <p:spTgt spid="51"/>
                                        </p:tgtEl>
                                      </p:cBhvr>
                                    </p:animEffect>
                                  </p:childTnLst>
                                </p:cTn>
                              </p:par>
                              <p:par>
                                <p:cTn id="317" presetID="10" presetClass="entr" presetSubtype="0" fill="hold" grpId="0" nodeType="withEffect">
                                  <p:stCondLst>
                                    <p:cond delay="13000"/>
                                  </p:stCondLst>
                                  <p:childTnLst>
                                    <p:set>
                                      <p:cBhvr>
                                        <p:cTn id="318" dur="1" fill="hold">
                                          <p:stCondLst>
                                            <p:cond delay="0"/>
                                          </p:stCondLst>
                                        </p:cTn>
                                        <p:tgtEl>
                                          <p:spTgt spid="52"/>
                                        </p:tgtEl>
                                        <p:attrNameLst>
                                          <p:attrName>style.visibility</p:attrName>
                                        </p:attrNameLst>
                                      </p:cBhvr>
                                      <p:to>
                                        <p:strVal val="visible"/>
                                      </p:to>
                                    </p:set>
                                    <p:animEffect transition="in" filter="fade">
                                      <p:cBhvr>
                                        <p:cTn id="319" dur="450"/>
                                        <p:tgtEl>
                                          <p:spTgt spid="52"/>
                                        </p:tgtEl>
                                      </p:cBhvr>
                                    </p:animEffect>
                                  </p:childTnLst>
                                </p:cTn>
                              </p:par>
                              <p:par>
                                <p:cTn id="320" presetID="10" presetClass="entr" presetSubtype="0" fill="hold" grpId="0" nodeType="withEffect">
                                  <p:stCondLst>
                                    <p:cond delay="13000"/>
                                  </p:stCondLst>
                                  <p:childTnLst>
                                    <p:set>
                                      <p:cBhvr>
                                        <p:cTn id="321" dur="1" fill="hold">
                                          <p:stCondLst>
                                            <p:cond delay="0"/>
                                          </p:stCondLst>
                                        </p:cTn>
                                        <p:tgtEl>
                                          <p:spTgt spid="53"/>
                                        </p:tgtEl>
                                        <p:attrNameLst>
                                          <p:attrName>style.visibility</p:attrName>
                                        </p:attrNameLst>
                                      </p:cBhvr>
                                      <p:to>
                                        <p:strVal val="visible"/>
                                      </p:to>
                                    </p:set>
                                    <p:animEffect transition="in" filter="fade">
                                      <p:cBhvr>
                                        <p:cTn id="322" dur="450"/>
                                        <p:tgtEl>
                                          <p:spTgt spid="53"/>
                                        </p:tgtEl>
                                      </p:cBhvr>
                                    </p:animEffect>
                                  </p:childTnLst>
                                </p:cTn>
                              </p:par>
                              <p:par>
                                <p:cTn id="323" presetID="10" presetClass="entr" presetSubtype="0" fill="hold" grpId="0" nodeType="withEffect">
                                  <p:stCondLst>
                                    <p:cond delay="13000"/>
                                  </p:stCondLst>
                                  <p:childTnLst>
                                    <p:set>
                                      <p:cBhvr>
                                        <p:cTn id="324" dur="1" fill="hold">
                                          <p:stCondLst>
                                            <p:cond delay="0"/>
                                          </p:stCondLst>
                                        </p:cTn>
                                        <p:tgtEl>
                                          <p:spTgt spid="54"/>
                                        </p:tgtEl>
                                        <p:attrNameLst>
                                          <p:attrName>style.visibility</p:attrName>
                                        </p:attrNameLst>
                                      </p:cBhvr>
                                      <p:to>
                                        <p:strVal val="visible"/>
                                      </p:to>
                                    </p:set>
                                    <p:animEffect transition="in" filter="fade">
                                      <p:cBhvr>
                                        <p:cTn id="325" dur="450"/>
                                        <p:tgtEl>
                                          <p:spTgt spid="54"/>
                                        </p:tgtEl>
                                      </p:cBhvr>
                                    </p:animEffect>
                                  </p:childTnLst>
                                </p:cTn>
                              </p:par>
                              <p:par>
                                <p:cTn id="326" presetID="10" presetClass="entr" presetSubtype="0" fill="hold" grpId="0" nodeType="withEffect">
                                  <p:stCondLst>
                                    <p:cond delay="13000"/>
                                  </p:stCondLst>
                                  <p:childTnLst>
                                    <p:set>
                                      <p:cBhvr>
                                        <p:cTn id="327" dur="1" fill="hold">
                                          <p:stCondLst>
                                            <p:cond delay="0"/>
                                          </p:stCondLst>
                                        </p:cTn>
                                        <p:tgtEl>
                                          <p:spTgt spid="55"/>
                                        </p:tgtEl>
                                        <p:attrNameLst>
                                          <p:attrName>style.visibility</p:attrName>
                                        </p:attrNameLst>
                                      </p:cBhvr>
                                      <p:to>
                                        <p:strVal val="visible"/>
                                      </p:to>
                                    </p:set>
                                    <p:animEffect transition="in" filter="fade">
                                      <p:cBhvr>
                                        <p:cTn id="328" dur="450"/>
                                        <p:tgtEl>
                                          <p:spTgt spid="55"/>
                                        </p:tgtEl>
                                      </p:cBhvr>
                                    </p:animEffect>
                                  </p:childTnLst>
                                </p:cTn>
                              </p:par>
                              <p:par>
                                <p:cTn id="329" presetID="10" presetClass="entr" presetSubtype="0" fill="hold" grpId="0" nodeType="withEffect">
                                  <p:stCondLst>
                                    <p:cond delay="13000"/>
                                  </p:stCondLst>
                                  <p:childTnLst>
                                    <p:set>
                                      <p:cBhvr>
                                        <p:cTn id="330" dur="1" fill="hold">
                                          <p:stCondLst>
                                            <p:cond delay="0"/>
                                          </p:stCondLst>
                                        </p:cTn>
                                        <p:tgtEl>
                                          <p:spTgt spid="56"/>
                                        </p:tgtEl>
                                        <p:attrNameLst>
                                          <p:attrName>style.visibility</p:attrName>
                                        </p:attrNameLst>
                                      </p:cBhvr>
                                      <p:to>
                                        <p:strVal val="visible"/>
                                      </p:to>
                                    </p:set>
                                    <p:animEffect transition="in" filter="fade">
                                      <p:cBhvr>
                                        <p:cTn id="331" dur="450"/>
                                        <p:tgtEl>
                                          <p:spTgt spid="56"/>
                                        </p:tgtEl>
                                      </p:cBhvr>
                                    </p:animEffect>
                                  </p:childTnLst>
                                </p:cTn>
                              </p:par>
                              <p:par>
                                <p:cTn id="332" presetID="10" presetClass="entr" presetSubtype="0" fill="hold" grpId="0" nodeType="withEffect">
                                  <p:stCondLst>
                                    <p:cond delay="13000"/>
                                  </p:stCondLst>
                                  <p:childTnLst>
                                    <p:set>
                                      <p:cBhvr>
                                        <p:cTn id="333" dur="1" fill="hold">
                                          <p:stCondLst>
                                            <p:cond delay="0"/>
                                          </p:stCondLst>
                                        </p:cTn>
                                        <p:tgtEl>
                                          <p:spTgt spid="57"/>
                                        </p:tgtEl>
                                        <p:attrNameLst>
                                          <p:attrName>style.visibility</p:attrName>
                                        </p:attrNameLst>
                                      </p:cBhvr>
                                      <p:to>
                                        <p:strVal val="visible"/>
                                      </p:to>
                                    </p:set>
                                    <p:animEffect transition="in" filter="fade">
                                      <p:cBhvr>
                                        <p:cTn id="334" dur="450"/>
                                        <p:tgtEl>
                                          <p:spTgt spid="57"/>
                                        </p:tgtEl>
                                      </p:cBhvr>
                                    </p:animEffect>
                                  </p:childTnLst>
                                </p:cTn>
                              </p:par>
                              <p:par>
                                <p:cTn id="335" presetID="10" presetClass="entr" presetSubtype="0" fill="hold" grpId="0" nodeType="withEffect">
                                  <p:stCondLst>
                                    <p:cond delay="13000"/>
                                  </p:stCondLst>
                                  <p:childTnLst>
                                    <p:set>
                                      <p:cBhvr>
                                        <p:cTn id="336" dur="1" fill="hold">
                                          <p:stCondLst>
                                            <p:cond delay="0"/>
                                          </p:stCondLst>
                                        </p:cTn>
                                        <p:tgtEl>
                                          <p:spTgt spid="58"/>
                                        </p:tgtEl>
                                        <p:attrNameLst>
                                          <p:attrName>style.visibility</p:attrName>
                                        </p:attrNameLst>
                                      </p:cBhvr>
                                      <p:to>
                                        <p:strVal val="visible"/>
                                      </p:to>
                                    </p:set>
                                    <p:animEffect transition="in" filter="fade">
                                      <p:cBhvr>
                                        <p:cTn id="337" dur="450"/>
                                        <p:tgtEl>
                                          <p:spTgt spid="58"/>
                                        </p:tgtEl>
                                      </p:cBhvr>
                                    </p:animEffect>
                                  </p:childTnLst>
                                </p:cTn>
                              </p:par>
                              <p:par>
                                <p:cTn id="338" presetID="10" presetClass="entr" presetSubtype="0" fill="hold" grpId="0" nodeType="withEffect">
                                  <p:stCondLst>
                                    <p:cond delay="13000"/>
                                  </p:stCondLst>
                                  <p:childTnLst>
                                    <p:set>
                                      <p:cBhvr>
                                        <p:cTn id="339" dur="1" fill="hold">
                                          <p:stCondLst>
                                            <p:cond delay="0"/>
                                          </p:stCondLst>
                                        </p:cTn>
                                        <p:tgtEl>
                                          <p:spTgt spid="59"/>
                                        </p:tgtEl>
                                        <p:attrNameLst>
                                          <p:attrName>style.visibility</p:attrName>
                                        </p:attrNameLst>
                                      </p:cBhvr>
                                      <p:to>
                                        <p:strVal val="visible"/>
                                      </p:to>
                                    </p:set>
                                    <p:animEffect transition="in" filter="fade">
                                      <p:cBhvr>
                                        <p:cTn id="340" dur="450"/>
                                        <p:tgtEl>
                                          <p:spTgt spid="59"/>
                                        </p:tgtEl>
                                      </p:cBhvr>
                                    </p:animEffect>
                                  </p:childTnLst>
                                </p:cTn>
                              </p:par>
                              <p:par>
                                <p:cTn id="341" presetID="10" presetClass="entr" presetSubtype="0" fill="hold" grpId="0" nodeType="withEffect">
                                  <p:stCondLst>
                                    <p:cond delay="13000"/>
                                  </p:stCondLst>
                                  <p:childTnLst>
                                    <p:set>
                                      <p:cBhvr>
                                        <p:cTn id="342" dur="1" fill="hold">
                                          <p:stCondLst>
                                            <p:cond delay="0"/>
                                          </p:stCondLst>
                                        </p:cTn>
                                        <p:tgtEl>
                                          <p:spTgt spid="60"/>
                                        </p:tgtEl>
                                        <p:attrNameLst>
                                          <p:attrName>style.visibility</p:attrName>
                                        </p:attrNameLst>
                                      </p:cBhvr>
                                      <p:to>
                                        <p:strVal val="visible"/>
                                      </p:to>
                                    </p:set>
                                    <p:animEffect transition="in" filter="fade">
                                      <p:cBhvr>
                                        <p:cTn id="343" dur="4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3"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64" grpId="0" animBg="1"/>
      <p:bldP spid="66" grpId="0" animBg="1"/>
      <p:bldP spid="20" grpId="0" animBg="1"/>
      <p:bldP spid="21" grpId="0" animBg="1"/>
      <p:bldP spid="22" grpId="0" animBg="1"/>
      <p:bldP spid="23" grpId="0" animBg="1"/>
      <p:bldP spid="24" grpId="0" animBg="1"/>
      <p:bldP spid="25" grpId="0" animBg="1"/>
      <p:bldP spid="67" grpId="0" animBg="1"/>
      <p:bldP spid="69"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70" grpId="0" animBg="1"/>
      <p:bldP spid="72" grpId="0" animBg="1"/>
      <p:bldP spid="38" grpId="0" animBg="1"/>
      <p:bldP spid="39" grpId="0" animBg="1"/>
      <p:bldP spid="40" grpId="0" animBg="1"/>
      <p:bldP spid="41" grpId="0" animBg="1"/>
      <p:bldP spid="42" grpId="0" animBg="1"/>
      <p:bldP spid="43" grpId="0" animBg="1"/>
      <p:bldP spid="73" grpId="0" animBg="1"/>
      <p:bldP spid="75" grpId="0" animBg="1"/>
      <p:bldP spid="44" grpId="0" animBg="1"/>
      <p:bldP spid="45" grpId="0" animBg="1"/>
      <p:bldP spid="76" grpId="0" animBg="1"/>
      <p:bldP spid="78"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 grpId="1" animBg="1"/>
      <p:bldP spid="7" grpId="1" animBg="1"/>
      <p:bldP spid="8" grpId="1" animBg="1"/>
      <p:bldP spid="9" grpId="1" animBg="1"/>
      <p:bldP spid="10" grpId="1" animBg="1"/>
      <p:bldP spid="11" grpId="1" animBg="1"/>
      <p:bldP spid="12" grpId="1" animBg="1"/>
      <p:bldP spid="13" grpId="1" animBg="1"/>
      <p:bldP spid="14" grpId="1" animBg="1"/>
      <p:bldP spid="15" grpId="1" animBg="1"/>
      <p:bldP spid="16" grpId="1" animBg="1"/>
      <p:bldP spid="17" grpId="1" animBg="1"/>
      <p:bldP spid="18" grpId="1" animBg="1"/>
      <p:bldP spid="19" grpId="1" animBg="1"/>
      <p:bldP spid="20" grpId="1" animBg="1"/>
      <p:bldP spid="21" grpId="1" animBg="1"/>
      <p:bldP spid="22" grpId="1" animBg="1"/>
      <p:bldP spid="23" grpId="1" animBg="1"/>
      <p:bldP spid="24" grpId="1" animBg="1"/>
      <p:bldP spid="25" grpId="1" animBg="1"/>
      <p:bldP spid="26" grpId="1" animBg="1"/>
      <p:bldP spid="27" grpId="1" animBg="1"/>
      <p:bldP spid="28" grpId="1" animBg="1"/>
      <p:bldP spid="29" grpId="1" animBg="1"/>
      <p:bldP spid="30" grpId="1" animBg="1"/>
      <p:bldP spid="31" grpId="1" animBg="1"/>
      <p:bldP spid="32" grpId="1" animBg="1"/>
      <p:bldP spid="33" grpId="1" animBg="1"/>
      <p:bldP spid="34" grpId="1" animBg="1"/>
      <p:bldP spid="35" grpId="1" animBg="1"/>
      <p:bldP spid="36" grpId="1" animBg="1"/>
      <p:bldP spid="37" grpId="1" animBg="1"/>
      <p:bldP spid="38" grpId="1" animBg="1"/>
      <p:bldP spid="39" grpId="1" animBg="1"/>
      <p:bldP spid="40" grpId="1" animBg="1"/>
      <p:bldP spid="41" grpId="1" animBg="1"/>
      <p:bldP spid="42" grpId="1" animBg="1"/>
      <p:bldP spid="43" grpId="1" animBg="1"/>
      <p:bldP spid="44" grpId="1" animBg="1"/>
      <p:bldP spid="45"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vi-VN" sz="1100" b="1" spc="300" kern="0" dirty="0">
                <a:solidFill>
                  <a:schemeClr val="accent1"/>
                </a:solidFill>
              </a:rPr>
              <a:t>TÍNH NĂNG</a:t>
            </a:r>
            <a:endParaRPr lang="vi-VN"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vi-VN" sz="3600" b="1" dirty="0">
                <a:solidFill>
                  <a:schemeClr val="tx2"/>
                </a:solidFill>
              </a:rPr>
              <a:t>Mọi phép kiểm tra trên từng sản phẩm.</a:t>
            </a:r>
            <a:endParaRPr lang="vi-VN" sz="3600" dirty="0"/>
          </a:p>
        </p:txBody>
      </p:sp>
      <p:sp>
        <p:nvSpPr>
          <p:cNvPr id="4" name="B frame"/>
          <p:cNvSpPr/>
          <p:nvPr/>
        </p:nvSpPr>
        <p:spPr>
          <a:xfrm>
            <a:off x="484632" y="1536192"/>
            <a:ext cx="5843016" cy="4792885"/>
          </a:xfrm>
          <a:prstGeom prst="roundRect">
            <a:avLst>
              <a:gd name="adj" fmla="val 2289"/>
            </a:avLst>
          </a:prstGeom>
          <a:solidFill>
            <a:schemeClr val="bg1"/>
          </a:solidFill>
          <a:ln w="12700">
            <a:solidFill>
              <a:schemeClr val="accent5"/>
            </a:solidFill>
            <a:prstDash val="solid"/>
          </a:ln>
        </p:spPr>
      </p:sp>
      <p:pic>
        <p:nvPicPr>
          <p:cNvPr id="5" name="B scene" descr="Ba thùng carton trên băng tải, nhìn từ trên xuống">    </p:cNvPr>
          <p:cNvPicPr>
            <a:picLocks noChangeAspect="1"/>
          </p:cNvPicPr>
          <p:nvPr/>
        </p:nvPicPr>
        <p:blipFill>
          <a:blip r:embed="rId1"/>
          <a:stretch>
            <a:fillRect/>
          </a:stretch>
        </p:blipFill>
        <p:spPr>
          <a:xfrm>
            <a:off x="548640" y="1600200"/>
            <a:ext cx="5715000" cy="4664869"/>
          </a:xfrm>
          <a:prstGeom prst="rect">
            <a:avLst/>
          </a:prstGeom>
        </p:spPr>
      </p:pic>
      <p:pic>
        <p:nvPicPr>
          <p:cNvPr id="6" name="B scene 3D" descr="Các thùng carton đó ở dạng 3D; thùng 2 bị móp một góc">    </p:cNvPr>
          <p:cNvPicPr>
            <a:picLocks noChangeAspect="1"/>
          </p:cNvPicPr>
          <p:nvPr/>
        </p:nvPicPr>
        <p:blipFill>
          <a:blip r:embed="rId2"/>
          <a:stretch>
            <a:fillRect/>
          </a:stretch>
        </p:blipFill>
        <p:spPr>
          <a:xfrm>
            <a:off x="548640" y="1600200"/>
            <a:ext cx="5715000" cy="4664869"/>
          </a:xfrm>
          <a:prstGeom prst="rect">
            <a:avLst/>
          </a:prstGeom>
        </p:spPr>
      </p:pic>
      <p:sp>
        <p:nvSpPr>
          <p:cNvPr id="7" name="B s0 c1"/>
          <p:cNvSpPr/>
          <p:nvPr/>
        </p:nvSpPr>
        <p:spPr>
          <a:xfrm>
            <a:off x="1075492" y="3461861"/>
            <a:ext cx="1258372" cy="941546"/>
          </a:xfrm>
          <a:prstGeom prst="rect">
            <a:avLst/>
          </a:prstGeom>
          <a:solidFill>
            <a:srgbClr val="FFFFFF">
              <a:alpha val="0"/>
            </a:srgbClr>
          </a:solidFill>
          <a:ln w="28575">
            <a:solidFill>
              <a:srgbClr val="2F5D8A"/>
            </a:solidFill>
            <a:prstDash val="solid"/>
          </a:ln>
        </p:spPr>
      </p:sp>
      <p:sp>
        <p:nvSpPr>
          <p:cNvPr id="8" name="B s0 t1"/>
          <p:cNvSpPr txBox="1"/>
          <p:nvPr/>
        </p:nvSpPr>
        <p:spPr>
          <a:xfrm>
            <a:off x="1075492" y="3254693"/>
            <a:ext cx="797357" cy="246888"/>
          </a:xfrm>
          <a:prstGeom prst="rect">
            <a:avLst/>
          </a:prstGeom>
          <a:solidFill>
            <a:srgbClr val="2F5D8A"/>
          </a:solidFill>
          <a:ln/>
        </p:spPr>
        <p:txBody>
          <a:bodyPr wrap="square" lIns="25400" tIns="25400" rIns="25400" bIns="25400" rtlCol="0" anchor="ctr"/>
          <a:lstStyle/>
          <a:p>
            <a:pPr algn="ctr" indent="0" marL="0">
              <a:buNone/>
            </a:pPr>
            <a:r>
              <a:rPr lang="vi-VN" sz="1100" b="1" dirty="0">
                <a:solidFill>
                  <a:schemeClr val="bg1"/>
                </a:solidFill>
              </a:rPr>
              <a:t>Thùng 1</a:t>
            </a:r>
            <a:endParaRPr lang="vi-VN" sz="1100" dirty="0"/>
          </a:p>
        </p:txBody>
      </p:sp>
      <p:sp>
        <p:nvSpPr>
          <p:cNvPr id="9" name="B s0 c2"/>
          <p:cNvSpPr/>
          <p:nvPr/>
        </p:nvSpPr>
        <p:spPr>
          <a:xfrm>
            <a:off x="2816423" y="3461861"/>
            <a:ext cx="1258372" cy="941546"/>
          </a:xfrm>
          <a:prstGeom prst="rect">
            <a:avLst/>
          </a:prstGeom>
          <a:solidFill>
            <a:srgbClr val="FFFFFF">
              <a:alpha val="0"/>
            </a:srgbClr>
          </a:solidFill>
          <a:ln w="28575">
            <a:solidFill>
              <a:srgbClr val="2F5D8A"/>
            </a:solidFill>
            <a:prstDash val="solid"/>
          </a:ln>
        </p:spPr>
      </p:sp>
      <p:sp>
        <p:nvSpPr>
          <p:cNvPr id="10" name="B s0 t2"/>
          <p:cNvSpPr txBox="1"/>
          <p:nvPr/>
        </p:nvSpPr>
        <p:spPr>
          <a:xfrm>
            <a:off x="2816423" y="3254693"/>
            <a:ext cx="797357" cy="246888"/>
          </a:xfrm>
          <a:prstGeom prst="rect">
            <a:avLst/>
          </a:prstGeom>
          <a:solidFill>
            <a:srgbClr val="2F5D8A"/>
          </a:solidFill>
          <a:ln/>
        </p:spPr>
        <p:txBody>
          <a:bodyPr wrap="square" lIns="25400" tIns="25400" rIns="25400" bIns="25400" rtlCol="0" anchor="ctr"/>
          <a:lstStyle/>
          <a:p>
            <a:pPr algn="ctr" indent="0" marL="0">
              <a:buNone/>
            </a:pPr>
            <a:r>
              <a:rPr lang="vi-VN" sz="1100" b="1" dirty="0">
                <a:solidFill>
                  <a:schemeClr val="bg1"/>
                </a:solidFill>
              </a:rPr>
              <a:t>Thùng 2</a:t>
            </a:r>
            <a:endParaRPr lang="vi-VN" sz="1100" dirty="0"/>
          </a:p>
        </p:txBody>
      </p:sp>
      <p:sp>
        <p:nvSpPr>
          <p:cNvPr id="11" name="B s0 c3"/>
          <p:cNvSpPr/>
          <p:nvPr/>
        </p:nvSpPr>
        <p:spPr>
          <a:xfrm>
            <a:off x="4557355" y="3461861"/>
            <a:ext cx="1258372" cy="941546"/>
          </a:xfrm>
          <a:prstGeom prst="rect">
            <a:avLst/>
          </a:prstGeom>
          <a:solidFill>
            <a:srgbClr val="FFFFFF">
              <a:alpha val="0"/>
            </a:srgbClr>
          </a:solidFill>
          <a:ln w="28575">
            <a:solidFill>
              <a:srgbClr val="2F5D8A"/>
            </a:solidFill>
            <a:prstDash val="solid"/>
          </a:ln>
        </p:spPr>
      </p:sp>
      <p:sp>
        <p:nvSpPr>
          <p:cNvPr id="12" name="B s0 t3"/>
          <p:cNvSpPr txBox="1"/>
          <p:nvPr/>
        </p:nvSpPr>
        <p:spPr>
          <a:xfrm>
            <a:off x="4557355" y="3254693"/>
            <a:ext cx="797357" cy="246888"/>
          </a:xfrm>
          <a:prstGeom prst="rect">
            <a:avLst/>
          </a:prstGeom>
          <a:solidFill>
            <a:srgbClr val="2F5D8A"/>
          </a:solidFill>
          <a:ln/>
        </p:spPr>
        <p:txBody>
          <a:bodyPr wrap="square" lIns="25400" tIns="25400" rIns="25400" bIns="25400" rtlCol="0" anchor="ctr"/>
          <a:lstStyle/>
          <a:p>
            <a:pPr algn="ctr" indent="0" marL="0">
              <a:buNone/>
            </a:pPr>
            <a:r>
              <a:rPr lang="vi-VN" sz="1100" b="1" dirty="0">
                <a:solidFill>
                  <a:schemeClr val="bg1"/>
                </a:solidFill>
              </a:rPr>
              <a:t>Thùng 3</a:t>
            </a:r>
            <a:endParaRPr lang="vi-VN" sz="1100" dirty="0"/>
          </a:p>
        </p:txBody>
      </p:sp>
      <p:sp>
        <p:nvSpPr>
          <p:cNvPr id="13" name="B s1 L"/>
          <p:cNvSpPr/>
          <p:nvPr/>
        </p:nvSpPr>
        <p:spPr>
          <a:xfrm>
            <a:off x="1111210" y="4526280"/>
            <a:ext cx="1186934" cy="914"/>
          </a:xfrm>
          <a:prstGeom prst="line">
            <a:avLst/>
          </a:prstGeom>
          <a:noFill/>
          <a:ln w="22225">
            <a:solidFill>
              <a:srgbClr val="2F5D8A"/>
            </a:solidFill>
            <a:prstDash val="solid"/>
            <a:headEnd type="triangle"/>
            <a:tailEnd type="triangle"/>
          </a:ln>
        </p:spPr>
      </p:sp>
      <p:sp>
        <p:nvSpPr>
          <p:cNvPr id="14" name="B s1 L t"/>
          <p:cNvSpPr txBox="1"/>
          <p:nvPr/>
        </p:nvSpPr>
        <p:spPr>
          <a:xfrm>
            <a:off x="1543943" y="4569143"/>
            <a:ext cx="729691" cy="246888"/>
          </a:xfrm>
          <a:prstGeom prst="rect">
            <a:avLst/>
          </a:prstGeom>
          <a:solidFill>
            <a:srgbClr val="1D2D3D"/>
          </a:solidFill>
          <a:ln/>
        </p:spPr>
        <p:txBody>
          <a:bodyPr wrap="square" lIns="25400" tIns="25400" rIns="25400" bIns="25400" rtlCol="0" anchor="ctr"/>
          <a:lstStyle/>
          <a:p>
            <a:pPr algn="ctr" indent="0" marL="0">
              <a:buNone/>
            </a:pPr>
            <a:r>
              <a:rPr lang="vi-VN" sz="1100" b="1" dirty="0">
                <a:solidFill>
                  <a:schemeClr val="bg1"/>
                </a:solidFill>
              </a:rPr>
              <a:t>D 30 cm</a:t>
            </a:r>
            <a:endParaRPr lang="vi-VN" sz="1100" dirty="0"/>
          </a:p>
        </p:txBody>
      </p:sp>
      <p:sp>
        <p:nvSpPr>
          <p:cNvPr id="15" name="B s1 W"/>
          <p:cNvSpPr/>
          <p:nvPr/>
        </p:nvSpPr>
        <p:spPr>
          <a:xfrm>
            <a:off x="2456736" y="3497580"/>
            <a:ext cx="914" cy="870109"/>
          </a:xfrm>
          <a:prstGeom prst="line">
            <a:avLst/>
          </a:prstGeom>
          <a:noFill/>
          <a:ln w="22225">
            <a:solidFill>
              <a:srgbClr val="2F5D8A"/>
            </a:solidFill>
            <a:prstDash val="solid"/>
            <a:headEnd type="triangle"/>
            <a:tailEnd type="triangle"/>
          </a:ln>
        </p:spPr>
      </p:sp>
      <p:sp>
        <p:nvSpPr>
          <p:cNvPr id="16" name="B s1 W t"/>
          <p:cNvSpPr txBox="1"/>
          <p:nvPr/>
        </p:nvSpPr>
        <p:spPr>
          <a:xfrm>
            <a:off x="2528173" y="3861197"/>
            <a:ext cx="729691" cy="246888"/>
          </a:xfrm>
          <a:prstGeom prst="rect">
            <a:avLst/>
          </a:prstGeom>
          <a:solidFill>
            <a:srgbClr val="1D2D3D"/>
          </a:solidFill>
          <a:ln/>
        </p:spPr>
        <p:txBody>
          <a:bodyPr wrap="square" lIns="25400" tIns="25400" rIns="25400" bIns="25400" rtlCol="0" anchor="ctr"/>
          <a:lstStyle/>
          <a:p>
            <a:pPr algn="ctr" indent="0" marL="0">
              <a:buNone/>
            </a:pPr>
            <a:r>
              <a:rPr lang="vi-VN" sz="1100" b="1" dirty="0">
                <a:solidFill>
                  <a:schemeClr val="bg1"/>
                </a:solidFill>
              </a:rPr>
              <a:t>R 22 cm</a:t>
            </a:r>
            <a:endParaRPr lang="vi-VN" sz="1100" dirty="0"/>
          </a:p>
        </p:txBody>
      </p:sp>
      <p:sp>
        <p:nvSpPr>
          <p:cNvPr id="17" name="B s2 l1"/>
          <p:cNvSpPr/>
          <p:nvPr/>
        </p:nvSpPr>
        <p:spPr>
          <a:xfrm>
            <a:off x="1208723" y="3523298"/>
            <a:ext cx="557213" cy="320040"/>
          </a:xfrm>
          <a:prstGeom prst="rect">
            <a:avLst/>
          </a:prstGeom>
          <a:solidFill>
            <a:srgbClr val="FFFFFF">
              <a:alpha val="0"/>
            </a:srgbClr>
          </a:solidFill>
          <a:ln w="28575">
            <a:solidFill>
              <a:srgbClr val="2F7D52"/>
            </a:solidFill>
            <a:prstDash val="solid"/>
          </a:ln>
        </p:spPr>
      </p:sp>
      <p:sp>
        <p:nvSpPr>
          <p:cNvPr id="18" name="B s2 l1 t"/>
          <p:cNvSpPr txBox="1"/>
          <p:nvPr/>
        </p:nvSpPr>
        <p:spPr>
          <a:xfrm>
            <a:off x="1208723" y="3316129"/>
            <a:ext cx="662026" cy="246888"/>
          </a:xfrm>
          <a:prstGeom prst="rect">
            <a:avLst/>
          </a:prstGeom>
          <a:solidFill>
            <a:srgbClr val="2F7D52"/>
          </a:solidFill>
          <a:ln/>
        </p:spPr>
        <p:txBody>
          <a:bodyPr wrap="square" lIns="25400" tIns="25400" rIns="25400" bIns="25400" rtlCol="0" anchor="ctr"/>
          <a:lstStyle/>
          <a:p>
            <a:pPr algn="ctr" indent="0" marL="0">
              <a:buNone/>
            </a:pPr>
            <a:r>
              <a:rPr lang="vi-VN" sz="1100" b="1" dirty="0">
                <a:solidFill>
                  <a:schemeClr val="bg1"/>
                </a:solidFill>
              </a:rPr>
              <a:t>ΔE 1,3</a:t>
            </a:r>
            <a:endParaRPr lang="vi-VN" sz="1100" dirty="0"/>
          </a:p>
        </p:txBody>
      </p:sp>
      <p:sp>
        <p:nvSpPr>
          <p:cNvPr id="19" name="B s2 l2"/>
          <p:cNvSpPr/>
          <p:nvPr/>
        </p:nvSpPr>
        <p:spPr>
          <a:xfrm>
            <a:off x="2949654" y="3523298"/>
            <a:ext cx="557213" cy="320040"/>
          </a:xfrm>
          <a:prstGeom prst="rect">
            <a:avLst/>
          </a:prstGeom>
          <a:solidFill>
            <a:srgbClr val="FFFFFF">
              <a:alpha val="0"/>
            </a:srgbClr>
          </a:solidFill>
          <a:ln w="28575">
            <a:solidFill>
              <a:srgbClr val="2F7D52"/>
            </a:solidFill>
            <a:prstDash val="solid"/>
          </a:ln>
        </p:spPr>
      </p:sp>
      <p:sp>
        <p:nvSpPr>
          <p:cNvPr id="20" name="B s2 l2 t"/>
          <p:cNvSpPr txBox="1"/>
          <p:nvPr/>
        </p:nvSpPr>
        <p:spPr>
          <a:xfrm>
            <a:off x="2949654" y="3316129"/>
            <a:ext cx="662026" cy="246888"/>
          </a:xfrm>
          <a:prstGeom prst="rect">
            <a:avLst/>
          </a:prstGeom>
          <a:solidFill>
            <a:srgbClr val="2F7D52"/>
          </a:solidFill>
          <a:ln/>
        </p:spPr>
        <p:txBody>
          <a:bodyPr wrap="square" lIns="25400" tIns="25400" rIns="25400" bIns="25400" rtlCol="0" anchor="ctr"/>
          <a:lstStyle/>
          <a:p>
            <a:pPr algn="ctr" indent="0" marL="0">
              <a:buNone/>
            </a:pPr>
            <a:r>
              <a:rPr lang="vi-VN" sz="1100" b="1" dirty="0">
                <a:solidFill>
                  <a:schemeClr val="bg1"/>
                </a:solidFill>
              </a:rPr>
              <a:t>ΔE 1,1</a:t>
            </a:r>
            <a:endParaRPr lang="vi-VN" sz="1100" dirty="0"/>
          </a:p>
        </p:txBody>
      </p:sp>
      <p:sp>
        <p:nvSpPr>
          <p:cNvPr id="21" name="B s2 l3"/>
          <p:cNvSpPr/>
          <p:nvPr/>
        </p:nvSpPr>
        <p:spPr>
          <a:xfrm>
            <a:off x="4690229" y="3523298"/>
            <a:ext cx="557213" cy="320040"/>
          </a:xfrm>
          <a:prstGeom prst="rect">
            <a:avLst/>
          </a:prstGeom>
          <a:solidFill>
            <a:srgbClr val="FFFFFF">
              <a:alpha val="0"/>
            </a:srgbClr>
          </a:solidFill>
          <a:ln w="28575">
            <a:solidFill>
              <a:srgbClr val="E5463D"/>
            </a:solidFill>
            <a:prstDash val="solid"/>
          </a:ln>
        </p:spPr>
      </p:sp>
      <p:sp>
        <p:nvSpPr>
          <p:cNvPr id="22" name="B s2 l3 t"/>
          <p:cNvSpPr txBox="1"/>
          <p:nvPr/>
        </p:nvSpPr>
        <p:spPr>
          <a:xfrm>
            <a:off x="4690229" y="3316129"/>
            <a:ext cx="729691" cy="246888"/>
          </a:xfrm>
          <a:prstGeom prst="rect">
            <a:avLst/>
          </a:prstGeom>
          <a:solidFill>
            <a:srgbClr val="E5463D"/>
          </a:solidFill>
          <a:ln/>
        </p:spPr>
        <p:txBody>
          <a:bodyPr wrap="square" lIns="25400" tIns="25400" rIns="25400" bIns="25400" rtlCol="0" anchor="ctr"/>
          <a:lstStyle/>
          <a:p>
            <a:pPr algn="ctr" indent="0" marL="0">
              <a:buNone/>
            </a:pPr>
            <a:r>
              <a:rPr lang="vi-VN" sz="1100" b="1" dirty="0">
                <a:solidFill>
                  <a:schemeClr val="bg1"/>
                </a:solidFill>
              </a:rPr>
              <a:t>ΔE 41,0</a:t>
            </a:r>
            <a:endParaRPr lang="vi-VN" sz="1100" dirty="0"/>
          </a:p>
        </p:txBody>
      </p:sp>
      <p:sp>
        <p:nvSpPr>
          <p:cNvPr id="23" name="B s3 cub1-0"/>
          <p:cNvSpPr/>
          <p:nvPr/>
        </p:nvSpPr>
        <p:spPr>
          <a:xfrm>
            <a:off x="2000607" y="2791420"/>
            <a:ext cx="945118" cy="545425"/>
          </a:xfrm>
          <a:prstGeom prst="line">
            <a:avLst/>
          </a:prstGeom>
          <a:noFill/>
          <a:ln w="19050">
            <a:solidFill>
              <a:srgbClr val="2F5D8A"/>
            </a:solidFill>
            <a:prstDash val="dash"/>
          </a:ln>
        </p:spPr>
      </p:sp>
      <p:sp>
        <p:nvSpPr>
          <p:cNvPr id="24" name="B s3 cub1-1"/>
          <p:cNvSpPr/>
          <p:nvPr/>
        </p:nvSpPr>
        <p:spPr>
          <a:xfrm>
            <a:off x="1294805" y="3198971"/>
            <a:ext cx="945118" cy="545425"/>
          </a:xfrm>
          <a:prstGeom prst="line">
            <a:avLst/>
          </a:prstGeom>
          <a:noFill/>
          <a:ln w="19050">
            <a:solidFill>
              <a:srgbClr val="2F5D8A"/>
            </a:solidFill>
            <a:prstDash val="dash"/>
          </a:ln>
        </p:spPr>
      </p:sp>
      <p:sp>
        <p:nvSpPr>
          <p:cNvPr id="25" name="B s3 cub1-2"/>
          <p:cNvSpPr/>
          <p:nvPr/>
        </p:nvSpPr>
        <p:spPr>
          <a:xfrm>
            <a:off x="2000607" y="2176701"/>
            <a:ext cx="945118" cy="545783"/>
          </a:xfrm>
          <a:prstGeom prst="line">
            <a:avLst/>
          </a:prstGeom>
          <a:noFill/>
          <a:ln w="19050">
            <a:solidFill>
              <a:srgbClr val="2F5D8A"/>
            </a:solidFill>
            <a:prstDash val="dash"/>
          </a:ln>
        </p:spPr>
      </p:sp>
      <p:sp>
        <p:nvSpPr>
          <p:cNvPr id="26" name="B s3 cub1-3"/>
          <p:cNvSpPr/>
          <p:nvPr/>
        </p:nvSpPr>
        <p:spPr>
          <a:xfrm>
            <a:off x="1294805" y="2584252"/>
            <a:ext cx="945118" cy="545425"/>
          </a:xfrm>
          <a:prstGeom prst="line">
            <a:avLst/>
          </a:prstGeom>
          <a:noFill/>
          <a:ln w="19050">
            <a:solidFill>
              <a:srgbClr val="2F5D8A"/>
            </a:solidFill>
            <a:prstDash val="dash"/>
          </a:ln>
        </p:spPr>
      </p:sp>
      <p:sp>
        <p:nvSpPr>
          <p:cNvPr id="27" name="B s3 cub1-4"/>
          <p:cNvSpPr/>
          <p:nvPr/>
        </p:nvSpPr>
        <p:spPr>
          <a:xfrm flipV="1">
            <a:off x="1294805" y="2791420"/>
            <a:ext cx="705803" cy="407551"/>
          </a:xfrm>
          <a:prstGeom prst="line">
            <a:avLst/>
          </a:prstGeom>
          <a:noFill/>
          <a:ln w="19050">
            <a:solidFill>
              <a:srgbClr val="2F5D8A"/>
            </a:solidFill>
            <a:prstDash val="dash"/>
          </a:ln>
        </p:spPr>
      </p:sp>
      <p:sp>
        <p:nvSpPr>
          <p:cNvPr id="28" name="B s3 cub1-5"/>
          <p:cNvSpPr/>
          <p:nvPr/>
        </p:nvSpPr>
        <p:spPr>
          <a:xfrm flipV="1">
            <a:off x="2239923" y="3336846"/>
            <a:ext cx="705803" cy="407551"/>
          </a:xfrm>
          <a:prstGeom prst="line">
            <a:avLst/>
          </a:prstGeom>
          <a:noFill/>
          <a:ln w="19050">
            <a:solidFill>
              <a:srgbClr val="2F5D8A"/>
            </a:solidFill>
            <a:prstDash val="dash"/>
          </a:ln>
        </p:spPr>
      </p:sp>
      <p:sp>
        <p:nvSpPr>
          <p:cNvPr id="29" name="B s3 cub1-6"/>
          <p:cNvSpPr/>
          <p:nvPr/>
        </p:nvSpPr>
        <p:spPr>
          <a:xfrm flipV="1">
            <a:off x="1294805" y="2176701"/>
            <a:ext cx="705803" cy="407551"/>
          </a:xfrm>
          <a:prstGeom prst="line">
            <a:avLst/>
          </a:prstGeom>
          <a:noFill/>
          <a:ln w="19050">
            <a:solidFill>
              <a:srgbClr val="2F5D8A"/>
            </a:solidFill>
            <a:prstDash val="dash"/>
          </a:ln>
        </p:spPr>
      </p:sp>
      <p:sp>
        <p:nvSpPr>
          <p:cNvPr id="30" name="B s3 cub1-7"/>
          <p:cNvSpPr/>
          <p:nvPr/>
        </p:nvSpPr>
        <p:spPr>
          <a:xfrm flipV="1">
            <a:off x="2239923" y="2722483"/>
            <a:ext cx="705803" cy="407194"/>
          </a:xfrm>
          <a:prstGeom prst="line">
            <a:avLst/>
          </a:prstGeom>
          <a:noFill/>
          <a:ln w="19050">
            <a:solidFill>
              <a:srgbClr val="2F5D8A"/>
            </a:solidFill>
            <a:prstDash val="dash"/>
          </a:ln>
        </p:spPr>
      </p:sp>
      <p:sp>
        <p:nvSpPr>
          <p:cNvPr id="31" name="B s3 cub1-8"/>
          <p:cNvSpPr/>
          <p:nvPr/>
        </p:nvSpPr>
        <p:spPr>
          <a:xfrm>
            <a:off x="2000607" y="2176701"/>
            <a:ext cx="914" cy="614720"/>
          </a:xfrm>
          <a:prstGeom prst="line">
            <a:avLst/>
          </a:prstGeom>
          <a:noFill/>
          <a:ln w="19050">
            <a:solidFill>
              <a:srgbClr val="2F5D8A"/>
            </a:solidFill>
            <a:prstDash val="dash"/>
          </a:ln>
        </p:spPr>
      </p:sp>
      <p:sp>
        <p:nvSpPr>
          <p:cNvPr id="32" name="B s3 cub1-9"/>
          <p:cNvSpPr/>
          <p:nvPr/>
        </p:nvSpPr>
        <p:spPr>
          <a:xfrm>
            <a:off x="2945725" y="2722483"/>
            <a:ext cx="914" cy="614363"/>
          </a:xfrm>
          <a:prstGeom prst="line">
            <a:avLst/>
          </a:prstGeom>
          <a:noFill/>
          <a:ln w="19050">
            <a:solidFill>
              <a:srgbClr val="2F5D8A"/>
            </a:solidFill>
            <a:prstDash val="dash"/>
          </a:ln>
        </p:spPr>
      </p:sp>
      <p:sp>
        <p:nvSpPr>
          <p:cNvPr id="33" name="B s3 cub1-10"/>
          <p:cNvSpPr/>
          <p:nvPr/>
        </p:nvSpPr>
        <p:spPr>
          <a:xfrm>
            <a:off x="1294805" y="2584252"/>
            <a:ext cx="914" cy="614720"/>
          </a:xfrm>
          <a:prstGeom prst="line">
            <a:avLst/>
          </a:prstGeom>
          <a:noFill/>
          <a:ln w="19050">
            <a:solidFill>
              <a:srgbClr val="2F5D8A"/>
            </a:solidFill>
            <a:prstDash val="dash"/>
          </a:ln>
        </p:spPr>
      </p:sp>
      <p:sp>
        <p:nvSpPr>
          <p:cNvPr id="34" name="B s3 cub1-11"/>
          <p:cNvSpPr/>
          <p:nvPr/>
        </p:nvSpPr>
        <p:spPr>
          <a:xfrm>
            <a:off x="2239923" y="3129677"/>
            <a:ext cx="914" cy="614720"/>
          </a:xfrm>
          <a:prstGeom prst="line">
            <a:avLst/>
          </a:prstGeom>
          <a:noFill/>
          <a:ln w="19050">
            <a:solidFill>
              <a:srgbClr val="2F5D8A"/>
            </a:solidFill>
            <a:prstDash val="dash"/>
          </a:ln>
        </p:spPr>
      </p:sp>
      <p:sp>
        <p:nvSpPr>
          <p:cNvPr id="35" name="B s3 cub2-0"/>
          <p:cNvSpPr/>
          <p:nvPr/>
        </p:nvSpPr>
        <p:spPr>
          <a:xfrm>
            <a:off x="3316486" y="3551158"/>
            <a:ext cx="944761" cy="545425"/>
          </a:xfrm>
          <a:prstGeom prst="line">
            <a:avLst/>
          </a:prstGeom>
          <a:noFill/>
          <a:ln w="19050">
            <a:solidFill>
              <a:srgbClr val="2F5D8A"/>
            </a:solidFill>
            <a:prstDash val="dash"/>
          </a:ln>
        </p:spPr>
      </p:sp>
      <p:sp>
        <p:nvSpPr>
          <p:cNvPr id="36" name="B s3 cub2-1"/>
          <p:cNvSpPr/>
          <p:nvPr/>
        </p:nvSpPr>
        <p:spPr>
          <a:xfrm>
            <a:off x="2610683" y="3958709"/>
            <a:ext cx="945118" cy="545425"/>
          </a:xfrm>
          <a:prstGeom prst="line">
            <a:avLst/>
          </a:prstGeom>
          <a:noFill/>
          <a:ln w="19050">
            <a:solidFill>
              <a:srgbClr val="2F5D8A"/>
            </a:solidFill>
            <a:prstDash val="dash"/>
          </a:ln>
        </p:spPr>
      </p:sp>
      <p:sp>
        <p:nvSpPr>
          <p:cNvPr id="37" name="B s3 cub2-2"/>
          <p:cNvSpPr/>
          <p:nvPr/>
        </p:nvSpPr>
        <p:spPr>
          <a:xfrm>
            <a:off x="3316486" y="2936438"/>
            <a:ext cx="944761" cy="545425"/>
          </a:xfrm>
          <a:prstGeom prst="line">
            <a:avLst/>
          </a:prstGeom>
          <a:noFill/>
          <a:ln w="19050">
            <a:solidFill>
              <a:srgbClr val="2F5D8A"/>
            </a:solidFill>
            <a:prstDash val="dash"/>
          </a:ln>
        </p:spPr>
      </p:sp>
      <p:sp>
        <p:nvSpPr>
          <p:cNvPr id="38" name="B s3 cub2-3"/>
          <p:cNvSpPr/>
          <p:nvPr/>
        </p:nvSpPr>
        <p:spPr>
          <a:xfrm>
            <a:off x="2610683" y="3343989"/>
            <a:ext cx="945118" cy="545425"/>
          </a:xfrm>
          <a:prstGeom prst="line">
            <a:avLst/>
          </a:prstGeom>
          <a:noFill/>
          <a:ln w="19050">
            <a:solidFill>
              <a:srgbClr val="2F5D8A"/>
            </a:solidFill>
            <a:prstDash val="dash"/>
          </a:ln>
        </p:spPr>
      </p:sp>
      <p:sp>
        <p:nvSpPr>
          <p:cNvPr id="39" name="B s3 cub2-4"/>
          <p:cNvSpPr/>
          <p:nvPr/>
        </p:nvSpPr>
        <p:spPr>
          <a:xfrm flipV="1">
            <a:off x="2610683" y="3551158"/>
            <a:ext cx="705803" cy="407551"/>
          </a:xfrm>
          <a:prstGeom prst="line">
            <a:avLst/>
          </a:prstGeom>
          <a:noFill/>
          <a:ln w="19050">
            <a:solidFill>
              <a:srgbClr val="2F5D8A"/>
            </a:solidFill>
            <a:prstDash val="dash"/>
          </a:ln>
        </p:spPr>
      </p:sp>
      <p:sp>
        <p:nvSpPr>
          <p:cNvPr id="40" name="B s3 cub2-5"/>
          <p:cNvSpPr/>
          <p:nvPr/>
        </p:nvSpPr>
        <p:spPr>
          <a:xfrm flipV="1">
            <a:off x="3555802" y="4096583"/>
            <a:ext cx="705445" cy="407551"/>
          </a:xfrm>
          <a:prstGeom prst="line">
            <a:avLst/>
          </a:prstGeom>
          <a:noFill/>
          <a:ln w="19050">
            <a:solidFill>
              <a:srgbClr val="2F5D8A"/>
            </a:solidFill>
            <a:prstDash val="dash"/>
          </a:ln>
        </p:spPr>
      </p:sp>
      <p:sp>
        <p:nvSpPr>
          <p:cNvPr id="41" name="B s3 cub2-6"/>
          <p:cNvSpPr/>
          <p:nvPr/>
        </p:nvSpPr>
        <p:spPr>
          <a:xfrm flipV="1">
            <a:off x="2610683" y="2936438"/>
            <a:ext cx="705803" cy="407551"/>
          </a:xfrm>
          <a:prstGeom prst="line">
            <a:avLst/>
          </a:prstGeom>
          <a:noFill/>
          <a:ln w="19050">
            <a:solidFill>
              <a:srgbClr val="2F5D8A"/>
            </a:solidFill>
            <a:prstDash val="dash"/>
          </a:ln>
        </p:spPr>
      </p:sp>
      <p:sp>
        <p:nvSpPr>
          <p:cNvPr id="42" name="B s3 cub2-7"/>
          <p:cNvSpPr/>
          <p:nvPr/>
        </p:nvSpPr>
        <p:spPr>
          <a:xfrm flipV="1">
            <a:off x="3555802" y="3481864"/>
            <a:ext cx="705445" cy="407551"/>
          </a:xfrm>
          <a:prstGeom prst="line">
            <a:avLst/>
          </a:prstGeom>
          <a:noFill/>
          <a:ln w="19050">
            <a:solidFill>
              <a:srgbClr val="2F5D8A"/>
            </a:solidFill>
            <a:prstDash val="dash"/>
          </a:ln>
        </p:spPr>
      </p:sp>
      <p:sp>
        <p:nvSpPr>
          <p:cNvPr id="43" name="B s3 cub2-8"/>
          <p:cNvSpPr/>
          <p:nvPr/>
        </p:nvSpPr>
        <p:spPr>
          <a:xfrm>
            <a:off x="3316486" y="2936438"/>
            <a:ext cx="914" cy="614720"/>
          </a:xfrm>
          <a:prstGeom prst="line">
            <a:avLst/>
          </a:prstGeom>
          <a:noFill/>
          <a:ln w="19050">
            <a:solidFill>
              <a:srgbClr val="2F5D8A"/>
            </a:solidFill>
            <a:prstDash val="dash"/>
          </a:ln>
        </p:spPr>
      </p:sp>
      <p:sp>
        <p:nvSpPr>
          <p:cNvPr id="44" name="B s3 cub2-9"/>
          <p:cNvSpPr/>
          <p:nvPr/>
        </p:nvSpPr>
        <p:spPr>
          <a:xfrm>
            <a:off x="4261247" y="3481864"/>
            <a:ext cx="914" cy="614720"/>
          </a:xfrm>
          <a:prstGeom prst="line">
            <a:avLst/>
          </a:prstGeom>
          <a:noFill/>
          <a:ln w="19050">
            <a:solidFill>
              <a:srgbClr val="2F5D8A"/>
            </a:solidFill>
            <a:prstDash val="dash"/>
          </a:ln>
        </p:spPr>
      </p:sp>
      <p:sp>
        <p:nvSpPr>
          <p:cNvPr id="45" name="B s3 cub2-10"/>
          <p:cNvSpPr/>
          <p:nvPr/>
        </p:nvSpPr>
        <p:spPr>
          <a:xfrm>
            <a:off x="2610683" y="3343989"/>
            <a:ext cx="914" cy="614720"/>
          </a:xfrm>
          <a:prstGeom prst="line">
            <a:avLst/>
          </a:prstGeom>
          <a:noFill/>
          <a:ln w="19050">
            <a:solidFill>
              <a:srgbClr val="2F5D8A"/>
            </a:solidFill>
            <a:prstDash val="dash"/>
          </a:ln>
        </p:spPr>
      </p:sp>
      <p:sp>
        <p:nvSpPr>
          <p:cNvPr id="46" name="B s3 cub2-11"/>
          <p:cNvSpPr/>
          <p:nvPr/>
        </p:nvSpPr>
        <p:spPr>
          <a:xfrm>
            <a:off x="3555802" y="3889415"/>
            <a:ext cx="914" cy="614720"/>
          </a:xfrm>
          <a:prstGeom prst="line">
            <a:avLst/>
          </a:prstGeom>
          <a:noFill/>
          <a:ln w="19050">
            <a:solidFill>
              <a:srgbClr val="2F5D8A"/>
            </a:solidFill>
            <a:prstDash val="dash"/>
          </a:ln>
        </p:spPr>
      </p:sp>
      <p:sp>
        <p:nvSpPr>
          <p:cNvPr id="47" name="B s3 cub3-0"/>
          <p:cNvSpPr/>
          <p:nvPr/>
        </p:nvSpPr>
        <p:spPr>
          <a:xfrm>
            <a:off x="4632365" y="4310896"/>
            <a:ext cx="944761" cy="545425"/>
          </a:xfrm>
          <a:prstGeom prst="line">
            <a:avLst/>
          </a:prstGeom>
          <a:noFill/>
          <a:ln w="19050">
            <a:solidFill>
              <a:srgbClr val="2F5D8A"/>
            </a:solidFill>
            <a:prstDash val="dash"/>
          </a:ln>
        </p:spPr>
      </p:sp>
      <p:sp>
        <p:nvSpPr>
          <p:cNvPr id="48" name="B s3 cub3-1"/>
          <p:cNvSpPr/>
          <p:nvPr/>
        </p:nvSpPr>
        <p:spPr>
          <a:xfrm>
            <a:off x="3926562" y="4718090"/>
            <a:ext cx="944761" cy="545782"/>
          </a:xfrm>
          <a:prstGeom prst="line">
            <a:avLst/>
          </a:prstGeom>
          <a:noFill/>
          <a:ln w="19050">
            <a:solidFill>
              <a:srgbClr val="2F5D8A"/>
            </a:solidFill>
            <a:prstDash val="dash"/>
          </a:ln>
        </p:spPr>
      </p:sp>
      <p:sp>
        <p:nvSpPr>
          <p:cNvPr id="49" name="B s3 cub3-2"/>
          <p:cNvSpPr/>
          <p:nvPr/>
        </p:nvSpPr>
        <p:spPr>
          <a:xfrm>
            <a:off x="4632365" y="3696176"/>
            <a:ext cx="944761" cy="545425"/>
          </a:xfrm>
          <a:prstGeom prst="line">
            <a:avLst/>
          </a:prstGeom>
          <a:noFill/>
          <a:ln w="19050">
            <a:solidFill>
              <a:srgbClr val="2F5D8A"/>
            </a:solidFill>
            <a:prstDash val="dash"/>
          </a:ln>
        </p:spPr>
      </p:sp>
      <p:sp>
        <p:nvSpPr>
          <p:cNvPr id="50" name="B s3 cub3-3"/>
          <p:cNvSpPr/>
          <p:nvPr/>
        </p:nvSpPr>
        <p:spPr>
          <a:xfrm>
            <a:off x="3926562" y="4103727"/>
            <a:ext cx="944761" cy="545425"/>
          </a:xfrm>
          <a:prstGeom prst="line">
            <a:avLst/>
          </a:prstGeom>
          <a:noFill/>
          <a:ln w="19050">
            <a:solidFill>
              <a:srgbClr val="2F5D8A"/>
            </a:solidFill>
            <a:prstDash val="dash"/>
          </a:ln>
        </p:spPr>
      </p:sp>
      <p:sp>
        <p:nvSpPr>
          <p:cNvPr id="51" name="B s3 cub3-4"/>
          <p:cNvSpPr/>
          <p:nvPr/>
        </p:nvSpPr>
        <p:spPr>
          <a:xfrm flipV="1">
            <a:off x="3926562" y="4310896"/>
            <a:ext cx="705802" cy="407194"/>
          </a:xfrm>
          <a:prstGeom prst="line">
            <a:avLst/>
          </a:prstGeom>
          <a:noFill/>
          <a:ln w="19050">
            <a:solidFill>
              <a:srgbClr val="2F5D8A"/>
            </a:solidFill>
            <a:prstDash val="dash"/>
          </a:ln>
        </p:spPr>
      </p:sp>
      <p:sp>
        <p:nvSpPr>
          <p:cNvPr id="52" name="B s3 cub3-5"/>
          <p:cNvSpPr/>
          <p:nvPr/>
        </p:nvSpPr>
        <p:spPr>
          <a:xfrm flipV="1">
            <a:off x="4871323" y="4856321"/>
            <a:ext cx="705802" cy="407551"/>
          </a:xfrm>
          <a:prstGeom prst="line">
            <a:avLst/>
          </a:prstGeom>
          <a:noFill/>
          <a:ln w="19050">
            <a:solidFill>
              <a:srgbClr val="2F5D8A"/>
            </a:solidFill>
            <a:prstDash val="dash"/>
          </a:ln>
        </p:spPr>
      </p:sp>
      <p:sp>
        <p:nvSpPr>
          <p:cNvPr id="53" name="B s3 cub3-6"/>
          <p:cNvSpPr/>
          <p:nvPr/>
        </p:nvSpPr>
        <p:spPr>
          <a:xfrm flipV="1">
            <a:off x="3926562" y="3696176"/>
            <a:ext cx="705802" cy="407551"/>
          </a:xfrm>
          <a:prstGeom prst="line">
            <a:avLst/>
          </a:prstGeom>
          <a:noFill/>
          <a:ln w="19050">
            <a:solidFill>
              <a:srgbClr val="2F5D8A"/>
            </a:solidFill>
            <a:prstDash val="dash"/>
          </a:ln>
        </p:spPr>
      </p:sp>
      <p:sp>
        <p:nvSpPr>
          <p:cNvPr id="54" name="B s3 cub3-7"/>
          <p:cNvSpPr/>
          <p:nvPr/>
        </p:nvSpPr>
        <p:spPr>
          <a:xfrm flipV="1">
            <a:off x="4871323" y="4241602"/>
            <a:ext cx="705802" cy="407551"/>
          </a:xfrm>
          <a:prstGeom prst="line">
            <a:avLst/>
          </a:prstGeom>
          <a:noFill/>
          <a:ln w="19050">
            <a:solidFill>
              <a:srgbClr val="2F5D8A"/>
            </a:solidFill>
            <a:prstDash val="dash"/>
          </a:ln>
        </p:spPr>
      </p:sp>
      <p:sp>
        <p:nvSpPr>
          <p:cNvPr id="55" name="B s3 cub3-8"/>
          <p:cNvSpPr/>
          <p:nvPr/>
        </p:nvSpPr>
        <p:spPr>
          <a:xfrm>
            <a:off x="4632365" y="3696176"/>
            <a:ext cx="914" cy="614720"/>
          </a:xfrm>
          <a:prstGeom prst="line">
            <a:avLst/>
          </a:prstGeom>
          <a:noFill/>
          <a:ln w="19050">
            <a:solidFill>
              <a:srgbClr val="2F5D8A"/>
            </a:solidFill>
            <a:prstDash val="dash"/>
          </a:ln>
        </p:spPr>
      </p:sp>
      <p:sp>
        <p:nvSpPr>
          <p:cNvPr id="56" name="B s3 cub3-9"/>
          <p:cNvSpPr/>
          <p:nvPr/>
        </p:nvSpPr>
        <p:spPr>
          <a:xfrm>
            <a:off x="5577126" y="4241602"/>
            <a:ext cx="914" cy="614720"/>
          </a:xfrm>
          <a:prstGeom prst="line">
            <a:avLst/>
          </a:prstGeom>
          <a:noFill/>
          <a:ln w="19050">
            <a:solidFill>
              <a:srgbClr val="2F5D8A"/>
            </a:solidFill>
            <a:prstDash val="dash"/>
          </a:ln>
        </p:spPr>
      </p:sp>
      <p:sp>
        <p:nvSpPr>
          <p:cNvPr id="57" name="B s3 cub3-10"/>
          <p:cNvSpPr/>
          <p:nvPr/>
        </p:nvSpPr>
        <p:spPr>
          <a:xfrm>
            <a:off x="3926562" y="4103727"/>
            <a:ext cx="914" cy="614363"/>
          </a:xfrm>
          <a:prstGeom prst="line">
            <a:avLst/>
          </a:prstGeom>
          <a:noFill/>
          <a:ln w="19050">
            <a:solidFill>
              <a:srgbClr val="2F5D8A"/>
            </a:solidFill>
            <a:prstDash val="dash"/>
          </a:ln>
        </p:spPr>
      </p:sp>
      <p:sp>
        <p:nvSpPr>
          <p:cNvPr id="58" name="B s3 cub3-11"/>
          <p:cNvSpPr/>
          <p:nvPr/>
        </p:nvSpPr>
        <p:spPr>
          <a:xfrm>
            <a:off x="4871323" y="4649153"/>
            <a:ext cx="914" cy="614720"/>
          </a:xfrm>
          <a:prstGeom prst="line">
            <a:avLst/>
          </a:prstGeom>
          <a:noFill/>
          <a:ln w="19050">
            <a:solidFill>
              <a:srgbClr val="2F5D8A"/>
            </a:solidFill>
            <a:prstDash val="dash"/>
          </a:ln>
        </p:spPr>
      </p:sp>
      <p:sp>
        <p:nvSpPr>
          <p:cNvPr id="59" name="B s3 h1"/>
          <p:cNvSpPr/>
          <p:nvPr/>
        </p:nvSpPr>
        <p:spPr>
          <a:xfrm>
            <a:off x="1163360" y="2611755"/>
            <a:ext cx="914" cy="587216"/>
          </a:xfrm>
          <a:prstGeom prst="line">
            <a:avLst/>
          </a:prstGeom>
          <a:noFill/>
          <a:ln w="22225">
            <a:solidFill>
              <a:srgbClr val="2F5D8A"/>
            </a:solidFill>
            <a:prstDash val="solid"/>
            <a:headEnd type="triangle"/>
            <a:tailEnd type="triangle"/>
          </a:ln>
        </p:spPr>
      </p:sp>
      <p:sp>
        <p:nvSpPr>
          <p:cNvPr id="60" name="B s3 h1 t"/>
          <p:cNvSpPr txBox="1"/>
          <p:nvPr/>
        </p:nvSpPr>
        <p:spPr>
          <a:xfrm>
            <a:off x="627578" y="2851785"/>
            <a:ext cx="729691" cy="246888"/>
          </a:xfrm>
          <a:prstGeom prst="rect">
            <a:avLst/>
          </a:prstGeom>
          <a:solidFill>
            <a:srgbClr val="1D2D3D"/>
          </a:solidFill>
          <a:ln/>
        </p:spPr>
        <p:txBody>
          <a:bodyPr wrap="square" lIns="25400" tIns="25400" rIns="25400" bIns="25400" rtlCol="0" anchor="ctr"/>
          <a:lstStyle/>
          <a:p>
            <a:pPr algn="ctr" indent="0" marL="0">
              <a:buNone/>
            </a:pPr>
            <a:r>
              <a:rPr lang="vi-VN" sz="1100" b="1" dirty="0">
                <a:solidFill>
                  <a:schemeClr val="bg1"/>
                </a:solidFill>
              </a:rPr>
              <a:t>C 17 cm</a:t>
            </a:r>
            <a:endParaRPr lang="vi-VN" sz="1100" dirty="0"/>
          </a:p>
        </p:txBody>
      </p:sp>
      <p:sp>
        <p:nvSpPr>
          <p:cNvPr id="61" name="B s4 dent"/>
          <p:cNvSpPr/>
          <p:nvPr/>
        </p:nvSpPr>
        <p:spPr>
          <a:xfrm>
            <a:off x="3228618" y="3682603"/>
            <a:ext cx="624007" cy="508635"/>
          </a:xfrm>
          <a:prstGeom prst="rect">
            <a:avLst/>
          </a:prstGeom>
          <a:solidFill>
            <a:srgbClr val="FFFFFF">
              <a:alpha val="0"/>
            </a:srgbClr>
          </a:solidFill>
          <a:ln w="28575">
            <a:solidFill>
              <a:srgbClr val="E5463D"/>
            </a:solidFill>
            <a:prstDash val="solid"/>
          </a:ln>
        </p:spPr>
      </p:sp>
      <p:sp>
        <p:nvSpPr>
          <p:cNvPr id="62" name="B s4 dent t"/>
          <p:cNvSpPr txBox="1"/>
          <p:nvPr/>
        </p:nvSpPr>
        <p:spPr>
          <a:xfrm>
            <a:off x="3228618" y="3475434"/>
            <a:ext cx="1947672" cy="246888"/>
          </a:xfrm>
          <a:prstGeom prst="rect">
            <a:avLst/>
          </a:prstGeom>
          <a:solidFill>
            <a:srgbClr val="E5463D"/>
          </a:solidFill>
          <a:ln/>
        </p:spPr>
        <p:txBody>
          <a:bodyPr wrap="square" lIns="25400" tIns="25400" rIns="25400" bIns="25400" rtlCol="0" anchor="ctr"/>
          <a:lstStyle/>
          <a:p>
            <a:pPr algn="ctr" indent="0" marL="0">
              <a:buNone/>
            </a:pPr>
            <a:r>
              <a:rPr lang="vi-VN" sz="1100" b="1" dirty="0">
                <a:solidFill>
                  <a:schemeClr val="bg1"/>
                </a:solidFill>
              </a:rPr>
              <a:t>Móp góc · thấp 7 cm</a:t>
            </a:r>
            <a:endParaRPr lang="vi-VN" sz="1100" dirty="0"/>
          </a:p>
        </p:txBody>
      </p:sp>
      <p:sp>
        <p:nvSpPr>
          <p:cNvPr id="63" name="B s5 c1"/>
          <p:cNvSpPr/>
          <p:nvPr/>
        </p:nvSpPr>
        <p:spPr>
          <a:xfrm>
            <a:off x="1314093" y="2203490"/>
            <a:ext cx="1612344" cy="1541978"/>
          </a:xfrm>
          <a:prstGeom prst="rect">
            <a:avLst/>
          </a:prstGeom>
          <a:solidFill>
            <a:srgbClr val="FFFFFF">
              <a:alpha val="0"/>
            </a:srgbClr>
          </a:solidFill>
          <a:ln w="28575">
            <a:solidFill>
              <a:srgbClr val="2F7D52"/>
            </a:solidFill>
            <a:prstDash val="solid"/>
          </a:ln>
        </p:spPr>
      </p:sp>
      <p:sp>
        <p:nvSpPr>
          <p:cNvPr id="64" name="B s5 t1"/>
          <p:cNvSpPr txBox="1"/>
          <p:nvPr/>
        </p:nvSpPr>
        <p:spPr>
          <a:xfrm>
            <a:off x="1314093" y="1996321"/>
            <a:ext cx="526694" cy="246888"/>
          </a:xfrm>
          <a:prstGeom prst="rect">
            <a:avLst/>
          </a:prstGeom>
          <a:solidFill>
            <a:srgbClr val="2F7D52"/>
          </a:solidFill>
          <a:ln/>
        </p:spPr>
        <p:txBody>
          <a:bodyPr wrap="square" lIns="25400" tIns="25400" rIns="25400" bIns="25400" rtlCol="0" anchor="ctr"/>
          <a:lstStyle/>
          <a:p>
            <a:pPr algn="ctr" indent="0" marL="0">
              <a:buNone/>
            </a:pPr>
            <a:r>
              <a:rPr lang="vi-VN" sz="1100" b="1" dirty="0">
                <a:solidFill>
                  <a:schemeClr val="bg1"/>
                </a:solidFill>
              </a:rPr>
              <a:t>Đạt</a:t>
            </a:r>
            <a:endParaRPr lang="vi-VN" sz="1100" dirty="0"/>
          </a:p>
        </p:txBody>
      </p:sp>
      <p:sp>
        <p:nvSpPr>
          <p:cNvPr id="65" name="B s5 c2"/>
          <p:cNvSpPr/>
          <p:nvPr/>
        </p:nvSpPr>
        <p:spPr>
          <a:xfrm>
            <a:off x="2629972" y="2963228"/>
            <a:ext cx="1611987" cy="1541978"/>
          </a:xfrm>
          <a:prstGeom prst="rect">
            <a:avLst/>
          </a:prstGeom>
          <a:solidFill>
            <a:srgbClr val="FFFFFF">
              <a:alpha val="0"/>
            </a:srgbClr>
          </a:solidFill>
          <a:ln w="28575">
            <a:solidFill>
              <a:srgbClr val="E5463D"/>
            </a:solidFill>
            <a:prstDash val="solid"/>
          </a:ln>
        </p:spPr>
      </p:sp>
      <p:sp>
        <p:nvSpPr>
          <p:cNvPr id="66" name="B s5 t2"/>
          <p:cNvSpPr txBox="1"/>
          <p:nvPr/>
        </p:nvSpPr>
        <p:spPr>
          <a:xfrm>
            <a:off x="2629972" y="2756059"/>
            <a:ext cx="1338682" cy="246888"/>
          </a:xfrm>
          <a:prstGeom prst="rect">
            <a:avLst/>
          </a:prstGeom>
          <a:solidFill>
            <a:srgbClr val="E5463D"/>
          </a:solidFill>
          <a:ln/>
        </p:spPr>
        <p:txBody>
          <a:bodyPr wrap="square" lIns="25400" tIns="25400" rIns="25400" bIns="25400" rtlCol="0" anchor="ctr"/>
          <a:lstStyle/>
          <a:p>
            <a:pPr algn="ctr" indent="0" marL="0">
              <a:buNone/>
            </a:pPr>
            <a:r>
              <a:rPr lang="vi-VN" sz="1100" b="1" dirty="0">
                <a:solidFill>
                  <a:schemeClr val="bg1"/>
                </a:solidFill>
              </a:rPr>
              <a:t>Loại · bị móp</a:t>
            </a:r>
            <a:endParaRPr lang="vi-VN" sz="1100" dirty="0"/>
          </a:p>
        </p:txBody>
      </p:sp>
      <p:sp>
        <p:nvSpPr>
          <p:cNvPr id="67" name="B s5 c3"/>
          <p:cNvSpPr/>
          <p:nvPr/>
        </p:nvSpPr>
        <p:spPr>
          <a:xfrm>
            <a:off x="3945850" y="3722608"/>
            <a:ext cx="1611987" cy="1541978"/>
          </a:xfrm>
          <a:prstGeom prst="rect">
            <a:avLst/>
          </a:prstGeom>
          <a:solidFill>
            <a:srgbClr val="FFFFFF">
              <a:alpha val="0"/>
            </a:srgbClr>
          </a:solidFill>
          <a:ln w="28575">
            <a:solidFill>
              <a:srgbClr val="E5463D"/>
            </a:solidFill>
            <a:prstDash val="solid"/>
          </a:ln>
        </p:spPr>
      </p:sp>
      <p:sp>
        <p:nvSpPr>
          <p:cNvPr id="68" name="B s5 t3"/>
          <p:cNvSpPr txBox="1"/>
          <p:nvPr/>
        </p:nvSpPr>
        <p:spPr>
          <a:xfrm>
            <a:off x="3945850" y="3515439"/>
            <a:ext cx="1609344" cy="246888"/>
          </a:xfrm>
          <a:prstGeom prst="rect">
            <a:avLst/>
          </a:prstGeom>
          <a:solidFill>
            <a:srgbClr val="E5463D"/>
          </a:solidFill>
          <a:ln/>
        </p:spPr>
        <p:txBody>
          <a:bodyPr wrap="square" lIns="25400" tIns="25400" rIns="25400" bIns="25400" rtlCol="0" anchor="ctr"/>
          <a:lstStyle/>
          <a:p>
            <a:pPr algn="ctr" indent="0" marL="0">
              <a:buNone/>
            </a:pPr>
            <a:r>
              <a:rPr lang="vi-VN" sz="1100" b="1" dirty="0">
                <a:solidFill>
                  <a:schemeClr val="bg1"/>
                </a:solidFill>
              </a:rPr>
              <a:t>Loại · sai nhãn</a:t>
            </a:r>
            <a:endParaRPr lang="vi-VN" sz="1100" dirty="0"/>
          </a:p>
        </p:txBody>
      </p:sp>
      <p:sp>
        <p:nvSpPr>
          <p:cNvPr id="69" name="B s5 sum"/>
          <p:cNvSpPr txBox="1"/>
          <p:nvPr/>
        </p:nvSpPr>
        <p:spPr>
          <a:xfrm>
            <a:off x="3870484" y="1743075"/>
            <a:ext cx="2177270" cy="365760"/>
          </a:xfrm>
          <a:prstGeom prst="rect">
            <a:avLst/>
          </a:prstGeom>
          <a:solidFill>
            <a:srgbClr val="1D2D3D"/>
          </a:solidFill>
          <a:ln/>
        </p:spPr>
        <p:txBody>
          <a:bodyPr wrap="square" lIns="25400" tIns="25400" rIns="25400" bIns="25400" rtlCol="0" anchor="ctr"/>
          <a:lstStyle/>
          <a:p>
            <a:pPr algn="ctr" indent="0" marL="0">
              <a:buNone/>
            </a:pPr>
            <a:r>
              <a:rPr lang="vi-VN" sz="1400" b="1" dirty="0">
                <a:solidFill>
                  <a:schemeClr val="bg1"/>
                </a:solidFill>
              </a:rPr>
              <a:t>Đạt 1 · Loại 2</a:t>
            </a:r>
            <a:endParaRPr lang="vi-VN" sz="1400" dirty="0"/>
          </a:p>
        </p:txBody>
      </p:sp>
      <p:sp>
        <p:nvSpPr>
          <p:cNvPr id="70" name="B row 0 dot"/>
          <p:cNvSpPr/>
          <p:nvPr/>
        </p:nvSpPr>
        <p:spPr>
          <a:xfrm>
            <a:off x="6629400" y="1728216"/>
            <a:ext cx="402336" cy="402336"/>
          </a:xfrm>
          <a:prstGeom prst="ellipse">
            <a:avLst/>
          </a:prstGeom>
          <a:solidFill>
            <a:schemeClr val="tx2"/>
          </a:solidFill>
          <a:ln/>
        </p:spPr>
      </p:sp>
      <p:pic>
        <p:nvPicPr>
          <p:cNvPr id="71" name="B row 0 icon" descr="preencoded.png">    </p:cNvPr>
          <p:cNvPicPr>
            <a:picLocks noChangeAspect="1"/>
          </p:cNvPicPr>
          <p:nvPr/>
        </p:nvPicPr>
        <p:blipFill>
          <a:blip r:embed="rId3"/>
          <a:stretch>
            <a:fillRect/>
          </a:stretch>
        </p:blipFill>
        <p:spPr>
          <a:xfrm>
            <a:off x="6729984" y="1828800"/>
            <a:ext cx="201168" cy="201168"/>
          </a:xfrm>
          <a:prstGeom prst="rect">
            <a:avLst/>
          </a:prstGeom>
        </p:spPr>
      </p:pic>
      <p:sp>
        <p:nvSpPr>
          <p:cNvPr id="72" name="B row 0 text"/>
          <p:cNvSpPr txBox="1"/>
          <p:nvPr/>
        </p:nvSpPr>
        <p:spPr>
          <a:xfrm>
            <a:off x="7178040" y="1673352"/>
            <a:ext cx="4480560" cy="658368"/>
          </a:xfrm>
          <a:prstGeom prst="rect">
            <a:avLst/>
          </a:prstGeom>
          <a:noFill/>
          <a:ln/>
        </p:spPr>
        <p:txBody>
          <a:bodyPr wrap="square" lIns="0" tIns="0" rIns="0" bIns="0" rtlCol="0" anchor="t"/>
          <a:lstStyle/>
          <a:p>
            <a:pPr indent="0" marL="0">
              <a:buNone/>
            </a:pPr>
            <a:r>
              <a:rPr lang="vi-VN" sz="1600" b="1" dirty="0">
                <a:solidFill>
                  <a:schemeClr val="tx2"/>
                </a:solidFill>
              </a:rPr>
              <a:t>Đếm và nhận diện</a:t>
            </a:r>
            <a:endParaRPr lang="vi-VN" sz="1600" dirty="0"/>
          </a:p>
          <a:p>
            <a:pPr indent="0" marL="0">
              <a:buNone/>
            </a:pPr>
            <a:r>
              <a:rPr lang="vi-VN" sz="1300" dirty="0">
                <a:solidFill>
                  <a:schemeClr val="accent4"/>
                </a:solidFill>
              </a:rPr>
              <a:t>3 thùng, mỗi thùng một ID.</a:t>
            </a:r>
            <a:endParaRPr lang="vi-VN" sz="1600" dirty="0"/>
          </a:p>
        </p:txBody>
      </p:sp>
      <p:sp>
        <p:nvSpPr>
          <p:cNvPr id="73" name="B row 1 dot"/>
          <p:cNvSpPr/>
          <p:nvPr/>
        </p:nvSpPr>
        <p:spPr>
          <a:xfrm>
            <a:off x="6629400" y="2459736"/>
            <a:ext cx="402336" cy="402336"/>
          </a:xfrm>
          <a:prstGeom prst="ellipse">
            <a:avLst/>
          </a:prstGeom>
          <a:solidFill>
            <a:schemeClr val="tx2"/>
          </a:solidFill>
          <a:ln/>
        </p:spPr>
      </p:sp>
      <p:pic>
        <p:nvPicPr>
          <p:cNvPr id="74" name="B row 1 icon" descr="preencoded.png">    </p:cNvPr>
          <p:cNvPicPr>
            <a:picLocks noChangeAspect="1"/>
          </p:cNvPicPr>
          <p:nvPr/>
        </p:nvPicPr>
        <p:blipFill>
          <a:blip r:embed="rId4"/>
          <a:stretch>
            <a:fillRect/>
          </a:stretch>
        </p:blipFill>
        <p:spPr>
          <a:xfrm>
            <a:off x="6729984" y="2560320"/>
            <a:ext cx="201168" cy="201168"/>
          </a:xfrm>
          <a:prstGeom prst="rect">
            <a:avLst/>
          </a:prstGeom>
        </p:spPr>
      </p:pic>
      <p:sp>
        <p:nvSpPr>
          <p:cNvPr id="75" name="B row 1 text"/>
          <p:cNvSpPr txBox="1"/>
          <p:nvPr/>
        </p:nvSpPr>
        <p:spPr>
          <a:xfrm>
            <a:off x="7178040" y="2404872"/>
            <a:ext cx="4480560" cy="658368"/>
          </a:xfrm>
          <a:prstGeom prst="rect">
            <a:avLst/>
          </a:prstGeom>
          <a:noFill/>
          <a:ln/>
        </p:spPr>
        <p:txBody>
          <a:bodyPr wrap="square" lIns="0" tIns="0" rIns="0" bIns="0" rtlCol="0" anchor="t"/>
          <a:lstStyle/>
          <a:p>
            <a:pPr indent="0" marL="0">
              <a:buNone/>
            </a:pPr>
            <a:r>
              <a:rPr lang="vi-VN" sz="1600" b="1" dirty="0">
                <a:solidFill>
                  <a:schemeClr val="tx2"/>
                </a:solidFill>
              </a:rPr>
              <a:t>Dài và rộng</a:t>
            </a:r>
            <a:endParaRPr lang="vi-VN" sz="1600" dirty="0"/>
          </a:p>
          <a:p>
            <a:pPr indent="0" marL="0">
              <a:buNone/>
            </a:pPr>
            <a:r>
              <a:rPr lang="vi-VN" sz="1300" dirty="0">
                <a:solidFill>
                  <a:schemeClr val="accent4"/>
                </a:solidFill>
              </a:rPr>
              <a:t>Từ trên xuống: 30 × 22 cm, trong dung sai.</a:t>
            </a:r>
            <a:endParaRPr lang="vi-VN" sz="1600" dirty="0"/>
          </a:p>
        </p:txBody>
      </p:sp>
      <p:sp>
        <p:nvSpPr>
          <p:cNvPr id="76" name="B row 2 dot"/>
          <p:cNvSpPr/>
          <p:nvPr/>
        </p:nvSpPr>
        <p:spPr>
          <a:xfrm>
            <a:off x="6629400" y="3191256"/>
            <a:ext cx="402336" cy="402336"/>
          </a:xfrm>
          <a:prstGeom prst="ellipse">
            <a:avLst/>
          </a:prstGeom>
          <a:solidFill>
            <a:schemeClr val="tx2"/>
          </a:solidFill>
          <a:ln/>
        </p:spPr>
      </p:sp>
      <p:pic>
        <p:nvPicPr>
          <p:cNvPr id="77" name="B row 2 icon" descr="preencoded.png">    </p:cNvPr>
          <p:cNvPicPr>
            <a:picLocks noChangeAspect="1"/>
          </p:cNvPicPr>
          <p:nvPr/>
        </p:nvPicPr>
        <p:blipFill>
          <a:blip r:embed="rId5"/>
          <a:stretch>
            <a:fillRect/>
          </a:stretch>
        </p:blipFill>
        <p:spPr>
          <a:xfrm>
            <a:off x="6729984" y="3291840"/>
            <a:ext cx="201168" cy="201168"/>
          </a:xfrm>
          <a:prstGeom prst="rect">
            <a:avLst/>
          </a:prstGeom>
        </p:spPr>
      </p:pic>
      <p:sp>
        <p:nvSpPr>
          <p:cNvPr id="78" name="B row 2 text"/>
          <p:cNvSpPr txBox="1"/>
          <p:nvPr/>
        </p:nvSpPr>
        <p:spPr>
          <a:xfrm>
            <a:off x="7178040" y="3136392"/>
            <a:ext cx="4480560" cy="658368"/>
          </a:xfrm>
          <a:prstGeom prst="rect">
            <a:avLst/>
          </a:prstGeom>
          <a:noFill/>
          <a:ln/>
        </p:spPr>
        <p:txBody>
          <a:bodyPr wrap="square" lIns="0" tIns="0" rIns="0" bIns="0" rtlCol="0" anchor="t"/>
          <a:lstStyle/>
          <a:p>
            <a:pPr indent="0" marL="0">
              <a:buNone/>
            </a:pPr>
            <a:r>
              <a:rPr lang="vi-VN" sz="1600" b="1" dirty="0">
                <a:solidFill>
                  <a:schemeClr val="tx2"/>
                </a:solidFill>
              </a:rPr>
              <a:t>Nhãn</a:t>
            </a:r>
            <a:endParaRPr lang="vi-VN" sz="1600" dirty="0"/>
          </a:p>
          <a:p>
            <a:pPr indent="0" marL="0">
              <a:buNone/>
            </a:pPr>
            <a:r>
              <a:rPr lang="vi-VN" sz="1300" dirty="0">
                <a:solidFill>
                  <a:schemeClr val="accent4"/>
                </a:solidFill>
              </a:rPr>
              <a:t>Màu nhãn so với mẫu chuẩn thương hiệu.</a:t>
            </a:r>
            <a:endParaRPr lang="vi-VN" sz="1600" dirty="0"/>
          </a:p>
        </p:txBody>
      </p:sp>
      <p:sp>
        <p:nvSpPr>
          <p:cNvPr id="79" name="B row 3 dot"/>
          <p:cNvSpPr/>
          <p:nvPr/>
        </p:nvSpPr>
        <p:spPr>
          <a:xfrm>
            <a:off x="6629400" y="3922776"/>
            <a:ext cx="402336" cy="402336"/>
          </a:xfrm>
          <a:prstGeom prst="ellipse">
            <a:avLst/>
          </a:prstGeom>
          <a:solidFill>
            <a:schemeClr val="tx2"/>
          </a:solidFill>
          <a:ln/>
        </p:spPr>
      </p:sp>
      <p:pic>
        <p:nvPicPr>
          <p:cNvPr id="80" name="B row 3 icon" descr="preencoded.png">    </p:cNvPr>
          <p:cNvPicPr>
            <a:picLocks noChangeAspect="1"/>
          </p:cNvPicPr>
          <p:nvPr/>
        </p:nvPicPr>
        <p:blipFill>
          <a:blip r:embed="rId6"/>
          <a:stretch>
            <a:fillRect/>
          </a:stretch>
        </p:blipFill>
        <p:spPr>
          <a:xfrm>
            <a:off x="6729984" y="4023360"/>
            <a:ext cx="201168" cy="201168"/>
          </a:xfrm>
          <a:prstGeom prst="rect">
            <a:avLst/>
          </a:prstGeom>
        </p:spPr>
      </p:pic>
      <p:sp>
        <p:nvSpPr>
          <p:cNvPr id="81" name="B row 3 text"/>
          <p:cNvSpPr txBox="1"/>
          <p:nvPr/>
        </p:nvSpPr>
        <p:spPr>
          <a:xfrm>
            <a:off x="7178040" y="3867912"/>
            <a:ext cx="4480560" cy="658368"/>
          </a:xfrm>
          <a:prstGeom prst="rect">
            <a:avLst/>
          </a:prstGeom>
          <a:noFill/>
          <a:ln/>
        </p:spPr>
        <p:txBody>
          <a:bodyPr wrap="square" lIns="0" tIns="0" rIns="0" bIns="0" rtlCol="0" anchor="t"/>
          <a:lstStyle/>
          <a:p>
            <a:pPr indent="0" marL="0">
              <a:buNone/>
            </a:pPr>
            <a:r>
              <a:rPr lang="vi-VN" sz="1600" b="1" dirty="0">
                <a:solidFill>
                  <a:schemeClr val="tx2"/>
                </a:solidFill>
              </a:rPr>
              <a:t>Chiều cao, đo 3D</a:t>
            </a:r>
            <a:endParaRPr lang="vi-VN" sz="1600" dirty="0"/>
          </a:p>
          <a:p>
            <a:pPr indent="0" marL="0">
              <a:buNone/>
            </a:pPr>
            <a:r>
              <a:rPr lang="vi-VN" sz="1300" dirty="0">
                <a:solidFill>
                  <a:schemeClr val="accent4"/>
                </a:solidFill>
              </a:rPr>
              <a:t>17 cm, trong dung sai.</a:t>
            </a:r>
            <a:endParaRPr lang="vi-VN" sz="1600" dirty="0"/>
          </a:p>
        </p:txBody>
      </p:sp>
      <p:sp>
        <p:nvSpPr>
          <p:cNvPr id="82" name="B row 4 dot"/>
          <p:cNvSpPr/>
          <p:nvPr/>
        </p:nvSpPr>
        <p:spPr>
          <a:xfrm>
            <a:off x="6629400" y="4654296"/>
            <a:ext cx="402336" cy="402336"/>
          </a:xfrm>
          <a:prstGeom prst="ellipse">
            <a:avLst/>
          </a:prstGeom>
          <a:solidFill>
            <a:schemeClr val="tx2"/>
          </a:solidFill>
          <a:ln/>
        </p:spPr>
      </p:sp>
      <p:pic>
        <p:nvPicPr>
          <p:cNvPr id="83" name="B row 4 icon" descr="preencoded.png">    </p:cNvPr>
          <p:cNvPicPr>
            <a:picLocks noChangeAspect="1"/>
          </p:cNvPicPr>
          <p:nvPr/>
        </p:nvPicPr>
        <p:blipFill>
          <a:blip r:embed="rId7"/>
          <a:stretch>
            <a:fillRect/>
          </a:stretch>
        </p:blipFill>
        <p:spPr>
          <a:xfrm>
            <a:off x="6729984" y="4754880"/>
            <a:ext cx="201168" cy="201168"/>
          </a:xfrm>
          <a:prstGeom prst="rect">
            <a:avLst/>
          </a:prstGeom>
        </p:spPr>
      </p:pic>
      <p:sp>
        <p:nvSpPr>
          <p:cNvPr id="84" name="B row 4 text"/>
          <p:cNvSpPr txBox="1"/>
          <p:nvPr/>
        </p:nvSpPr>
        <p:spPr>
          <a:xfrm>
            <a:off x="7178040" y="4599432"/>
            <a:ext cx="4480560" cy="658368"/>
          </a:xfrm>
          <a:prstGeom prst="rect">
            <a:avLst/>
          </a:prstGeom>
          <a:noFill/>
          <a:ln/>
        </p:spPr>
        <p:txBody>
          <a:bodyPr wrap="square" lIns="0" tIns="0" rIns="0" bIns="0" rtlCol="0" anchor="t"/>
          <a:lstStyle/>
          <a:p>
            <a:pPr indent="0" marL="0">
              <a:buNone/>
            </a:pPr>
            <a:r>
              <a:rPr lang="vi-VN" sz="1600" b="1" dirty="0">
                <a:solidFill>
                  <a:schemeClr val="tx2"/>
                </a:solidFill>
              </a:rPr>
              <a:t>Móp góc</a:t>
            </a:r>
            <a:endParaRPr lang="vi-VN" sz="1600" dirty="0"/>
          </a:p>
          <a:p>
            <a:pPr indent="0" marL="0">
              <a:buNone/>
            </a:pPr>
            <a:r>
              <a:rPr lang="vi-VN" sz="1300" dirty="0">
                <a:solidFill>
                  <a:schemeClr val="accent4"/>
                </a:solidFill>
              </a:rPr>
              <a:t>Phát hiện qua chiều cao: một góc thấp hơn 7 cm.</a:t>
            </a:r>
            <a:endParaRPr lang="vi-VN" sz="1600" dirty="0"/>
          </a:p>
        </p:txBody>
      </p:sp>
      <p:sp>
        <p:nvSpPr>
          <p:cNvPr id="85" name="B row 5 dot"/>
          <p:cNvSpPr/>
          <p:nvPr/>
        </p:nvSpPr>
        <p:spPr>
          <a:xfrm>
            <a:off x="6629400" y="5385816"/>
            <a:ext cx="402336" cy="402336"/>
          </a:xfrm>
          <a:prstGeom prst="ellipse">
            <a:avLst/>
          </a:prstGeom>
          <a:solidFill>
            <a:schemeClr val="tx2"/>
          </a:solidFill>
          <a:ln/>
        </p:spPr>
      </p:sp>
      <p:pic>
        <p:nvPicPr>
          <p:cNvPr id="86" name="B row 5 icon" descr="preencoded.png">    </p:cNvPr>
          <p:cNvPicPr>
            <a:picLocks noChangeAspect="1"/>
          </p:cNvPicPr>
          <p:nvPr/>
        </p:nvPicPr>
        <p:blipFill>
          <a:blip r:embed="rId8"/>
          <a:stretch>
            <a:fillRect/>
          </a:stretch>
        </p:blipFill>
        <p:spPr>
          <a:xfrm>
            <a:off x="6729984" y="5486400"/>
            <a:ext cx="201168" cy="201168"/>
          </a:xfrm>
          <a:prstGeom prst="rect">
            <a:avLst/>
          </a:prstGeom>
        </p:spPr>
      </p:pic>
      <p:sp>
        <p:nvSpPr>
          <p:cNvPr id="87" name="B row 5 text"/>
          <p:cNvSpPr txBox="1"/>
          <p:nvPr/>
        </p:nvSpPr>
        <p:spPr>
          <a:xfrm>
            <a:off x="7178040" y="5330952"/>
            <a:ext cx="4480560" cy="658368"/>
          </a:xfrm>
          <a:prstGeom prst="rect">
            <a:avLst/>
          </a:prstGeom>
          <a:noFill/>
          <a:ln/>
        </p:spPr>
        <p:txBody>
          <a:bodyPr wrap="square" lIns="0" tIns="0" rIns="0" bIns="0" rtlCol="0" anchor="t"/>
          <a:lstStyle/>
          <a:p>
            <a:pPr indent="0" marL="0">
              <a:buNone/>
            </a:pPr>
            <a:r>
              <a:rPr lang="vi-VN" sz="1600" b="1" dirty="0">
                <a:solidFill>
                  <a:schemeClr val="tx2"/>
                </a:solidFill>
              </a:rPr>
              <a:t>Kết luận</a:t>
            </a:r>
            <a:endParaRPr lang="vi-VN" sz="1600" dirty="0"/>
          </a:p>
          <a:p>
            <a:pPr indent="0" marL="0">
              <a:buNone/>
            </a:pPr>
            <a:r>
              <a:rPr lang="vi-VN" sz="1300" dirty="0">
                <a:solidFill>
                  <a:schemeClr val="accent4"/>
                </a:solidFill>
              </a:rPr>
              <a:t>1 đạt, 2 loại. Ghi vào báo cáo ca.</a:t>
            </a:r>
            <a:endParaRPr lang="vi-VN" sz="1600" dirty="0"/>
          </a:p>
        </p:txBody>
      </p:sp>
      <p:sp>
        <p:nvSpPr>
          <p:cNvPr id="88" name="Text 78"/>
          <p:cNvSpPr txBox="1"/>
          <p:nvPr/>
        </p:nvSpPr>
        <p:spPr>
          <a:xfrm>
            <a:off x="6629400" y="6172200"/>
            <a:ext cx="5029200" cy="228600"/>
          </a:xfrm>
          <a:prstGeom prst="rect">
            <a:avLst/>
          </a:prstGeom>
          <a:noFill/>
          <a:ln/>
        </p:spPr>
        <p:txBody>
          <a:bodyPr wrap="square" lIns="0" tIns="0" rIns="0" bIns="0" rtlCol="0" anchor="ctr"/>
          <a:lstStyle/>
          <a:p>
            <a:pPr indent="0" marL="0">
              <a:buNone/>
            </a:pPr>
            <a:r>
              <a:rPr lang="vi-VN" sz="900" dirty="0">
                <a:solidFill>
                  <a:schemeClr val="accent6"/>
                </a:solidFill>
              </a:rPr>
              <a:t>Sản phẩm mô phỏng, kết quả đo của MetriQ được vẽ minh họa.</a:t>
            </a:r>
            <a:endParaRPr lang="vi-VN" sz="9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vi-VN"/>
              <a:t>5</a:t>
            </a:fld>
            <a:endParaRPr lang="vi-V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450"/>
                                        <p:tgtEl>
                                          <p:spTgt spid="7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1"/>
                                        </p:tgtEl>
                                        <p:attrNameLst>
                                          <p:attrName>style.visibility</p:attrName>
                                        </p:attrNameLst>
                                      </p:cBhvr>
                                      <p:to>
                                        <p:strVal val="visible"/>
                                      </p:to>
                                    </p:set>
                                    <p:animEffect transition="in" filter="fade">
                                      <p:cBhvr>
                                        <p:cTn id="10" dur="450"/>
                                        <p:tgtEl>
                                          <p:spTgt spid="7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2"/>
                                        </p:tgtEl>
                                        <p:attrNameLst>
                                          <p:attrName>style.visibility</p:attrName>
                                        </p:attrNameLst>
                                      </p:cBhvr>
                                      <p:to>
                                        <p:strVal val="visible"/>
                                      </p:to>
                                    </p:set>
                                    <p:animEffect transition="in" filter="fade">
                                      <p:cBhvr>
                                        <p:cTn id="13" dur="450"/>
                                        <p:tgtEl>
                                          <p:spTgt spid="7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xit" presetSubtype="0" fill="hold" grpId="1" nodeType="withEffect">
                                  <p:stCondLst>
                                    <p:cond delay="2600"/>
                                  </p:stCondLst>
                                  <p:childTnLst>
                                    <p:animEffect transition="out" filter="fade">
                                      <p:cBhvr>
                                        <p:cTn id="33" dur="450"/>
                                        <p:tgtEl>
                                          <p:spTgt spid="7"/>
                                        </p:tgtEl>
                                      </p:cBhvr>
                                    </p:animEffect>
                                    <p:set>
                                      <p:cBhvr>
                                        <p:cTn id="34" dur="1" fill="hold">
                                          <p:stCondLst>
                                            <p:cond delay="449"/>
                                          </p:stCondLst>
                                        </p:cTn>
                                        <p:tgtEl>
                                          <p:spTgt spid="7"/>
                                        </p:tgtEl>
                                        <p:attrNameLst>
                                          <p:attrName>style.visibility</p:attrName>
                                        </p:attrNameLst>
                                      </p:cBhvr>
                                      <p:to>
                                        <p:strVal val="hidden"/>
                                      </p:to>
                                    </p:set>
                                  </p:childTnLst>
                                </p:cTn>
                              </p:par>
                              <p:par>
                                <p:cTn id="35" presetID="10" presetClass="exit" presetSubtype="0" fill="hold" grpId="1" nodeType="withEffect">
                                  <p:stCondLst>
                                    <p:cond delay="2600"/>
                                  </p:stCondLst>
                                  <p:childTnLst>
                                    <p:animEffect transition="out" filter="fade">
                                      <p:cBhvr>
                                        <p:cTn id="36" dur="450"/>
                                        <p:tgtEl>
                                          <p:spTgt spid="8"/>
                                        </p:tgtEl>
                                      </p:cBhvr>
                                    </p:animEffect>
                                    <p:set>
                                      <p:cBhvr>
                                        <p:cTn id="37" dur="1" fill="hold">
                                          <p:stCondLst>
                                            <p:cond delay="449"/>
                                          </p:stCondLst>
                                        </p:cTn>
                                        <p:tgtEl>
                                          <p:spTgt spid="8"/>
                                        </p:tgtEl>
                                        <p:attrNameLst>
                                          <p:attrName>style.visibility</p:attrName>
                                        </p:attrNameLst>
                                      </p:cBhvr>
                                      <p:to>
                                        <p:strVal val="hidden"/>
                                      </p:to>
                                    </p:set>
                                  </p:childTnLst>
                                </p:cTn>
                              </p:par>
                              <p:par>
                                <p:cTn id="38" presetID="10" presetClass="exit" presetSubtype="0" fill="hold" grpId="1" nodeType="withEffect">
                                  <p:stCondLst>
                                    <p:cond delay="2600"/>
                                  </p:stCondLst>
                                  <p:childTnLst>
                                    <p:animEffect transition="out" filter="fade">
                                      <p:cBhvr>
                                        <p:cTn id="39" dur="450"/>
                                        <p:tgtEl>
                                          <p:spTgt spid="9"/>
                                        </p:tgtEl>
                                      </p:cBhvr>
                                    </p:animEffect>
                                    <p:set>
                                      <p:cBhvr>
                                        <p:cTn id="40" dur="1" fill="hold">
                                          <p:stCondLst>
                                            <p:cond delay="449"/>
                                          </p:stCondLst>
                                        </p:cTn>
                                        <p:tgtEl>
                                          <p:spTgt spid="9"/>
                                        </p:tgtEl>
                                        <p:attrNameLst>
                                          <p:attrName>style.visibility</p:attrName>
                                        </p:attrNameLst>
                                      </p:cBhvr>
                                      <p:to>
                                        <p:strVal val="hidden"/>
                                      </p:to>
                                    </p:set>
                                  </p:childTnLst>
                                </p:cTn>
                              </p:par>
                              <p:par>
                                <p:cTn id="41" presetID="10" presetClass="exit" presetSubtype="0" fill="hold" grpId="1" nodeType="withEffect">
                                  <p:stCondLst>
                                    <p:cond delay="2600"/>
                                  </p:stCondLst>
                                  <p:childTnLst>
                                    <p:animEffect transition="out" filter="fade">
                                      <p:cBhvr>
                                        <p:cTn id="42" dur="450"/>
                                        <p:tgtEl>
                                          <p:spTgt spid="10"/>
                                        </p:tgtEl>
                                      </p:cBhvr>
                                    </p:animEffect>
                                    <p:set>
                                      <p:cBhvr>
                                        <p:cTn id="43" dur="1" fill="hold">
                                          <p:stCondLst>
                                            <p:cond delay="449"/>
                                          </p:stCondLst>
                                        </p:cTn>
                                        <p:tgtEl>
                                          <p:spTgt spid="10"/>
                                        </p:tgtEl>
                                        <p:attrNameLst>
                                          <p:attrName>style.visibility</p:attrName>
                                        </p:attrNameLst>
                                      </p:cBhvr>
                                      <p:to>
                                        <p:strVal val="hidden"/>
                                      </p:to>
                                    </p:set>
                                  </p:childTnLst>
                                </p:cTn>
                              </p:par>
                              <p:par>
                                <p:cTn id="44" presetID="10" presetClass="exit" presetSubtype="0" fill="hold" grpId="1" nodeType="withEffect">
                                  <p:stCondLst>
                                    <p:cond delay="2600"/>
                                  </p:stCondLst>
                                  <p:childTnLst>
                                    <p:animEffect transition="out" filter="fade">
                                      <p:cBhvr>
                                        <p:cTn id="45" dur="450"/>
                                        <p:tgtEl>
                                          <p:spTgt spid="11"/>
                                        </p:tgtEl>
                                      </p:cBhvr>
                                    </p:animEffect>
                                    <p:set>
                                      <p:cBhvr>
                                        <p:cTn id="46" dur="1" fill="hold">
                                          <p:stCondLst>
                                            <p:cond delay="449"/>
                                          </p:stCondLst>
                                        </p:cTn>
                                        <p:tgtEl>
                                          <p:spTgt spid="11"/>
                                        </p:tgtEl>
                                        <p:attrNameLst>
                                          <p:attrName>style.visibility</p:attrName>
                                        </p:attrNameLst>
                                      </p:cBhvr>
                                      <p:to>
                                        <p:strVal val="hidden"/>
                                      </p:to>
                                    </p:set>
                                  </p:childTnLst>
                                </p:cTn>
                              </p:par>
                              <p:par>
                                <p:cTn id="47" presetID="10" presetClass="exit" presetSubtype="0" fill="hold" grpId="1" nodeType="withEffect">
                                  <p:stCondLst>
                                    <p:cond delay="2600"/>
                                  </p:stCondLst>
                                  <p:childTnLst>
                                    <p:animEffect transition="out" filter="fade">
                                      <p:cBhvr>
                                        <p:cTn id="48" dur="450"/>
                                        <p:tgtEl>
                                          <p:spTgt spid="12"/>
                                        </p:tgtEl>
                                      </p:cBhvr>
                                    </p:animEffect>
                                    <p:set>
                                      <p:cBhvr>
                                        <p:cTn id="49" dur="1" fill="hold">
                                          <p:stCondLst>
                                            <p:cond delay="449"/>
                                          </p:stCondLst>
                                        </p:cTn>
                                        <p:tgtEl>
                                          <p:spTgt spid="12"/>
                                        </p:tgtEl>
                                        <p:attrNameLst>
                                          <p:attrName>style.visibility</p:attrName>
                                        </p:attrNameLst>
                                      </p:cBhvr>
                                      <p:to>
                                        <p:strVal val="hidden"/>
                                      </p:to>
                                    </p:set>
                                  </p:childTnLst>
                                </p:cTn>
                              </p:par>
                              <p:par>
                                <p:cTn id="50" presetID="10" presetClass="entr" presetSubtype="0" fill="hold" grpId="0" nodeType="withEffect">
                                  <p:stCondLst>
                                    <p:cond delay="2600"/>
                                  </p:stCondLst>
                                  <p:childTnLst>
                                    <p:set>
                                      <p:cBhvr>
                                        <p:cTn id="51" dur="1" fill="hold">
                                          <p:stCondLst>
                                            <p:cond delay="0"/>
                                          </p:stCondLst>
                                        </p:cTn>
                                        <p:tgtEl>
                                          <p:spTgt spid="73"/>
                                        </p:tgtEl>
                                        <p:attrNameLst>
                                          <p:attrName>style.visibility</p:attrName>
                                        </p:attrNameLst>
                                      </p:cBhvr>
                                      <p:to>
                                        <p:strVal val="visible"/>
                                      </p:to>
                                    </p:set>
                                    <p:animEffect transition="in" filter="fade">
                                      <p:cBhvr>
                                        <p:cTn id="52" dur="450"/>
                                        <p:tgtEl>
                                          <p:spTgt spid="73"/>
                                        </p:tgtEl>
                                      </p:cBhvr>
                                    </p:animEffect>
                                  </p:childTnLst>
                                </p:cTn>
                              </p:par>
                              <p:par>
                                <p:cTn id="53" presetID="10" presetClass="entr" presetSubtype="0" fill="hold" grpId="0" nodeType="withEffect">
                                  <p:stCondLst>
                                    <p:cond delay="2600"/>
                                  </p:stCondLst>
                                  <p:childTnLst>
                                    <p:set>
                                      <p:cBhvr>
                                        <p:cTn id="54" dur="1" fill="hold">
                                          <p:stCondLst>
                                            <p:cond delay="0"/>
                                          </p:stCondLst>
                                        </p:cTn>
                                        <p:tgtEl>
                                          <p:spTgt spid="74"/>
                                        </p:tgtEl>
                                        <p:attrNameLst>
                                          <p:attrName>style.visibility</p:attrName>
                                        </p:attrNameLst>
                                      </p:cBhvr>
                                      <p:to>
                                        <p:strVal val="visible"/>
                                      </p:to>
                                    </p:set>
                                    <p:animEffect transition="in" filter="fade">
                                      <p:cBhvr>
                                        <p:cTn id="55" dur="450"/>
                                        <p:tgtEl>
                                          <p:spTgt spid="74"/>
                                        </p:tgtEl>
                                      </p:cBhvr>
                                    </p:animEffect>
                                  </p:childTnLst>
                                </p:cTn>
                              </p:par>
                              <p:par>
                                <p:cTn id="56" presetID="10" presetClass="entr" presetSubtype="0" fill="hold" grpId="0" nodeType="withEffect">
                                  <p:stCondLst>
                                    <p:cond delay="2600"/>
                                  </p:stCondLst>
                                  <p:childTnLst>
                                    <p:set>
                                      <p:cBhvr>
                                        <p:cTn id="57" dur="1" fill="hold">
                                          <p:stCondLst>
                                            <p:cond delay="0"/>
                                          </p:stCondLst>
                                        </p:cTn>
                                        <p:tgtEl>
                                          <p:spTgt spid="75"/>
                                        </p:tgtEl>
                                        <p:attrNameLst>
                                          <p:attrName>style.visibility</p:attrName>
                                        </p:attrNameLst>
                                      </p:cBhvr>
                                      <p:to>
                                        <p:strVal val="visible"/>
                                      </p:to>
                                    </p:set>
                                    <p:animEffect transition="in" filter="fade">
                                      <p:cBhvr>
                                        <p:cTn id="58" dur="450"/>
                                        <p:tgtEl>
                                          <p:spTgt spid="75"/>
                                        </p:tgtEl>
                                      </p:cBhvr>
                                    </p:animEffect>
                                  </p:childTnLst>
                                </p:cTn>
                              </p:par>
                              <p:par>
                                <p:cTn id="59" presetID="10" presetClass="entr" presetSubtype="0" fill="hold" grpId="0" nodeType="withEffect">
                                  <p:stCondLst>
                                    <p:cond delay="260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450"/>
                                        <p:tgtEl>
                                          <p:spTgt spid="13"/>
                                        </p:tgtEl>
                                      </p:cBhvr>
                                    </p:animEffect>
                                  </p:childTnLst>
                                </p:cTn>
                              </p:par>
                              <p:par>
                                <p:cTn id="62" presetID="10" presetClass="entr" presetSubtype="0" fill="hold" grpId="0" nodeType="withEffect">
                                  <p:stCondLst>
                                    <p:cond delay="260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450"/>
                                        <p:tgtEl>
                                          <p:spTgt spid="14"/>
                                        </p:tgtEl>
                                      </p:cBhvr>
                                    </p:animEffect>
                                  </p:childTnLst>
                                </p:cTn>
                              </p:par>
                              <p:par>
                                <p:cTn id="65" presetID="10" presetClass="entr" presetSubtype="0" fill="hold" grpId="0" nodeType="withEffect">
                                  <p:stCondLst>
                                    <p:cond delay="260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450"/>
                                        <p:tgtEl>
                                          <p:spTgt spid="15"/>
                                        </p:tgtEl>
                                      </p:cBhvr>
                                    </p:animEffect>
                                  </p:childTnLst>
                                </p:cTn>
                              </p:par>
                              <p:par>
                                <p:cTn id="68" presetID="10" presetClass="entr" presetSubtype="0" fill="hold" grpId="0" nodeType="withEffect">
                                  <p:stCondLst>
                                    <p:cond delay="260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450"/>
                                        <p:tgtEl>
                                          <p:spTgt spid="16"/>
                                        </p:tgtEl>
                                      </p:cBhvr>
                                    </p:animEffect>
                                  </p:childTnLst>
                                </p:cTn>
                              </p:par>
                              <p:par>
                                <p:cTn id="71" presetID="10" presetClass="exit" presetSubtype="0" fill="hold" grpId="1" nodeType="withEffect">
                                  <p:stCondLst>
                                    <p:cond delay="5200"/>
                                  </p:stCondLst>
                                  <p:childTnLst>
                                    <p:animEffect transition="out" filter="fade">
                                      <p:cBhvr>
                                        <p:cTn id="72" dur="450"/>
                                        <p:tgtEl>
                                          <p:spTgt spid="13"/>
                                        </p:tgtEl>
                                      </p:cBhvr>
                                    </p:animEffect>
                                    <p:set>
                                      <p:cBhvr>
                                        <p:cTn id="73" dur="1" fill="hold">
                                          <p:stCondLst>
                                            <p:cond delay="449"/>
                                          </p:stCondLst>
                                        </p:cTn>
                                        <p:tgtEl>
                                          <p:spTgt spid="13"/>
                                        </p:tgtEl>
                                        <p:attrNameLst>
                                          <p:attrName>style.visibility</p:attrName>
                                        </p:attrNameLst>
                                      </p:cBhvr>
                                      <p:to>
                                        <p:strVal val="hidden"/>
                                      </p:to>
                                    </p:set>
                                  </p:childTnLst>
                                </p:cTn>
                              </p:par>
                              <p:par>
                                <p:cTn id="74" presetID="10" presetClass="exit" presetSubtype="0" fill="hold" grpId="1" nodeType="withEffect">
                                  <p:stCondLst>
                                    <p:cond delay="5200"/>
                                  </p:stCondLst>
                                  <p:childTnLst>
                                    <p:animEffect transition="out" filter="fade">
                                      <p:cBhvr>
                                        <p:cTn id="75" dur="450"/>
                                        <p:tgtEl>
                                          <p:spTgt spid="14"/>
                                        </p:tgtEl>
                                      </p:cBhvr>
                                    </p:animEffect>
                                    <p:set>
                                      <p:cBhvr>
                                        <p:cTn id="76" dur="1" fill="hold">
                                          <p:stCondLst>
                                            <p:cond delay="449"/>
                                          </p:stCondLst>
                                        </p:cTn>
                                        <p:tgtEl>
                                          <p:spTgt spid="14"/>
                                        </p:tgtEl>
                                        <p:attrNameLst>
                                          <p:attrName>style.visibility</p:attrName>
                                        </p:attrNameLst>
                                      </p:cBhvr>
                                      <p:to>
                                        <p:strVal val="hidden"/>
                                      </p:to>
                                    </p:set>
                                  </p:childTnLst>
                                </p:cTn>
                              </p:par>
                              <p:par>
                                <p:cTn id="77" presetID="10" presetClass="exit" presetSubtype="0" fill="hold" grpId="1" nodeType="withEffect">
                                  <p:stCondLst>
                                    <p:cond delay="5200"/>
                                  </p:stCondLst>
                                  <p:childTnLst>
                                    <p:animEffect transition="out" filter="fade">
                                      <p:cBhvr>
                                        <p:cTn id="78" dur="450"/>
                                        <p:tgtEl>
                                          <p:spTgt spid="15"/>
                                        </p:tgtEl>
                                      </p:cBhvr>
                                    </p:animEffect>
                                    <p:set>
                                      <p:cBhvr>
                                        <p:cTn id="79" dur="1" fill="hold">
                                          <p:stCondLst>
                                            <p:cond delay="449"/>
                                          </p:stCondLst>
                                        </p:cTn>
                                        <p:tgtEl>
                                          <p:spTgt spid="15"/>
                                        </p:tgtEl>
                                        <p:attrNameLst>
                                          <p:attrName>style.visibility</p:attrName>
                                        </p:attrNameLst>
                                      </p:cBhvr>
                                      <p:to>
                                        <p:strVal val="hidden"/>
                                      </p:to>
                                    </p:set>
                                  </p:childTnLst>
                                </p:cTn>
                              </p:par>
                              <p:par>
                                <p:cTn id="80" presetID="10" presetClass="exit" presetSubtype="0" fill="hold" grpId="1" nodeType="withEffect">
                                  <p:stCondLst>
                                    <p:cond delay="5200"/>
                                  </p:stCondLst>
                                  <p:childTnLst>
                                    <p:animEffect transition="out" filter="fade">
                                      <p:cBhvr>
                                        <p:cTn id="81" dur="450"/>
                                        <p:tgtEl>
                                          <p:spTgt spid="16"/>
                                        </p:tgtEl>
                                      </p:cBhvr>
                                    </p:animEffect>
                                    <p:set>
                                      <p:cBhvr>
                                        <p:cTn id="82" dur="1" fill="hold">
                                          <p:stCondLst>
                                            <p:cond delay="449"/>
                                          </p:stCondLst>
                                        </p:cTn>
                                        <p:tgtEl>
                                          <p:spTgt spid="16"/>
                                        </p:tgtEl>
                                        <p:attrNameLst>
                                          <p:attrName>style.visibility</p:attrName>
                                        </p:attrNameLst>
                                      </p:cBhvr>
                                      <p:to>
                                        <p:strVal val="hidden"/>
                                      </p:to>
                                    </p:set>
                                  </p:childTnLst>
                                </p:cTn>
                              </p:par>
                              <p:par>
                                <p:cTn id="83" presetID="10" presetClass="entr" presetSubtype="0" fill="hold" grpId="0" nodeType="withEffect">
                                  <p:stCondLst>
                                    <p:cond delay="5200"/>
                                  </p:stCondLst>
                                  <p:childTnLst>
                                    <p:set>
                                      <p:cBhvr>
                                        <p:cTn id="84" dur="1" fill="hold">
                                          <p:stCondLst>
                                            <p:cond delay="0"/>
                                          </p:stCondLst>
                                        </p:cTn>
                                        <p:tgtEl>
                                          <p:spTgt spid="76"/>
                                        </p:tgtEl>
                                        <p:attrNameLst>
                                          <p:attrName>style.visibility</p:attrName>
                                        </p:attrNameLst>
                                      </p:cBhvr>
                                      <p:to>
                                        <p:strVal val="visible"/>
                                      </p:to>
                                    </p:set>
                                    <p:animEffect transition="in" filter="fade">
                                      <p:cBhvr>
                                        <p:cTn id="85" dur="450"/>
                                        <p:tgtEl>
                                          <p:spTgt spid="76"/>
                                        </p:tgtEl>
                                      </p:cBhvr>
                                    </p:animEffect>
                                  </p:childTnLst>
                                </p:cTn>
                              </p:par>
                              <p:par>
                                <p:cTn id="86" presetID="10" presetClass="entr" presetSubtype="0" fill="hold" grpId="0" nodeType="withEffect">
                                  <p:stCondLst>
                                    <p:cond delay="5200"/>
                                  </p:stCondLst>
                                  <p:childTnLst>
                                    <p:set>
                                      <p:cBhvr>
                                        <p:cTn id="87" dur="1" fill="hold">
                                          <p:stCondLst>
                                            <p:cond delay="0"/>
                                          </p:stCondLst>
                                        </p:cTn>
                                        <p:tgtEl>
                                          <p:spTgt spid="77"/>
                                        </p:tgtEl>
                                        <p:attrNameLst>
                                          <p:attrName>style.visibility</p:attrName>
                                        </p:attrNameLst>
                                      </p:cBhvr>
                                      <p:to>
                                        <p:strVal val="visible"/>
                                      </p:to>
                                    </p:set>
                                    <p:animEffect transition="in" filter="fade">
                                      <p:cBhvr>
                                        <p:cTn id="88" dur="450"/>
                                        <p:tgtEl>
                                          <p:spTgt spid="77"/>
                                        </p:tgtEl>
                                      </p:cBhvr>
                                    </p:animEffect>
                                  </p:childTnLst>
                                </p:cTn>
                              </p:par>
                              <p:par>
                                <p:cTn id="89" presetID="10" presetClass="entr" presetSubtype="0" fill="hold" grpId="0" nodeType="withEffect">
                                  <p:stCondLst>
                                    <p:cond delay="5200"/>
                                  </p:stCondLst>
                                  <p:childTnLst>
                                    <p:set>
                                      <p:cBhvr>
                                        <p:cTn id="90" dur="1" fill="hold">
                                          <p:stCondLst>
                                            <p:cond delay="0"/>
                                          </p:stCondLst>
                                        </p:cTn>
                                        <p:tgtEl>
                                          <p:spTgt spid="78"/>
                                        </p:tgtEl>
                                        <p:attrNameLst>
                                          <p:attrName>style.visibility</p:attrName>
                                        </p:attrNameLst>
                                      </p:cBhvr>
                                      <p:to>
                                        <p:strVal val="visible"/>
                                      </p:to>
                                    </p:set>
                                    <p:animEffect transition="in" filter="fade">
                                      <p:cBhvr>
                                        <p:cTn id="91" dur="450"/>
                                        <p:tgtEl>
                                          <p:spTgt spid="78"/>
                                        </p:tgtEl>
                                      </p:cBhvr>
                                    </p:animEffect>
                                  </p:childTnLst>
                                </p:cTn>
                              </p:par>
                              <p:par>
                                <p:cTn id="92" presetID="10" presetClass="entr" presetSubtype="0" fill="hold" grpId="0" nodeType="withEffect">
                                  <p:stCondLst>
                                    <p:cond delay="5200"/>
                                  </p:stCondLst>
                                  <p:childTnLst>
                                    <p:set>
                                      <p:cBhvr>
                                        <p:cTn id="93" dur="1" fill="hold">
                                          <p:stCondLst>
                                            <p:cond delay="0"/>
                                          </p:stCondLst>
                                        </p:cTn>
                                        <p:tgtEl>
                                          <p:spTgt spid="17"/>
                                        </p:tgtEl>
                                        <p:attrNameLst>
                                          <p:attrName>style.visibility</p:attrName>
                                        </p:attrNameLst>
                                      </p:cBhvr>
                                      <p:to>
                                        <p:strVal val="visible"/>
                                      </p:to>
                                    </p:set>
                                    <p:animEffect transition="in" filter="fade">
                                      <p:cBhvr>
                                        <p:cTn id="94" dur="450"/>
                                        <p:tgtEl>
                                          <p:spTgt spid="17"/>
                                        </p:tgtEl>
                                      </p:cBhvr>
                                    </p:animEffect>
                                  </p:childTnLst>
                                </p:cTn>
                              </p:par>
                              <p:par>
                                <p:cTn id="95" presetID="10" presetClass="entr" presetSubtype="0" fill="hold" grpId="0" nodeType="withEffect">
                                  <p:stCondLst>
                                    <p:cond delay="520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450"/>
                                        <p:tgtEl>
                                          <p:spTgt spid="18"/>
                                        </p:tgtEl>
                                      </p:cBhvr>
                                    </p:animEffect>
                                  </p:childTnLst>
                                </p:cTn>
                              </p:par>
                              <p:par>
                                <p:cTn id="98" presetID="10" presetClass="entr" presetSubtype="0" fill="hold" grpId="0" nodeType="withEffect">
                                  <p:stCondLst>
                                    <p:cond delay="5200"/>
                                  </p:stCondLst>
                                  <p:childTnLst>
                                    <p:set>
                                      <p:cBhvr>
                                        <p:cTn id="99" dur="1" fill="hold">
                                          <p:stCondLst>
                                            <p:cond delay="0"/>
                                          </p:stCondLst>
                                        </p:cTn>
                                        <p:tgtEl>
                                          <p:spTgt spid="19"/>
                                        </p:tgtEl>
                                        <p:attrNameLst>
                                          <p:attrName>style.visibility</p:attrName>
                                        </p:attrNameLst>
                                      </p:cBhvr>
                                      <p:to>
                                        <p:strVal val="visible"/>
                                      </p:to>
                                    </p:set>
                                    <p:animEffect transition="in" filter="fade">
                                      <p:cBhvr>
                                        <p:cTn id="100" dur="450"/>
                                        <p:tgtEl>
                                          <p:spTgt spid="19"/>
                                        </p:tgtEl>
                                      </p:cBhvr>
                                    </p:animEffect>
                                  </p:childTnLst>
                                </p:cTn>
                              </p:par>
                              <p:par>
                                <p:cTn id="101" presetID="10" presetClass="entr" presetSubtype="0" fill="hold" grpId="0" nodeType="withEffect">
                                  <p:stCondLst>
                                    <p:cond delay="5200"/>
                                  </p:stCondLst>
                                  <p:childTnLst>
                                    <p:set>
                                      <p:cBhvr>
                                        <p:cTn id="102" dur="1" fill="hold">
                                          <p:stCondLst>
                                            <p:cond delay="0"/>
                                          </p:stCondLst>
                                        </p:cTn>
                                        <p:tgtEl>
                                          <p:spTgt spid="20"/>
                                        </p:tgtEl>
                                        <p:attrNameLst>
                                          <p:attrName>style.visibility</p:attrName>
                                        </p:attrNameLst>
                                      </p:cBhvr>
                                      <p:to>
                                        <p:strVal val="visible"/>
                                      </p:to>
                                    </p:set>
                                    <p:animEffect transition="in" filter="fade">
                                      <p:cBhvr>
                                        <p:cTn id="103" dur="450"/>
                                        <p:tgtEl>
                                          <p:spTgt spid="20"/>
                                        </p:tgtEl>
                                      </p:cBhvr>
                                    </p:animEffect>
                                  </p:childTnLst>
                                </p:cTn>
                              </p:par>
                              <p:par>
                                <p:cTn id="104" presetID="10" presetClass="entr" presetSubtype="0" fill="hold" grpId="0" nodeType="withEffect">
                                  <p:stCondLst>
                                    <p:cond delay="5200"/>
                                  </p:stCondLst>
                                  <p:childTnLst>
                                    <p:set>
                                      <p:cBhvr>
                                        <p:cTn id="105" dur="1" fill="hold">
                                          <p:stCondLst>
                                            <p:cond delay="0"/>
                                          </p:stCondLst>
                                        </p:cTn>
                                        <p:tgtEl>
                                          <p:spTgt spid="21"/>
                                        </p:tgtEl>
                                        <p:attrNameLst>
                                          <p:attrName>style.visibility</p:attrName>
                                        </p:attrNameLst>
                                      </p:cBhvr>
                                      <p:to>
                                        <p:strVal val="visible"/>
                                      </p:to>
                                    </p:set>
                                    <p:animEffect transition="in" filter="fade">
                                      <p:cBhvr>
                                        <p:cTn id="106" dur="450"/>
                                        <p:tgtEl>
                                          <p:spTgt spid="21"/>
                                        </p:tgtEl>
                                      </p:cBhvr>
                                    </p:animEffect>
                                  </p:childTnLst>
                                </p:cTn>
                              </p:par>
                              <p:par>
                                <p:cTn id="107" presetID="10" presetClass="entr" presetSubtype="0" fill="hold" grpId="0" nodeType="withEffect">
                                  <p:stCondLst>
                                    <p:cond delay="5200"/>
                                  </p:stCondLst>
                                  <p:childTnLst>
                                    <p:set>
                                      <p:cBhvr>
                                        <p:cTn id="108" dur="1" fill="hold">
                                          <p:stCondLst>
                                            <p:cond delay="0"/>
                                          </p:stCondLst>
                                        </p:cTn>
                                        <p:tgtEl>
                                          <p:spTgt spid="22"/>
                                        </p:tgtEl>
                                        <p:attrNameLst>
                                          <p:attrName>style.visibility</p:attrName>
                                        </p:attrNameLst>
                                      </p:cBhvr>
                                      <p:to>
                                        <p:strVal val="visible"/>
                                      </p:to>
                                    </p:set>
                                    <p:animEffect transition="in" filter="fade">
                                      <p:cBhvr>
                                        <p:cTn id="109" dur="450"/>
                                        <p:tgtEl>
                                          <p:spTgt spid="22"/>
                                        </p:tgtEl>
                                      </p:cBhvr>
                                    </p:animEffect>
                                  </p:childTnLst>
                                </p:cTn>
                              </p:par>
                              <p:par>
                                <p:cTn id="110" presetID="10" presetClass="exit" presetSubtype="0" fill="hold" grpId="1" nodeType="withEffect">
                                  <p:stCondLst>
                                    <p:cond delay="7800"/>
                                  </p:stCondLst>
                                  <p:childTnLst>
                                    <p:animEffect transition="out" filter="fade">
                                      <p:cBhvr>
                                        <p:cTn id="111" dur="450"/>
                                        <p:tgtEl>
                                          <p:spTgt spid="17"/>
                                        </p:tgtEl>
                                      </p:cBhvr>
                                    </p:animEffect>
                                    <p:set>
                                      <p:cBhvr>
                                        <p:cTn id="112" dur="1" fill="hold">
                                          <p:stCondLst>
                                            <p:cond delay="449"/>
                                          </p:stCondLst>
                                        </p:cTn>
                                        <p:tgtEl>
                                          <p:spTgt spid="17"/>
                                        </p:tgtEl>
                                        <p:attrNameLst>
                                          <p:attrName>style.visibility</p:attrName>
                                        </p:attrNameLst>
                                      </p:cBhvr>
                                      <p:to>
                                        <p:strVal val="hidden"/>
                                      </p:to>
                                    </p:set>
                                  </p:childTnLst>
                                </p:cTn>
                              </p:par>
                              <p:par>
                                <p:cTn id="113" presetID="10" presetClass="exit" presetSubtype="0" fill="hold" grpId="1" nodeType="withEffect">
                                  <p:stCondLst>
                                    <p:cond delay="7800"/>
                                  </p:stCondLst>
                                  <p:childTnLst>
                                    <p:animEffect transition="out" filter="fade">
                                      <p:cBhvr>
                                        <p:cTn id="114" dur="450"/>
                                        <p:tgtEl>
                                          <p:spTgt spid="18"/>
                                        </p:tgtEl>
                                      </p:cBhvr>
                                    </p:animEffect>
                                    <p:set>
                                      <p:cBhvr>
                                        <p:cTn id="115" dur="1" fill="hold">
                                          <p:stCondLst>
                                            <p:cond delay="449"/>
                                          </p:stCondLst>
                                        </p:cTn>
                                        <p:tgtEl>
                                          <p:spTgt spid="18"/>
                                        </p:tgtEl>
                                        <p:attrNameLst>
                                          <p:attrName>style.visibility</p:attrName>
                                        </p:attrNameLst>
                                      </p:cBhvr>
                                      <p:to>
                                        <p:strVal val="hidden"/>
                                      </p:to>
                                    </p:set>
                                  </p:childTnLst>
                                </p:cTn>
                              </p:par>
                              <p:par>
                                <p:cTn id="116" presetID="10" presetClass="exit" presetSubtype="0" fill="hold" grpId="1" nodeType="withEffect">
                                  <p:stCondLst>
                                    <p:cond delay="7800"/>
                                  </p:stCondLst>
                                  <p:childTnLst>
                                    <p:animEffect transition="out" filter="fade">
                                      <p:cBhvr>
                                        <p:cTn id="117" dur="450"/>
                                        <p:tgtEl>
                                          <p:spTgt spid="19"/>
                                        </p:tgtEl>
                                      </p:cBhvr>
                                    </p:animEffect>
                                    <p:set>
                                      <p:cBhvr>
                                        <p:cTn id="118" dur="1" fill="hold">
                                          <p:stCondLst>
                                            <p:cond delay="449"/>
                                          </p:stCondLst>
                                        </p:cTn>
                                        <p:tgtEl>
                                          <p:spTgt spid="19"/>
                                        </p:tgtEl>
                                        <p:attrNameLst>
                                          <p:attrName>style.visibility</p:attrName>
                                        </p:attrNameLst>
                                      </p:cBhvr>
                                      <p:to>
                                        <p:strVal val="hidden"/>
                                      </p:to>
                                    </p:set>
                                  </p:childTnLst>
                                </p:cTn>
                              </p:par>
                              <p:par>
                                <p:cTn id="119" presetID="10" presetClass="exit" presetSubtype="0" fill="hold" grpId="1" nodeType="withEffect">
                                  <p:stCondLst>
                                    <p:cond delay="7800"/>
                                  </p:stCondLst>
                                  <p:childTnLst>
                                    <p:animEffect transition="out" filter="fade">
                                      <p:cBhvr>
                                        <p:cTn id="120" dur="450"/>
                                        <p:tgtEl>
                                          <p:spTgt spid="20"/>
                                        </p:tgtEl>
                                      </p:cBhvr>
                                    </p:animEffect>
                                    <p:set>
                                      <p:cBhvr>
                                        <p:cTn id="121" dur="1" fill="hold">
                                          <p:stCondLst>
                                            <p:cond delay="449"/>
                                          </p:stCondLst>
                                        </p:cTn>
                                        <p:tgtEl>
                                          <p:spTgt spid="20"/>
                                        </p:tgtEl>
                                        <p:attrNameLst>
                                          <p:attrName>style.visibility</p:attrName>
                                        </p:attrNameLst>
                                      </p:cBhvr>
                                      <p:to>
                                        <p:strVal val="hidden"/>
                                      </p:to>
                                    </p:set>
                                  </p:childTnLst>
                                </p:cTn>
                              </p:par>
                              <p:par>
                                <p:cTn id="122" presetID="10" presetClass="exit" presetSubtype="0" fill="hold" grpId="1" nodeType="withEffect">
                                  <p:stCondLst>
                                    <p:cond delay="7800"/>
                                  </p:stCondLst>
                                  <p:childTnLst>
                                    <p:animEffect transition="out" filter="fade">
                                      <p:cBhvr>
                                        <p:cTn id="123" dur="450"/>
                                        <p:tgtEl>
                                          <p:spTgt spid="21"/>
                                        </p:tgtEl>
                                      </p:cBhvr>
                                    </p:animEffect>
                                    <p:set>
                                      <p:cBhvr>
                                        <p:cTn id="124" dur="1" fill="hold">
                                          <p:stCondLst>
                                            <p:cond delay="449"/>
                                          </p:stCondLst>
                                        </p:cTn>
                                        <p:tgtEl>
                                          <p:spTgt spid="21"/>
                                        </p:tgtEl>
                                        <p:attrNameLst>
                                          <p:attrName>style.visibility</p:attrName>
                                        </p:attrNameLst>
                                      </p:cBhvr>
                                      <p:to>
                                        <p:strVal val="hidden"/>
                                      </p:to>
                                    </p:set>
                                  </p:childTnLst>
                                </p:cTn>
                              </p:par>
                              <p:par>
                                <p:cTn id="125" presetID="10" presetClass="exit" presetSubtype="0" fill="hold" grpId="1" nodeType="withEffect">
                                  <p:stCondLst>
                                    <p:cond delay="7800"/>
                                  </p:stCondLst>
                                  <p:childTnLst>
                                    <p:animEffect transition="out" filter="fade">
                                      <p:cBhvr>
                                        <p:cTn id="126" dur="450"/>
                                        <p:tgtEl>
                                          <p:spTgt spid="22"/>
                                        </p:tgtEl>
                                      </p:cBhvr>
                                    </p:animEffect>
                                    <p:set>
                                      <p:cBhvr>
                                        <p:cTn id="127" dur="1" fill="hold">
                                          <p:stCondLst>
                                            <p:cond delay="449"/>
                                          </p:stCondLst>
                                        </p:cTn>
                                        <p:tgtEl>
                                          <p:spTgt spid="22"/>
                                        </p:tgtEl>
                                        <p:attrNameLst>
                                          <p:attrName>style.visibility</p:attrName>
                                        </p:attrNameLst>
                                      </p:cBhvr>
                                      <p:to>
                                        <p:strVal val="hidden"/>
                                      </p:to>
                                    </p:set>
                                  </p:childTnLst>
                                </p:cTn>
                              </p:par>
                              <p:par>
                                <p:cTn id="128" presetID="10" presetClass="exit" presetSubtype="0" fill="hold" grpId="1" nodeType="withEffect">
                                  <p:stCondLst>
                                    <p:cond delay="7800"/>
                                  </p:stCondLst>
                                  <p:childTnLst>
                                    <p:animEffect transition="out" filter="fade">
                                      <p:cBhvr>
                                        <p:cTn id="129" dur="450"/>
                                        <p:tgtEl>
                                          <p:spTgt spid="5"/>
                                        </p:tgtEl>
                                      </p:cBhvr>
                                    </p:animEffect>
                                    <p:set>
                                      <p:cBhvr>
                                        <p:cTn id="130" dur="1" fill="hold">
                                          <p:stCondLst>
                                            <p:cond delay="449"/>
                                          </p:stCondLst>
                                        </p:cTn>
                                        <p:tgtEl>
                                          <p:spTgt spid="5"/>
                                        </p:tgtEl>
                                        <p:attrNameLst>
                                          <p:attrName>style.visibility</p:attrName>
                                        </p:attrNameLst>
                                      </p:cBhvr>
                                      <p:to>
                                        <p:strVal val="hidden"/>
                                      </p:to>
                                    </p:set>
                                  </p:childTnLst>
                                </p:cTn>
                              </p:par>
                              <p:par>
                                <p:cTn id="131" presetID="10" presetClass="entr" presetSubtype="0" fill="hold" grpId="0" nodeType="withEffect">
                                  <p:stCondLst>
                                    <p:cond delay="7800"/>
                                  </p:stCondLst>
                                  <p:childTnLst>
                                    <p:set>
                                      <p:cBhvr>
                                        <p:cTn id="132" dur="1" fill="hold">
                                          <p:stCondLst>
                                            <p:cond delay="0"/>
                                          </p:stCondLst>
                                        </p:cTn>
                                        <p:tgtEl>
                                          <p:spTgt spid="6"/>
                                        </p:tgtEl>
                                        <p:attrNameLst>
                                          <p:attrName>style.visibility</p:attrName>
                                        </p:attrNameLst>
                                      </p:cBhvr>
                                      <p:to>
                                        <p:strVal val="visible"/>
                                      </p:to>
                                    </p:set>
                                    <p:animEffect transition="in" filter="fade">
                                      <p:cBhvr>
                                        <p:cTn id="133" dur="450"/>
                                        <p:tgtEl>
                                          <p:spTgt spid="6"/>
                                        </p:tgtEl>
                                      </p:cBhvr>
                                    </p:animEffect>
                                  </p:childTnLst>
                                </p:cTn>
                              </p:par>
                              <p:par>
                                <p:cTn id="134" presetID="10" presetClass="entr" presetSubtype="0" fill="hold" grpId="0" nodeType="withEffect">
                                  <p:stCondLst>
                                    <p:cond delay="7800"/>
                                  </p:stCondLst>
                                  <p:childTnLst>
                                    <p:set>
                                      <p:cBhvr>
                                        <p:cTn id="135" dur="1" fill="hold">
                                          <p:stCondLst>
                                            <p:cond delay="0"/>
                                          </p:stCondLst>
                                        </p:cTn>
                                        <p:tgtEl>
                                          <p:spTgt spid="79"/>
                                        </p:tgtEl>
                                        <p:attrNameLst>
                                          <p:attrName>style.visibility</p:attrName>
                                        </p:attrNameLst>
                                      </p:cBhvr>
                                      <p:to>
                                        <p:strVal val="visible"/>
                                      </p:to>
                                    </p:set>
                                    <p:animEffect transition="in" filter="fade">
                                      <p:cBhvr>
                                        <p:cTn id="136" dur="450"/>
                                        <p:tgtEl>
                                          <p:spTgt spid="79"/>
                                        </p:tgtEl>
                                      </p:cBhvr>
                                    </p:animEffect>
                                  </p:childTnLst>
                                </p:cTn>
                              </p:par>
                              <p:par>
                                <p:cTn id="137" presetID="10" presetClass="entr" presetSubtype="0" fill="hold" grpId="0" nodeType="withEffect">
                                  <p:stCondLst>
                                    <p:cond delay="7800"/>
                                  </p:stCondLst>
                                  <p:childTnLst>
                                    <p:set>
                                      <p:cBhvr>
                                        <p:cTn id="138" dur="1" fill="hold">
                                          <p:stCondLst>
                                            <p:cond delay="0"/>
                                          </p:stCondLst>
                                        </p:cTn>
                                        <p:tgtEl>
                                          <p:spTgt spid="80"/>
                                        </p:tgtEl>
                                        <p:attrNameLst>
                                          <p:attrName>style.visibility</p:attrName>
                                        </p:attrNameLst>
                                      </p:cBhvr>
                                      <p:to>
                                        <p:strVal val="visible"/>
                                      </p:to>
                                    </p:set>
                                    <p:animEffect transition="in" filter="fade">
                                      <p:cBhvr>
                                        <p:cTn id="139" dur="450"/>
                                        <p:tgtEl>
                                          <p:spTgt spid="80"/>
                                        </p:tgtEl>
                                      </p:cBhvr>
                                    </p:animEffect>
                                  </p:childTnLst>
                                </p:cTn>
                              </p:par>
                              <p:par>
                                <p:cTn id="140" presetID="10" presetClass="entr" presetSubtype="0" fill="hold" grpId="0" nodeType="withEffect">
                                  <p:stCondLst>
                                    <p:cond delay="7800"/>
                                  </p:stCondLst>
                                  <p:childTnLst>
                                    <p:set>
                                      <p:cBhvr>
                                        <p:cTn id="141" dur="1" fill="hold">
                                          <p:stCondLst>
                                            <p:cond delay="0"/>
                                          </p:stCondLst>
                                        </p:cTn>
                                        <p:tgtEl>
                                          <p:spTgt spid="81"/>
                                        </p:tgtEl>
                                        <p:attrNameLst>
                                          <p:attrName>style.visibility</p:attrName>
                                        </p:attrNameLst>
                                      </p:cBhvr>
                                      <p:to>
                                        <p:strVal val="visible"/>
                                      </p:to>
                                    </p:set>
                                    <p:animEffect transition="in" filter="fade">
                                      <p:cBhvr>
                                        <p:cTn id="142" dur="450"/>
                                        <p:tgtEl>
                                          <p:spTgt spid="81"/>
                                        </p:tgtEl>
                                      </p:cBhvr>
                                    </p:animEffect>
                                  </p:childTnLst>
                                </p:cTn>
                              </p:par>
                              <p:par>
                                <p:cTn id="143" presetID="10" presetClass="entr" presetSubtype="0" fill="hold" grpId="0" nodeType="withEffect">
                                  <p:stCondLst>
                                    <p:cond delay="7800"/>
                                  </p:stCondLst>
                                  <p:childTnLst>
                                    <p:set>
                                      <p:cBhvr>
                                        <p:cTn id="144" dur="1" fill="hold">
                                          <p:stCondLst>
                                            <p:cond delay="0"/>
                                          </p:stCondLst>
                                        </p:cTn>
                                        <p:tgtEl>
                                          <p:spTgt spid="23"/>
                                        </p:tgtEl>
                                        <p:attrNameLst>
                                          <p:attrName>style.visibility</p:attrName>
                                        </p:attrNameLst>
                                      </p:cBhvr>
                                      <p:to>
                                        <p:strVal val="visible"/>
                                      </p:to>
                                    </p:set>
                                    <p:animEffect transition="in" filter="fade">
                                      <p:cBhvr>
                                        <p:cTn id="145" dur="450"/>
                                        <p:tgtEl>
                                          <p:spTgt spid="23"/>
                                        </p:tgtEl>
                                      </p:cBhvr>
                                    </p:animEffect>
                                  </p:childTnLst>
                                </p:cTn>
                              </p:par>
                              <p:par>
                                <p:cTn id="146" presetID="10" presetClass="entr" presetSubtype="0" fill="hold" grpId="0" nodeType="withEffect">
                                  <p:stCondLst>
                                    <p:cond delay="7800"/>
                                  </p:stCondLst>
                                  <p:childTnLst>
                                    <p:set>
                                      <p:cBhvr>
                                        <p:cTn id="147" dur="1" fill="hold">
                                          <p:stCondLst>
                                            <p:cond delay="0"/>
                                          </p:stCondLst>
                                        </p:cTn>
                                        <p:tgtEl>
                                          <p:spTgt spid="24"/>
                                        </p:tgtEl>
                                        <p:attrNameLst>
                                          <p:attrName>style.visibility</p:attrName>
                                        </p:attrNameLst>
                                      </p:cBhvr>
                                      <p:to>
                                        <p:strVal val="visible"/>
                                      </p:to>
                                    </p:set>
                                    <p:animEffect transition="in" filter="fade">
                                      <p:cBhvr>
                                        <p:cTn id="148" dur="450"/>
                                        <p:tgtEl>
                                          <p:spTgt spid="24"/>
                                        </p:tgtEl>
                                      </p:cBhvr>
                                    </p:animEffect>
                                  </p:childTnLst>
                                </p:cTn>
                              </p:par>
                              <p:par>
                                <p:cTn id="149" presetID="10" presetClass="entr" presetSubtype="0" fill="hold" grpId="0" nodeType="withEffect">
                                  <p:stCondLst>
                                    <p:cond delay="7800"/>
                                  </p:stCondLst>
                                  <p:childTnLst>
                                    <p:set>
                                      <p:cBhvr>
                                        <p:cTn id="150" dur="1" fill="hold">
                                          <p:stCondLst>
                                            <p:cond delay="0"/>
                                          </p:stCondLst>
                                        </p:cTn>
                                        <p:tgtEl>
                                          <p:spTgt spid="25"/>
                                        </p:tgtEl>
                                        <p:attrNameLst>
                                          <p:attrName>style.visibility</p:attrName>
                                        </p:attrNameLst>
                                      </p:cBhvr>
                                      <p:to>
                                        <p:strVal val="visible"/>
                                      </p:to>
                                    </p:set>
                                    <p:animEffect transition="in" filter="fade">
                                      <p:cBhvr>
                                        <p:cTn id="151" dur="450"/>
                                        <p:tgtEl>
                                          <p:spTgt spid="25"/>
                                        </p:tgtEl>
                                      </p:cBhvr>
                                    </p:animEffect>
                                  </p:childTnLst>
                                </p:cTn>
                              </p:par>
                              <p:par>
                                <p:cTn id="152" presetID="10" presetClass="entr" presetSubtype="0" fill="hold" grpId="0" nodeType="withEffect">
                                  <p:stCondLst>
                                    <p:cond delay="7800"/>
                                  </p:stCondLst>
                                  <p:childTnLst>
                                    <p:set>
                                      <p:cBhvr>
                                        <p:cTn id="153" dur="1" fill="hold">
                                          <p:stCondLst>
                                            <p:cond delay="0"/>
                                          </p:stCondLst>
                                        </p:cTn>
                                        <p:tgtEl>
                                          <p:spTgt spid="26"/>
                                        </p:tgtEl>
                                        <p:attrNameLst>
                                          <p:attrName>style.visibility</p:attrName>
                                        </p:attrNameLst>
                                      </p:cBhvr>
                                      <p:to>
                                        <p:strVal val="visible"/>
                                      </p:to>
                                    </p:set>
                                    <p:animEffect transition="in" filter="fade">
                                      <p:cBhvr>
                                        <p:cTn id="154" dur="450"/>
                                        <p:tgtEl>
                                          <p:spTgt spid="26"/>
                                        </p:tgtEl>
                                      </p:cBhvr>
                                    </p:animEffect>
                                  </p:childTnLst>
                                </p:cTn>
                              </p:par>
                              <p:par>
                                <p:cTn id="155" presetID="10" presetClass="entr" presetSubtype="0" fill="hold" grpId="0" nodeType="withEffect">
                                  <p:stCondLst>
                                    <p:cond delay="7800"/>
                                  </p:stCondLst>
                                  <p:childTnLst>
                                    <p:set>
                                      <p:cBhvr>
                                        <p:cTn id="156" dur="1" fill="hold">
                                          <p:stCondLst>
                                            <p:cond delay="0"/>
                                          </p:stCondLst>
                                        </p:cTn>
                                        <p:tgtEl>
                                          <p:spTgt spid="27"/>
                                        </p:tgtEl>
                                        <p:attrNameLst>
                                          <p:attrName>style.visibility</p:attrName>
                                        </p:attrNameLst>
                                      </p:cBhvr>
                                      <p:to>
                                        <p:strVal val="visible"/>
                                      </p:to>
                                    </p:set>
                                    <p:animEffect transition="in" filter="fade">
                                      <p:cBhvr>
                                        <p:cTn id="157" dur="450"/>
                                        <p:tgtEl>
                                          <p:spTgt spid="27"/>
                                        </p:tgtEl>
                                      </p:cBhvr>
                                    </p:animEffect>
                                  </p:childTnLst>
                                </p:cTn>
                              </p:par>
                              <p:par>
                                <p:cTn id="158" presetID="10" presetClass="entr" presetSubtype="0" fill="hold" grpId="0" nodeType="withEffect">
                                  <p:stCondLst>
                                    <p:cond delay="7800"/>
                                  </p:stCondLst>
                                  <p:childTnLst>
                                    <p:set>
                                      <p:cBhvr>
                                        <p:cTn id="159" dur="1" fill="hold">
                                          <p:stCondLst>
                                            <p:cond delay="0"/>
                                          </p:stCondLst>
                                        </p:cTn>
                                        <p:tgtEl>
                                          <p:spTgt spid="28"/>
                                        </p:tgtEl>
                                        <p:attrNameLst>
                                          <p:attrName>style.visibility</p:attrName>
                                        </p:attrNameLst>
                                      </p:cBhvr>
                                      <p:to>
                                        <p:strVal val="visible"/>
                                      </p:to>
                                    </p:set>
                                    <p:animEffect transition="in" filter="fade">
                                      <p:cBhvr>
                                        <p:cTn id="160" dur="450"/>
                                        <p:tgtEl>
                                          <p:spTgt spid="28"/>
                                        </p:tgtEl>
                                      </p:cBhvr>
                                    </p:animEffect>
                                  </p:childTnLst>
                                </p:cTn>
                              </p:par>
                              <p:par>
                                <p:cTn id="161" presetID="10" presetClass="entr" presetSubtype="0" fill="hold" grpId="0" nodeType="withEffect">
                                  <p:stCondLst>
                                    <p:cond delay="7800"/>
                                  </p:stCondLst>
                                  <p:childTnLst>
                                    <p:set>
                                      <p:cBhvr>
                                        <p:cTn id="162" dur="1" fill="hold">
                                          <p:stCondLst>
                                            <p:cond delay="0"/>
                                          </p:stCondLst>
                                        </p:cTn>
                                        <p:tgtEl>
                                          <p:spTgt spid="29"/>
                                        </p:tgtEl>
                                        <p:attrNameLst>
                                          <p:attrName>style.visibility</p:attrName>
                                        </p:attrNameLst>
                                      </p:cBhvr>
                                      <p:to>
                                        <p:strVal val="visible"/>
                                      </p:to>
                                    </p:set>
                                    <p:animEffect transition="in" filter="fade">
                                      <p:cBhvr>
                                        <p:cTn id="163" dur="450"/>
                                        <p:tgtEl>
                                          <p:spTgt spid="29"/>
                                        </p:tgtEl>
                                      </p:cBhvr>
                                    </p:animEffect>
                                  </p:childTnLst>
                                </p:cTn>
                              </p:par>
                              <p:par>
                                <p:cTn id="164" presetID="10" presetClass="entr" presetSubtype="0" fill="hold" grpId="0" nodeType="withEffect">
                                  <p:stCondLst>
                                    <p:cond delay="7800"/>
                                  </p:stCondLst>
                                  <p:childTnLst>
                                    <p:set>
                                      <p:cBhvr>
                                        <p:cTn id="165" dur="1" fill="hold">
                                          <p:stCondLst>
                                            <p:cond delay="0"/>
                                          </p:stCondLst>
                                        </p:cTn>
                                        <p:tgtEl>
                                          <p:spTgt spid="30"/>
                                        </p:tgtEl>
                                        <p:attrNameLst>
                                          <p:attrName>style.visibility</p:attrName>
                                        </p:attrNameLst>
                                      </p:cBhvr>
                                      <p:to>
                                        <p:strVal val="visible"/>
                                      </p:to>
                                    </p:set>
                                    <p:animEffect transition="in" filter="fade">
                                      <p:cBhvr>
                                        <p:cTn id="166" dur="450"/>
                                        <p:tgtEl>
                                          <p:spTgt spid="30"/>
                                        </p:tgtEl>
                                      </p:cBhvr>
                                    </p:animEffect>
                                  </p:childTnLst>
                                </p:cTn>
                              </p:par>
                              <p:par>
                                <p:cTn id="167" presetID="10" presetClass="entr" presetSubtype="0" fill="hold" grpId="0" nodeType="withEffect">
                                  <p:stCondLst>
                                    <p:cond delay="7800"/>
                                  </p:stCondLst>
                                  <p:childTnLst>
                                    <p:set>
                                      <p:cBhvr>
                                        <p:cTn id="168" dur="1" fill="hold">
                                          <p:stCondLst>
                                            <p:cond delay="0"/>
                                          </p:stCondLst>
                                        </p:cTn>
                                        <p:tgtEl>
                                          <p:spTgt spid="31"/>
                                        </p:tgtEl>
                                        <p:attrNameLst>
                                          <p:attrName>style.visibility</p:attrName>
                                        </p:attrNameLst>
                                      </p:cBhvr>
                                      <p:to>
                                        <p:strVal val="visible"/>
                                      </p:to>
                                    </p:set>
                                    <p:animEffect transition="in" filter="fade">
                                      <p:cBhvr>
                                        <p:cTn id="169" dur="450"/>
                                        <p:tgtEl>
                                          <p:spTgt spid="31"/>
                                        </p:tgtEl>
                                      </p:cBhvr>
                                    </p:animEffect>
                                  </p:childTnLst>
                                </p:cTn>
                              </p:par>
                              <p:par>
                                <p:cTn id="170" presetID="10" presetClass="entr" presetSubtype="0" fill="hold" grpId="0" nodeType="withEffect">
                                  <p:stCondLst>
                                    <p:cond delay="7800"/>
                                  </p:stCondLst>
                                  <p:childTnLst>
                                    <p:set>
                                      <p:cBhvr>
                                        <p:cTn id="171" dur="1" fill="hold">
                                          <p:stCondLst>
                                            <p:cond delay="0"/>
                                          </p:stCondLst>
                                        </p:cTn>
                                        <p:tgtEl>
                                          <p:spTgt spid="32"/>
                                        </p:tgtEl>
                                        <p:attrNameLst>
                                          <p:attrName>style.visibility</p:attrName>
                                        </p:attrNameLst>
                                      </p:cBhvr>
                                      <p:to>
                                        <p:strVal val="visible"/>
                                      </p:to>
                                    </p:set>
                                    <p:animEffect transition="in" filter="fade">
                                      <p:cBhvr>
                                        <p:cTn id="172" dur="450"/>
                                        <p:tgtEl>
                                          <p:spTgt spid="32"/>
                                        </p:tgtEl>
                                      </p:cBhvr>
                                    </p:animEffect>
                                  </p:childTnLst>
                                </p:cTn>
                              </p:par>
                              <p:par>
                                <p:cTn id="173" presetID="10" presetClass="entr" presetSubtype="0" fill="hold" grpId="0" nodeType="withEffect">
                                  <p:stCondLst>
                                    <p:cond delay="7800"/>
                                  </p:stCondLst>
                                  <p:childTnLst>
                                    <p:set>
                                      <p:cBhvr>
                                        <p:cTn id="174" dur="1" fill="hold">
                                          <p:stCondLst>
                                            <p:cond delay="0"/>
                                          </p:stCondLst>
                                        </p:cTn>
                                        <p:tgtEl>
                                          <p:spTgt spid="33"/>
                                        </p:tgtEl>
                                        <p:attrNameLst>
                                          <p:attrName>style.visibility</p:attrName>
                                        </p:attrNameLst>
                                      </p:cBhvr>
                                      <p:to>
                                        <p:strVal val="visible"/>
                                      </p:to>
                                    </p:set>
                                    <p:animEffect transition="in" filter="fade">
                                      <p:cBhvr>
                                        <p:cTn id="175" dur="450"/>
                                        <p:tgtEl>
                                          <p:spTgt spid="33"/>
                                        </p:tgtEl>
                                      </p:cBhvr>
                                    </p:animEffect>
                                  </p:childTnLst>
                                </p:cTn>
                              </p:par>
                              <p:par>
                                <p:cTn id="176" presetID="10" presetClass="entr" presetSubtype="0" fill="hold" grpId="0" nodeType="withEffect">
                                  <p:stCondLst>
                                    <p:cond delay="7800"/>
                                  </p:stCondLst>
                                  <p:childTnLst>
                                    <p:set>
                                      <p:cBhvr>
                                        <p:cTn id="177" dur="1" fill="hold">
                                          <p:stCondLst>
                                            <p:cond delay="0"/>
                                          </p:stCondLst>
                                        </p:cTn>
                                        <p:tgtEl>
                                          <p:spTgt spid="34"/>
                                        </p:tgtEl>
                                        <p:attrNameLst>
                                          <p:attrName>style.visibility</p:attrName>
                                        </p:attrNameLst>
                                      </p:cBhvr>
                                      <p:to>
                                        <p:strVal val="visible"/>
                                      </p:to>
                                    </p:set>
                                    <p:animEffect transition="in" filter="fade">
                                      <p:cBhvr>
                                        <p:cTn id="178" dur="450"/>
                                        <p:tgtEl>
                                          <p:spTgt spid="34"/>
                                        </p:tgtEl>
                                      </p:cBhvr>
                                    </p:animEffect>
                                  </p:childTnLst>
                                </p:cTn>
                              </p:par>
                              <p:par>
                                <p:cTn id="179" presetID="10" presetClass="entr" presetSubtype="0" fill="hold" grpId="0" nodeType="withEffect">
                                  <p:stCondLst>
                                    <p:cond delay="7800"/>
                                  </p:stCondLst>
                                  <p:childTnLst>
                                    <p:set>
                                      <p:cBhvr>
                                        <p:cTn id="180" dur="1" fill="hold">
                                          <p:stCondLst>
                                            <p:cond delay="0"/>
                                          </p:stCondLst>
                                        </p:cTn>
                                        <p:tgtEl>
                                          <p:spTgt spid="35"/>
                                        </p:tgtEl>
                                        <p:attrNameLst>
                                          <p:attrName>style.visibility</p:attrName>
                                        </p:attrNameLst>
                                      </p:cBhvr>
                                      <p:to>
                                        <p:strVal val="visible"/>
                                      </p:to>
                                    </p:set>
                                    <p:animEffect transition="in" filter="fade">
                                      <p:cBhvr>
                                        <p:cTn id="181" dur="450"/>
                                        <p:tgtEl>
                                          <p:spTgt spid="35"/>
                                        </p:tgtEl>
                                      </p:cBhvr>
                                    </p:animEffect>
                                  </p:childTnLst>
                                </p:cTn>
                              </p:par>
                              <p:par>
                                <p:cTn id="182" presetID="10" presetClass="entr" presetSubtype="0" fill="hold" grpId="0" nodeType="withEffect">
                                  <p:stCondLst>
                                    <p:cond delay="7800"/>
                                  </p:stCondLst>
                                  <p:childTnLst>
                                    <p:set>
                                      <p:cBhvr>
                                        <p:cTn id="183" dur="1" fill="hold">
                                          <p:stCondLst>
                                            <p:cond delay="0"/>
                                          </p:stCondLst>
                                        </p:cTn>
                                        <p:tgtEl>
                                          <p:spTgt spid="36"/>
                                        </p:tgtEl>
                                        <p:attrNameLst>
                                          <p:attrName>style.visibility</p:attrName>
                                        </p:attrNameLst>
                                      </p:cBhvr>
                                      <p:to>
                                        <p:strVal val="visible"/>
                                      </p:to>
                                    </p:set>
                                    <p:animEffect transition="in" filter="fade">
                                      <p:cBhvr>
                                        <p:cTn id="184" dur="450"/>
                                        <p:tgtEl>
                                          <p:spTgt spid="36"/>
                                        </p:tgtEl>
                                      </p:cBhvr>
                                    </p:animEffect>
                                  </p:childTnLst>
                                </p:cTn>
                              </p:par>
                              <p:par>
                                <p:cTn id="185" presetID="10" presetClass="entr" presetSubtype="0" fill="hold" grpId="0" nodeType="withEffect">
                                  <p:stCondLst>
                                    <p:cond delay="7800"/>
                                  </p:stCondLst>
                                  <p:childTnLst>
                                    <p:set>
                                      <p:cBhvr>
                                        <p:cTn id="186" dur="1" fill="hold">
                                          <p:stCondLst>
                                            <p:cond delay="0"/>
                                          </p:stCondLst>
                                        </p:cTn>
                                        <p:tgtEl>
                                          <p:spTgt spid="37"/>
                                        </p:tgtEl>
                                        <p:attrNameLst>
                                          <p:attrName>style.visibility</p:attrName>
                                        </p:attrNameLst>
                                      </p:cBhvr>
                                      <p:to>
                                        <p:strVal val="visible"/>
                                      </p:to>
                                    </p:set>
                                    <p:animEffect transition="in" filter="fade">
                                      <p:cBhvr>
                                        <p:cTn id="187" dur="450"/>
                                        <p:tgtEl>
                                          <p:spTgt spid="37"/>
                                        </p:tgtEl>
                                      </p:cBhvr>
                                    </p:animEffect>
                                  </p:childTnLst>
                                </p:cTn>
                              </p:par>
                              <p:par>
                                <p:cTn id="188" presetID="10" presetClass="entr" presetSubtype="0" fill="hold" grpId="0" nodeType="withEffect">
                                  <p:stCondLst>
                                    <p:cond delay="7800"/>
                                  </p:stCondLst>
                                  <p:childTnLst>
                                    <p:set>
                                      <p:cBhvr>
                                        <p:cTn id="189" dur="1" fill="hold">
                                          <p:stCondLst>
                                            <p:cond delay="0"/>
                                          </p:stCondLst>
                                        </p:cTn>
                                        <p:tgtEl>
                                          <p:spTgt spid="38"/>
                                        </p:tgtEl>
                                        <p:attrNameLst>
                                          <p:attrName>style.visibility</p:attrName>
                                        </p:attrNameLst>
                                      </p:cBhvr>
                                      <p:to>
                                        <p:strVal val="visible"/>
                                      </p:to>
                                    </p:set>
                                    <p:animEffect transition="in" filter="fade">
                                      <p:cBhvr>
                                        <p:cTn id="190" dur="450"/>
                                        <p:tgtEl>
                                          <p:spTgt spid="38"/>
                                        </p:tgtEl>
                                      </p:cBhvr>
                                    </p:animEffect>
                                  </p:childTnLst>
                                </p:cTn>
                              </p:par>
                              <p:par>
                                <p:cTn id="191" presetID="10" presetClass="entr" presetSubtype="0" fill="hold" grpId="0" nodeType="withEffect">
                                  <p:stCondLst>
                                    <p:cond delay="7800"/>
                                  </p:stCondLst>
                                  <p:childTnLst>
                                    <p:set>
                                      <p:cBhvr>
                                        <p:cTn id="192" dur="1" fill="hold">
                                          <p:stCondLst>
                                            <p:cond delay="0"/>
                                          </p:stCondLst>
                                        </p:cTn>
                                        <p:tgtEl>
                                          <p:spTgt spid="39"/>
                                        </p:tgtEl>
                                        <p:attrNameLst>
                                          <p:attrName>style.visibility</p:attrName>
                                        </p:attrNameLst>
                                      </p:cBhvr>
                                      <p:to>
                                        <p:strVal val="visible"/>
                                      </p:to>
                                    </p:set>
                                    <p:animEffect transition="in" filter="fade">
                                      <p:cBhvr>
                                        <p:cTn id="193" dur="450"/>
                                        <p:tgtEl>
                                          <p:spTgt spid="39"/>
                                        </p:tgtEl>
                                      </p:cBhvr>
                                    </p:animEffect>
                                  </p:childTnLst>
                                </p:cTn>
                              </p:par>
                              <p:par>
                                <p:cTn id="194" presetID="10" presetClass="entr" presetSubtype="0" fill="hold" grpId="0" nodeType="withEffect">
                                  <p:stCondLst>
                                    <p:cond delay="7800"/>
                                  </p:stCondLst>
                                  <p:childTnLst>
                                    <p:set>
                                      <p:cBhvr>
                                        <p:cTn id="195" dur="1" fill="hold">
                                          <p:stCondLst>
                                            <p:cond delay="0"/>
                                          </p:stCondLst>
                                        </p:cTn>
                                        <p:tgtEl>
                                          <p:spTgt spid="40"/>
                                        </p:tgtEl>
                                        <p:attrNameLst>
                                          <p:attrName>style.visibility</p:attrName>
                                        </p:attrNameLst>
                                      </p:cBhvr>
                                      <p:to>
                                        <p:strVal val="visible"/>
                                      </p:to>
                                    </p:set>
                                    <p:animEffect transition="in" filter="fade">
                                      <p:cBhvr>
                                        <p:cTn id="196" dur="450"/>
                                        <p:tgtEl>
                                          <p:spTgt spid="40"/>
                                        </p:tgtEl>
                                      </p:cBhvr>
                                    </p:animEffect>
                                  </p:childTnLst>
                                </p:cTn>
                              </p:par>
                              <p:par>
                                <p:cTn id="197" presetID="10" presetClass="entr" presetSubtype="0" fill="hold" grpId="0" nodeType="withEffect">
                                  <p:stCondLst>
                                    <p:cond delay="7800"/>
                                  </p:stCondLst>
                                  <p:childTnLst>
                                    <p:set>
                                      <p:cBhvr>
                                        <p:cTn id="198" dur="1" fill="hold">
                                          <p:stCondLst>
                                            <p:cond delay="0"/>
                                          </p:stCondLst>
                                        </p:cTn>
                                        <p:tgtEl>
                                          <p:spTgt spid="41"/>
                                        </p:tgtEl>
                                        <p:attrNameLst>
                                          <p:attrName>style.visibility</p:attrName>
                                        </p:attrNameLst>
                                      </p:cBhvr>
                                      <p:to>
                                        <p:strVal val="visible"/>
                                      </p:to>
                                    </p:set>
                                    <p:animEffect transition="in" filter="fade">
                                      <p:cBhvr>
                                        <p:cTn id="199" dur="450"/>
                                        <p:tgtEl>
                                          <p:spTgt spid="41"/>
                                        </p:tgtEl>
                                      </p:cBhvr>
                                    </p:animEffect>
                                  </p:childTnLst>
                                </p:cTn>
                              </p:par>
                              <p:par>
                                <p:cTn id="200" presetID="10" presetClass="entr" presetSubtype="0" fill="hold" grpId="0" nodeType="withEffect">
                                  <p:stCondLst>
                                    <p:cond delay="7800"/>
                                  </p:stCondLst>
                                  <p:childTnLst>
                                    <p:set>
                                      <p:cBhvr>
                                        <p:cTn id="201" dur="1" fill="hold">
                                          <p:stCondLst>
                                            <p:cond delay="0"/>
                                          </p:stCondLst>
                                        </p:cTn>
                                        <p:tgtEl>
                                          <p:spTgt spid="42"/>
                                        </p:tgtEl>
                                        <p:attrNameLst>
                                          <p:attrName>style.visibility</p:attrName>
                                        </p:attrNameLst>
                                      </p:cBhvr>
                                      <p:to>
                                        <p:strVal val="visible"/>
                                      </p:to>
                                    </p:set>
                                    <p:animEffect transition="in" filter="fade">
                                      <p:cBhvr>
                                        <p:cTn id="202" dur="450"/>
                                        <p:tgtEl>
                                          <p:spTgt spid="42"/>
                                        </p:tgtEl>
                                      </p:cBhvr>
                                    </p:animEffect>
                                  </p:childTnLst>
                                </p:cTn>
                              </p:par>
                              <p:par>
                                <p:cTn id="203" presetID="10" presetClass="entr" presetSubtype="0" fill="hold" grpId="0" nodeType="withEffect">
                                  <p:stCondLst>
                                    <p:cond delay="7800"/>
                                  </p:stCondLst>
                                  <p:childTnLst>
                                    <p:set>
                                      <p:cBhvr>
                                        <p:cTn id="204" dur="1" fill="hold">
                                          <p:stCondLst>
                                            <p:cond delay="0"/>
                                          </p:stCondLst>
                                        </p:cTn>
                                        <p:tgtEl>
                                          <p:spTgt spid="43"/>
                                        </p:tgtEl>
                                        <p:attrNameLst>
                                          <p:attrName>style.visibility</p:attrName>
                                        </p:attrNameLst>
                                      </p:cBhvr>
                                      <p:to>
                                        <p:strVal val="visible"/>
                                      </p:to>
                                    </p:set>
                                    <p:animEffect transition="in" filter="fade">
                                      <p:cBhvr>
                                        <p:cTn id="205" dur="450"/>
                                        <p:tgtEl>
                                          <p:spTgt spid="43"/>
                                        </p:tgtEl>
                                      </p:cBhvr>
                                    </p:animEffect>
                                  </p:childTnLst>
                                </p:cTn>
                              </p:par>
                              <p:par>
                                <p:cTn id="206" presetID="10" presetClass="entr" presetSubtype="0" fill="hold" grpId="0" nodeType="withEffect">
                                  <p:stCondLst>
                                    <p:cond delay="7800"/>
                                  </p:stCondLst>
                                  <p:childTnLst>
                                    <p:set>
                                      <p:cBhvr>
                                        <p:cTn id="207" dur="1" fill="hold">
                                          <p:stCondLst>
                                            <p:cond delay="0"/>
                                          </p:stCondLst>
                                        </p:cTn>
                                        <p:tgtEl>
                                          <p:spTgt spid="44"/>
                                        </p:tgtEl>
                                        <p:attrNameLst>
                                          <p:attrName>style.visibility</p:attrName>
                                        </p:attrNameLst>
                                      </p:cBhvr>
                                      <p:to>
                                        <p:strVal val="visible"/>
                                      </p:to>
                                    </p:set>
                                    <p:animEffect transition="in" filter="fade">
                                      <p:cBhvr>
                                        <p:cTn id="208" dur="450"/>
                                        <p:tgtEl>
                                          <p:spTgt spid="44"/>
                                        </p:tgtEl>
                                      </p:cBhvr>
                                    </p:animEffect>
                                  </p:childTnLst>
                                </p:cTn>
                              </p:par>
                              <p:par>
                                <p:cTn id="209" presetID="10" presetClass="entr" presetSubtype="0" fill="hold" grpId="0" nodeType="withEffect">
                                  <p:stCondLst>
                                    <p:cond delay="7800"/>
                                  </p:stCondLst>
                                  <p:childTnLst>
                                    <p:set>
                                      <p:cBhvr>
                                        <p:cTn id="210" dur="1" fill="hold">
                                          <p:stCondLst>
                                            <p:cond delay="0"/>
                                          </p:stCondLst>
                                        </p:cTn>
                                        <p:tgtEl>
                                          <p:spTgt spid="45"/>
                                        </p:tgtEl>
                                        <p:attrNameLst>
                                          <p:attrName>style.visibility</p:attrName>
                                        </p:attrNameLst>
                                      </p:cBhvr>
                                      <p:to>
                                        <p:strVal val="visible"/>
                                      </p:to>
                                    </p:set>
                                    <p:animEffect transition="in" filter="fade">
                                      <p:cBhvr>
                                        <p:cTn id="211" dur="450"/>
                                        <p:tgtEl>
                                          <p:spTgt spid="45"/>
                                        </p:tgtEl>
                                      </p:cBhvr>
                                    </p:animEffect>
                                  </p:childTnLst>
                                </p:cTn>
                              </p:par>
                              <p:par>
                                <p:cTn id="212" presetID="10" presetClass="entr" presetSubtype="0" fill="hold" grpId="0" nodeType="withEffect">
                                  <p:stCondLst>
                                    <p:cond delay="7800"/>
                                  </p:stCondLst>
                                  <p:childTnLst>
                                    <p:set>
                                      <p:cBhvr>
                                        <p:cTn id="213" dur="1" fill="hold">
                                          <p:stCondLst>
                                            <p:cond delay="0"/>
                                          </p:stCondLst>
                                        </p:cTn>
                                        <p:tgtEl>
                                          <p:spTgt spid="46"/>
                                        </p:tgtEl>
                                        <p:attrNameLst>
                                          <p:attrName>style.visibility</p:attrName>
                                        </p:attrNameLst>
                                      </p:cBhvr>
                                      <p:to>
                                        <p:strVal val="visible"/>
                                      </p:to>
                                    </p:set>
                                    <p:animEffect transition="in" filter="fade">
                                      <p:cBhvr>
                                        <p:cTn id="214" dur="450"/>
                                        <p:tgtEl>
                                          <p:spTgt spid="46"/>
                                        </p:tgtEl>
                                      </p:cBhvr>
                                    </p:animEffect>
                                  </p:childTnLst>
                                </p:cTn>
                              </p:par>
                              <p:par>
                                <p:cTn id="215" presetID="10" presetClass="entr" presetSubtype="0" fill="hold" grpId="0" nodeType="withEffect">
                                  <p:stCondLst>
                                    <p:cond delay="7800"/>
                                  </p:stCondLst>
                                  <p:childTnLst>
                                    <p:set>
                                      <p:cBhvr>
                                        <p:cTn id="216" dur="1" fill="hold">
                                          <p:stCondLst>
                                            <p:cond delay="0"/>
                                          </p:stCondLst>
                                        </p:cTn>
                                        <p:tgtEl>
                                          <p:spTgt spid="47"/>
                                        </p:tgtEl>
                                        <p:attrNameLst>
                                          <p:attrName>style.visibility</p:attrName>
                                        </p:attrNameLst>
                                      </p:cBhvr>
                                      <p:to>
                                        <p:strVal val="visible"/>
                                      </p:to>
                                    </p:set>
                                    <p:animEffect transition="in" filter="fade">
                                      <p:cBhvr>
                                        <p:cTn id="217" dur="450"/>
                                        <p:tgtEl>
                                          <p:spTgt spid="47"/>
                                        </p:tgtEl>
                                      </p:cBhvr>
                                    </p:animEffect>
                                  </p:childTnLst>
                                </p:cTn>
                              </p:par>
                              <p:par>
                                <p:cTn id="218" presetID="10" presetClass="entr" presetSubtype="0" fill="hold" grpId="0" nodeType="withEffect">
                                  <p:stCondLst>
                                    <p:cond delay="7800"/>
                                  </p:stCondLst>
                                  <p:childTnLst>
                                    <p:set>
                                      <p:cBhvr>
                                        <p:cTn id="219" dur="1" fill="hold">
                                          <p:stCondLst>
                                            <p:cond delay="0"/>
                                          </p:stCondLst>
                                        </p:cTn>
                                        <p:tgtEl>
                                          <p:spTgt spid="48"/>
                                        </p:tgtEl>
                                        <p:attrNameLst>
                                          <p:attrName>style.visibility</p:attrName>
                                        </p:attrNameLst>
                                      </p:cBhvr>
                                      <p:to>
                                        <p:strVal val="visible"/>
                                      </p:to>
                                    </p:set>
                                    <p:animEffect transition="in" filter="fade">
                                      <p:cBhvr>
                                        <p:cTn id="220" dur="450"/>
                                        <p:tgtEl>
                                          <p:spTgt spid="48"/>
                                        </p:tgtEl>
                                      </p:cBhvr>
                                    </p:animEffect>
                                  </p:childTnLst>
                                </p:cTn>
                              </p:par>
                              <p:par>
                                <p:cTn id="221" presetID="10" presetClass="entr" presetSubtype="0" fill="hold" grpId="0" nodeType="withEffect">
                                  <p:stCondLst>
                                    <p:cond delay="7800"/>
                                  </p:stCondLst>
                                  <p:childTnLst>
                                    <p:set>
                                      <p:cBhvr>
                                        <p:cTn id="222" dur="1" fill="hold">
                                          <p:stCondLst>
                                            <p:cond delay="0"/>
                                          </p:stCondLst>
                                        </p:cTn>
                                        <p:tgtEl>
                                          <p:spTgt spid="49"/>
                                        </p:tgtEl>
                                        <p:attrNameLst>
                                          <p:attrName>style.visibility</p:attrName>
                                        </p:attrNameLst>
                                      </p:cBhvr>
                                      <p:to>
                                        <p:strVal val="visible"/>
                                      </p:to>
                                    </p:set>
                                    <p:animEffect transition="in" filter="fade">
                                      <p:cBhvr>
                                        <p:cTn id="223" dur="450"/>
                                        <p:tgtEl>
                                          <p:spTgt spid="49"/>
                                        </p:tgtEl>
                                      </p:cBhvr>
                                    </p:animEffect>
                                  </p:childTnLst>
                                </p:cTn>
                              </p:par>
                              <p:par>
                                <p:cTn id="224" presetID="10" presetClass="entr" presetSubtype="0" fill="hold" grpId="0" nodeType="withEffect">
                                  <p:stCondLst>
                                    <p:cond delay="7800"/>
                                  </p:stCondLst>
                                  <p:childTnLst>
                                    <p:set>
                                      <p:cBhvr>
                                        <p:cTn id="225" dur="1" fill="hold">
                                          <p:stCondLst>
                                            <p:cond delay="0"/>
                                          </p:stCondLst>
                                        </p:cTn>
                                        <p:tgtEl>
                                          <p:spTgt spid="50"/>
                                        </p:tgtEl>
                                        <p:attrNameLst>
                                          <p:attrName>style.visibility</p:attrName>
                                        </p:attrNameLst>
                                      </p:cBhvr>
                                      <p:to>
                                        <p:strVal val="visible"/>
                                      </p:to>
                                    </p:set>
                                    <p:animEffect transition="in" filter="fade">
                                      <p:cBhvr>
                                        <p:cTn id="226" dur="450"/>
                                        <p:tgtEl>
                                          <p:spTgt spid="50"/>
                                        </p:tgtEl>
                                      </p:cBhvr>
                                    </p:animEffect>
                                  </p:childTnLst>
                                </p:cTn>
                              </p:par>
                              <p:par>
                                <p:cTn id="227" presetID="10" presetClass="entr" presetSubtype="0" fill="hold" grpId="0" nodeType="withEffect">
                                  <p:stCondLst>
                                    <p:cond delay="7800"/>
                                  </p:stCondLst>
                                  <p:childTnLst>
                                    <p:set>
                                      <p:cBhvr>
                                        <p:cTn id="228" dur="1" fill="hold">
                                          <p:stCondLst>
                                            <p:cond delay="0"/>
                                          </p:stCondLst>
                                        </p:cTn>
                                        <p:tgtEl>
                                          <p:spTgt spid="51"/>
                                        </p:tgtEl>
                                        <p:attrNameLst>
                                          <p:attrName>style.visibility</p:attrName>
                                        </p:attrNameLst>
                                      </p:cBhvr>
                                      <p:to>
                                        <p:strVal val="visible"/>
                                      </p:to>
                                    </p:set>
                                    <p:animEffect transition="in" filter="fade">
                                      <p:cBhvr>
                                        <p:cTn id="229" dur="450"/>
                                        <p:tgtEl>
                                          <p:spTgt spid="51"/>
                                        </p:tgtEl>
                                      </p:cBhvr>
                                    </p:animEffect>
                                  </p:childTnLst>
                                </p:cTn>
                              </p:par>
                              <p:par>
                                <p:cTn id="230" presetID="10" presetClass="entr" presetSubtype="0" fill="hold" grpId="0" nodeType="withEffect">
                                  <p:stCondLst>
                                    <p:cond delay="7800"/>
                                  </p:stCondLst>
                                  <p:childTnLst>
                                    <p:set>
                                      <p:cBhvr>
                                        <p:cTn id="231" dur="1" fill="hold">
                                          <p:stCondLst>
                                            <p:cond delay="0"/>
                                          </p:stCondLst>
                                        </p:cTn>
                                        <p:tgtEl>
                                          <p:spTgt spid="52"/>
                                        </p:tgtEl>
                                        <p:attrNameLst>
                                          <p:attrName>style.visibility</p:attrName>
                                        </p:attrNameLst>
                                      </p:cBhvr>
                                      <p:to>
                                        <p:strVal val="visible"/>
                                      </p:to>
                                    </p:set>
                                    <p:animEffect transition="in" filter="fade">
                                      <p:cBhvr>
                                        <p:cTn id="232" dur="450"/>
                                        <p:tgtEl>
                                          <p:spTgt spid="52"/>
                                        </p:tgtEl>
                                      </p:cBhvr>
                                    </p:animEffect>
                                  </p:childTnLst>
                                </p:cTn>
                              </p:par>
                              <p:par>
                                <p:cTn id="233" presetID="10" presetClass="entr" presetSubtype="0" fill="hold" grpId="0" nodeType="withEffect">
                                  <p:stCondLst>
                                    <p:cond delay="7800"/>
                                  </p:stCondLst>
                                  <p:childTnLst>
                                    <p:set>
                                      <p:cBhvr>
                                        <p:cTn id="234" dur="1" fill="hold">
                                          <p:stCondLst>
                                            <p:cond delay="0"/>
                                          </p:stCondLst>
                                        </p:cTn>
                                        <p:tgtEl>
                                          <p:spTgt spid="53"/>
                                        </p:tgtEl>
                                        <p:attrNameLst>
                                          <p:attrName>style.visibility</p:attrName>
                                        </p:attrNameLst>
                                      </p:cBhvr>
                                      <p:to>
                                        <p:strVal val="visible"/>
                                      </p:to>
                                    </p:set>
                                    <p:animEffect transition="in" filter="fade">
                                      <p:cBhvr>
                                        <p:cTn id="235" dur="450"/>
                                        <p:tgtEl>
                                          <p:spTgt spid="53"/>
                                        </p:tgtEl>
                                      </p:cBhvr>
                                    </p:animEffect>
                                  </p:childTnLst>
                                </p:cTn>
                              </p:par>
                              <p:par>
                                <p:cTn id="236" presetID="10" presetClass="entr" presetSubtype="0" fill="hold" grpId="0" nodeType="withEffect">
                                  <p:stCondLst>
                                    <p:cond delay="7800"/>
                                  </p:stCondLst>
                                  <p:childTnLst>
                                    <p:set>
                                      <p:cBhvr>
                                        <p:cTn id="237" dur="1" fill="hold">
                                          <p:stCondLst>
                                            <p:cond delay="0"/>
                                          </p:stCondLst>
                                        </p:cTn>
                                        <p:tgtEl>
                                          <p:spTgt spid="54"/>
                                        </p:tgtEl>
                                        <p:attrNameLst>
                                          <p:attrName>style.visibility</p:attrName>
                                        </p:attrNameLst>
                                      </p:cBhvr>
                                      <p:to>
                                        <p:strVal val="visible"/>
                                      </p:to>
                                    </p:set>
                                    <p:animEffect transition="in" filter="fade">
                                      <p:cBhvr>
                                        <p:cTn id="238" dur="450"/>
                                        <p:tgtEl>
                                          <p:spTgt spid="54"/>
                                        </p:tgtEl>
                                      </p:cBhvr>
                                    </p:animEffect>
                                  </p:childTnLst>
                                </p:cTn>
                              </p:par>
                              <p:par>
                                <p:cTn id="239" presetID="10" presetClass="entr" presetSubtype="0" fill="hold" grpId="0" nodeType="withEffect">
                                  <p:stCondLst>
                                    <p:cond delay="7800"/>
                                  </p:stCondLst>
                                  <p:childTnLst>
                                    <p:set>
                                      <p:cBhvr>
                                        <p:cTn id="240" dur="1" fill="hold">
                                          <p:stCondLst>
                                            <p:cond delay="0"/>
                                          </p:stCondLst>
                                        </p:cTn>
                                        <p:tgtEl>
                                          <p:spTgt spid="55"/>
                                        </p:tgtEl>
                                        <p:attrNameLst>
                                          <p:attrName>style.visibility</p:attrName>
                                        </p:attrNameLst>
                                      </p:cBhvr>
                                      <p:to>
                                        <p:strVal val="visible"/>
                                      </p:to>
                                    </p:set>
                                    <p:animEffect transition="in" filter="fade">
                                      <p:cBhvr>
                                        <p:cTn id="241" dur="450"/>
                                        <p:tgtEl>
                                          <p:spTgt spid="55"/>
                                        </p:tgtEl>
                                      </p:cBhvr>
                                    </p:animEffect>
                                  </p:childTnLst>
                                </p:cTn>
                              </p:par>
                              <p:par>
                                <p:cTn id="242" presetID="10" presetClass="entr" presetSubtype="0" fill="hold" grpId="0" nodeType="withEffect">
                                  <p:stCondLst>
                                    <p:cond delay="7800"/>
                                  </p:stCondLst>
                                  <p:childTnLst>
                                    <p:set>
                                      <p:cBhvr>
                                        <p:cTn id="243" dur="1" fill="hold">
                                          <p:stCondLst>
                                            <p:cond delay="0"/>
                                          </p:stCondLst>
                                        </p:cTn>
                                        <p:tgtEl>
                                          <p:spTgt spid="56"/>
                                        </p:tgtEl>
                                        <p:attrNameLst>
                                          <p:attrName>style.visibility</p:attrName>
                                        </p:attrNameLst>
                                      </p:cBhvr>
                                      <p:to>
                                        <p:strVal val="visible"/>
                                      </p:to>
                                    </p:set>
                                    <p:animEffect transition="in" filter="fade">
                                      <p:cBhvr>
                                        <p:cTn id="244" dur="450"/>
                                        <p:tgtEl>
                                          <p:spTgt spid="56"/>
                                        </p:tgtEl>
                                      </p:cBhvr>
                                    </p:animEffect>
                                  </p:childTnLst>
                                </p:cTn>
                              </p:par>
                              <p:par>
                                <p:cTn id="245" presetID="10" presetClass="entr" presetSubtype="0" fill="hold" grpId="0" nodeType="withEffect">
                                  <p:stCondLst>
                                    <p:cond delay="7800"/>
                                  </p:stCondLst>
                                  <p:childTnLst>
                                    <p:set>
                                      <p:cBhvr>
                                        <p:cTn id="246" dur="1" fill="hold">
                                          <p:stCondLst>
                                            <p:cond delay="0"/>
                                          </p:stCondLst>
                                        </p:cTn>
                                        <p:tgtEl>
                                          <p:spTgt spid="57"/>
                                        </p:tgtEl>
                                        <p:attrNameLst>
                                          <p:attrName>style.visibility</p:attrName>
                                        </p:attrNameLst>
                                      </p:cBhvr>
                                      <p:to>
                                        <p:strVal val="visible"/>
                                      </p:to>
                                    </p:set>
                                    <p:animEffect transition="in" filter="fade">
                                      <p:cBhvr>
                                        <p:cTn id="247" dur="450"/>
                                        <p:tgtEl>
                                          <p:spTgt spid="57"/>
                                        </p:tgtEl>
                                      </p:cBhvr>
                                    </p:animEffect>
                                  </p:childTnLst>
                                </p:cTn>
                              </p:par>
                              <p:par>
                                <p:cTn id="248" presetID="10" presetClass="entr" presetSubtype="0" fill="hold" grpId="0" nodeType="withEffect">
                                  <p:stCondLst>
                                    <p:cond delay="7800"/>
                                  </p:stCondLst>
                                  <p:childTnLst>
                                    <p:set>
                                      <p:cBhvr>
                                        <p:cTn id="249" dur="1" fill="hold">
                                          <p:stCondLst>
                                            <p:cond delay="0"/>
                                          </p:stCondLst>
                                        </p:cTn>
                                        <p:tgtEl>
                                          <p:spTgt spid="58"/>
                                        </p:tgtEl>
                                        <p:attrNameLst>
                                          <p:attrName>style.visibility</p:attrName>
                                        </p:attrNameLst>
                                      </p:cBhvr>
                                      <p:to>
                                        <p:strVal val="visible"/>
                                      </p:to>
                                    </p:set>
                                    <p:animEffect transition="in" filter="fade">
                                      <p:cBhvr>
                                        <p:cTn id="250" dur="450"/>
                                        <p:tgtEl>
                                          <p:spTgt spid="58"/>
                                        </p:tgtEl>
                                      </p:cBhvr>
                                    </p:animEffect>
                                  </p:childTnLst>
                                </p:cTn>
                              </p:par>
                              <p:par>
                                <p:cTn id="251" presetID="10" presetClass="entr" presetSubtype="0" fill="hold" grpId="0" nodeType="withEffect">
                                  <p:stCondLst>
                                    <p:cond delay="7800"/>
                                  </p:stCondLst>
                                  <p:childTnLst>
                                    <p:set>
                                      <p:cBhvr>
                                        <p:cTn id="252" dur="1" fill="hold">
                                          <p:stCondLst>
                                            <p:cond delay="0"/>
                                          </p:stCondLst>
                                        </p:cTn>
                                        <p:tgtEl>
                                          <p:spTgt spid="59"/>
                                        </p:tgtEl>
                                        <p:attrNameLst>
                                          <p:attrName>style.visibility</p:attrName>
                                        </p:attrNameLst>
                                      </p:cBhvr>
                                      <p:to>
                                        <p:strVal val="visible"/>
                                      </p:to>
                                    </p:set>
                                    <p:animEffect transition="in" filter="fade">
                                      <p:cBhvr>
                                        <p:cTn id="253" dur="450"/>
                                        <p:tgtEl>
                                          <p:spTgt spid="59"/>
                                        </p:tgtEl>
                                      </p:cBhvr>
                                    </p:animEffect>
                                  </p:childTnLst>
                                </p:cTn>
                              </p:par>
                              <p:par>
                                <p:cTn id="254" presetID="10" presetClass="entr" presetSubtype="0" fill="hold" grpId="0" nodeType="withEffect">
                                  <p:stCondLst>
                                    <p:cond delay="7800"/>
                                  </p:stCondLst>
                                  <p:childTnLst>
                                    <p:set>
                                      <p:cBhvr>
                                        <p:cTn id="255" dur="1" fill="hold">
                                          <p:stCondLst>
                                            <p:cond delay="0"/>
                                          </p:stCondLst>
                                        </p:cTn>
                                        <p:tgtEl>
                                          <p:spTgt spid="60"/>
                                        </p:tgtEl>
                                        <p:attrNameLst>
                                          <p:attrName>style.visibility</p:attrName>
                                        </p:attrNameLst>
                                      </p:cBhvr>
                                      <p:to>
                                        <p:strVal val="visible"/>
                                      </p:to>
                                    </p:set>
                                    <p:animEffect transition="in" filter="fade">
                                      <p:cBhvr>
                                        <p:cTn id="256" dur="450"/>
                                        <p:tgtEl>
                                          <p:spTgt spid="60"/>
                                        </p:tgtEl>
                                      </p:cBhvr>
                                    </p:animEffect>
                                  </p:childTnLst>
                                </p:cTn>
                              </p:par>
                              <p:par>
                                <p:cTn id="257" presetID="10" presetClass="exit" presetSubtype="0" fill="hold" grpId="1" nodeType="withEffect">
                                  <p:stCondLst>
                                    <p:cond delay="10400"/>
                                  </p:stCondLst>
                                  <p:childTnLst>
                                    <p:animEffect transition="out" filter="fade">
                                      <p:cBhvr>
                                        <p:cTn id="258" dur="450"/>
                                        <p:tgtEl>
                                          <p:spTgt spid="23"/>
                                        </p:tgtEl>
                                      </p:cBhvr>
                                    </p:animEffect>
                                    <p:set>
                                      <p:cBhvr>
                                        <p:cTn id="259" dur="1" fill="hold">
                                          <p:stCondLst>
                                            <p:cond delay="449"/>
                                          </p:stCondLst>
                                        </p:cTn>
                                        <p:tgtEl>
                                          <p:spTgt spid="23"/>
                                        </p:tgtEl>
                                        <p:attrNameLst>
                                          <p:attrName>style.visibility</p:attrName>
                                        </p:attrNameLst>
                                      </p:cBhvr>
                                      <p:to>
                                        <p:strVal val="hidden"/>
                                      </p:to>
                                    </p:set>
                                  </p:childTnLst>
                                </p:cTn>
                              </p:par>
                              <p:par>
                                <p:cTn id="260" presetID="10" presetClass="exit" presetSubtype="0" fill="hold" grpId="1" nodeType="withEffect">
                                  <p:stCondLst>
                                    <p:cond delay="10400"/>
                                  </p:stCondLst>
                                  <p:childTnLst>
                                    <p:animEffect transition="out" filter="fade">
                                      <p:cBhvr>
                                        <p:cTn id="261" dur="450"/>
                                        <p:tgtEl>
                                          <p:spTgt spid="24"/>
                                        </p:tgtEl>
                                      </p:cBhvr>
                                    </p:animEffect>
                                    <p:set>
                                      <p:cBhvr>
                                        <p:cTn id="262" dur="1" fill="hold">
                                          <p:stCondLst>
                                            <p:cond delay="449"/>
                                          </p:stCondLst>
                                        </p:cTn>
                                        <p:tgtEl>
                                          <p:spTgt spid="24"/>
                                        </p:tgtEl>
                                        <p:attrNameLst>
                                          <p:attrName>style.visibility</p:attrName>
                                        </p:attrNameLst>
                                      </p:cBhvr>
                                      <p:to>
                                        <p:strVal val="hidden"/>
                                      </p:to>
                                    </p:set>
                                  </p:childTnLst>
                                </p:cTn>
                              </p:par>
                              <p:par>
                                <p:cTn id="263" presetID="10" presetClass="exit" presetSubtype="0" fill="hold" grpId="1" nodeType="withEffect">
                                  <p:stCondLst>
                                    <p:cond delay="10400"/>
                                  </p:stCondLst>
                                  <p:childTnLst>
                                    <p:animEffect transition="out" filter="fade">
                                      <p:cBhvr>
                                        <p:cTn id="264" dur="450"/>
                                        <p:tgtEl>
                                          <p:spTgt spid="25"/>
                                        </p:tgtEl>
                                      </p:cBhvr>
                                    </p:animEffect>
                                    <p:set>
                                      <p:cBhvr>
                                        <p:cTn id="265" dur="1" fill="hold">
                                          <p:stCondLst>
                                            <p:cond delay="449"/>
                                          </p:stCondLst>
                                        </p:cTn>
                                        <p:tgtEl>
                                          <p:spTgt spid="25"/>
                                        </p:tgtEl>
                                        <p:attrNameLst>
                                          <p:attrName>style.visibility</p:attrName>
                                        </p:attrNameLst>
                                      </p:cBhvr>
                                      <p:to>
                                        <p:strVal val="hidden"/>
                                      </p:to>
                                    </p:set>
                                  </p:childTnLst>
                                </p:cTn>
                              </p:par>
                              <p:par>
                                <p:cTn id="266" presetID="10" presetClass="exit" presetSubtype="0" fill="hold" grpId="1" nodeType="withEffect">
                                  <p:stCondLst>
                                    <p:cond delay="10400"/>
                                  </p:stCondLst>
                                  <p:childTnLst>
                                    <p:animEffect transition="out" filter="fade">
                                      <p:cBhvr>
                                        <p:cTn id="267" dur="450"/>
                                        <p:tgtEl>
                                          <p:spTgt spid="26"/>
                                        </p:tgtEl>
                                      </p:cBhvr>
                                    </p:animEffect>
                                    <p:set>
                                      <p:cBhvr>
                                        <p:cTn id="268" dur="1" fill="hold">
                                          <p:stCondLst>
                                            <p:cond delay="449"/>
                                          </p:stCondLst>
                                        </p:cTn>
                                        <p:tgtEl>
                                          <p:spTgt spid="26"/>
                                        </p:tgtEl>
                                        <p:attrNameLst>
                                          <p:attrName>style.visibility</p:attrName>
                                        </p:attrNameLst>
                                      </p:cBhvr>
                                      <p:to>
                                        <p:strVal val="hidden"/>
                                      </p:to>
                                    </p:set>
                                  </p:childTnLst>
                                </p:cTn>
                              </p:par>
                              <p:par>
                                <p:cTn id="269" presetID="10" presetClass="exit" presetSubtype="0" fill="hold" grpId="1" nodeType="withEffect">
                                  <p:stCondLst>
                                    <p:cond delay="10400"/>
                                  </p:stCondLst>
                                  <p:childTnLst>
                                    <p:animEffect transition="out" filter="fade">
                                      <p:cBhvr>
                                        <p:cTn id="270" dur="450"/>
                                        <p:tgtEl>
                                          <p:spTgt spid="27"/>
                                        </p:tgtEl>
                                      </p:cBhvr>
                                    </p:animEffect>
                                    <p:set>
                                      <p:cBhvr>
                                        <p:cTn id="271" dur="1" fill="hold">
                                          <p:stCondLst>
                                            <p:cond delay="449"/>
                                          </p:stCondLst>
                                        </p:cTn>
                                        <p:tgtEl>
                                          <p:spTgt spid="27"/>
                                        </p:tgtEl>
                                        <p:attrNameLst>
                                          <p:attrName>style.visibility</p:attrName>
                                        </p:attrNameLst>
                                      </p:cBhvr>
                                      <p:to>
                                        <p:strVal val="hidden"/>
                                      </p:to>
                                    </p:set>
                                  </p:childTnLst>
                                </p:cTn>
                              </p:par>
                              <p:par>
                                <p:cTn id="272" presetID="10" presetClass="exit" presetSubtype="0" fill="hold" grpId="1" nodeType="withEffect">
                                  <p:stCondLst>
                                    <p:cond delay="10400"/>
                                  </p:stCondLst>
                                  <p:childTnLst>
                                    <p:animEffect transition="out" filter="fade">
                                      <p:cBhvr>
                                        <p:cTn id="273" dur="450"/>
                                        <p:tgtEl>
                                          <p:spTgt spid="28"/>
                                        </p:tgtEl>
                                      </p:cBhvr>
                                    </p:animEffect>
                                    <p:set>
                                      <p:cBhvr>
                                        <p:cTn id="274" dur="1" fill="hold">
                                          <p:stCondLst>
                                            <p:cond delay="449"/>
                                          </p:stCondLst>
                                        </p:cTn>
                                        <p:tgtEl>
                                          <p:spTgt spid="28"/>
                                        </p:tgtEl>
                                        <p:attrNameLst>
                                          <p:attrName>style.visibility</p:attrName>
                                        </p:attrNameLst>
                                      </p:cBhvr>
                                      <p:to>
                                        <p:strVal val="hidden"/>
                                      </p:to>
                                    </p:set>
                                  </p:childTnLst>
                                </p:cTn>
                              </p:par>
                              <p:par>
                                <p:cTn id="275" presetID="10" presetClass="exit" presetSubtype="0" fill="hold" grpId="1" nodeType="withEffect">
                                  <p:stCondLst>
                                    <p:cond delay="10400"/>
                                  </p:stCondLst>
                                  <p:childTnLst>
                                    <p:animEffect transition="out" filter="fade">
                                      <p:cBhvr>
                                        <p:cTn id="276" dur="450"/>
                                        <p:tgtEl>
                                          <p:spTgt spid="29"/>
                                        </p:tgtEl>
                                      </p:cBhvr>
                                    </p:animEffect>
                                    <p:set>
                                      <p:cBhvr>
                                        <p:cTn id="277" dur="1" fill="hold">
                                          <p:stCondLst>
                                            <p:cond delay="449"/>
                                          </p:stCondLst>
                                        </p:cTn>
                                        <p:tgtEl>
                                          <p:spTgt spid="29"/>
                                        </p:tgtEl>
                                        <p:attrNameLst>
                                          <p:attrName>style.visibility</p:attrName>
                                        </p:attrNameLst>
                                      </p:cBhvr>
                                      <p:to>
                                        <p:strVal val="hidden"/>
                                      </p:to>
                                    </p:set>
                                  </p:childTnLst>
                                </p:cTn>
                              </p:par>
                              <p:par>
                                <p:cTn id="278" presetID="10" presetClass="exit" presetSubtype="0" fill="hold" grpId="1" nodeType="withEffect">
                                  <p:stCondLst>
                                    <p:cond delay="10400"/>
                                  </p:stCondLst>
                                  <p:childTnLst>
                                    <p:animEffect transition="out" filter="fade">
                                      <p:cBhvr>
                                        <p:cTn id="279" dur="450"/>
                                        <p:tgtEl>
                                          <p:spTgt spid="30"/>
                                        </p:tgtEl>
                                      </p:cBhvr>
                                    </p:animEffect>
                                    <p:set>
                                      <p:cBhvr>
                                        <p:cTn id="280" dur="1" fill="hold">
                                          <p:stCondLst>
                                            <p:cond delay="449"/>
                                          </p:stCondLst>
                                        </p:cTn>
                                        <p:tgtEl>
                                          <p:spTgt spid="30"/>
                                        </p:tgtEl>
                                        <p:attrNameLst>
                                          <p:attrName>style.visibility</p:attrName>
                                        </p:attrNameLst>
                                      </p:cBhvr>
                                      <p:to>
                                        <p:strVal val="hidden"/>
                                      </p:to>
                                    </p:set>
                                  </p:childTnLst>
                                </p:cTn>
                              </p:par>
                              <p:par>
                                <p:cTn id="281" presetID="10" presetClass="exit" presetSubtype="0" fill="hold" grpId="1" nodeType="withEffect">
                                  <p:stCondLst>
                                    <p:cond delay="10400"/>
                                  </p:stCondLst>
                                  <p:childTnLst>
                                    <p:animEffect transition="out" filter="fade">
                                      <p:cBhvr>
                                        <p:cTn id="282" dur="450"/>
                                        <p:tgtEl>
                                          <p:spTgt spid="31"/>
                                        </p:tgtEl>
                                      </p:cBhvr>
                                    </p:animEffect>
                                    <p:set>
                                      <p:cBhvr>
                                        <p:cTn id="283" dur="1" fill="hold">
                                          <p:stCondLst>
                                            <p:cond delay="449"/>
                                          </p:stCondLst>
                                        </p:cTn>
                                        <p:tgtEl>
                                          <p:spTgt spid="31"/>
                                        </p:tgtEl>
                                        <p:attrNameLst>
                                          <p:attrName>style.visibility</p:attrName>
                                        </p:attrNameLst>
                                      </p:cBhvr>
                                      <p:to>
                                        <p:strVal val="hidden"/>
                                      </p:to>
                                    </p:set>
                                  </p:childTnLst>
                                </p:cTn>
                              </p:par>
                              <p:par>
                                <p:cTn id="284" presetID="10" presetClass="exit" presetSubtype="0" fill="hold" grpId="1" nodeType="withEffect">
                                  <p:stCondLst>
                                    <p:cond delay="10400"/>
                                  </p:stCondLst>
                                  <p:childTnLst>
                                    <p:animEffect transition="out" filter="fade">
                                      <p:cBhvr>
                                        <p:cTn id="285" dur="450"/>
                                        <p:tgtEl>
                                          <p:spTgt spid="32"/>
                                        </p:tgtEl>
                                      </p:cBhvr>
                                    </p:animEffect>
                                    <p:set>
                                      <p:cBhvr>
                                        <p:cTn id="286" dur="1" fill="hold">
                                          <p:stCondLst>
                                            <p:cond delay="449"/>
                                          </p:stCondLst>
                                        </p:cTn>
                                        <p:tgtEl>
                                          <p:spTgt spid="32"/>
                                        </p:tgtEl>
                                        <p:attrNameLst>
                                          <p:attrName>style.visibility</p:attrName>
                                        </p:attrNameLst>
                                      </p:cBhvr>
                                      <p:to>
                                        <p:strVal val="hidden"/>
                                      </p:to>
                                    </p:set>
                                  </p:childTnLst>
                                </p:cTn>
                              </p:par>
                              <p:par>
                                <p:cTn id="287" presetID="10" presetClass="exit" presetSubtype="0" fill="hold" grpId="1" nodeType="withEffect">
                                  <p:stCondLst>
                                    <p:cond delay="10400"/>
                                  </p:stCondLst>
                                  <p:childTnLst>
                                    <p:animEffect transition="out" filter="fade">
                                      <p:cBhvr>
                                        <p:cTn id="288" dur="450"/>
                                        <p:tgtEl>
                                          <p:spTgt spid="33"/>
                                        </p:tgtEl>
                                      </p:cBhvr>
                                    </p:animEffect>
                                    <p:set>
                                      <p:cBhvr>
                                        <p:cTn id="289" dur="1" fill="hold">
                                          <p:stCondLst>
                                            <p:cond delay="449"/>
                                          </p:stCondLst>
                                        </p:cTn>
                                        <p:tgtEl>
                                          <p:spTgt spid="33"/>
                                        </p:tgtEl>
                                        <p:attrNameLst>
                                          <p:attrName>style.visibility</p:attrName>
                                        </p:attrNameLst>
                                      </p:cBhvr>
                                      <p:to>
                                        <p:strVal val="hidden"/>
                                      </p:to>
                                    </p:set>
                                  </p:childTnLst>
                                </p:cTn>
                              </p:par>
                              <p:par>
                                <p:cTn id="290" presetID="10" presetClass="exit" presetSubtype="0" fill="hold" grpId="1" nodeType="withEffect">
                                  <p:stCondLst>
                                    <p:cond delay="10400"/>
                                  </p:stCondLst>
                                  <p:childTnLst>
                                    <p:animEffect transition="out" filter="fade">
                                      <p:cBhvr>
                                        <p:cTn id="291" dur="450"/>
                                        <p:tgtEl>
                                          <p:spTgt spid="34"/>
                                        </p:tgtEl>
                                      </p:cBhvr>
                                    </p:animEffect>
                                    <p:set>
                                      <p:cBhvr>
                                        <p:cTn id="292" dur="1" fill="hold">
                                          <p:stCondLst>
                                            <p:cond delay="449"/>
                                          </p:stCondLst>
                                        </p:cTn>
                                        <p:tgtEl>
                                          <p:spTgt spid="34"/>
                                        </p:tgtEl>
                                        <p:attrNameLst>
                                          <p:attrName>style.visibility</p:attrName>
                                        </p:attrNameLst>
                                      </p:cBhvr>
                                      <p:to>
                                        <p:strVal val="hidden"/>
                                      </p:to>
                                    </p:set>
                                  </p:childTnLst>
                                </p:cTn>
                              </p:par>
                              <p:par>
                                <p:cTn id="293" presetID="10" presetClass="exit" presetSubtype="0" fill="hold" grpId="1" nodeType="withEffect">
                                  <p:stCondLst>
                                    <p:cond delay="10400"/>
                                  </p:stCondLst>
                                  <p:childTnLst>
                                    <p:animEffect transition="out" filter="fade">
                                      <p:cBhvr>
                                        <p:cTn id="294" dur="450"/>
                                        <p:tgtEl>
                                          <p:spTgt spid="35"/>
                                        </p:tgtEl>
                                      </p:cBhvr>
                                    </p:animEffect>
                                    <p:set>
                                      <p:cBhvr>
                                        <p:cTn id="295" dur="1" fill="hold">
                                          <p:stCondLst>
                                            <p:cond delay="449"/>
                                          </p:stCondLst>
                                        </p:cTn>
                                        <p:tgtEl>
                                          <p:spTgt spid="35"/>
                                        </p:tgtEl>
                                        <p:attrNameLst>
                                          <p:attrName>style.visibility</p:attrName>
                                        </p:attrNameLst>
                                      </p:cBhvr>
                                      <p:to>
                                        <p:strVal val="hidden"/>
                                      </p:to>
                                    </p:set>
                                  </p:childTnLst>
                                </p:cTn>
                              </p:par>
                              <p:par>
                                <p:cTn id="296" presetID="10" presetClass="exit" presetSubtype="0" fill="hold" grpId="1" nodeType="withEffect">
                                  <p:stCondLst>
                                    <p:cond delay="10400"/>
                                  </p:stCondLst>
                                  <p:childTnLst>
                                    <p:animEffect transition="out" filter="fade">
                                      <p:cBhvr>
                                        <p:cTn id="297" dur="450"/>
                                        <p:tgtEl>
                                          <p:spTgt spid="36"/>
                                        </p:tgtEl>
                                      </p:cBhvr>
                                    </p:animEffect>
                                    <p:set>
                                      <p:cBhvr>
                                        <p:cTn id="298" dur="1" fill="hold">
                                          <p:stCondLst>
                                            <p:cond delay="449"/>
                                          </p:stCondLst>
                                        </p:cTn>
                                        <p:tgtEl>
                                          <p:spTgt spid="36"/>
                                        </p:tgtEl>
                                        <p:attrNameLst>
                                          <p:attrName>style.visibility</p:attrName>
                                        </p:attrNameLst>
                                      </p:cBhvr>
                                      <p:to>
                                        <p:strVal val="hidden"/>
                                      </p:to>
                                    </p:set>
                                  </p:childTnLst>
                                </p:cTn>
                              </p:par>
                              <p:par>
                                <p:cTn id="299" presetID="10" presetClass="exit" presetSubtype="0" fill="hold" grpId="1" nodeType="withEffect">
                                  <p:stCondLst>
                                    <p:cond delay="10400"/>
                                  </p:stCondLst>
                                  <p:childTnLst>
                                    <p:animEffect transition="out" filter="fade">
                                      <p:cBhvr>
                                        <p:cTn id="300" dur="450"/>
                                        <p:tgtEl>
                                          <p:spTgt spid="37"/>
                                        </p:tgtEl>
                                      </p:cBhvr>
                                    </p:animEffect>
                                    <p:set>
                                      <p:cBhvr>
                                        <p:cTn id="301" dur="1" fill="hold">
                                          <p:stCondLst>
                                            <p:cond delay="449"/>
                                          </p:stCondLst>
                                        </p:cTn>
                                        <p:tgtEl>
                                          <p:spTgt spid="37"/>
                                        </p:tgtEl>
                                        <p:attrNameLst>
                                          <p:attrName>style.visibility</p:attrName>
                                        </p:attrNameLst>
                                      </p:cBhvr>
                                      <p:to>
                                        <p:strVal val="hidden"/>
                                      </p:to>
                                    </p:set>
                                  </p:childTnLst>
                                </p:cTn>
                              </p:par>
                              <p:par>
                                <p:cTn id="302" presetID="10" presetClass="exit" presetSubtype="0" fill="hold" grpId="1" nodeType="withEffect">
                                  <p:stCondLst>
                                    <p:cond delay="10400"/>
                                  </p:stCondLst>
                                  <p:childTnLst>
                                    <p:animEffect transition="out" filter="fade">
                                      <p:cBhvr>
                                        <p:cTn id="303" dur="450"/>
                                        <p:tgtEl>
                                          <p:spTgt spid="38"/>
                                        </p:tgtEl>
                                      </p:cBhvr>
                                    </p:animEffect>
                                    <p:set>
                                      <p:cBhvr>
                                        <p:cTn id="304" dur="1" fill="hold">
                                          <p:stCondLst>
                                            <p:cond delay="449"/>
                                          </p:stCondLst>
                                        </p:cTn>
                                        <p:tgtEl>
                                          <p:spTgt spid="38"/>
                                        </p:tgtEl>
                                        <p:attrNameLst>
                                          <p:attrName>style.visibility</p:attrName>
                                        </p:attrNameLst>
                                      </p:cBhvr>
                                      <p:to>
                                        <p:strVal val="hidden"/>
                                      </p:to>
                                    </p:set>
                                  </p:childTnLst>
                                </p:cTn>
                              </p:par>
                              <p:par>
                                <p:cTn id="305" presetID="10" presetClass="exit" presetSubtype="0" fill="hold" grpId="1" nodeType="withEffect">
                                  <p:stCondLst>
                                    <p:cond delay="10400"/>
                                  </p:stCondLst>
                                  <p:childTnLst>
                                    <p:animEffect transition="out" filter="fade">
                                      <p:cBhvr>
                                        <p:cTn id="306" dur="450"/>
                                        <p:tgtEl>
                                          <p:spTgt spid="39"/>
                                        </p:tgtEl>
                                      </p:cBhvr>
                                    </p:animEffect>
                                    <p:set>
                                      <p:cBhvr>
                                        <p:cTn id="307" dur="1" fill="hold">
                                          <p:stCondLst>
                                            <p:cond delay="449"/>
                                          </p:stCondLst>
                                        </p:cTn>
                                        <p:tgtEl>
                                          <p:spTgt spid="39"/>
                                        </p:tgtEl>
                                        <p:attrNameLst>
                                          <p:attrName>style.visibility</p:attrName>
                                        </p:attrNameLst>
                                      </p:cBhvr>
                                      <p:to>
                                        <p:strVal val="hidden"/>
                                      </p:to>
                                    </p:set>
                                  </p:childTnLst>
                                </p:cTn>
                              </p:par>
                              <p:par>
                                <p:cTn id="308" presetID="10" presetClass="exit" presetSubtype="0" fill="hold" grpId="1" nodeType="withEffect">
                                  <p:stCondLst>
                                    <p:cond delay="10400"/>
                                  </p:stCondLst>
                                  <p:childTnLst>
                                    <p:animEffect transition="out" filter="fade">
                                      <p:cBhvr>
                                        <p:cTn id="309" dur="450"/>
                                        <p:tgtEl>
                                          <p:spTgt spid="40"/>
                                        </p:tgtEl>
                                      </p:cBhvr>
                                    </p:animEffect>
                                    <p:set>
                                      <p:cBhvr>
                                        <p:cTn id="310" dur="1" fill="hold">
                                          <p:stCondLst>
                                            <p:cond delay="449"/>
                                          </p:stCondLst>
                                        </p:cTn>
                                        <p:tgtEl>
                                          <p:spTgt spid="40"/>
                                        </p:tgtEl>
                                        <p:attrNameLst>
                                          <p:attrName>style.visibility</p:attrName>
                                        </p:attrNameLst>
                                      </p:cBhvr>
                                      <p:to>
                                        <p:strVal val="hidden"/>
                                      </p:to>
                                    </p:set>
                                  </p:childTnLst>
                                </p:cTn>
                              </p:par>
                              <p:par>
                                <p:cTn id="311" presetID="10" presetClass="exit" presetSubtype="0" fill="hold" grpId="1" nodeType="withEffect">
                                  <p:stCondLst>
                                    <p:cond delay="10400"/>
                                  </p:stCondLst>
                                  <p:childTnLst>
                                    <p:animEffect transition="out" filter="fade">
                                      <p:cBhvr>
                                        <p:cTn id="312" dur="450"/>
                                        <p:tgtEl>
                                          <p:spTgt spid="41"/>
                                        </p:tgtEl>
                                      </p:cBhvr>
                                    </p:animEffect>
                                    <p:set>
                                      <p:cBhvr>
                                        <p:cTn id="313" dur="1" fill="hold">
                                          <p:stCondLst>
                                            <p:cond delay="449"/>
                                          </p:stCondLst>
                                        </p:cTn>
                                        <p:tgtEl>
                                          <p:spTgt spid="41"/>
                                        </p:tgtEl>
                                        <p:attrNameLst>
                                          <p:attrName>style.visibility</p:attrName>
                                        </p:attrNameLst>
                                      </p:cBhvr>
                                      <p:to>
                                        <p:strVal val="hidden"/>
                                      </p:to>
                                    </p:set>
                                  </p:childTnLst>
                                </p:cTn>
                              </p:par>
                              <p:par>
                                <p:cTn id="314" presetID="10" presetClass="exit" presetSubtype="0" fill="hold" grpId="1" nodeType="withEffect">
                                  <p:stCondLst>
                                    <p:cond delay="10400"/>
                                  </p:stCondLst>
                                  <p:childTnLst>
                                    <p:animEffect transition="out" filter="fade">
                                      <p:cBhvr>
                                        <p:cTn id="315" dur="450"/>
                                        <p:tgtEl>
                                          <p:spTgt spid="42"/>
                                        </p:tgtEl>
                                      </p:cBhvr>
                                    </p:animEffect>
                                    <p:set>
                                      <p:cBhvr>
                                        <p:cTn id="316" dur="1" fill="hold">
                                          <p:stCondLst>
                                            <p:cond delay="449"/>
                                          </p:stCondLst>
                                        </p:cTn>
                                        <p:tgtEl>
                                          <p:spTgt spid="42"/>
                                        </p:tgtEl>
                                        <p:attrNameLst>
                                          <p:attrName>style.visibility</p:attrName>
                                        </p:attrNameLst>
                                      </p:cBhvr>
                                      <p:to>
                                        <p:strVal val="hidden"/>
                                      </p:to>
                                    </p:set>
                                  </p:childTnLst>
                                </p:cTn>
                              </p:par>
                              <p:par>
                                <p:cTn id="317" presetID="10" presetClass="exit" presetSubtype="0" fill="hold" grpId="1" nodeType="withEffect">
                                  <p:stCondLst>
                                    <p:cond delay="10400"/>
                                  </p:stCondLst>
                                  <p:childTnLst>
                                    <p:animEffect transition="out" filter="fade">
                                      <p:cBhvr>
                                        <p:cTn id="318" dur="450"/>
                                        <p:tgtEl>
                                          <p:spTgt spid="43"/>
                                        </p:tgtEl>
                                      </p:cBhvr>
                                    </p:animEffect>
                                    <p:set>
                                      <p:cBhvr>
                                        <p:cTn id="319" dur="1" fill="hold">
                                          <p:stCondLst>
                                            <p:cond delay="449"/>
                                          </p:stCondLst>
                                        </p:cTn>
                                        <p:tgtEl>
                                          <p:spTgt spid="43"/>
                                        </p:tgtEl>
                                        <p:attrNameLst>
                                          <p:attrName>style.visibility</p:attrName>
                                        </p:attrNameLst>
                                      </p:cBhvr>
                                      <p:to>
                                        <p:strVal val="hidden"/>
                                      </p:to>
                                    </p:set>
                                  </p:childTnLst>
                                </p:cTn>
                              </p:par>
                              <p:par>
                                <p:cTn id="320" presetID="10" presetClass="exit" presetSubtype="0" fill="hold" grpId="1" nodeType="withEffect">
                                  <p:stCondLst>
                                    <p:cond delay="10400"/>
                                  </p:stCondLst>
                                  <p:childTnLst>
                                    <p:animEffect transition="out" filter="fade">
                                      <p:cBhvr>
                                        <p:cTn id="321" dur="450"/>
                                        <p:tgtEl>
                                          <p:spTgt spid="44"/>
                                        </p:tgtEl>
                                      </p:cBhvr>
                                    </p:animEffect>
                                    <p:set>
                                      <p:cBhvr>
                                        <p:cTn id="322" dur="1" fill="hold">
                                          <p:stCondLst>
                                            <p:cond delay="449"/>
                                          </p:stCondLst>
                                        </p:cTn>
                                        <p:tgtEl>
                                          <p:spTgt spid="44"/>
                                        </p:tgtEl>
                                        <p:attrNameLst>
                                          <p:attrName>style.visibility</p:attrName>
                                        </p:attrNameLst>
                                      </p:cBhvr>
                                      <p:to>
                                        <p:strVal val="hidden"/>
                                      </p:to>
                                    </p:set>
                                  </p:childTnLst>
                                </p:cTn>
                              </p:par>
                              <p:par>
                                <p:cTn id="323" presetID="10" presetClass="exit" presetSubtype="0" fill="hold" grpId="1" nodeType="withEffect">
                                  <p:stCondLst>
                                    <p:cond delay="10400"/>
                                  </p:stCondLst>
                                  <p:childTnLst>
                                    <p:animEffect transition="out" filter="fade">
                                      <p:cBhvr>
                                        <p:cTn id="324" dur="450"/>
                                        <p:tgtEl>
                                          <p:spTgt spid="45"/>
                                        </p:tgtEl>
                                      </p:cBhvr>
                                    </p:animEffect>
                                    <p:set>
                                      <p:cBhvr>
                                        <p:cTn id="325" dur="1" fill="hold">
                                          <p:stCondLst>
                                            <p:cond delay="449"/>
                                          </p:stCondLst>
                                        </p:cTn>
                                        <p:tgtEl>
                                          <p:spTgt spid="45"/>
                                        </p:tgtEl>
                                        <p:attrNameLst>
                                          <p:attrName>style.visibility</p:attrName>
                                        </p:attrNameLst>
                                      </p:cBhvr>
                                      <p:to>
                                        <p:strVal val="hidden"/>
                                      </p:to>
                                    </p:set>
                                  </p:childTnLst>
                                </p:cTn>
                              </p:par>
                              <p:par>
                                <p:cTn id="326" presetID="10" presetClass="exit" presetSubtype="0" fill="hold" grpId="1" nodeType="withEffect">
                                  <p:stCondLst>
                                    <p:cond delay="10400"/>
                                  </p:stCondLst>
                                  <p:childTnLst>
                                    <p:animEffect transition="out" filter="fade">
                                      <p:cBhvr>
                                        <p:cTn id="327" dur="450"/>
                                        <p:tgtEl>
                                          <p:spTgt spid="46"/>
                                        </p:tgtEl>
                                      </p:cBhvr>
                                    </p:animEffect>
                                    <p:set>
                                      <p:cBhvr>
                                        <p:cTn id="328" dur="1" fill="hold">
                                          <p:stCondLst>
                                            <p:cond delay="449"/>
                                          </p:stCondLst>
                                        </p:cTn>
                                        <p:tgtEl>
                                          <p:spTgt spid="46"/>
                                        </p:tgtEl>
                                        <p:attrNameLst>
                                          <p:attrName>style.visibility</p:attrName>
                                        </p:attrNameLst>
                                      </p:cBhvr>
                                      <p:to>
                                        <p:strVal val="hidden"/>
                                      </p:to>
                                    </p:set>
                                  </p:childTnLst>
                                </p:cTn>
                              </p:par>
                              <p:par>
                                <p:cTn id="329" presetID="10" presetClass="exit" presetSubtype="0" fill="hold" grpId="1" nodeType="withEffect">
                                  <p:stCondLst>
                                    <p:cond delay="10400"/>
                                  </p:stCondLst>
                                  <p:childTnLst>
                                    <p:animEffect transition="out" filter="fade">
                                      <p:cBhvr>
                                        <p:cTn id="330" dur="450"/>
                                        <p:tgtEl>
                                          <p:spTgt spid="47"/>
                                        </p:tgtEl>
                                      </p:cBhvr>
                                    </p:animEffect>
                                    <p:set>
                                      <p:cBhvr>
                                        <p:cTn id="331" dur="1" fill="hold">
                                          <p:stCondLst>
                                            <p:cond delay="449"/>
                                          </p:stCondLst>
                                        </p:cTn>
                                        <p:tgtEl>
                                          <p:spTgt spid="47"/>
                                        </p:tgtEl>
                                        <p:attrNameLst>
                                          <p:attrName>style.visibility</p:attrName>
                                        </p:attrNameLst>
                                      </p:cBhvr>
                                      <p:to>
                                        <p:strVal val="hidden"/>
                                      </p:to>
                                    </p:set>
                                  </p:childTnLst>
                                </p:cTn>
                              </p:par>
                              <p:par>
                                <p:cTn id="332" presetID="10" presetClass="exit" presetSubtype="0" fill="hold" grpId="1" nodeType="withEffect">
                                  <p:stCondLst>
                                    <p:cond delay="10400"/>
                                  </p:stCondLst>
                                  <p:childTnLst>
                                    <p:animEffect transition="out" filter="fade">
                                      <p:cBhvr>
                                        <p:cTn id="333" dur="450"/>
                                        <p:tgtEl>
                                          <p:spTgt spid="48"/>
                                        </p:tgtEl>
                                      </p:cBhvr>
                                    </p:animEffect>
                                    <p:set>
                                      <p:cBhvr>
                                        <p:cTn id="334" dur="1" fill="hold">
                                          <p:stCondLst>
                                            <p:cond delay="449"/>
                                          </p:stCondLst>
                                        </p:cTn>
                                        <p:tgtEl>
                                          <p:spTgt spid="48"/>
                                        </p:tgtEl>
                                        <p:attrNameLst>
                                          <p:attrName>style.visibility</p:attrName>
                                        </p:attrNameLst>
                                      </p:cBhvr>
                                      <p:to>
                                        <p:strVal val="hidden"/>
                                      </p:to>
                                    </p:set>
                                  </p:childTnLst>
                                </p:cTn>
                              </p:par>
                              <p:par>
                                <p:cTn id="335" presetID="10" presetClass="exit" presetSubtype="0" fill="hold" grpId="1" nodeType="withEffect">
                                  <p:stCondLst>
                                    <p:cond delay="10400"/>
                                  </p:stCondLst>
                                  <p:childTnLst>
                                    <p:animEffect transition="out" filter="fade">
                                      <p:cBhvr>
                                        <p:cTn id="336" dur="450"/>
                                        <p:tgtEl>
                                          <p:spTgt spid="49"/>
                                        </p:tgtEl>
                                      </p:cBhvr>
                                    </p:animEffect>
                                    <p:set>
                                      <p:cBhvr>
                                        <p:cTn id="337" dur="1" fill="hold">
                                          <p:stCondLst>
                                            <p:cond delay="449"/>
                                          </p:stCondLst>
                                        </p:cTn>
                                        <p:tgtEl>
                                          <p:spTgt spid="49"/>
                                        </p:tgtEl>
                                        <p:attrNameLst>
                                          <p:attrName>style.visibility</p:attrName>
                                        </p:attrNameLst>
                                      </p:cBhvr>
                                      <p:to>
                                        <p:strVal val="hidden"/>
                                      </p:to>
                                    </p:set>
                                  </p:childTnLst>
                                </p:cTn>
                              </p:par>
                              <p:par>
                                <p:cTn id="338" presetID="10" presetClass="exit" presetSubtype="0" fill="hold" grpId="1" nodeType="withEffect">
                                  <p:stCondLst>
                                    <p:cond delay="10400"/>
                                  </p:stCondLst>
                                  <p:childTnLst>
                                    <p:animEffect transition="out" filter="fade">
                                      <p:cBhvr>
                                        <p:cTn id="339" dur="450"/>
                                        <p:tgtEl>
                                          <p:spTgt spid="50"/>
                                        </p:tgtEl>
                                      </p:cBhvr>
                                    </p:animEffect>
                                    <p:set>
                                      <p:cBhvr>
                                        <p:cTn id="340" dur="1" fill="hold">
                                          <p:stCondLst>
                                            <p:cond delay="449"/>
                                          </p:stCondLst>
                                        </p:cTn>
                                        <p:tgtEl>
                                          <p:spTgt spid="50"/>
                                        </p:tgtEl>
                                        <p:attrNameLst>
                                          <p:attrName>style.visibility</p:attrName>
                                        </p:attrNameLst>
                                      </p:cBhvr>
                                      <p:to>
                                        <p:strVal val="hidden"/>
                                      </p:to>
                                    </p:set>
                                  </p:childTnLst>
                                </p:cTn>
                              </p:par>
                              <p:par>
                                <p:cTn id="341" presetID="10" presetClass="exit" presetSubtype="0" fill="hold" grpId="1" nodeType="withEffect">
                                  <p:stCondLst>
                                    <p:cond delay="10400"/>
                                  </p:stCondLst>
                                  <p:childTnLst>
                                    <p:animEffect transition="out" filter="fade">
                                      <p:cBhvr>
                                        <p:cTn id="342" dur="450"/>
                                        <p:tgtEl>
                                          <p:spTgt spid="51"/>
                                        </p:tgtEl>
                                      </p:cBhvr>
                                    </p:animEffect>
                                    <p:set>
                                      <p:cBhvr>
                                        <p:cTn id="343" dur="1" fill="hold">
                                          <p:stCondLst>
                                            <p:cond delay="449"/>
                                          </p:stCondLst>
                                        </p:cTn>
                                        <p:tgtEl>
                                          <p:spTgt spid="51"/>
                                        </p:tgtEl>
                                        <p:attrNameLst>
                                          <p:attrName>style.visibility</p:attrName>
                                        </p:attrNameLst>
                                      </p:cBhvr>
                                      <p:to>
                                        <p:strVal val="hidden"/>
                                      </p:to>
                                    </p:set>
                                  </p:childTnLst>
                                </p:cTn>
                              </p:par>
                              <p:par>
                                <p:cTn id="344" presetID="10" presetClass="exit" presetSubtype="0" fill="hold" grpId="1" nodeType="withEffect">
                                  <p:stCondLst>
                                    <p:cond delay="10400"/>
                                  </p:stCondLst>
                                  <p:childTnLst>
                                    <p:animEffect transition="out" filter="fade">
                                      <p:cBhvr>
                                        <p:cTn id="345" dur="450"/>
                                        <p:tgtEl>
                                          <p:spTgt spid="52"/>
                                        </p:tgtEl>
                                      </p:cBhvr>
                                    </p:animEffect>
                                    <p:set>
                                      <p:cBhvr>
                                        <p:cTn id="346" dur="1" fill="hold">
                                          <p:stCondLst>
                                            <p:cond delay="449"/>
                                          </p:stCondLst>
                                        </p:cTn>
                                        <p:tgtEl>
                                          <p:spTgt spid="52"/>
                                        </p:tgtEl>
                                        <p:attrNameLst>
                                          <p:attrName>style.visibility</p:attrName>
                                        </p:attrNameLst>
                                      </p:cBhvr>
                                      <p:to>
                                        <p:strVal val="hidden"/>
                                      </p:to>
                                    </p:set>
                                  </p:childTnLst>
                                </p:cTn>
                              </p:par>
                              <p:par>
                                <p:cTn id="347" presetID="10" presetClass="exit" presetSubtype="0" fill="hold" grpId="1" nodeType="withEffect">
                                  <p:stCondLst>
                                    <p:cond delay="10400"/>
                                  </p:stCondLst>
                                  <p:childTnLst>
                                    <p:animEffect transition="out" filter="fade">
                                      <p:cBhvr>
                                        <p:cTn id="348" dur="450"/>
                                        <p:tgtEl>
                                          <p:spTgt spid="53"/>
                                        </p:tgtEl>
                                      </p:cBhvr>
                                    </p:animEffect>
                                    <p:set>
                                      <p:cBhvr>
                                        <p:cTn id="349" dur="1" fill="hold">
                                          <p:stCondLst>
                                            <p:cond delay="449"/>
                                          </p:stCondLst>
                                        </p:cTn>
                                        <p:tgtEl>
                                          <p:spTgt spid="53"/>
                                        </p:tgtEl>
                                        <p:attrNameLst>
                                          <p:attrName>style.visibility</p:attrName>
                                        </p:attrNameLst>
                                      </p:cBhvr>
                                      <p:to>
                                        <p:strVal val="hidden"/>
                                      </p:to>
                                    </p:set>
                                  </p:childTnLst>
                                </p:cTn>
                              </p:par>
                              <p:par>
                                <p:cTn id="350" presetID="10" presetClass="exit" presetSubtype="0" fill="hold" grpId="1" nodeType="withEffect">
                                  <p:stCondLst>
                                    <p:cond delay="10400"/>
                                  </p:stCondLst>
                                  <p:childTnLst>
                                    <p:animEffect transition="out" filter="fade">
                                      <p:cBhvr>
                                        <p:cTn id="351" dur="450"/>
                                        <p:tgtEl>
                                          <p:spTgt spid="54"/>
                                        </p:tgtEl>
                                      </p:cBhvr>
                                    </p:animEffect>
                                    <p:set>
                                      <p:cBhvr>
                                        <p:cTn id="352" dur="1" fill="hold">
                                          <p:stCondLst>
                                            <p:cond delay="449"/>
                                          </p:stCondLst>
                                        </p:cTn>
                                        <p:tgtEl>
                                          <p:spTgt spid="54"/>
                                        </p:tgtEl>
                                        <p:attrNameLst>
                                          <p:attrName>style.visibility</p:attrName>
                                        </p:attrNameLst>
                                      </p:cBhvr>
                                      <p:to>
                                        <p:strVal val="hidden"/>
                                      </p:to>
                                    </p:set>
                                  </p:childTnLst>
                                </p:cTn>
                              </p:par>
                              <p:par>
                                <p:cTn id="353" presetID="10" presetClass="exit" presetSubtype="0" fill="hold" grpId="1" nodeType="withEffect">
                                  <p:stCondLst>
                                    <p:cond delay="10400"/>
                                  </p:stCondLst>
                                  <p:childTnLst>
                                    <p:animEffect transition="out" filter="fade">
                                      <p:cBhvr>
                                        <p:cTn id="354" dur="450"/>
                                        <p:tgtEl>
                                          <p:spTgt spid="55"/>
                                        </p:tgtEl>
                                      </p:cBhvr>
                                    </p:animEffect>
                                    <p:set>
                                      <p:cBhvr>
                                        <p:cTn id="355" dur="1" fill="hold">
                                          <p:stCondLst>
                                            <p:cond delay="449"/>
                                          </p:stCondLst>
                                        </p:cTn>
                                        <p:tgtEl>
                                          <p:spTgt spid="55"/>
                                        </p:tgtEl>
                                        <p:attrNameLst>
                                          <p:attrName>style.visibility</p:attrName>
                                        </p:attrNameLst>
                                      </p:cBhvr>
                                      <p:to>
                                        <p:strVal val="hidden"/>
                                      </p:to>
                                    </p:set>
                                  </p:childTnLst>
                                </p:cTn>
                              </p:par>
                              <p:par>
                                <p:cTn id="356" presetID="10" presetClass="exit" presetSubtype="0" fill="hold" grpId="1" nodeType="withEffect">
                                  <p:stCondLst>
                                    <p:cond delay="10400"/>
                                  </p:stCondLst>
                                  <p:childTnLst>
                                    <p:animEffect transition="out" filter="fade">
                                      <p:cBhvr>
                                        <p:cTn id="357" dur="450"/>
                                        <p:tgtEl>
                                          <p:spTgt spid="56"/>
                                        </p:tgtEl>
                                      </p:cBhvr>
                                    </p:animEffect>
                                    <p:set>
                                      <p:cBhvr>
                                        <p:cTn id="358" dur="1" fill="hold">
                                          <p:stCondLst>
                                            <p:cond delay="449"/>
                                          </p:stCondLst>
                                        </p:cTn>
                                        <p:tgtEl>
                                          <p:spTgt spid="56"/>
                                        </p:tgtEl>
                                        <p:attrNameLst>
                                          <p:attrName>style.visibility</p:attrName>
                                        </p:attrNameLst>
                                      </p:cBhvr>
                                      <p:to>
                                        <p:strVal val="hidden"/>
                                      </p:to>
                                    </p:set>
                                  </p:childTnLst>
                                </p:cTn>
                              </p:par>
                              <p:par>
                                <p:cTn id="359" presetID="10" presetClass="exit" presetSubtype="0" fill="hold" grpId="1" nodeType="withEffect">
                                  <p:stCondLst>
                                    <p:cond delay="10400"/>
                                  </p:stCondLst>
                                  <p:childTnLst>
                                    <p:animEffect transition="out" filter="fade">
                                      <p:cBhvr>
                                        <p:cTn id="360" dur="450"/>
                                        <p:tgtEl>
                                          <p:spTgt spid="57"/>
                                        </p:tgtEl>
                                      </p:cBhvr>
                                    </p:animEffect>
                                    <p:set>
                                      <p:cBhvr>
                                        <p:cTn id="361" dur="1" fill="hold">
                                          <p:stCondLst>
                                            <p:cond delay="449"/>
                                          </p:stCondLst>
                                        </p:cTn>
                                        <p:tgtEl>
                                          <p:spTgt spid="57"/>
                                        </p:tgtEl>
                                        <p:attrNameLst>
                                          <p:attrName>style.visibility</p:attrName>
                                        </p:attrNameLst>
                                      </p:cBhvr>
                                      <p:to>
                                        <p:strVal val="hidden"/>
                                      </p:to>
                                    </p:set>
                                  </p:childTnLst>
                                </p:cTn>
                              </p:par>
                              <p:par>
                                <p:cTn id="362" presetID="10" presetClass="exit" presetSubtype="0" fill="hold" grpId="1" nodeType="withEffect">
                                  <p:stCondLst>
                                    <p:cond delay="10400"/>
                                  </p:stCondLst>
                                  <p:childTnLst>
                                    <p:animEffect transition="out" filter="fade">
                                      <p:cBhvr>
                                        <p:cTn id="363" dur="450"/>
                                        <p:tgtEl>
                                          <p:spTgt spid="58"/>
                                        </p:tgtEl>
                                      </p:cBhvr>
                                    </p:animEffect>
                                    <p:set>
                                      <p:cBhvr>
                                        <p:cTn id="364" dur="1" fill="hold">
                                          <p:stCondLst>
                                            <p:cond delay="449"/>
                                          </p:stCondLst>
                                        </p:cTn>
                                        <p:tgtEl>
                                          <p:spTgt spid="58"/>
                                        </p:tgtEl>
                                        <p:attrNameLst>
                                          <p:attrName>style.visibility</p:attrName>
                                        </p:attrNameLst>
                                      </p:cBhvr>
                                      <p:to>
                                        <p:strVal val="hidden"/>
                                      </p:to>
                                    </p:set>
                                  </p:childTnLst>
                                </p:cTn>
                              </p:par>
                              <p:par>
                                <p:cTn id="365" presetID="10" presetClass="exit" presetSubtype="0" fill="hold" grpId="1" nodeType="withEffect">
                                  <p:stCondLst>
                                    <p:cond delay="10400"/>
                                  </p:stCondLst>
                                  <p:childTnLst>
                                    <p:animEffect transition="out" filter="fade">
                                      <p:cBhvr>
                                        <p:cTn id="366" dur="450"/>
                                        <p:tgtEl>
                                          <p:spTgt spid="59"/>
                                        </p:tgtEl>
                                      </p:cBhvr>
                                    </p:animEffect>
                                    <p:set>
                                      <p:cBhvr>
                                        <p:cTn id="367" dur="1" fill="hold">
                                          <p:stCondLst>
                                            <p:cond delay="449"/>
                                          </p:stCondLst>
                                        </p:cTn>
                                        <p:tgtEl>
                                          <p:spTgt spid="59"/>
                                        </p:tgtEl>
                                        <p:attrNameLst>
                                          <p:attrName>style.visibility</p:attrName>
                                        </p:attrNameLst>
                                      </p:cBhvr>
                                      <p:to>
                                        <p:strVal val="hidden"/>
                                      </p:to>
                                    </p:set>
                                  </p:childTnLst>
                                </p:cTn>
                              </p:par>
                              <p:par>
                                <p:cTn id="368" presetID="10" presetClass="exit" presetSubtype="0" fill="hold" grpId="1" nodeType="withEffect">
                                  <p:stCondLst>
                                    <p:cond delay="10400"/>
                                  </p:stCondLst>
                                  <p:childTnLst>
                                    <p:animEffect transition="out" filter="fade">
                                      <p:cBhvr>
                                        <p:cTn id="369" dur="450"/>
                                        <p:tgtEl>
                                          <p:spTgt spid="60"/>
                                        </p:tgtEl>
                                      </p:cBhvr>
                                    </p:animEffect>
                                    <p:set>
                                      <p:cBhvr>
                                        <p:cTn id="370" dur="1" fill="hold">
                                          <p:stCondLst>
                                            <p:cond delay="449"/>
                                          </p:stCondLst>
                                        </p:cTn>
                                        <p:tgtEl>
                                          <p:spTgt spid="60"/>
                                        </p:tgtEl>
                                        <p:attrNameLst>
                                          <p:attrName>style.visibility</p:attrName>
                                        </p:attrNameLst>
                                      </p:cBhvr>
                                      <p:to>
                                        <p:strVal val="hidden"/>
                                      </p:to>
                                    </p:set>
                                  </p:childTnLst>
                                </p:cTn>
                              </p:par>
                              <p:par>
                                <p:cTn id="371" presetID="10" presetClass="entr" presetSubtype="0" fill="hold" grpId="0" nodeType="withEffect">
                                  <p:stCondLst>
                                    <p:cond delay="10400"/>
                                  </p:stCondLst>
                                  <p:childTnLst>
                                    <p:set>
                                      <p:cBhvr>
                                        <p:cTn id="372" dur="1" fill="hold">
                                          <p:stCondLst>
                                            <p:cond delay="0"/>
                                          </p:stCondLst>
                                        </p:cTn>
                                        <p:tgtEl>
                                          <p:spTgt spid="82"/>
                                        </p:tgtEl>
                                        <p:attrNameLst>
                                          <p:attrName>style.visibility</p:attrName>
                                        </p:attrNameLst>
                                      </p:cBhvr>
                                      <p:to>
                                        <p:strVal val="visible"/>
                                      </p:to>
                                    </p:set>
                                    <p:animEffect transition="in" filter="fade">
                                      <p:cBhvr>
                                        <p:cTn id="373" dur="450"/>
                                        <p:tgtEl>
                                          <p:spTgt spid="82"/>
                                        </p:tgtEl>
                                      </p:cBhvr>
                                    </p:animEffect>
                                  </p:childTnLst>
                                </p:cTn>
                              </p:par>
                              <p:par>
                                <p:cTn id="374" presetID="10" presetClass="entr" presetSubtype="0" fill="hold" grpId="0" nodeType="withEffect">
                                  <p:stCondLst>
                                    <p:cond delay="10400"/>
                                  </p:stCondLst>
                                  <p:childTnLst>
                                    <p:set>
                                      <p:cBhvr>
                                        <p:cTn id="375" dur="1" fill="hold">
                                          <p:stCondLst>
                                            <p:cond delay="0"/>
                                          </p:stCondLst>
                                        </p:cTn>
                                        <p:tgtEl>
                                          <p:spTgt spid="83"/>
                                        </p:tgtEl>
                                        <p:attrNameLst>
                                          <p:attrName>style.visibility</p:attrName>
                                        </p:attrNameLst>
                                      </p:cBhvr>
                                      <p:to>
                                        <p:strVal val="visible"/>
                                      </p:to>
                                    </p:set>
                                    <p:animEffect transition="in" filter="fade">
                                      <p:cBhvr>
                                        <p:cTn id="376" dur="450"/>
                                        <p:tgtEl>
                                          <p:spTgt spid="83"/>
                                        </p:tgtEl>
                                      </p:cBhvr>
                                    </p:animEffect>
                                  </p:childTnLst>
                                </p:cTn>
                              </p:par>
                              <p:par>
                                <p:cTn id="377" presetID="10" presetClass="entr" presetSubtype="0" fill="hold" grpId="0" nodeType="withEffect">
                                  <p:stCondLst>
                                    <p:cond delay="10400"/>
                                  </p:stCondLst>
                                  <p:childTnLst>
                                    <p:set>
                                      <p:cBhvr>
                                        <p:cTn id="378" dur="1" fill="hold">
                                          <p:stCondLst>
                                            <p:cond delay="0"/>
                                          </p:stCondLst>
                                        </p:cTn>
                                        <p:tgtEl>
                                          <p:spTgt spid="84"/>
                                        </p:tgtEl>
                                        <p:attrNameLst>
                                          <p:attrName>style.visibility</p:attrName>
                                        </p:attrNameLst>
                                      </p:cBhvr>
                                      <p:to>
                                        <p:strVal val="visible"/>
                                      </p:to>
                                    </p:set>
                                    <p:animEffect transition="in" filter="fade">
                                      <p:cBhvr>
                                        <p:cTn id="379" dur="450"/>
                                        <p:tgtEl>
                                          <p:spTgt spid="84"/>
                                        </p:tgtEl>
                                      </p:cBhvr>
                                    </p:animEffect>
                                  </p:childTnLst>
                                </p:cTn>
                              </p:par>
                              <p:par>
                                <p:cTn id="380" presetID="10" presetClass="entr" presetSubtype="0" fill="hold" grpId="0" nodeType="withEffect">
                                  <p:stCondLst>
                                    <p:cond delay="10400"/>
                                  </p:stCondLst>
                                  <p:childTnLst>
                                    <p:set>
                                      <p:cBhvr>
                                        <p:cTn id="381" dur="1" fill="hold">
                                          <p:stCondLst>
                                            <p:cond delay="0"/>
                                          </p:stCondLst>
                                        </p:cTn>
                                        <p:tgtEl>
                                          <p:spTgt spid="61"/>
                                        </p:tgtEl>
                                        <p:attrNameLst>
                                          <p:attrName>style.visibility</p:attrName>
                                        </p:attrNameLst>
                                      </p:cBhvr>
                                      <p:to>
                                        <p:strVal val="visible"/>
                                      </p:to>
                                    </p:set>
                                    <p:animEffect transition="in" filter="fade">
                                      <p:cBhvr>
                                        <p:cTn id="382" dur="450"/>
                                        <p:tgtEl>
                                          <p:spTgt spid="61"/>
                                        </p:tgtEl>
                                      </p:cBhvr>
                                    </p:animEffect>
                                  </p:childTnLst>
                                </p:cTn>
                              </p:par>
                              <p:par>
                                <p:cTn id="383" presetID="10" presetClass="entr" presetSubtype="0" fill="hold" grpId="0" nodeType="withEffect">
                                  <p:stCondLst>
                                    <p:cond delay="10400"/>
                                  </p:stCondLst>
                                  <p:childTnLst>
                                    <p:set>
                                      <p:cBhvr>
                                        <p:cTn id="384" dur="1" fill="hold">
                                          <p:stCondLst>
                                            <p:cond delay="0"/>
                                          </p:stCondLst>
                                        </p:cTn>
                                        <p:tgtEl>
                                          <p:spTgt spid="62"/>
                                        </p:tgtEl>
                                        <p:attrNameLst>
                                          <p:attrName>style.visibility</p:attrName>
                                        </p:attrNameLst>
                                      </p:cBhvr>
                                      <p:to>
                                        <p:strVal val="visible"/>
                                      </p:to>
                                    </p:set>
                                    <p:animEffect transition="in" filter="fade">
                                      <p:cBhvr>
                                        <p:cTn id="385" dur="450"/>
                                        <p:tgtEl>
                                          <p:spTgt spid="62"/>
                                        </p:tgtEl>
                                      </p:cBhvr>
                                    </p:animEffect>
                                  </p:childTnLst>
                                </p:cTn>
                              </p:par>
                              <p:par>
                                <p:cTn id="386" presetID="10" presetClass="exit" presetSubtype="0" fill="hold" grpId="1" nodeType="withEffect">
                                  <p:stCondLst>
                                    <p:cond delay="13000"/>
                                  </p:stCondLst>
                                  <p:childTnLst>
                                    <p:animEffect transition="out" filter="fade">
                                      <p:cBhvr>
                                        <p:cTn id="387" dur="450"/>
                                        <p:tgtEl>
                                          <p:spTgt spid="61"/>
                                        </p:tgtEl>
                                      </p:cBhvr>
                                    </p:animEffect>
                                    <p:set>
                                      <p:cBhvr>
                                        <p:cTn id="388" dur="1" fill="hold">
                                          <p:stCondLst>
                                            <p:cond delay="449"/>
                                          </p:stCondLst>
                                        </p:cTn>
                                        <p:tgtEl>
                                          <p:spTgt spid="61"/>
                                        </p:tgtEl>
                                        <p:attrNameLst>
                                          <p:attrName>style.visibility</p:attrName>
                                        </p:attrNameLst>
                                      </p:cBhvr>
                                      <p:to>
                                        <p:strVal val="hidden"/>
                                      </p:to>
                                    </p:set>
                                  </p:childTnLst>
                                </p:cTn>
                              </p:par>
                              <p:par>
                                <p:cTn id="389" presetID="10" presetClass="exit" presetSubtype="0" fill="hold" grpId="1" nodeType="withEffect">
                                  <p:stCondLst>
                                    <p:cond delay="13000"/>
                                  </p:stCondLst>
                                  <p:childTnLst>
                                    <p:animEffect transition="out" filter="fade">
                                      <p:cBhvr>
                                        <p:cTn id="390" dur="450"/>
                                        <p:tgtEl>
                                          <p:spTgt spid="62"/>
                                        </p:tgtEl>
                                      </p:cBhvr>
                                    </p:animEffect>
                                    <p:set>
                                      <p:cBhvr>
                                        <p:cTn id="391" dur="1" fill="hold">
                                          <p:stCondLst>
                                            <p:cond delay="449"/>
                                          </p:stCondLst>
                                        </p:cTn>
                                        <p:tgtEl>
                                          <p:spTgt spid="62"/>
                                        </p:tgtEl>
                                        <p:attrNameLst>
                                          <p:attrName>style.visibility</p:attrName>
                                        </p:attrNameLst>
                                      </p:cBhvr>
                                      <p:to>
                                        <p:strVal val="hidden"/>
                                      </p:to>
                                    </p:set>
                                  </p:childTnLst>
                                </p:cTn>
                              </p:par>
                              <p:par>
                                <p:cTn id="392" presetID="10" presetClass="entr" presetSubtype="0" fill="hold" grpId="0" nodeType="withEffect">
                                  <p:stCondLst>
                                    <p:cond delay="13000"/>
                                  </p:stCondLst>
                                  <p:childTnLst>
                                    <p:set>
                                      <p:cBhvr>
                                        <p:cTn id="393" dur="1" fill="hold">
                                          <p:stCondLst>
                                            <p:cond delay="0"/>
                                          </p:stCondLst>
                                        </p:cTn>
                                        <p:tgtEl>
                                          <p:spTgt spid="85"/>
                                        </p:tgtEl>
                                        <p:attrNameLst>
                                          <p:attrName>style.visibility</p:attrName>
                                        </p:attrNameLst>
                                      </p:cBhvr>
                                      <p:to>
                                        <p:strVal val="visible"/>
                                      </p:to>
                                    </p:set>
                                    <p:animEffect transition="in" filter="fade">
                                      <p:cBhvr>
                                        <p:cTn id="394" dur="450"/>
                                        <p:tgtEl>
                                          <p:spTgt spid="85"/>
                                        </p:tgtEl>
                                      </p:cBhvr>
                                    </p:animEffect>
                                  </p:childTnLst>
                                </p:cTn>
                              </p:par>
                              <p:par>
                                <p:cTn id="395" presetID="10" presetClass="entr" presetSubtype="0" fill="hold" grpId="0" nodeType="withEffect">
                                  <p:stCondLst>
                                    <p:cond delay="13000"/>
                                  </p:stCondLst>
                                  <p:childTnLst>
                                    <p:set>
                                      <p:cBhvr>
                                        <p:cTn id="396" dur="1" fill="hold">
                                          <p:stCondLst>
                                            <p:cond delay="0"/>
                                          </p:stCondLst>
                                        </p:cTn>
                                        <p:tgtEl>
                                          <p:spTgt spid="86"/>
                                        </p:tgtEl>
                                        <p:attrNameLst>
                                          <p:attrName>style.visibility</p:attrName>
                                        </p:attrNameLst>
                                      </p:cBhvr>
                                      <p:to>
                                        <p:strVal val="visible"/>
                                      </p:to>
                                    </p:set>
                                    <p:animEffect transition="in" filter="fade">
                                      <p:cBhvr>
                                        <p:cTn id="397" dur="450"/>
                                        <p:tgtEl>
                                          <p:spTgt spid="86"/>
                                        </p:tgtEl>
                                      </p:cBhvr>
                                    </p:animEffect>
                                  </p:childTnLst>
                                </p:cTn>
                              </p:par>
                              <p:par>
                                <p:cTn id="398" presetID="10" presetClass="entr" presetSubtype="0" fill="hold" grpId="0" nodeType="withEffect">
                                  <p:stCondLst>
                                    <p:cond delay="13000"/>
                                  </p:stCondLst>
                                  <p:childTnLst>
                                    <p:set>
                                      <p:cBhvr>
                                        <p:cTn id="399" dur="1" fill="hold">
                                          <p:stCondLst>
                                            <p:cond delay="0"/>
                                          </p:stCondLst>
                                        </p:cTn>
                                        <p:tgtEl>
                                          <p:spTgt spid="87"/>
                                        </p:tgtEl>
                                        <p:attrNameLst>
                                          <p:attrName>style.visibility</p:attrName>
                                        </p:attrNameLst>
                                      </p:cBhvr>
                                      <p:to>
                                        <p:strVal val="visible"/>
                                      </p:to>
                                    </p:set>
                                    <p:animEffect transition="in" filter="fade">
                                      <p:cBhvr>
                                        <p:cTn id="400" dur="450"/>
                                        <p:tgtEl>
                                          <p:spTgt spid="87"/>
                                        </p:tgtEl>
                                      </p:cBhvr>
                                    </p:animEffect>
                                  </p:childTnLst>
                                </p:cTn>
                              </p:par>
                              <p:par>
                                <p:cTn id="401" presetID="10" presetClass="entr" presetSubtype="0" fill="hold" grpId="0" nodeType="withEffect">
                                  <p:stCondLst>
                                    <p:cond delay="13000"/>
                                  </p:stCondLst>
                                  <p:childTnLst>
                                    <p:set>
                                      <p:cBhvr>
                                        <p:cTn id="402" dur="1" fill="hold">
                                          <p:stCondLst>
                                            <p:cond delay="0"/>
                                          </p:stCondLst>
                                        </p:cTn>
                                        <p:tgtEl>
                                          <p:spTgt spid="63"/>
                                        </p:tgtEl>
                                        <p:attrNameLst>
                                          <p:attrName>style.visibility</p:attrName>
                                        </p:attrNameLst>
                                      </p:cBhvr>
                                      <p:to>
                                        <p:strVal val="visible"/>
                                      </p:to>
                                    </p:set>
                                    <p:animEffect transition="in" filter="fade">
                                      <p:cBhvr>
                                        <p:cTn id="403" dur="450"/>
                                        <p:tgtEl>
                                          <p:spTgt spid="63"/>
                                        </p:tgtEl>
                                      </p:cBhvr>
                                    </p:animEffect>
                                  </p:childTnLst>
                                </p:cTn>
                              </p:par>
                              <p:par>
                                <p:cTn id="404" presetID="10" presetClass="entr" presetSubtype="0" fill="hold" grpId="0" nodeType="withEffect">
                                  <p:stCondLst>
                                    <p:cond delay="13000"/>
                                  </p:stCondLst>
                                  <p:childTnLst>
                                    <p:set>
                                      <p:cBhvr>
                                        <p:cTn id="405" dur="1" fill="hold">
                                          <p:stCondLst>
                                            <p:cond delay="0"/>
                                          </p:stCondLst>
                                        </p:cTn>
                                        <p:tgtEl>
                                          <p:spTgt spid="64"/>
                                        </p:tgtEl>
                                        <p:attrNameLst>
                                          <p:attrName>style.visibility</p:attrName>
                                        </p:attrNameLst>
                                      </p:cBhvr>
                                      <p:to>
                                        <p:strVal val="visible"/>
                                      </p:to>
                                    </p:set>
                                    <p:animEffect transition="in" filter="fade">
                                      <p:cBhvr>
                                        <p:cTn id="406" dur="450"/>
                                        <p:tgtEl>
                                          <p:spTgt spid="64"/>
                                        </p:tgtEl>
                                      </p:cBhvr>
                                    </p:animEffect>
                                  </p:childTnLst>
                                </p:cTn>
                              </p:par>
                              <p:par>
                                <p:cTn id="407" presetID="10" presetClass="entr" presetSubtype="0" fill="hold" grpId="0" nodeType="withEffect">
                                  <p:stCondLst>
                                    <p:cond delay="13000"/>
                                  </p:stCondLst>
                                  <p:childTnLst>
                                    <p:set>
                                      <p:cBhvr>
                                        <p:cTn id="408" dur="1" fill="hold">
                                          <p:stCondLst>
                                            <p:cond delay="0"/>
                                          </p:stCondLst>
                                        </p:cTn>
                                        <p:tgtEl>
                                          <p:spTgt spid="65"/>
                                        </p:tgtEl>
                                        <p:attrNameLst>
                                          <p:attrName>style.visibility</p:attrName>
                                        </p:attrNameLst>
                                      </p:cBhvr>
                                      <p:to>
                                        <p:strVal val="visible"/>
                                      </p:to>
                                    </p:set>
                                    <p:animEffect transition="in" filter="fade">
                                      <p:cBhvr>
                                        <p:cTn id="409" dur="450"/>
                                        <p:tgtEl>
                                          <p:spTgt spid="65"/>
                                        </p:tgtEl>
                                      </p:cBhvr>
                                    </p:animEffect>
                                  </p:childTnLst>
                                </p:cTn>
                              </p:par>
                              <p:par>
                                <p:cTn id="410" presetID="10" presetClass="entr" presetSubtype="0" fill="hold" grpId="0" nodeType="withEffect">
                                  <p:stCondLst>
                                    <p:cond delay="13000"/>
                                  </p:stCondLst>
                                  <p:childTnLst>
                                    <p:set>
                                      <p:cBhvr>
                                        <p:cTn id="411" dur="1" fill="hold">
                                          <p:stCondLst>
                                            <p:cond delay="0"/>
                                          </p:stCondLst>
                                        </p:cTn>
                                        <p:tgtEl>
                                          <p:spTgt spid="66"/>
                                        </p:tgtEl>
                                        <p:attrNameLst>
                                          <p:attrName>style.visibility</p:attrName>
                                        </p:attrNameLst>
                                      </p:cBhvr>
                                      <p:to>
                                        <p:strVal val="visible"/>
                                      </p:to>
                                    </p:set>
                                    <p:animEffect transition="in" filter="fade">
                                      <p:cBhvr>
                                        <p:cTn id="412" dur="450"/>
                                        <p:tgtEl>
                                          <p:spTgt spid="66"/>
                                        </p:tgtEl>
                                      </p:cBhvr>
                                    </p:animEffect>
                                  </p:childTnLst>
                                </p:cTn>
                              </p:par>
                              <p:par>
                                <p:cTn id="413" presetID="10" presetClass="entr" presetSubtype="0" fill="hold" grpId="0" nodeType="withEffect">
                                  <p:stCondLst>
                                    <p:cond delay="13000"/>
                                  </p:stCondLst>
                                  <p:childTnLst>
                                    <p:set>
                                      <p:cBhvr>
                                        <p:cTn id="414" dur="1" fill="hold">
                                          <p:stCondLst>
                                            <p:cond delay="0"/>
                                          </p:stCondLst>
                                        </p:cTn>
                                        <p:tgtEl>
                                          <p:spTgt spid="67"/>
                                        </p:tgtEl>
                                        <p:attrNameLst>
                                          <p:attrName>style.visibility</p:attrName>
                                        </p:attrNameLst>
                                      </p:cBhvr>
                                      <p:to>
                                        <p:strVal val="visible"/>
                                      </p:to>
                                    </p:set>
                                    <p:animEffect transition="in" filter="fade">
                                      <p:cBhvr>
                                        <p:cTn id="415" dur="450"/>
                                        <p:tgtEl>
                                          <p:spTgt spid="67"/>
                                        </p:tgtEl>
                                      </p:cBhvr>
                                    </p:animEffect>
                                  </p:childTnLst>
                                </p:cTn>
                              </p:par>
                              <p:par>
                                <p:cTn id="416" presetID="10" presetClass="entr" presetSubtype="0" fill="hold" grpId="0" nodeType="withEffect">
                                  <p:stCondLst>
                                    <p:cond delay="13000"/>
                                  </p:stCondLst>
                                  <p:childTnLst>
                                    <p:set>
                                      <p:cBhvr>
                                        <p:cTn id="417" dur="1" fill="hold">
                                          <p:stCondLst>
                                            <p:cond delay="0"/>
                                          </p:stCondLst>
                                        </p:cTn>
                                        <p:tgtEl>
                                          <p:spTgt spid="68"/>
                                        </p:tgtEl>
                                        <p:attrNameLst>
                                          <p:attrName>style.visibility</p:attrName>
                                        </p:attrNameLst>
                                      </p:cBhvr>
                                      <p:to>
                                        <p:strVal val="visible"/>
                                      </p:to>
                                    </p:set>
                                    <p:animEffect transition="in" filter="fade">
                                      <p:cBhvr>
                                        <p:cTn id="418" dur="450"/>
                                        <p:tgtEl>
                                          <p:spTgt spid="68"/>
                                        </p:tgtEl>
                                      </p:cBhvr>
                                    </p:animEffect>
                                  </p:childTnLst>
                                </p:cTn>
                              </p:par>
                              <p:par>
                                <p:cTn id="419" presetID="10" presetClass="entr" presetSubtype="0" fill="hold" grpId="0" nodeType="withEffect">
                                  <p:stCondLst>
                                    <p:cond delay="13000"/>
                                  </p:stCondLst>
                                  <p:childTnLst>
                                    <p:set>
                                      <p:cBhvr>
                                        <p:cTn id="420" dur="1" fill="hold">
                                          <p:stCondLst>
                                            <p:cond delay="0"/>
                                          </p:stCondLst>
                                        </p:cTn>
                                        <p:tgtEl>
                                          <p:spTgt spid="69"/>
                                        </p:tgtEl>
                                        <p:attrNameLst>
                                          <p:attrName>style.visibility</p:attrName>
                                        </p:attrNameLst>
                                      </p:cBhvr>
                                      <p:to>
                                        <p:strVal val="visible"/>
                                      </p:to>
                                    </p:set>
                                    <p:animEffect transition="in" filter="fade">
                                      <p:cBhvr>
                                        <p:cTn id="421" dur="45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2" grpId="0" animBg="1"/>
      <p:bldP spid="7" grpId="0" animBg="1"/>
      <p:bldP spid="8" grpId="0" animBg="1"/>
      <p:bldP spid="9" grpId="0" animBg="1"/>
      <p:bldP spid="10" grpId="0" animBg="1"/>
      <p:bldP spid="11" grpId="0" animBg="1"/>
      <p:bldP spid="12" grpId="0" animBg="1"/>
      <p:bldP spid="73" grpId="0" animBg="1"/>
      <p:bldP spid="75" grpId="0" animBg="1"/>
      <p:bldP spid="13" grpId="0" animBg="1"/>
      <p:bldP spid="14" grpId="0" animBg="1"/>
      <p:bldP spid="15" grpId="0" animBg="1"/>
      <p:bldP spid="16" grpId="0" animBg="1"/>
      <p:bldP spid="76" grpId="0" animBg="1"/>
      <p:bldP spid="78" grpId="0" animBg="1"/>
      <p:bldP spid="17" grpId="0" animBg="1"/>
      <p:bldP spid="18" grpId="0" animBg="1"/>
      <p:bldP spid="19" grpId="0" animBg="1"/>
      <p:bldP spid="20" grpId="0" animBg="1"/>
      <p:bldP spid="21" grpId="0" animBg="1"/>
      <p:bldP spid="22" grpId="0" animBg="1"/>
      <p:bldP spid="79" grpId="0" animBg="1"/>
      <p:bldP spid="81"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82" grpId="0" animBg="1"/>
      <p:bldP spid="84" grpId="0" animBg="1"/>
      <p:bldP spid="61" grpId="0" animBg="1"/>
      <p:bldP spid="62" grpId="0" animBg="1"/>
      <p:bldP spid="85" grpId="0" animBg="1"/>
      <p:bldP spid="87" grpId="0" animBg="1"/>
      <p:bldP spid="63" grpId="0" animBg="1"/>
      <p:bldP spid="64" grpId="0" animBg="1"/>
      <p:bldP spid="65" grpId="0" animBg="1"/>
      <p:bldP spid="66" grpId="0" animBg="1"/>
      <p:bldP spid="67" grpId="0" animBg="1"/>
      <p:bldP spid="68" grpId="0" animBg="1"/>
      <p:bldP spid="69" grpId="0" animBg="1"/>
      <p:bldP spid="7" grpId="1" animBg="1"/>
      <p:bldP spid="8" grpId="1" animBg="1"/>
      <p:bldP spid="9" grpId="1" animBg="1"/>
      <p:bldP spid="10" grpId="1" animBg="1"/>
      <p:bldP spid="11" grpId="1" animBg="1"/>
      <p:bldP spid="12" grpId="1" animBg="1"/>
      <p:bldP spid="13" grpId="1" animBg="1"/>
      <p:bldP spid="14" grpId="1" animBg="1"/>
      <p:bldP spid="15" grpId="1" animBg="1"/>
      <p:bldP spid="16" grpId="1" animBg="1"/>
      <p:bldP spid="17" grpId="1" animBg="1"/>
      <p:bldP spid="18" grpId="1" animBg="1"/>
      <p:bldP spid="19" grpId="1" animBg="1"/>
      <p:bldP spid="20" grpId="1" animBg="1"/>
      <p:bldP spid="21" grpId="1" animBg="1"/>
      <p:bldP spid="22" grpId="1" animBg="1"/>
      <p:bldP spid="23" grpId="1" animBg="1"/>
      <p:bldP spid="24" grpId="1" animBg="1"/>
      <p:bldP spid="25" grpId="1" animBg="1"/>
      <p:bldP spid="26" grpId="1" animBg="1"/>
      <p:bldP spid="27" grpId="1" animBg="1"/>
      <p:bldP spid="28" grpId="1" animBg="1"/>
      <p:bldP spid="29" grpId="1" animBg="1"/>
      <p:bldP spid="30" grpId="1" animBg="1"/>
      <p:bldP spid="31" grpId="1" animBg="1"/>
      <p:bldP spid="32" grpId="1" animBg="1"/>
      <p:bldP spid="33" grpId="1" animBg="1"/>
      <p:bldP spid="34" grpId="1" animBg="1"/>
      <p:bldP spid="35" grpId="1" animBg="1"/>
      <p:bldP spid="36" grpId="1" animBg="1"/>
      <p:bldP spid="37" grpId="1" animBg="1"/>
      <p:bldP spid="38" grpId="1" animBg="1"/>
      <p:bldP spid="39" grpId="1" animBg="1"/>
      <p:bldP spid="40" grpId="1" animBg="1"/>
      <p:bldP spid="41" grpId="1" animBg="1"/>
      <p:bldP spid="42" grpId="1" animBg="1"/>
      <p:bldP spid="43" grpId="1" animBg="1"/>
      <p:bldP spid="44" grpId="1" animBg="1"/>
      <p:bldP spid="45" grpId="1" animBg="1"/>
      <p:bldP spid="46" grpId="1" animBg="1"/>
      <p:bldP spid="47" grpId="1" animBg="1"/>
      <p:bldP spid="48" grpId="1" animBg="1"/>
      <p:bldP spid="49" grpId="1" animBg="1"/>
      <p:bldP spid="50" grpId="1" animBg="1"/>
      <p:bldP spid="51" grpId="1" animBg="1"/>
      <p:bldP spid="52" grpId="1" animBg="1"/>
      <p:bldP spid="53" grpId="1" animBg="1"/>
      <p:bldP spid="54" grpId="1" animBg="1"/>
      <p:bldP spid="55" grpId="1" animBg="1"/>
      <p:bldP spid="56" grpId="1" animBg="1"/>
      <p:bldP spid="57" grpId="1" animBg="1"/>
      <p:bldP spid="58" grpId="1" animBg="1"/>
      <p:bldP spid="59" grpId="1" animBg="1"/>
      <p:bldP spid="60" grpId="1" animBg="1"/>
      <p:bldP spid="61" grpId="1" animBg="1"/>
      <p:bldP spid="62"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vi-VN" sz="1100" b="1" spc="300" kern="0" dirty="0">
                <a:solidFill>
                  <a:schemeClr val="accent1"/>
                </a:solidFill>
              </a:rPr>
              <a:t>TRIỂN KHAI NHANH</a:t>
            </a:r>
            <a:endParaRPr lang="vi-VN"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vi-VN" sz="3600" b="1" dirty="0">
                <a:solidFill>
                  <a:schemeClr val="tx2"/>
                </a:solidFill>
              </a:rPr>
              <a:t>Triển khai ngay. Mọi loại lỗi, mọi dây chuyền.</a:t>
            </a:r>
            <a:endParaRPr lang="vi-VN" sz="3600" dirty="0"/>
          </a:p>
        </p:txBody>
      </p:sp>
      <p:sp>
        <p:nvSpPr>
          <p:cNvPr id="4" name="Count value"/>
          <p:cNvSpPr txBox="1"/>
          <p:nvPr/>
        </p:nvSpPr>
        <p:spPr>
          <a:xfrm>
            <a:off x="548640" y="1828800"/>
            <a:ext cx="4754880" cy="1188720"/>
          </a:xfrm>
          <a:prstGeom prst="rect">
            <a:avLst/>
          </a:prstGeom>
          <a:noFill/>
          <a:ln/>
        </p:spPr>
        <p:txBody>
          <a:bodyPr wrap="square" lIns="0" tIns="0" rIns="0" bIns="0" rtlCol="0" anchor="ctr"/>
          <a:lstStyle/>
          <a:p>
            <a:pPr indent="0" marL="0">
              <a:buNone/>
            </a:pPr>
            <a:r>
              <a:rPr lang="vi-VN" sz="7200" b="1" dirty="0">
                <a:solidFill>
                  <a:schemeClr val="accent1"/>
                </a:solidFill>
              </a:rPr>
              <a:t>Vài phút</a:t>
            </a:r>
            <a:endParaRPr lang="vi-VN" sz="7200" dirty="0"/>
          </a:p>
        </p:txBody>
      </p:sp>
      <p:sp>
        <p:nvSpPr>
          <p:cNvPr id="5" name="Count label"/>
          <p:cNvSpPr txBox="1"/>
          <p:nvPr/>
        </p:nvSpPr>
        <p:spPr>
          <a:xfrm>
            <a:off x="548640" y="3063240"/>
            <a:ext cx="4754880" cy="457200"/>
          </a:xfrm>
          <a:prstGeom prst="rect">
            <a:avLst/>
          </a:prstGeom>
          <a:noFill/>
          <a:ln/>
        </p:spPr>
        <p:txBody>
          <a:bodyPr wrap="square" lIns="0" tIns="0" rIns="0" bIns="0" rtlCol="0" anchor="ctr"/>
          <a:lstStyle/>
          <a:p>
            <a:pPr indent="0" marL="0">
              <a:buNone/>
            </a:pPr>
            <a:r>
              <a:rPr lang="vi-VN" sz="2000" dirty="0">
                <a:solidFill>
                  <a:schemeClr val="tx1"/>
                </a:solidFill>
              </a:rPr>
              <a:t>để dạy MetriQ một sản phẩm mới.</a:t>
            </a:r>
            <a:endParaRPr lang="vi-VN" sz="2000" dirty="0"/>
          </a:p>
        </p:txBody>
      </p:sp>
      <p:sp>
        <p:nvSpPr>
          <p:cNvPr id="6" name="Count point"/>
          <p:cNvSpPr txBox="1"/>
          <p:nvPr/>
        </p:nvSpPr>
        <p:spPr>
          <a:xfrm>
            <a:off x="548640" y="3886200"/>
            <a:ext cx="4754880" cy="822960"/>
          </a:xfrm>
          <a:prstGeom prst="rect">
            <a:avLst/>
          </a:prstGeom>
          <a:noFill/>
          <a:ln/>
        </p:spPr>
        <p:txBody>
          <a:bodyPr wrap="square" lIns="0" tIns="0" rIns="0" bIns="0" rtlCol="0" anchor="ctr"/>
          <a:lstStyle/>
          <a:p>
            <a:pPr indent="0" marL="0">
              <a:buNone/>
            </a:pPr>
            <a:r>
              <a:rPr lang="vi-VN" sz="1800" b="1" dirty="0">
                <a:solidFill>
                  <a:schemeClr val="tx2"/>
                </a:solidFill>
              </a:rPr>
              <a:t>Huấn luyện tức thì: gọi tên sản phẩm hoặc đưa vài hình ảnh.</a:t>
            </a:r>
            <a:endParaRPr lang="vi-VN" sz="1800" dirty="0"/>
          </a:p>
        </p:txBody>
      </p:sp>
      <p:sp>
        <p:nvSpPr>
          <p:cNvPr id="7" name="Raw frame"/>
          <p:cNvSpPr/>
          <p:nvPr/>
        </p:nvSpPr>
        <p:spPr>
          <a:xfrm>
            <a:off x="5971032" y="1627632"/>
            <a:ext cx="2494026" cy="4334256"/>
          </a:xfrm>
          <a:prstGeom prst="roundRect">
            <a:avLst>
              <a:gd name="adj" fmla="val 3666"/>
            </a:avLst>
          </a:prstGeom>
          <a:solidFill>
            <a:schemeClr val="bg1"/>
          </a:solidFill>
          <a:ln w="12700">
            <a:solidFill>
              <a:schemeClr val="accent5"/>
            </a:solidFill>
            <a:prstDash val="solid"/>
          </a:ln>
        </p:spPr>
      </p:sp>
      <p:pic>
        <p:nvPicPr>
          <p:cNvPr id="8" name="Raw image" descr="Khung hình camera gốc">    </p:cNvPr>
          <p:cNvPicPr>
            <a:picLocks noChangeAspect="1"/>
          </p:cNvPicPr>
          <p:nvPr/>
        </p:nvPicPr>
        <p:blipFill>
          <a:blip r:embed="rId1"/>
          <a:stretch>
            <a:fillRect/>
          </a:stretch>
        </p:blipFill>
        <p:spPr>
          <a:xfrm>
            <a:off x="6035040" y="1691640"/>
            <a:ext cx="2366010" cy="4206240"/>
          </a:xfrm>
          <a:prstGeom prst="rect">
            <a:avLst/>
          </a:prstGeom>
        </p:spPr>
      </p:pic>
      <p:sp>
        <p:nvSpPr>
          <p:cNvPr id="9" name="Raw caption"/>
          <p:cNvSpPr txBox="1"/>
          <p:nvPr/>
        </p:nvSpPr>
        <p:spPr>
          <a:xfrm>
            <a:off x="5971032" y="5989320"/>
            <a:ext cx="3280410" cy="274320"/>
          </a:xfrm>
          <a:prstGeom prst="rect">
            <a:avLst/>
          </a:prstGeom>
          <a:noFill/>
          <a:ln/>
        </p:spPr>
        <p:txBody>
          <a:bodyPr wrap="square" lIns="0" tIns="0" rIns="0" bIns="0" rtlCol="0" anchor="ctr"/>
          <a:lstStyle/>
          <a:p>
            <a:pPr indent="0" marL="0">
              <a:buNone/>
            </a:pPr>
            <a:r>
              <a:rPr lang="vi-VN" sz="1100" dirty="0">
                <a:solidFill>
                  <a:schemeClr val="accent4"/>
                </a:solidFill>
              </a:rPr>
              <a:t>Camera gốc</a:t>
            </a:r>
            <a:endParaRPr lang="vi-VN" sz="1100" dirty="0"/>
          </a:p>
        </p:txBody>
      </p:sp>
      <p:sp>
        <p:nvSpPr>
          <p:cNvPr id="10" name="AI frame"/>
          <p:cNvSpPr/>
          <p:nvPr/>
        </p:nvSpPr>
        <p:spPr>
          <a:xfrm>
            <a:off x="8887968" y="1627632"/>
            <a:ext cx="2494026" cy="4334256"/>
          </a:xfrm>
          <a:prstGeom prst="roundRect">
            <a:avLst>
              <a:gd name="adj" fmla="val 3666"/>
            </a:avLst>
          </a:prstGeom>
          <a:solidFill>
            <a:schemeClr val="bg1"/>
          </a:solidFill>
          <a:ln w="12700">
            <a:solidFill>
              <a:schemeClr val="accent5"/>
            </a:solidFill>
            <a:prstDash val="solid"/>
          </a:ln>
        </p:spPr>
      </p:sp>
      <p:pic>
        <p:nvPicPr>
          <p:cNvPr id="11" name="AI image" descr="Khung hình MetriQ AI: mỗi sản phẩm được đóng khung, kèm ID theo dõi">    </p:cNvPr>
          <p:cNvPicPr>
            <a:picLocks noChangeAspect="1"/>
          </p:cNvPicPr>
          <p:nvPr/>
        </p:nvPicPr>
        <p:blipFill>
          <a:blip r:embed="rId2"/>
          <a:stretch>
            <a:fillRect/>
          </a:stretch>
        </p:blipFill>
        <p:spPr>
          <a:xfrm>
            <a:off x="8951976" y="1691640"/>
            <a:ext cx="2366010" cy="4206240"/>
          </a:xfrm>
          <a:prstGeom prst="rect">
            <a:avLst/>
          </a:prstGeom>
        </p:spPr>
      </p:pic>
      <p:sp>
        <p:nvSpPr>
          <p:cNvPr id="12" name="AI caption"/>
          <p:cNvSpPr txBox="1"/>
          <p:nvPr/>
        </p:nvSpPr>
        <p:spPr>
          <a:xfrm>
            <a:off x="8887968" y="5989320"/>
            <a:ext cx="3280410" cy="274320"/>
          </a:xfrm>
          <a:prstGeom prst="rect">
            <a:avLst/>
          </a:prstGeom>
          <a:noFill/>
          <a:ln/>
        </p:spPr>
        <p:txBody>
          <a:bodyPr wrap="square" lIns="0" tIns="0" rIns="0" bIns="0" rtlCol="0" anchor="ctr"/>
          <a:lstStyle/>
          <a:p>
            <a:pPr indent="0" marL="0">
              <a:buNone/>
            </a:pPr>
            <a:r>
              <a:rPr lang="vi-VN" sz="1100" dirty="0">
                <a:solidFill>
                  <a:schemeClr val="accent4"/>
                </a:solidFill>
              </a:rPr>
              <a:t>MetriQ AI</a:t>
            </a:r>
            <a:endParaRPr lang="vi-VN" sz="1100" dirty="0"/>
          </a:p>
        </p:txBody>
      </p:sp>
      <p:pic>
        <p:nvPicPr>
          <p:cNvPr id="13" name="Lemon arrow" descr="preencoded.png">    </p:cNvPr>
          <p:cNvPicPr>
            <a:picLocks noChangeAspect="1"/>
          </p:cNvPicPr>
          <p:nvPr/>
        </p:nvPicPr>
        <p:blipFill>
          <a:blip r:embed="rId3"/>
          <a:stretch>
            <a:fillRect/>
          </a:stretch>
        </p:blipFill>
        <p:spPr>
          <a:xfrm>
            <a:off x="8511921" y="3630168"/>
            <a:ext cx="329184" cy="329184"/>
          </a:xfrm>
          <a:prstGeom prst="rect">
            <a:avLst/>
          </a:prstGeom>
        </p:spPr>
      </p:pic>
      <p:sp>
        <p:nvSpPr>
          <p:cNvPr id="14" name="Back link"/>
          <p:cNvSpPr txBox="1"/>
          <p:nvPr/>
        </p:nvSpPr>
        <p:spPr>
          <a:xfrm>
            <a:off x="8716975" y="6382512"/>
            <a:ext cx="2194560" cy="310896"/>
          </a:xfrm>
          <a:prstGeom prst="rect">
            <a:avLst/>
          </a:prstGeom>
          <a:noFill/>
          <a:ln/>
        </p:spPr>
        <p:txBody>
          <a:bodyPr wrap="square" lIns="0" tIns="0" rIns="0" bIns="0" rtlCol="0" anchor="ctr"/>
          <a:lstStyle/>
          <a:p>
            <a:pPr algn="r" indent="0" marL="0">
              <a:buNone/>
            </a:pPr>
            <a:r>
              <a:rPr lang="vi-VN" sz="1100" u="sng" dirty="0">
                <a:solidFill>
                  <a:schemeClr val="accent1"/>
                </a:solidFill>
                <a:hlinkClick r:id="rId4" action="ppaction://hlinksldjump" tooltip="Back to capabilities">
                  <a:extLst>
                    <a:ext uri="{A12FA001-AC4F-418D-AE19-62706E023703}">
                      <ahyp:hlinkClr xmlns:ahyp="http://schemas.microsoft.com/office/drawing/2018/hyperlinkcolor" val="tx"/>
                    </a:ext>
                  </a:extLst>
                </a:hlinkClick>
              </a:rPr>
              <a:t>← Tất cả tính năng</a:t>
            </a:r>
            <a:endParaRPr lang="vi-VN"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vi-VN"/>
              <a:t>6</a:t>
            </a:fld>
            <a:endParaRPr lang="vi-V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5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5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5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50"/>
                                        <p:tgtEl>
                                          <p:spTgt spid="12"/>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450"/>
                                        <p:tgtEl>
                                          <p:spTgt spid="4"/>
                                        </p:tgtEl>
                                      </p:cBhvr>
                                    </p:animEffect>
                                  </p:childTnLst>
                                </p:cTn>
                              </p:par>
                              <p:par>
                                <p:cTn id="20" presetID="10" presetClass="entr" presetSubtype="0" fill="hold" grpId="0" nodeType="withEffect">
                                  <p:stCondLst>
                                    <p:cond delay="6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50"/>
                                        <p:tgtEl>
                                          <p:spTgt spid="5"/>
                                        </p:tgtEl>
                                      </p:cBhvr>
                                    </p:animEffect>
                                  </p:childTnLst>
                                </p:cTn>
                              </p:par>
                              <p:par>
                                <p:cTn id="23" presetID="10" presetClass="entr" presetSubtype="0" fill="hold" grpId="0" nodeType="withEffect">
                                  <p:stCondLst>
                                    <p:cond delay="120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4" grpId="0" animBg="1"/>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vi-VN" sz="1100" b="1" spc="300" kern="0" dirty="0">
                <a:solidFill>
                  <a:schemeClr val="accent1"/>
                </a:solidFill>
              </a:rPr>
              <a:t>MÀU SẮC</a:t>
            </a:r>
            <a:endParaRPr lang="vi-VN"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vi-VN" sz="3600" b="1" dirty="0">
                <a:solidFill>
                  <a:schemeClr val="tx2"/>
                </a:solidFill>
              </a:rPr>
              <a:t>Đo màu như phòng thí nghiệm, từng sản phẩm</a:t>
            </a:r>
            <a:endParaRPr lang="vi-VN" sz="3600" dirty="0"/>
          </a:p>
        </p:txBody>
      </p:sp>
      <p:sp>
        <p:nvSpPr>
          <p:cNvPr id="4" name="Col 0 dot"/>
          <p:cNvSpPr/>
          <p:nvPr/>
        </p:nvSpPr>
        <p:spPr>
          <a:xfrm>
            <a:off x="548640" y="1828800"/>
            <a:ext cx="292608" cy="292608"/>
          </a:xfrm>
          <a:prstGeom prst="ellipse">
            <a:avLst/>
          </a:prstGeom>
          <a:solidFill>
            <a:schemeClr val="accent1"/>
          </a:solidFill>
          <a:ln/>
        </p:spPr>
      </p:sp>
      <p:sp>
        <p:nvSpPr>
          <p:cNvPr id="5" name="Col 0 text"/>
          <p:cNvSpPr txBox="1"/>
          <p:nvPr/>
        </p:nvSpPr>
        <p:spPr>
          <a:xfrm>
            <a:off x="1051560" y="1783080"/>
            <a:ext cx="4663440" cy="868680"/>
          </a:xfrm>
          <a:prstGeom prst="rect">
            <a:avLst/>
          </a:prstGeom>
          <a:noFill/>
          <a:ln/>
        </p:spPr>
        <p:txBody>
          <a:bodyPr wrap="square" lIns="0" tIns="0" rIns="0" bIns="0" rtlCol="0" anchor="t"/>
          <a:lstStyle/>
          <a:p>
            <a:pPr indent="0" marL="0">
              <a:buNone/>
            </a:pPr>
            <a:r>
              <a:rPr lang="vi-VN" sz="1600" b="1" dirty="0">
                <a:solidFill>
                  <a:schemeClr val="tx1"/>
                </a:solidFill>
              </a:rPr>
              <a:t>Đo trong hệ CIELAB</a:t>
            </a:r>
            <a:endParaRPr lang="vi-VN" sz="1600" dirty="0"/>
          </a:p>
          <a:p>
            <a:pPr indent="0" marL="0">
              <a:buNone/>
            </a:pPr>
            <a:r>
              <a:rPr lang="vi-VN" sz="1600" dirty="0">
                <a:solidFill>
                  <a:schemeClr val="accent4"/>
                </a:solidFill>
              </a:rPr>
              <a:t>không gian màu các phòng thí nghiệm dùng.</a:t>
            </a:r>
            <a:endParaRPr lang="vi-VN" sz="1600" dirty="0"/>
          </a:p>
        </p:txBody>
      </p:sp>
      <p:sp>
        <p:nvSpPr>
          <p:cNvPr id="6" name="Col 1 dot"/>
          <p:cNvSpPr/>
          <p:nvPr/>
        </p:nvSpPr>
        <p:spPr>
          <a:xfrm>
            <a:off x="548640" y="2816352"/>
            <a:ext cx="292608" cy="292608"/>
          </a:xfrm>
          <a:prstGeom prst="ellipse">
            <a:avLst/>
          </a:prstGeom>
          <a:solidFill>
            <a:schemeClr val="accent1"/>
          </a:solidFill>
          <a:ln/>
        </p:spPr>
      </p:sp>
      <p:sp>
        <p:nvSpPr>
          <p:cNvPr id="7" name="Col 1 text"/>
          <p:cNvSpPr txBox="1"/>
          <p:nvPr/>
        </p:nvSpPr>
        <p:spPr>
          <a:xfrm>
            <a:off x="1051560" y="2770632"/>
            <a:ext cx="4663440" cy="868680"/>
          </a:xfrm>
          <a:prstGeom prst="rect">
            <a:avLst/>
          </a:prstGeom>
          <a:noFill/>
          <a:ln/>
        </p:spPr>
        <p:txBody>
          <a:bodyPr wrap="square" lIns="0" tIns="0" rIns="0" bIns="0" rtlCol="0" anchor="t"/>
          <a:lstStyle/>
          <a:p>
            <a:pPr indent="0" marL="0">
              <a:buNone/>
            </a:pPr>
            <a:r>
              <a:rPr lang="vi-VN" sz="1600" b="1" dirty="0">
                <a:solidFill>
                  <a:schemeClr val="tx1"/>
                </a:solidFill>
              </a:rPr>
              <a:t>Hiệu chuẩn theo mẫu của bạn</a:t>
            </a:r>
            <a:endParaRPr lang="vi-VN" sz="1600" dirty="0"/>
          </a:p>
          <a:p>
            <a:pPr indent="0" marL="0">
              <a:buNone/>
            </a:pPr>
            <a:r>
              <a:rPr lang="vi-VN" sz="1600" dirty="0">
                <a:solidFill>
                  <a:schemeClr val="accent4"/>
                </a:solidFill>
              </a:rPr>
              <a:t>một cú nhấp với tấm màu chuẩn.</a:t>
            </a:r>
            <a:endParaRPr lang="vi-VN" sz="1600" dirty="0"/>
          </a:p>
        </p:txBody>
      </p:sp>
      <p:sp>
        <p:nvSpPr>
          <p:cNvPr id="8" name="Col 2 dot"/>
          <p:cNvSpPr/>
          <p:nvPr/>
        </p:nvSpPr>
        <p:spPr>
          <a:xfrm>
            <a:off x="548640" y="3803904"/>
            <a:ext cx="292608" cy="292608"/>
          </a:xfrm>
          <a:prstGeom prst="ellipse">
            <a:avLst/>
          </a:prstGeom>
          <a:solidFill>
            <a:schemeClr val="accent1"/>
          </a:solidFill>
          <a:ln/>
        </p:spPr>
      </p:sp>
      <p:sp>
        <p:nvSpPr>
          <p:cNvPr id="9" name="Col 2 text"/>
          <p:cNvSpPr txBox="1"/>
          <p:nvPr/>
        </p:nvSpPr>
        <p:spPr>
          <a:xfrm>
            <a:off x="1051560" y="3758184"/>
            <a:ext cx="4663440" cy="868680"/>
          </a:xfrm>
          <a:prstGeom prst="rect">
            <a:avLst/>
          </a:prstGeom>
          <a:noFill/>
          <a:ln/>
        </p:spPr>
        <p:txBody>
          <a:bodyPr wrap="square" lIns="0" tIns="0" rIns="0" bIns="0" rtlCol="0" anchor="t"/>
          <a:lstStyle/>
          <a:p>
            <a:pPr indent="0" marL="0">
              <a:buNone/>
            </a:pPr>
            <a:r>
              <a:rPr lang="vi-VN" sz="1600" b="1" dirty="0">
                <a:solidFill>
                  <a:schemeClr val="tx1"/>
                </a:solidFill>
              </a:rPr>
              <a:t>Ổn định khi ánh sáng thay đổi</a:t>
            </a:r>
            <a:endParaRPr lang="vi-VN" sz="1600" dirty="0"/>
          </a:p>
          <a:p>
            <a:pPr indent="0" marL="0">
              <a:buNone/>
            </a:pPr>
            <a:r>
              <a:rPr lang="vi-VN" sz="1600" dirty="0">
                <a:solidFill>
                  <a:schemeClr val="accent4"/>
                </a:solidFill>
              </a:rPr>
              <a:t>tích hợp thích ứng ánh sáng.</a:t>
            </a:r>
            <a:endParaRPr lang="vi-VN" sz="1600" dirty="0"/>
          </a:p>
        </p:txBody>
      </p:sp>
      <p:sp>
        <p:nvSpPr>
          <p:cNvPr id="10" name="Col 3 dot"/>
          <p:cNvSpPr/>
          <p:nvPr/>
        </p:nvSpPr>
        <p:spPr>
          <a:xfrm>
            <a:off x="548640" y="4791456"/>
            <a:ext cx="292608" cy="292608"/>
          </a:xfrm>
          <a:prstGeom prst="ellipse">
            <a:avLst/>
          </a:prstGeom>
          <a:solidFill>
            <a:schemeClr val="accent1"/>
          </a:solidFill>
          <a:ln/>
        </p:spPr>
      </p:sp>
      <p:sp>
        <p:nvSpPr>
          <p:cNvPr id="11" name="Col 3 text"/>
          <p:cNvSpPr txBox="1"/>
          <p:nvPr/>
        </p:nvSpPr>
        <p:spPr>
          <a:xfrm>
            <a:off x="1051560" y="4745736"/>
            <a:ext cx="4663440" cy="868680"/>
          </a:xfrm>
          <a:prstGeom prst="rect">
            <a:avLst/>
          </a:prstGeom>
          <a:noFill/>
          <a:ln/>
        </p:spPr>
        <p:txBody>
          <a:bodyPr wrap="square" lIns="0" tIns="0" rIns="0" bIns="0" rtlCol="0" anchor="t"/>
          <a:lstStyle/>
          <a:p>
            <a:pPr indent="0" marL="0">
              <a:buNone/>
            </a:pPr>
            <a:r>
              <a:rPr lang="vi-VN" sz="1600" b="1" dirty="0">
                <a:solidFill>
                  <a:schemeClr val="tx1"/>
                </a:solidFill>
              </a:rPr>
              <a:t>Loại theo ΔE</a:t>
            </a:r>
            <a:endParaRPr lang="vi-VN" sz="1600" dirty="0"/>
          </a:p>
          <a:p>
            <a:pPr indent="0" marL="0">
              <a:buNone/>
            </a:pPr>
            <a:r>
              <a:rPr lang="vi-VN" sz="1600" dirty="0">
                <a:solidFill>
                  <a:schemeClr val="accent4"/>
                </a:solidFill>
              </a:rPr>
              <a:t>VD: chanh chưa chín có ΔE trên 8.</a:t>
            </a:r>
            <a:endParaRPr lang="vi-VN" sz="1600" dirty="0"/>
          </a:p>
        </p:txBody>
      </p:sp>
      <p:sp>
        <p:nvSpPr>
          <p:cNvPr id="12" name="Colour card"/>
          <p:cNvSpPr/>
          <p:nvPr/>
        </p:nvSpPr>
        <p:spPr>
          <a:xfrm>
            <a:off x="6172200" y="1691640"/>
            <a:ext cx="5468112" cy="4206240"/>
          </a:xfrm>
          <a:prstGeom prst="roundRect">
            <a:avLst>
              <a:gd name="adj" fmla="val 2609"/>
            </a:avLst>
          </a:prstGeom>
          <a:solidFill>
            <a:schemeClr val="bg1"/>
          </a:solidFill>
          <a:ln w="12700">
            <a:solidFill>
              <a:schemeClr val="accent5"/>
            </a:solidFill>
            <a:prstDash val="solid"/>
          </a:ln>
        </p:spPr>
      </p:sp>
      <p:graphicFrame>
        <p:nvGraphicFramePr>
          <p:cNvPr id="13" name="Chart 0" descr=""/>
          <p:cNvGraphicFramePr/>
          <p:nvPr/>
        </p:nvGraphicFramePr>
        <p:xfrm>
          <a:off x="6355080" y="1783080"/>
          <a:ext cx="5120640" cy="365760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6355080" y="5440680"/>
            <a:ext cx="5120640" cy="320040"/>
          </a:xfrm>
          <a:prstGeom prst="rect">
            <a:avLst/>
          </a:prstGeom>
          <a:noFill/>
          <a:ln/>
        </p:spPr>
        <p:txBody>
          <a:bodyPr wrap="square" lIns="0" tIns="0" rIns="0" bIns="0" rtlCol="0" anchor="ctr"/>
          <a:lstStyle/>
          <a:p>
            <a:pPr indent="0" marL="0">
              <a:buNone/>
            </a:pPr>
            <a:r>
              <a:rPr lang="vi-VN" sz="1100" dirty="0">
                <a:solidFill>
                  <a:schemeClr val="accent4"/>
                </a:solidFill>
              </a:rPr>
              <a:t>&gt; 8 bị loại vì chưa chín. Dữ liệu mẫu.</a:t>
            </a:r>
            <a:endParaRPr lang="vi-VN" sz="1100" dirty="0"/>
          </a:p>
        </p:txBody>
      </p:sp>
      <p:sp>
        <p:nvSpPr>
          <p:cNvPr id="15" name="Back link"/>
          <p:cNvSpPr txBox="1"/>
          <p:nvPr/>
        </p:nvSpPr>
        <p:spPr>
          <a:xfrm>
            <a:off x="8716975" y="6382512"/>
            <a:ext cx="2194560" cy="310896"/>
          </a:xfrm>
          <a:prstGeom prst="rect">
            <a:avLst/>
          </a:prstGeom>
          <a:noFill/>
          <a:ln/>
        </p:spPr>
        <p:txBody>
          <a:bodyPr wrap="square" lIns="0" tIns="0" rIns="0" bIns="0" rtlCol="0" anchor="ctr"/>
          <a:lstStyle/>
          <a:p>
            <a:pPr algn="r" indent="0" marL="0">
              <a:buNone/>
            </a:pPr>
            <a:r>
              <a:rPr lang="vi-VN" sz="1100" u="sng" dirty="0">
                <a:solidFill>
                  <a:schemeClr val="accent1"/>
                </a:solidFill>
                <a:hlinkClick r:id="rId2" action="ppaction://hlinksldjump" tooltip="Back to capabilities">
                  <a:extLst>
                    <a:ext uri="{A12FA001-AC4F-418D-AE19-62706E023703}">
                      <ahyp:hlinkClr xmlns:ahyp="http://schemas.microsoft.com/office/drawing/2018/hyperlinkcolor" val="tx"/>
                    </a:ext>
                  </a:extLst>
                </a:hlinkClick>
              </a:rPr>
              <a:t>← Tất cả tính năng</a:t>
            </a:r>
            <a:endParaRPr lang="vi-VN"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vi-VN"/>
              <a:t>7</a:t>
            </a:fld>
            <a:endParaRPr lang="vi-V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75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vi-VN" sz="1100" b="1" spc="300" kern="0" dirty="0">
                <a:solidFill>
                  <a:schemeClr val="accent1"/>
                </a:solidFill>
              </a:rPr>
              <a:t>ĐO LƯỜNG · DỮ LIỆU TRỰC TIẾP</a:t>
            </a:r>
            <a:endParaRPr lang="vi-VN"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vi-VN" sz="3600" b="1" dirty="0">
                <a:solidFill>
                  <a:schemeClr val="tx2"/>
                </a:solidFill>
              </a:rPr>
              <a:t>Thấy sai lệch trước khi sản phẩm lỗi</a:t>
            </a:r>
            <a:endParaRPr lang="vi-VN" sz="3600" dirty="0"/>
          </a:p>
        </p:txBody>
      </p:sp>
      <p:sp>
        <p:nvSpPr>
          <p:cNvPr id="4" name="Monitoring frame"/>
          <p:cNvSpPr/>
          <p:nvPr/>
        </p:nvSpPr>
        <p:spPr>
          <a:xfrm>
            <a:off x="6400800" y="1691640"/>
            <a:ext cx="5239512" cy="4023360"/>
          </a:xfrm>
          <a:prstGeom prst="roundRect">
            <a:avLst>
              <a:gd name="adj" fmla="val 2727"/>
            </a:avLst>
          </a:prstGeom>
          <a:solidFill>
            <a:schemeClr val="bg1"/>
          </a:solidFill>
          <a:ln w="12700">
            <a:solidFill>
              <a:schemeClr val="accent5"/>
            </a:solidFill>
            <a:prstDash val="solid"/>
          </a:ln>
        </p:spPr>
      </p:sp>
      <p:pic>
        <p:nvPicPr>
          <p:cNvPr id="5" name="Measurements screen" descr="Màn hình Đo lường của MetriQ">    </p:cNvPr>
          <p:cNvPicPr>
            <a:picLocks noChangeAspect="1"/>
          </p:cNvPicPr>
          <p:nvPr/>
        </p:nvPicPr>
        <p:blipFill>
          <a:blip r:embed="rId1"/>
          <a:stretch>
            <a:fillRect/>
          </a:stretch>
        </p:blipFill>
        <p:spPr>
          <a:xfrm>
            <a:off x="6537960" y="1810512"/>
            <a:ext cx="4965192" cy="3721608"/>
          </a:xfrm>
          <a:prstGeom prst="rect">
            <a:avLst/>
          </a:prstGeom>
        </p:spPr>
      </p:pic>
      <p:sp>
        <p:nvSpPr>
          <p:cNvPr id="6" name="Pt 0 dot"/>
          <p:cNvSpPr/>
          <p:nvPr/>
        </p:nvSpPr>
        <p:spPr>
          <a:xfrm>
            <a:off x="548640" y="1874520"/>
            <a:ext cx="292608" cy="292608"/>
          </a:xfrm>
          <a:prstGeom prst="ellipse">
            <a:avLst/>
          </a:prstGeom>
          <a:solidFill>
            <a:schemeClr val="accent1"/>
          </a:solidFill>
          <a:ln/>
        </p:spPr>
      </p:sp>
      <p:sp>
        <p:nvSpPr>
          <p:cNvPr id="7" name="Pt 0 n"/>
          <p:cNvSpPr txBox="1"/>
          <p:nvPr/>
        </p:nvSpPr>
        <p:spPr>
          <a:xfrm>
            <a:off x="548640" y="1874520"/>
            <a:ext cx="292608" cy="292608"/>
          </a:xfrm>
          <a:prstGeom prst="rect">
            <a:avLst/>
          </a:prstGeom>
          <a:noFill/>
          <a:ln/>
        </p:spPr>
        <p:txBody>
          <a:bodyPr wrap="square" lIns="0" tIns="0" rIns="0" bIns="0" rtlCol="0" anchor="ctr"/>
          <a:lstStyle/>
          <a:p>
            <a:pPr algn="ctr" indent="0" marL="0">
              <a:buNone/>
            </a:pPr>
            <a:r>
              <a:rPr lang="vi-VN" sz="1100" b="1" dirty="0">
                <a:solidFill>
                  <a:schemeClr val="bg1"/>
                </a:solidFill>
              </a:rPr>
              <a:t>1</a:t>
            </a:r>
            <a:endParaRPr lang="vi-VN" sz="1100" dirty="0"/>
          </a:p>
        </p:txBody>
      </p:sp>
      <p:sp>
        <p:nvSpPr>
          <p:cNvPr id="8" name="Pt 0 text"/>
          <p:cNvSpPr txBox="1"/>
          <p:nvPr/>
        </p:nvSpPr>
        <p:spPr>
          <a:xfrm>
            <a:off x="1051560" y="1828800"/>
            <a:ext cx="5303520" cy="822960"/>
          </a:xfrm>
          <a:prstGeom prst="rect">
            <a:avLst/>
          </a:prstGeom>
          <a:noFill/>
          <a:ln/>
        </p:spPr>
        <p:txBody>
          <a:bodyPr wrap="square" lIns="0" tIns="0" rIns="0" bIns="0" rtlCol="0" anchor="t"/>
          <a:lstStyle/>
          <a:p>
            <a:pPr indent="0" marL="0">
              <a:buNone/>
            </a:pPr>
            <a:r>
              <a:rPr lang="vi-VN" sz="1600" b="1" dirty="0">
                <a:solidFill>
                  <a:schemeClr val="tx1"/>
                </a:solidFill>
              </a:rPr>
              <a:t>Đo từng sản phẩm</a:t>
            </a:r>
            <a:endParaRPr lang="vi-VN" sz="1600" dirty="0"/>
          </a:p>
          <a:p>
            <a:pPr indent="0" marL="0">
              <a:buNone/>
            </a:pPr>
            <a:r>
              <a:rPr lang="vi-VN" sz="1600" dirty="0">
                <a:solidFill>
                  <a:schemeClr val="accent4"/>
                </a:solidFill>
              </a:rPr>
              <a:t>dài, rộng, cao, số lượng và màu sắc.</a:t>
            </a:r>
            <a:endParaRPr lang="vi-VN" sz="1600" dirty="0"/>
          </a:p>
        </p:txBody>
      </p:sp>
      <p:sp>
        <p:nvSpPr>
          <p:cNvPr id="9" name="Pt 1 dot"/>
          <p:cNvSpPr/>
          <p:nvPr/>
        </p:nvSpPr>
        <p:spPr>
          <a:xfrm>
            <a:off x="548640" y="2807208"/>
            <a:ext cx="292608" cy="292608"/>
          </a:xfrm>
          <a:prstGeom prst="ellipse">
            <a:avLst/>
          </a:prstGeom>
          <a:solidFill>
            <a:schemeClr val="accent1"/>
          </a:solidFill>
          <a:ln/>
        </p:spPr>
      </p:sp>
      <p:sp>
        <p:nvSpPr>
          <p:cNvPr id="10" name="Pt 1 n"/>
          <p:cNvSpPr txBox="1"/>
          <p:nvPr/>
        </p:nvSpPr>
        <p:spPr>
          <a:xfrm>
            <a:off x="548640" y="2807208"/>
            <a:ext cx="292608" cy="292608"/>
          </a:xfrm>
          <a:prstGeom prst="rect">
            <a:avLst/>
          </a:prstGeom>
          <a:noFill/>
          <a:ln/>
        </p:spPr>
        <p:txBody>
          <a:bodyPr wrap="square" lIns="0" tIns="0" rIns="0" bIns="0" rtlCol="0" anchor="ctr"/>
          <a:lstStyle/>
          <a:p>
            <a:pPr algn="ctr" indent="0" marL="0">
              <a:buNone/>
            </a:pPr>
            <a:r>
              <a:rPr lang="vi-VN" sz="1100" b="1" dirty="0">
                <a:solidFill>
                  <a:schemeClr val="bg1"/>
                </a:solidFill>
              </a:rPr>
              <a:t>2</a:t>
            </a:r>
            <a:endParaRPr lang="vi-VN" sz="1100" dirty="0"/>
          </a:p>
        </p:txBody>
      </p:sp>
      <p:sp>
        <p:nvSpPr>
          <p:cNvPr id="11" name="Pt 1 text"/>
          <p:cNvSpPr txBox="1"/>
          <p:nvPr/>
        </p:nvSpPr>
        <p:spPr>
          <a:xfrm>
            <a:off x="1051560" y="2761488"/>
            <a:ext cx="5303520" cy="822960"/>
          </a:xfrm>
          <a:prstGeom prst="rect">
            <a:avLst/>
          </a:prstGeom>
          <a:noFill/>
          <a:ln/>
        </p:spPr>
        <p:txBody>
          <a:bodyPr wrap="square" lIns="0" tIns="0" rIns="0" bIns="0" rtlCol="0" anchor="t"/>
          <a:lstStyle/>
          <a:p>
            <a:pPr indent="0" marL="0">
              <a:buNone/>
            </a:pPr>
            <a:r>
              <a:rPr lang="vi-VN" sz="1600" b="1" dirty="0">
                <a:solidFill>
                  <a:schemeClr val="tx1"/>
                </a:solidFill>
              </a:rPr>
              <a:t>Khuyến nghị từ AI</a:t>
            </a:r>
            <a:endParaRPr lang="vi-VN" sz="1600" dirty="0"/>
          </a:p>
          <a:p>
            <a:pPr indent="0" marL="0">
              <a:buNone/>
            </a:pPr>
            <a:r>
              <a:rPr lang="vi-VN" sz="1600" dirty="0">
                <a:solidFill>
                  <a:schemeClr val="accent4"/>
                </a:solidFill>
              </a:rPr>
              <a:t>xếp hạng việc cần chú ý và cần kiểm tra.</a:t>
            </a:r>
            <a:endParaRPr lang="vi-VN" sz="1600" dirty="0"/>
          </a:p>
        </p:txBody>
      </p:sp>
      <p:sp>
        <p:nvSpPr>
          <p:cNvPr id="12" name="Pt 2 dot"/>
          <p:cNvSpPr/>
          <p:nvPr/>
        </p:nvSpPr>
        <p:spPr>
          <a:xfrm>
            <a:off x="548640" y="3739896"/>
            <a:ext cx="292608" cy="292608"/>
          </a:xfrm>
          <a:prstGeom prst="ellipse">
            <a:avLst/>
          </a:prstGeom>
          <a:solidFill>
            <a:schemeClr val="accent1"/>
          </a:solidFill>
          <a:ln/>
        </p:spPr>
      </p:sp>
      <p:sp>
        <p:nvSpPr>
          <p:cNvPr id="13" name="Pt 2 n"/>
          <p:cNvSpPr txBox="1"/>
          <p:nvPr/>
        </p:nvSpPr>
        <p:spPr>
          <a:xfrm>
            <a:off x="548640" y="3739896"/>
            <a:ext cx="292608" cy="292608"/>
          </a:xfrm>
          <a:prstGeom prst="rect">
            <a:avLst/>
          </a:prstGeom>
          <a:noFill/>
          <a:ln/>
        </p:spPr>
        <p:txBody>
          <a:bodyPr wrap="square" lIns="0" tIns="0" rIns="0" bIns="0" rtlCol="0" anchor="ctr"/>
          <a:lstStyle/>
          <a:p>
            <a:pPr algn="ctr" indent="0" marL="0">
              <a:buNone/>
            </a:pPr>
            <a:r>
              <a:rPr lang="vi-VN" sz="1100" b="1" dirty="0">
                <a:solidFill>
                  <a:schemeClr val="bg1"/>
                </a:solidFill>
              </a:rPr>
              <a:t>3</a:t>
            </a:r>
            <a:endParaRPr lang="vi-VN" sz="1100" dirty="0"/>
          </a:p>
        </p:txBody>
      </p:sp>
      <p:sp>
        <p:nvSpPr>
          <p:cNvPr id="14" name="Pt 2 text"/>
          <p:cNvSpPr txBox="1"/>
          <p:nvPr/>
        </p:nvSpPr>
        <p:spPr>
          <a:xfrm>
            <a:off x="1051560" y="3694176"/>
            <a:ext cx="5303520" cy="822960"/>
          </a:xfrm>
          <a:prstGeom prst="rect">
            <a:avLst/>
          </a:prstGeom>
          <a:noFill/>
          <a:ln/>
        </p:spPr>
        <p:txBody>
          <a:bodyPr wrap="square" lIns="0" tIns="0" rIns="0" bIns="0" rtlCol="0" anchor="t"/>
          <a:lstStyle/>
          <a:p>
            <a:pPr indent="0" marL="0">
              <a:buNone/>
            </a:pPr>
            <a:r>
              <a:rPr lang="vi-VN" sz="1600" b="1" dirty="0">
                <a:solidFill>
                  <a:schemeClr val="tx1"/>
                </a:solidFill>
              </a:rPr>
              <a:t>Cảnh báo sai lệch trước khi lỗi</a:t>
            </a:r>
            <a:endParaRPr lang="vi-VN" sz="1600" dirty="0"/>
          </a:p>
          <a:p>
            <a:pPr indent="0" marL="0">
              <a:buNone/>
            </a:pPr>
            <a:r>
              <a:rPr lang="vi-VN" sz="1600" dirty="0">
                <a:solidFill>
                  <a:schemeClr val="accent4"/>
                </a:solidFill>
              </a:rPr>
              <a:t>từng sản phẩm so với dung sai.</a:t>
            </a:r>
            <a:endParaRPr lang="vi-VN" sz="1600" dirty="0"/>
          </a:p>
        </p:txBody>
      </p:sp>
      <p:sp>
        <p:nvSpPr>
          <p:cNvPr id="15" name="Pt 3 dot"/>
          <p:cNvSpPr/>
          <p:nvPr/>
        </p:nvSpPr>
        <p:spPr>
          <a:xfrm>
            <a:off x="548640" y="4672584"/>
            <a:ext cx="292608" cy="292608"/>
          </a:xfrm>
          <a:prstGeom prst="ellipse">
            <a:avLst/>
          </a:prstGeom>
          <a:solidFill>
            <a:schemeClr val="accent1"/>
          </a:solidFill>
          <a:ln/>
        </p:spPr>
      </p:sp>
      <p:sp>
        <p:nvSpPr>
          <p:cNvPr id="16" name="Pt 3 n"/>
          <p:cNvSpPr txBox="1"/>
          <p:nvPr/>
        </p:nvSpPr>
        <p:spPr>
          <a:xfrm>
            <a:off x="548640" y="4672584"/>
            <a:ext cx="292608" cy="292608"/>
          </a:xfrm>
          <a:prstGeom prst="rect">
            <a:avLst/>
          </a:prstGeom>
          <a:noFill/>
          <a:ln/>
        </p:spPr>
        <p:txBody>
          <a:bodyPr wrap="square" lIns="0" tIns="0" rIns="0" bIns="0" rtlCol="0" anchor="ctr"/>
          <a:lstStyle/>
          <a:p>
            <a:pPr algn="ctr" indent="0" marL="0">
              <a:buNone/>
            </a:pPr>
            <a:r>
              <a:rPr lang="vi-VN" sz="1100" b="1" dirty="0">
                <a:solidFill>
                  <a:schemeClr val="bg1"/>
                </a:solidFill>
              </a:rPr>
              <a:t>4</a:t>
            </a:r>
            <a:endParaRPr lang="vi-VN" sz="1100" dirty="0"/>
          </a:p>
        </p:txBody>
      </p:sp>
      <p:sp>
        <p:nvSpPr>
          <p:cNvPr id="17" name="Pt 3 text"/>
          <p:cNvSpPr txBox="1"/>
          <p:nvPr/>
        </p:nvSpPr>
        <p:spPr>
          <a:xfrm>
            <a:off x="1051560" y="4626864"/>
            <a:ext cx="5303520" cy="822960"/>
          </a:xfrm>
          <a:prstGeom prst="rect">
            <a:avLst/>
          </a:prstGeom>
          <a:noFill/>
          <a:ln/>
        </p:spPr>
        <p:txBody>
          <a:bodyPr wrap="square" lIns="0" tIns="0" rIns="0" bIns="0" rtlCol="0" anchor="t"/>
          <a:lstStyle/>
          <a:p>
            <a:pPr indent="0" marL="0">
              <a:buNone/>
            </a:pPr>
            <a:r>
              <a:rPr lang="vi-VN" sz="1600" b="1" dirty="0">
                <a:solidFill>
                  <a:schemeClr val="tx1"/>
                </a:solidFill>
              </a:rPr>
              <a:t>Xuất dữ liệu từng sản phẩm</a:t>
            </a:r>
            <a:endParaRPr lang="vi-VN" sz="1600" dirty="0"/>
          </a:p>
          <a:p>
            <a:pPr indent="0" marL="0">
              <a:buNone/>
            </a:pPr>
            <a:r>
              <a:rPr lang="vi-VN" sz="1600" dirty="0">
                <a:solidFill>
                  <a:schemeClr val="accent4"/>
                </a:solidFill>
              </a:rPr>
              <a:t>ra CSV hoặc Excel.</a:t>
            </a:r>
            <a:endParaRPr lang="vi-VN" sz="1600" dirty="0"/>
          </a:p>
        </p:txBody>
      </p:sp>
      <p:sp>
        <p:nvSpPr>
          <p:cNvPr id="18" name="Text 15"/>
          <p:cNvSpPr txBox="1"/>
          <p:nvPr/>
        </p:nvSpPr>
        <p:spPr>
          <a:xfrm>
            <a:off x="6400800" y="5806440"/>
            <a:ext cx="5239512" cy="274320"/>
          </a:xfrm>
          <a:prstGeom prst="rect">
            <a:avLst/>
          </a:prstGeom>
          <a:noFill/>
          <a:ln/>
        </p:spPr>
        <p:txBody>
          <a:bodyPr wrap="square" lIns="0" tIns="0" rIns="0" bIns="0" rtlCol="0" anchor="ctr"/>
          <a:lstStyle/>
          <a:p>
            <a:pPr algn="r" indent="0" marL="0">
              <a:buNone/>
            </a:pPr>
            <a:r>
              <a:rPr lang="vi-VN" sz="1000" dirty="0">
                <a:solidFill>
                  <a:schemeClr val="accent6"/>
                </a:solidFill>
              </a:rPr>
              <a:t>Màn hình Đo lường, dữ liệu mẫu.</a:t>
            </a:r>
            <a:endParaRPr lang="vi-VN" sz="1000" dirty="0"/>
          </a:p>
        </p:txBody>
      </p:sp>
      <p:sp>
        <p:nvSpPr>
          <p:cNvPr id="19" name="Back link"/>
          <p:cNvSpPr txBox="1"/>
          <p:nvPr/>
        </p:nvSpPr>
        <p:spPr>
          <a:xfrm>
            <a:off x="8716975" y="6382512"/>
            <a:ext cx="2194560" cy="310896"/>
          </a:xfrm>
          <a:prstGeom prst="rect">
            <a:avLst/>
          </a:prstGeom>
          <a:noFill/>
          <a:ln/>
        </p:spPr>
        <p:txBody>
          <a:bodyPr wrap="square" lIns="0" tIns="0" rIns="0" bIns="0" rtlCol="0" anchor="ctr"/>
          <a:lstStyle/>
          <a:p>
            <a:pPr algn="r" indent="0" marL="0">
              <a:buNone/>
            </a:pPr>
            <a:r>
              <a:rPr lang="vi-VN" sz="1100" u="sng" dirty="0">
                <a:solidFill>
                  <a:schemeClr val="accent1"/>
                </a:solidFill>
                <a:hlinkClick r:id="rId2" action="ppaction://hlinksldjump" tooltip="Back to capabilities">
                  <a:extLst>
                    <a:ext uri="{A12FA001-AC4F-418D-AE19-62706E023703}">
                      <ahyp:hlinkClr xmlns:ahyp="http://schemas.microsoft.com/office/drawing/2018/hyperlinkcolor" val="tx"/>
                    </a:ext>
                  </a:extLst>
                </a:hlinkClick>
              </a:rPr>
              <a:t>← Tất cả tính năng</a:t>
            </a:r>
            <a:endParaRPr lang="vi-VN"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vi-VN"/>
              <a:t>8</a:t>
            </a:fld>
            <a:endParaRPr lang="vi-V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50"/>
                                        <p:tgtEl>
                                          <p:spTgt spid="9"/>
                                        </p:tgtEl>
                                      </p:cBhvr>
                                    </p:animEffect>
                                  </p:childTnLst>
                                </p:cTn>
                              </p:par>
                              <p:par>
                                <p:cTn id="17" presetID="10" presetClass="entr" presetSubtype="0" fill="hold" grpId="0" nodeType="withEffect">
                                  <p:stCondLst>
                                    <p:cond delay="25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50"/>
                                        <p:tgtEl>
                                          <p:spTgt spid="10"/>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50"/>
                                        <p:tgtEl>
                                          <p:spTgt spid="12"/>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par>
                                <p:cTn id="32" presetID="10" presetClass="entr" presetSubtype="0" fill="hold" grpId="0" nodeType="withEffect">
                                  <p:stCondLst>
                                    <p:cond delay="75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50"/>
                                        <p:tgtEl>
                                          <p:spTgt spid="15"/>
                                        </p:tgtEl>
                                      </p:cBhvr>
                                    </p:animEffect>
                                  </p:childTnLst>
                                </p:cTn>
                              </p:par>
                              <p:par>
                                <p:cTn id="35" presetID="10" presetClass="entr" presetSubtype="0" fill="hold" grpId="0" nodeType="withEffect">
                                  <p:stCondLst>
                                    <p:cond delay="75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50"/>
                                        <p:tgtEl>
                                          <p:spTgt spid="16"/>
                                        </p:tgtEl>
                                      </p:cBhvr>
                                    </p:animEffect>
                                  </p:childTnLst>
                                </p:cTn>
                              </p:par>
                              <p:par>
                                <p:cTn id="38" presetID="10" presetClass="entr" presetSubtype="0" fill="hold" grpId="0" nodeType="withEffect">
                                  <p:stCondLst>
                                    <p:cond delay="75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vi-VN" sz="1100" b="1" spc="300" kern="0" dirty="0">
                <a:solidFill>
                  <a:schemeClr val="accent1"/>
                </a:solidFill>
              </a:rPr>
              <a:t>THỜI GIAN VÀ CHI PHÍ</a:t>
            </a:r>
            <a:endParaRPr lang="vi-VN"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vi-VN" sz="3600" b="1" dirty="0">
                <a:solidFill>
                  <a:schemeClr val="tx2"/>
                </a:solidFill>
              </a:rPr>
              <a:t>Vận hành trong ngày. Không cần dự án tích hợp.</a:t>
            </a:r>
            <a:endParaRPr lang="vi-VN" sz="3600" dirty="0"/>
          </a:p>
        </p:txBody>
      </p:sp>
      <p:sp>
        <p:nvSpPr>
          <p:cNvPr id="4" name="grid 50"/>
          <p:cNvSpPr/>
          <p:nvPr/>
        </p:nvSpPr>
        <p:spPr>
          <a:xfrm>
            <a:off x="1828800" y="4234815"/>
            <a:ext cx="9601200" cy="0"/>
          </a:xfrm>
          <a:prstGeom prst="line">
            <a:avLst/>
          </a:prstGeom>
          <a:noFill/>
          <a:ln w="12700">
            <a:solidFill>
              <a:srgbClr val="E6E4DC"/>
            </a:solidFill>
            <a:prstDash val="solid"/>
          </a:ln>
        </p:spPr>
      </p:sp>
      <p:sp>
        <p:nvSpPr>
          <p:cNvPr id="5" name="grid 100"/>
          <p:cNvSpPr/>
          <p:nvPr/>
        </p:nvSpPr>
        <p:spPr>
          <a:xfrm>
            <a:off x="1828800" y="3120390"/>
            <a:ext cx="9601200" cy="0"/>
          </a:xfrm>
          <a:prstGeom prst="line">
            <a:avLst/>
          </a:prstGeom>
          <a:noFill/>
          <a:ln w="12700">
            <a:solidFill>
              <a:srgbClr val="E6E4DC"/>
            </a:solidFill>
            <a:prstDash val="solid"/>
          </a:ln>
        </p:spPr>
      </p:sp>
      <p:sp>
        <p:nvSpPr>
          <p:cNvPr id="6" name="grid 150"/>
          <p:cNvSpPr/>
          <p:nvPr/>
        </p:nvSpPr>
        <p:spPr>
          <a:xfrm>
            <a:off x="1828800" y="2005965"/>
            <a:ext cx="9601200" cy="0"/>
          </a:xfrm>
          <a:prstGeom prst="line">
            <a:avLst/>
          </a:prstGeom>
          <a:noFill/>
          <a:ln w="12700">
            <a:solidFill>
              <a:srgbClr val="E6E4DC"/>
            </a:solidFill>
            <a:prstDash val="solid"/>
          </a:ln>
        </p:spPr>
      </p:sp>
      <p:sp>
        <p:nvSpPr>
          <p:cNvPr id="7" name="ylab 0"/>
          <p:cNvSpPr txBox="1"/>
          <p:nvPr/>
        </p:nvSpPr>
        <p:spPr>
          <a:xfrm>
            <a:off x="1051560" y="5212080"/>
            <a:ext cx="685800" cy="274320"/>
          </a:xfrm>
          <a:prstGeom prst="rect">
            <a:avLst/>
          </a:prstGeom>
          <a:noFill/>
          <a:ln/>
        </p:spPr>
        <p:txBody>
          <a:bodyPr wrap="square" lIns="0" tIns="0" rIns="0" bIns="0" rtlCol="0" anchor="ctr"/>
          <a:lstStyle/>
          <a:p>
            <a:pPr algn="r" indent="0" marL="0">
              <a:buNone/>
            </a:pPr>
            <a:r>
              <a:rPr lang="vi-VN" sz="1200" dirty="0">
                <a:solidFill>
                  <a:schemeClr val="accent4"/>
                </a:solidFill>
              </a:rPr>
              <a:t>$0</a:t>
            </a:r>
            <a:endParaRPr lang="vi-VN" sz="1200" dirty="0"/>
          </a:p>
        </p:txBody>
      </p:sp>
      <p:sp>
        <p:nvSpPr>
          <p:cNvPr id="8" name="ylab 50"/>
          <p:cNvSpPr txBox="1"/>
          <p:nvPr/>
        </p:nvSpPr>
        <p:spPr>
          <a:xfrm>
            <a:off x="1051560" y="4097655"/>
            <a:ext cx="685800" cy="274320"/>
          </a:xfrm>
          <a:prstGeom prst="rect">
            <a:avLst/>
          </a:prstGeom>
          <a:noFill/>
          <a:ln/>
        </p:spPr>
        <p:txBody>
          <a:bodyPr wrap="square" lIns="0" tIns="0" rIns="0" bIns="0" rtlCol="0" anchor="ctr"/>
          <a:lstStyle/>
          <a:p>
            <a:pPr algn="r" indent="0" marL="0">
              <a:buNone/>
            </a:pPr>
            <a:r>
              <a:rPr lang="vi-VN" sz="1200" dirty="0">
                <a:solidFill>
                  <a:schemeClr val="accent4"/>
                </a:solidFill>
              </a:rPr>
              <a:t>$50k</a:t>
            </a:r>
            <a:endParaRPr lang="vi-VN" sz="1200" dirty="0"/>
          </a:p>
        </p:txBody>
      </p:sp>
      <p:sp>
        <p:nvSpPr>
          <p:cNvPr id="9" name="ylab 100"/>
          <p:cNvSpPr txBox="1"/>
          <p:nvPr/>
        </p:nvSpPr>
        <p:spPr>
          <a:xfrm>
            <a:off x="1051560" y="2983230"/>
            <a:ext cx="685800" cy="274320"/>
          </a:xfrm>
          <a:prstGeom prst="rect">
            <a:avLst/>
          </a:prstGeom>
          <a:noFill/>
          <a:ln/>
        </p:spPr>
        <p:txBody>
          <a:bodyPr wrap="square" lIns="0" tIns="0" rIns="0" bIns="0" rtlCol="0" anchor="ctr"/>
          <a:lstStyle/>
          <a:p>
            <a:pPr algn="r" indent="0" marL="0">
              <a:buNone/>
            </a:pPr>
            <a:r>
              <a:rPr lang="vi-VN" sz="1200" dirty="0">
                <a:solidFill>
                  <a:schemeClr val="accent4"/>
                </a:solidFill>
              </a:rPr>
              <a:t>$100k</a:t>
            </a:r>
            <a:endParaRPr lang="vi-VN" sz="1200" dirty="0"/>
          </a:p>
        </p:txBody>
      </p:sp>
      <p:sp>
        <p:nvSpPr>
          <p:cNvPr id="10" name="ylab 150"/>
          <p:cNvSpPr txBox="1"/>
          <p:nvPr/>
        </p:nvSpPr>
        <p:spPr>
          <a:xfrm>
            <a:off x="1051560" y="1868805"/>
            <a:ext cx="685800" cy="274320"/>
          </a:xfrm>
          <a:prstGeom prst="rect">
            <a:avLst/>
          </a:prstGeom>
          <a:noFill/>
          <a:ln/>
        </p:spPr>
        <p:txBody>
          <a:bodyPr wrap="square" lIns="0" tIns="0" rIns="0" bIns="0" rtlCol="0" anchor="ctr"/>
          <a:lstStyle/>
          <a:p>
            <a:pPr algn="r" indent="0" marL="0">
              <a:buNone/>
            </a:pPr>
            <a:r>
              <a:rPr lang="vi-VN" sz="1200" dirty="0">
                <a:solidFill>
                  <a:schemeClr val="accent4"/>
                </a:solidFill>
              </a:rPr>
              <a:t>$150k</a:t>
            </a:r>
            <a:endParaRPr lang="vi-VN" sz="1200" dirty="0"/>
          </a:p>
        </p:txBody>
      </p:sp>
      <p:sp>
        <p:nvSpPr>
          <p:cNvPr id="11" name="xt 1"/>
          <p:cNvSpPr/>
          <p:nvPr/>
        </p:nvSpPr>
        <p:spPr>
          <a:xfrm>
            <a:off x="2939554" y="5349240"/>
            <a:ext cx="0" cy="73152"/>
          </a:xfrm>
          <a:prstGeom prst="line">
            <a:avLst/>
          </a:prstGeom>
          <a:noFill/>
          <a:ln w="12700">
            <a:solidFill>
              <a:srgbClr val="8B8D92"/>
            </a:solidFill>
            <a:prstDash val="solid"/>
          </a:ln>
        </p:spPr>
      </p:sp>
      <p:sp>
        <p:nvSpPr>
          <p:cNvPr id="12" name="xlab 1"/>
          <p:cNvSpPr txBox="1"/>
          <p:nvPr/>
        </p:nvSpPr>
        <p:spPr>
          <a:xfrm>
            <a:off x="2390914" y="5440680"/>
            <a:ext cx="1097280" cy="256032"/>
          </a:xfrm>
          <a:prstGeom prst="rect">
            <a:avLst/>
          </a:prstGeom>
          <a:noFill/>
          <a:ln/>
        </p:spPr>
        <p:txBody>
          <a:bodyPr wrap="square" lIns="0" tIns="0" rIns="0" bIns="0" rtlCol="0" anchor="ctr"/>
          <a:lstStyle/>
          <a:p>
            <a:pPr algn="ctr" indent="0" marL="0">
              <a:buNone/>
            </a:pPr>
            <a:r>
              <a:rPr lang="vi-VN" sz="1200" dirty="0">
                <a:solidFill>
                  <a:schemeClr val="accent4"/>
                </a:solidFill>
              </a:rPr>
              <a:t>Trong ngày</a:t>
            </a:r>
            <a:endParaRPr lang="vi-VN" sz="1200" dirty="0"/>
          </a:p>
        </p:txBody>
      </p:sp>
      <p:sp>
        <p:nvSpPr>
          <p:cNvPr id="13" name="xt 7"/>
          <p:cNvSpPr/>
          <p:nvPr/>
        </p:nvSpPr>
        <p:spPr>
          <a:xfrm>
            <a:off x="6057836" y="5349240"/>
            <a:ext cx="0" cy="73152"/>
          </a:xfrm>
          <a:prstGeom prst="line">
            <a:avLst/>
          </a:prstGeom>
          <a:noFill/>
          <a:ln w="12700">
            <a:solidFill>
              <a:srgbClr val="8B8D92"/>
            </a:solidFill>
            <a:prstDash val="solid"/>
          </a:ln>
        </p:spPr>
      </p:sp>
      <p:sp>
        <p:nvSpPr>
          <p:cNvPr id="14" name="xlab 7"/>
          <p:cNvSpPr txBox="1"/>
          <p:nvPr/>
        </p:nvSpPr>
        <p:spPr>
          <a:xfrm>
            <a:off x="5509196" y="5440680"/>
            <a:ext cx="1097280" cy="256032"/>
          </a:xfrm>
          <a:prstGeom prst="rect">
            <a:avLst/>
          </a:prstGeom>
          <a:noFill/>
          <a:ln/>
        </p:spPr>
        <p:txBody>
          <a:bodyPr wrap="square" lIns="0" tIns="0" rIns="0" bIns="0" rtlCol="0" anchor="ctr"/>
          <a:lstStyle/>
          <a:p>
            <a:pPr algn="ctr" indent="0" marL="0">
              <a:buNone/>
            </a:pPr>
            <a:r>
              <a:rPr lang="vi-VN" sz="1200" dirty="0">
                <a:solidFill>
                  <a:schemeClr val="accent4"/>
                </a:solidFill>
              </a:rPr>
              <a:t>1 tuần</a:t>
            </a:r>
            <a:endParaRPr lang="vi-VN" sz="1200" dirty="0"/>
          </a:p>
        </p:txBody>
      </p:sp>
      <p:sp>
        <p:nvSpPr>
          <p:cNvPr id="15" name="xt 30"/>
          <p:cNvSpPr/>
          <p:nvPr/>
        </p:nvSpPr>
        <p:spPr>
          <a:xfrm>
            <a:off x="8389904" y="5349240"/>
            <a:ext cx="0" cy="73152"/>
          </a:xfrm>
          <a:prstGeom prst="line">
            <a:avLst/>
          </a:prstGeom>
          <a:noFill/>
          <a:ln w="12700">
            <a:solidFill>
              <a:srgbClr val="8B8D92"/>
            </a:solidFill>
            <a:prstDash val="solid"/>
          </a:ln>
        </p:spPr>
      </p:sp>
      <p:sp>
        <p:nvSpPr>
          <p:cNvPr id="16" name="xlab 30"/>
          <p:cNvSpPr txBox="1"/>
          <p:nvPr/>
        </p:nvSpPr>
        <p:spPr>
          <a:xfrm>
            <a:off x="7841264" y="5440680"/>
            <a:ext cx="1097280" cy="256032"/>
          </a:xfrm>
          <a:prstGeom prst="rect">
            <a:avLst/>
          </a:prstGeom>
          <a:noFill/>
          <a:ln/>
        </p:spPr>
        <p:txBody>
          <a:bodyPr wrap="square" lIns="0" tIns="0" rIns="0" bIns="0" rtlCol="0" anchor="ctr"/>
          <a:lstStyle/>
          <a:p>
            <a:pPr algn="ctr" indent="0" marL="0">
              <a:buNone/>
            </a:pPr>
            <a:r>
              <a:rPr lang="vi-VN" sz="1200" dirty="0">
                <a:solidFill>
                  <a:schemeClr val="accent4"/>
                </a:solidFill>
              </a:rPr>
              <a:t>1 tháng</a:t>
            </a:r>
            <a:endParaRPr lang="vi-VN" sz="1200" dirty="0"/>
          </a:p>
        </p:txBody>
      </p:sp>
      <p:sp>
        <p:nvSpPr>
          <p:cNvPr id="17" name="xt 90"/>
          <p:cNvSpPr/>
          <p:nvPr/>
        </p:nvSpPr>
        <p:spPr>
          <a:xfrm>
            <a:off x="10150408" y="5349240"/>
            <a:ext cx="0" cy="73152"/>
          </a:xfrm>
          <a:prstGeom prst="line">
            <a:avLst/>
          </a:prstGeom>
          <a:noFill/>
          <a:ln w="12700">
            <a:solidFill>
              <a:srgbClr val="8B8D92"/>
            </a:solidFill>
            <a:prstDash val="solid"/>
          </a:ln>
        </p:spPr>
      </p:sp>
      <p:sp>
        <p:nvSpPr>
          <p:cNvPr id="18" name="xlab 90"/>
          <p:cNvSpPr txBox="1"/>
          <p:nvPr/>
        </p:nvSpPr>
        <p:spPr>
          <a:xfrm>
            <a:off x="9601768" y="5440680"/>
            <a:ext cx="1097280" cy="256032"/>
          </a:xfrm>
          <a:prstGeom prst="rect">
            <a:avLst/>
          </a:prstGeom>
          <a:noFill/>
          <a:ln/>
        </p:spPr>
        <p:txBody>
          <a:bodyPr wrap="square" lIns="0" tIns="0" rIns="0" bIns="0" rtlCol="0" anchor="ctr"/>
          <a:lstStyle/>
          <a:p>
            <a:pPr algn="ctr" indent="0" marL="0">
              <a:buNone/>
            </a:pPr>
            <a:r>
              <a:rPr lang="vi-VN" sz="1200" dirty="0">
                <a:solidFill>
                  <a:schemeClr val="accent4"/>
                </a:solidFill>
              </a:rPr>
              <a:t>3 tháng</a:t>
            </a:r>
            <a:endParaRPr lang="vi-VN" sz="1200" dirty="0"/>
          </a:p>
        </p:txBody>
      </p:sp>
      <p:sp>
        <p:nvSpPr>
          <p:cNvPr id="19" name="xt 180"/>
          <p:cNvSpPr/>
          <p:nvPr/>
        </p:nvSpPr>
        <p:spPr>
          <a:xfrm>
            <a:off x="11261162" y="5349240"/>
            <a:ext cx="0" cy="73152"/>
          </a:xfrm>
          <a:prstGeom prst="line">
            <a:avLst/>
          </a:prstGeom>
          <a:noFill/>
          <a:ln w="12700">
            <a:solidFill>
              <a:srgbClr val="8B8D92"/>
            </a:solidFill>
            <a:prstDash val="solid"/>
          </a:ln>
        </p:spPr>
      </p:sp>
      <p:sp>
        <p:nvSpPr>
          <p:cNvPr id="20" name="xlab 180"/>
          <p:cNvSpPr txBox="1"/>
          <p:nvPr/>
        </p:nvSpPr>
        <p:spPr>
          <a:xfrm>
            <a:off x="10712522" y="5440680"/>
            <a:ext cx="1097280" cy="256032"/>
          </a:xfrm>
          <a:prstGeom prst="rect">
            <a:avLst/>
          </a:prstGeom>
          <a:noFill/>
          <a:ln/>
        </p:spPr>
        <p:txBody>
          <a:bodyPr wrap="square" lIns="0" tIns="0" rIns="0" bIns="0" rtlCol="0" anchor="ctr"/>
          <a:lstStyle/>
          <a:p>
            <a:pPr algn="ctr" indent="0" marL="0">
              <a:buNone/>
            </a:pPr>
            <a:r>
              <a:rPr lang="vi-VN" sz="1200" dirty="0">
                <a:solidFill>
                  <a:schemeClr val="accent4"/>
                </a:solidFill>
              </a:rPr>
              <a:t>6 tháng</a:t>
            </a:r>
            <a:endParaRPr lang="vi-VN" sz="1200" dirty="0"/>
          </a:p>
        </p:txBody>
      </p:sp>
      <p:sp>
        <p:nvSpPr>
          <p:cNvPr id="21" name="xaxis"/>
          <p:cNvSpPr/>
          <p:nvPr/>
        </p:nvSpPr>
        <p:spPr>
          <a:xfrm>
            <a:off x="1828800" y="5349240"/>
            <a:ext cx="9601200" cy="0"/>
          </a:xfrm>
          <a:prstGeom prst="line">
            <a:avLst/>
          </a:prstGeom>
          <a:noFill/>
          <a:ln w="15875">
            <a:solidFill>
              <a:srgbClr val="8B8D92"/>
            </a:solidFill>
            <a:prstDash val="solid"/>
          </a:ln>
        </p:spPr>
      </p:sp>
      <p:sp>
        <p:nvSpPr>
          <p:cNvPr id="22" name="yaxis"/>
          <p:cNvSpPr/>
          <p:nvPr/>
        </p:nvSpPr>
        <p:spPr>
          <a:xfrm>
            <a:off x="1828800" y="1783080"/>
            <a:ext cx="0" cy="3566160"/>
          </a:xfrm>
          <a:prstGeom prst="line">
            <a:avLst/>
          </a:prstGeom>
          <a:noFill/>
          <a:ln w="15875">
            <a:solidFill>
              <a:srgbClr val="8B8D92"/>
            </a:solidFill>
            <a:prstDash val="solid"/>
          </a:ln>
        </p:spPr>
      </p:sp>
      <p:sp>
        <p:nvSpPr>
          <p:cNvPr id="23" name="xtitle"/>
          <p:cNvSpPr txBox="1"/>
          <p:nvPr/>
        </p:nvSpPr>
        <p:spPr>
          <a:xfrm>
            <a:off x="1828800" y="5733288"/>
            <a:ext cx="9601200" cy="274320"/>
          </a:xfrm>
          <a:prstGeom prst="rect">
            <a:avLst/>
          </a:prstGeom>
          <a:noFill/>
          <a:ln/>
        </p:spPr>
        <p:txBody>
          <a:bodyPr wrap="square" lIns="0" tIns="0" rIns="0" bIns="0" rtlCol="0" anchor="ctr"/>
          <a:lstStyle/>
          <a:p>
            <a:pPr algn="ctr" indent="0" marL="0">
              <a:buNone/>
            </a:pPr>
            <a:r>
              <a:rPr lang="vi-VN" sz="1300" b="1" dirty="0">
                <a:solidFill>
                  <a:schemeClr val="tx2"/>
                </a:solidFill>
              </a:rPr>
              <a:t>Thời gian đến khi vận hành</a:t>
            </a:r>
            <a:endParaRPr lang="vi-VN" sz="1300" dirty="0"/>
          </a:p>
        </p:txBody>
      </p:sp>
      <p:sp>
        <p:nvSpPr>
          <p:cNvPr id="24" name="ytitle"/>
          <p:cNvSpPr txBox="1"/>
          <p:nvPr/>
        </p:nvSpPr>
        <p:spPr>
          <a:xfrm rot="16200000">
            <a:off x="-777240" y="3429000"/>
            <a:ext cx="3017520" cy="274320"/>
          </a:xfrm>
          <a:prstGeom prst="rect">
            <a:avLst/>
          </a:prstGeom>
          <a:noFill/>
          <a:ln/>
        </p:spPr>
        <p:txBody>
          <a:bodyPr wrap="square" lIns="0" tIns="0" rIns="0" bIns="0" rtlCol="0" anchor="ctr"/>
          <a:lstStyle/>
          <a:p>
            <a:pPr algn="ctr" indent="0" marL="0">
              <a:buNone/>
            </a:pPr>
            <a:r>
              <a:rPr lang="vi-VN" sz="1300" b="1" dirty="0">
                <a:solidFill>
                  <a:schemeClr val="tx2"/>
                </a:solidFill>
              </a:rPr>
              <a:t>Chi phí năm đầu mỗi trạm</a:t>
            </a:r>
            <a:endParaRPr lang="vi-VN" sz="1300" dirty="0"/>
          </a:p>
        </p:txBody>
      </p:sp>
      <p:sp>
        <p:nvSpPr>
          <p:cNvPr id="25" name="integrator zone"/>
          <p:cNvSpPr/>
          <p:nvPr/>
        </p:nvSpPr>
        <p:spPr>
          <a:xfrm>
            <a:off x="7168590" y="2005965"/>
            <a:ext cx="4092572" cy="2674620"/>
          </a:xfrm>
          <a:prstGeom prst="rect">
            <a:avLst/>
          </a:prstGeom>
          <a:solidFill>
            <a:srgbClr val="8B8D92">
              <a:alpha val="45000"/>
            </a:srgbClr>
          </a:solidFill>
          <a:ln w="12700">
            <a:solidFill>
              <a:srgbClr val="8B8D92"/>
            </a:solidFill>
            <a:prstDash val="solid"/>
          </a:ln>
        </p:spPr>
      </p:sp>
      <p:sp>
        <p:nvSpPr>
          <p:cNvPr id="26" name="integrator label"/>
          <p:cNvSpPr txBox="1"/>
          <p:nvPr/>
        </p:nvSpPr>
        <p:spPr>
          <a:xfrm>
            <a:off x="7305750" y="2115693"/>
            <a:ext cx="3840480" cy="548640"/>
          </a:xfrm>
          <a:prstGeom prst="rect">
            <a:avLst/>
          </a:prstGeom>
          <a:noFill/>
          <a:ln/>
        </p:spPr>
        <p:txBody>
          <a:bodyPr wrap="square" lIns="0" tIns="0" rIns="0" bIns="0" rtlCol="0" anchor="t"/>
          <a:lstStyle/>
          <a:p>
            <a:pPr indent="0" marL="0">
              <a:buNone/>
            </a:pPr>
            <a:r>
              <a:rPr lang="vi-VN" sz="1600" b="1" dirty="0">
                <a:solidFill>
                  <a:schemeClr val="tx1"/>
                </a:solidFill>
              </a:rPr>
              <a:t>Thị giác máy do nhà tích hợp làm</a:t>
            </a:r>
            <a:endParaRPr lang="vi-VN" sz="1600" dirty="0"/>
          </a:p>
          <a:p>
            <a:pPr indent="0" marL="0">
              <a:buNone/>
            </a:pPr>
            <a:r>
              <a:rPr lang="vi-VN" sz="1300" dirty="0">
                <a:solidFill>
                  <a:schemeClr val="tx1"/>
                </a:solidFill>
              </a:rPr>
              <a:t>Vài tuần đến vài tháng · $30k–150k</a:t>
            </a:r>
            <a:endParaRPr lang="vi-VN" sz="1600" dirty="0"/>
          </a:p>
        </p:txBody>
      </p:sp>
      <p:sp>
        <p:nvSpPr>
          <p:cNvPr id="27" name="platform zone"/>
          <p:cNvSpPr/>
          <p:nvPr/>
        </p:nvSpPr>
        <p:spPr>
          <a:xfrm>
            <a:off x="6057836" y="3410141"/>
            <a:ext cx="2221509" cy="1582483"/>
          </a:xfrm>
          <a:prstGeom prst="rect">
            <a:avLst/>
          </a:prstGeom>
          <a:solidFill>
            <a:srgbClr val="2F5D8A">
              <a:alpha val="35000"/>
            </a:srgbClr>
          </a:solidFill>
          <a:ln w="12700">
            <a:solidFill>
              <a:srgbClr val="2F5D8A"/>
            </a:solidFill>
            <a:prstDash val="solid"/>
          </a:ln>
        </p:spPr>
      </p:sp>
      <p:sp>
        <p:nvSpPr>
          <p:cNvPr id="28" name="platform label"/>
          <p:cNvSpPr txBox="1"/>
          <p:nvPr/>
        </p:nvSpPr>
        <p:spPr>
          <a:xfrm>
            <a:off x="2628836" y="3364421"/>
            <a:ext cx="3291840" cy="548640"/>
          </a:xfrm>
          <a:prstGeom prst="rect">
            <a:avLst/>
          </a:prstGeom>
          <a:noFill/>
          <a:ln/>
        </p:spPr>
        <p:txBody>
          <a:bodyPr wrap="square" lIns="0" tIns="0" rIns="0" bIns="0" rtlCol="0" anchor="t"/>
          <a:lstStyle/>
          <a:p>
            <a:pPr algn="r" indent="0" marL="0">
              <a:buNone/>
            </a:pPr>
            <a:r>
              <a:rPr lang="vi-VN" sz="1600" b="1" dirty="0">
                <a:solidFill>
                  <a:schemeClr val="tx1"/>
                </a:solidFill>
              </a:rPr>
              <a:t>Nền tảng thị giác AI</a:t>
            </a:r>
            <a:endParaRPr lang="vi-VN" sz="1600" dirty="0"/>
          </a:p>
          <a:p>
            <a:pPr algn="r" indent="0" marL="0">
              <a:buNone/>
            </a:pPr>
            <a:r>
              <a:rPr lang="vi-VN" sz="1300" dirty="0">
                <a:solidFill>
                  <a:schemeClr val="tx1"/>
                </a:solidFill>
              </a:rPr>
              <a:t>1–4 tuần · ≈ $16k–87k</a:t>
            </a:r>
            <a:endParaRPr lang="vi-VN" sz="1600" dirty="0"/>
          </a:p>
        </p:txBody>
      </p:sp>
      <p:sp>
        <p:nvSpPr>
          <p:cNvPr id="29" name="us dot"/>
          <p:cNvSpPr/>
          <p:nvPr/>
        </p:nvSpPr>
        <p:spPr>
          <a:xfrm>
            <a:off x="2756674" y="5032629"/>
            <a:ext cx="365760" cy="365760"/>
          </a:xfrm>
          <a:prstGeom prst="ellipse">
            <a:avLst/>
          </a:prstGeom>
          <a:solidFill>
            <a:schemeClr val="accent2"/>
          </a:solidFill>
          <a:ln w="25400">
            <a:solidFill>
              <a:schemeClr val="bg1"/>
            </a:solidFill>
            <a:prstDash val="solid"/>
          </a:ln>
        </p:spPr>
      </p:sp>
      <p:sp>
        <p:nvSpPr>
          <p:cNvPr id="30" name="us label"/>
          <p:cNvSpPr txBox="1"/>
          <p:nvPr/>
        </p:nvSpPr>
        <p:spPr>
          <a:xfrm>
            <a:off x="3213874" y="4346829"/>
            <a:ext cx="3108960" cy="594360"/>
          </a:xfrm>
          <a:prstGeom prst="rect">
            <a:avLst/>
          </a:prstGeom>
          <a:noFill/>
          <a:ln/>
        </p:spPr>
        <p:txBody>
          <a:bodyPr wrap="square" lIns="0" tIns="0" rIns="0" bIns="0" rtlCol="0" anchor="b"/>
          <a:lstStyle/>
          <a:p>
            <a:pPr indent="0" marL="0">
              <a:buNone/>
            </a:pPr>
            <a:r>
              <a:rPr lang="vi-VN" sz="2000" b="1" dirty="0">
                <a:solidFill>
                  <a:schemeClr val="accent2"/>
                </a:solidFill>
              </a:rPr>
              <a:t>MetriQ</a:t>
            </a:r>
            <a:endParaRPr lang="vi-VN" sz="2000" dirty="0"/>
          </a:p>
          <a:p>
            <a:pPr indent="0" marL="0">
              <a:buNone/>
            </a:pPr>
            <a:r>
              <a:rPr lang="vi-VN" sz="1300" dirty="0">
                <a:solidFill>
                  <a:schemeClr val="tx1"/>
                </a:solidFill>
              </a:rPr>
              <a:t>Trong ngày · không phí tích hợp</a:t>
            </a:r>
            <a:endParaRPr lang="vi-VN" sz="2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vi-VN"/>
              <a:t>9</a:t>
            </a:fld>
            <a:endParaRPr lang="vi-V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450"/>
                                        <p:tgtEl>
                                          <p:spTgt spid="24"/>
                                        </p:tgtEl>
                                      </p:cBhvr>
                                    </p:animEffect>
                                  </p:childTnLst>
                                </p:cTn>
                              </p:par>
                              <p:par>
                                <p:cTn id="68" presetID="10" presetClass="entr" presetSubtype="0" fill="hold" grpId="0" nodeType="withEffect">
                                  <p:stCondLst>
                                    <p:cond delay="90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90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180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450"/>
                                        <p:tgtEl>
                                          <p:spTgt spid="27"/>
                                        </p:tgtEl>
                                      </p:cBhvr>
                                    </p:animEffect>
                                  </p:childTnLst>
                                </p:cTn>
                              </p:par>
                              <p:par>
                                <p:cTn id="77" presetID="10" presetClass="entr" presetSubtype="0" fill="hold" grpId="0" nodeType="withEffect">
                                  <p:stCondLst>
                                    <p:cond delay="180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450"/>
                                        <p:tgtEl>
                                          <p:spTgt spid="28"/>
                                        </p:tgtEl>
                                      </p:cBhvr>
                                    </p:animEffect>
                                  </p:childTnLst>
                                </p:cTn>
                              </p:par>
                              <p:par>
                                <p:cTn id="80" presetID="10" presetClass="entr" presetSubtype="0" fill="hold" grpId="0" nodeType="withEffect">
                                  <p:stCondLst>
                                    <p:cond delay="270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450"/>
                                        <p:tgtEl>
                                          <p:spTgt spid="29"/>
                                        </p:tgtEl>
                                      </p:cBhvr>
                                    </p:animEffect>
                                  </p:childTnLst>
                                </p:cTn>
                              </p:par>
                              <p:par>
                                <p:cTn id="83" presetID="10" presetClass="entr" presetSubtype="0" fill="hold" grpId="0" nodeType="withEffect">
                                  <p:stCondLst>
                                    <p:cond delay="270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vi-VN" sz="1100" b="1" spc="300" kern="0" dirty="0">
                <a:solidFill>
                  <a:schemeClr val="accent1"/>
                </a:solidFill>
              </a:rPr>
              <a:t>TÍCH HỢP</a:t>
            </a:r>
            <a:endParaRPr lang="vi-VN"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vi-VN" sz="3600" b="1" dirty="0">
                <a:solidFill>
                  <a:schemeClr val="tx2"/>
                </a:solidFill>
              </a:rPr>
              <a:t>Từ lắp đặt đến vận hành trong một ngày</a:t>
            </a:r>
            <a:endParaRPr lang="vi-VN" sz="3600" dirty="0"/>
          </a:p>
        </p:txBody>
      </p:sp>
      <p:sp>
        <p:nvSpPr>
          <p:cNvPr id="4" name="Flow rail"/>
          <p:cNvSpPr/>
          <p:nvPr/>
        </p:nvSpPr>
        <p:spPr>
          <a:xfrm>
            <a:off x="1935442" y="3131820"/>
            <a:ext cx="8320811" cy="0"/>
          </a:xfrm>
          <a:prstGeom prst="line">
            <a:avLst/>
          </a:prstGeom>
          <a:noFill/>
          <a:ln w="38100">
            <a:solidFill>
              <a:srgbClr val="E6E4DC"/>
            </a:solidFill>
            <a:prstDash val="solid"/>
          </a:ln>
        </p:spPr>
      </p:sp>
      <p:sp>
        <p:nvSpPr>
          <p:cNvPr id="5" name="Flow 0 dot"/>
          <p:cNvSpPr/>
          <p:nvPr/>
        </p:nvSpPr>
        <p:spPr>
          <a:xfrm>
            <a:off x="1318222" y="2514600"/>
            <a:ext cx="1234440" cy="1234440"/>
          </a:xfrm>
          <a:prstGeom prst="ellipse">
            <a:avLst/>
          </a:prstGeom>
          <a:solidFill>
            <a:schemeClr val="tx2"/>
          </a:solidFill>
          <a:ln/>
        </p:spPr>
      </p:sp>
      <p:pic>
        <p:nvPicPr>
          <p:cNvPr id="6" name="Flow 0 icon" descr="preencoded.png">    </p:cNvPr>
          <p:cNvPicPr>
            <a:picLocks noChangeAspect="1"/>
          </p:cNvPicPr>
          <p:nvPr/>
        </p:nvPicPr>
        <p:blipFill>
          <a:blip r:embed="rId1"/>
          <a:stretch>
            <a:fillRect/>
          </a:stretch>
        </p:blipFill>
        <p:spPr>
          <a:xfrm>
            <a:off x="1626832" y="2823210"/>
            <a:ext cx="617220" cy="617220"/>
          </a:xfrm>
          <a:prstGeom prst="rect">
            <a:avLst/>
          </a:prstGeom>
        </p:spPr>
      </p:pic>
      <p:sp>
        <p:nvSpPr>
          <p:cNvPr id="7" name="Flow 0 title"/>
          <p:cNvSpPr txBox="1"/>
          <p:nvPr/>
        </p:nvSpPr>
        <p:spPr>
          <a:xfrm>
            <a:off x="685800" y="4023360"/>
            <a:ext cx="2499284" cy="502920"/>
          </a:xfrm>
          <a:prstGeom prst="rect">
            <a:avLst/>
          </a:prstGeom>
          <a:noFill/>
          <a:ln/>
        </p:spPr>
        <p:txBody>
          <a:bodyPr wrap="square" lIns="0" tIns="0" rIns="0" bIns="0" rtlCol="0" anchor="ctr"/>
          <a:lstStyle/>
          <a:p>
            <a:pPr algn="ctr" indent="0" marL="0">
              <a:buNone/>
            </a:pPr>
            <a:r>
              <a:rPr lang="vi-VN" sz="2600" b="1" dirty="0">
                <a:solidFill>
                  <a:schemeClr val="tx2"/>
                </a:solidFill>
              </a:rPr>
              <a:t>Lắp đặt</a:t>
            </a:r>
            <a:endParaRPr lang="vi-VN" sz="2600" dirty="0"/>
          </a:p>
        </p:txBody>
      </p:sp>
      <p:sp>
        <p:nvSpPr>
          <p:cNvPr id="8" name="Flow 0 body"/>
          <p:cNvSpPr txBox="1"/>
          <p:nvPr/>
        </p:nvSpPr>
        <p:spPr>
          <a:xfrm>
            <a:off x="731520" y="4572000"/>
            <a:ext cx="2407844" cy="914400"/>
          </a:xfrm>
          <a:prstGeom prst="rect">
            <a:avLst/>
          </a:prstGeom>
          <a:noFill/>
          <a:ln/>
        </p:spPr>
        <p:txBody>
          <a:bodyPr wrap="square" lIns="0" tIns="0" rIns="0" bIns="0" rtlCol="0" anchor="t"/>
          <a:lstStyle/>
          <a:p>
            <a:pPr algn="ctr" indent="0" marL="0">
              <a:buNone/>
            </a:pPr>
            <a:r>
              <a:rPr lang="vi-VN" sz="1800" dirty="0">
                <a:solidFill>
                  <a:schemeClr val="accent4"/>
                </a:solidFill>
              </a:rPr>
              <a:t>Không dừng máy.</a:t>
            </a:r>
            <a:endParaRPr lang="vi-VN" sz="1800" dirty="0"/>
          </a:p>
        </p:txBody>
      </p:sp>
      <p:sp>
        <p:nvSpPr>
          <p:cNvPr id="9" name="Flow 1 dot"/>
          <p:cNvSpPr/>
          <p:nvPr/>
        </p:nvSpPr>
        <p:spPr>
          <a:xfrm>
            <a:off x="4091826" y="2514600"/>
            <a:ext cx="1234440" cy="1234440"/>
          </a:xfrm>
          <a:prstGeom prst="ellipse">
            <a:avLst/>
          </a:prstGeom>
          <a:solidFill>
            <a:schemeClr val="tx2"/>
          </a:solidFill>
          <a:ln/>
        </p:spPr>
      </p:sp>
      <p:pic>
        <p:nvPicPr>
          <p:cNvPr id="10" name="Flow 1 icon" descr="preencoded.png">    </p:cNvPr>
          <p:cNvPicPr>
            <a:picLocks noChangeAspect="1"/>
          </p:cNvPicPr>
          <p:nvPr/>
        </p:nvPicPr>
        <p:blipFill>
          <a:blip r:embed="rId2"/>
          <a:stretch>
            <a:fillRect/>
          </a:stretch>
        </p:blipFill>
        <p:spPr>
          <a:xfrm>
            <a:off x="4400436" y="2823210"/>
            <a:ext cx="617220" cy="617220"/>
          </a:xfrm>
          <a:prstGeom prst="rect">
            <a:avLst/>
          </a:prstGeom>
        </p:spPr>
      </p:pic>
      <p:sp>
        <p:nvSpPr>
          <p:cNvPr id="11" name="Flow 1 title"/>
          <p:cNvSpPr txBox="1"/>
          <p:nvPr/>
        </p:nvSpPr>
        <p:spPr>
          <a:xfrm>
            <a:off x="3459404" y="4023360"/>
            <a:ext cx="2499284" cy="502920"/>
          </a:xfrm>
          <a:prstGeom prst="rect">
            <a:avLst/>
          </a:prstGeom>
          <a:noFill/>
          <a:ln/>
        </p:spPr>
        <p:txBody>
          <a:bodyPr wrap="square" lIns="0" tIns="0" rIns="0" bIns="0" rtlCol="0" anchor="ctr"/>
          <a:lstStyle/>
          <a:p>
            <a:pPr algn="ctr" indent="0" marL="0">
              <a:buNone/>
            </a:pPr>
            <a:r>
              <a:rPr lang="vi-VN" sz="2600" b="1" dirty="0">
                <a:solidFill>
                  <a:schemeClr val="tx2"/>
                </a:solidFill>
              </a:rPr>
              <a:t>Hiệu chuẩn</a:t>
            </a:r>
            <a:endParaRPr lang="vi-VN" sz="2600" dirty="0"/>
          </a:p>
        </p:txBody>
      </p:sp>
      <p:sp>
        <p:nvSpPr>
          <p:cNvPr id="12" name="Flow 1 body"/>
          <p:cNvSpPr txBox="1"/>
          <p:nvPr/>
        </p:nvSpPr>
        <p:spPr>
          <a:xfrm>
            <a:off x="3505124" y="4572000"/>
            <a:ext cx="2407844" cy="914400"/>
          </a:xfrm>
          <a:prstGeom prst="rect">
            <a:avLst/>
          </a:prstGeom>
          <a:noFill/>
          <a:ln/>
        </p:spPr>
        <p:txBody>
          <a:bodyPr wrap="square" lIns="0" tIns="0" rIns="0" bIns="0" rtlCol="0" anchor="t"/>
          <a:lstStyle/>
          <a:p>
            <a:pPr algn="ctr" indent="0" marL="0">
              <a:buNone/>
            </a:pPr>
            <a:r>
              <a:rPr lang="vi-VN" sz="1800" dirty="0">
                <a:solidFill>
                  <a:schemeClr val="accent4"/>
                </a:solidFill>
              </a:rPr>
              <a:t>Tỷ lệ, màu sắc và ánh sáng.</a:t>
            </a:r>
            <a:endParaRPr lang="vi-VN" sz="1800" dirty="0"/>
          </a:p>
        </p:txBody>
      </p:sp>
      <p:sp>
        <p:nvSpPr>
          <p:cNvPr id="13" name="Flow 2 dot"/>
          <p:cNvSpPr/>
          <p:nvPr/>
        </p:nvSpPr>
        <p:spPr>
          <a:xfrm>
            <a:off x="6865430" y="2514600"/>
            <a:ext cx="1234440" cy="1234440"/>
          </a:xfrm>
          <a:prstGeom prst="ellipse">
            <a:avLst/>
          </a:prstGeom>
          <a:solidFill>
            <a:schemeClr val="tx2"/>
          </a:solidFill>
          <a:ln/>
        </p:spPr>
      </p:sp>
      <p:pic>
        <p:nvPicPr>
          <p:cNvPr id="14" name="Flow 2 icon" descr="preencoded.png">    </p:cNvPr>
          <p:cNvPicPr>
            <a:picLocks noChangeAspect="1"/>
          </p:cNvPicPr>
          <p:nvPr/>
        </p:nvPicPr>
        <p:blipFill>
          <a:blip r:embed="rId3"/>
          <a:stretch>
            <a:fillRect/>
          </a:stretch>
        </p:blipFill>
        <p:spPr>
          <a:xfrm>
            <a:off x="7174040" y="2823210"/>
            <a:ext cx="617220" cy="617220"/>
          </a:xfrm>
          <a:prstGeom prst="rect">
            <a:avLst/>
          </a:prstGeom>
        </p:spPr>
      </p:pic>
      <p:sp>
        <p:nvSpPr>
          <p:cNvPr id="15" name="Flow 2 title"/>
          <p:cNvSpPr txBox="1"/>
          <p:nvPr/>
        </p:nvSpPr>
        <p:spPr>
          <a:xfrm>
            <a:off x="6233008" y="4023360"/>
            <a:ext cx="2499284" cy="502920"/>
          </a:xfrm>
          <a:prstGeom prst="rect">
            <a:avLst/>
          </a:prstGeom>
          <a:noFill/>
          <a:ln/>
        </p:spPr>
        <p:txBody>
          <a:bodyPr wrap="square" lIns="0" tIns="0" rIns="0" bIns="0" rtlCol="0" anchor="ctr"/>
          <a:lstStyle/>
          <a:p>
            <a:pPr algn="ctr" indent="0" marL="0">
              <a:buNone/>
            </a:pPr>
            <a:r>
              <a:rPr lang="vi-VN" sz="2600" b="1" dirty="0">
                <a:solidFill>
                  <a:schemeClr val="tx2"/>
                </a:solidFill>
              </a:rPr>
              <a:t>Huấn luyện</a:t>
            </a:r>
            <a:endParaRPr lang="vi-VN" sz="2600" dirty="0"/>
          </a:p>
        </p:txBody>
      </p:sp>
      <p:sp>
        <p:nvSpPr>
          <p:cNvPr id="16" name="Flow 2 body"/>
          <p:cNvSpPr txBox="1"/>
          <p:nvPr/>
        </p:nvSpPr>
        <p:spPr>
          <a:xfrm>
            <a:off x="6278728" y="4572000"/>
            <a:ext cx="2407844" cy="914400"/>
          </a:xfrm>
          <a:prstGeom prst="rect">
            <a:avLst/>
          </a:prstGeom>
          <a:noFill/>
          <a:ln/>
        </p:spPr>
        <p:txBody>
          <a:bodyPr wrap="square" lIns="0" tIns="0" rIns="0" bIns="0" rtlCol="0" anchor="t"/>
          <a:lstStyle/>
          <a:p>
            <a:pPr algn="ctr" indent="0" marL="0">
              <a:buNone/>
            </a:pPr>
            <a:r>
              <a:rPr lang="vi-VN" sz="1800" dirty="0">
                <a:solidFill>
                  <a:schemeClr val="accent4"/>
                </a:solidFill>
              </a:rPr>
              <a:t>Cho MetriQ xem vài ảnh mẫu.</a:t>
            </a:r>
            <a:endParaRPr lang="vi-VN" sz="1800" dirty="0"/>
          </a:p>
        </p:txBody>
      </p:sp>
      <p:sp>
        <p:nvSpPr>
          <p:cNvPr id="17" name="Flow 3 dot"/>
          <p:cNvSpPr/>
          <p:nvPr/>
        </p:nvSpPr>
        <p:spPr>
          <a:xfrm>
            <a:off x="9639033" y="2514600"/>
            <a:ext cx="1234440" cy="1234440"/>
          </a:xfrm>
          <a:prstGeom prst="ellipse">
            <a:avLst/>
          </a:prstGeom>
          <a:solidFill>
            <a:schemeClr val="accent3"/>
          </a:solidFill>
          <a:ln/>
        </p:spPr>
      </p:sp>
      <p:pic>
        <p:nvPicPr>
          <p:cNvPr id="18" name="Flow 3 icon" descr="preencoded.png">    </p:cNvPr>
          <p:cNvPicPr>
            <a:picLocks noChangeAspect="1"/>
          </p:cNvPicPr>
          <p:nvPr/>
        </p:nvPicPr>
        <p:blipFill>
          <a:blip r:embed="rId4"/>
          <a:stretch>
            <a:fillRect/>
          </a:stretch>
        </p:blipFill>
        <p:spPr>
          <a:xfrm>
            <a:off x="9947643" y="2823210"/>
            <a:ext cx="617220" cy="617220"/>
          </a:xfrm>
          <a:prstGeom prst="rect">
            <a:avLst/>
          </a:prstGeom>
        </p:spPr>
      </p:pic>
      <p:sp>
        <p:nvSpPr>
          <p:cNvPr id="19" name="Flow 3 title"/>
          <p:cNvSpPr txBox="1"/>
          <p:nvPr/>
        </p:nvSpPr>
        <p:spPr>
          <a:xfrm>
            <a:off x="9006611" y="4023360"/>
            <a:ext cx="2499284" cy="502920"/>
          </a:xfrm>
          <a:prstGeom prst="rect">
            <a:avLst/>
          </a:prstGeom>
          <a:noFill/>
          <a:ln/>
        </p:spPr>
        <p:txBody>
          <a:bodyPr wrap="square" lIns="0" tIns="0" rIns="0" bIns="0" rtlCol="0" anchor="ctr"/>
          <a:lstStyle/>
          <a:p>
            <a:pPr algn="ctr" indent="0" marL="0">
              <a:buNone/>
            </a:pPr>
            <a:r>
              <a:rPr lang="vi-VN" sz="2600" b="1" dirty="0">
                <a:solidFill>
                  <a:schemeClr val="tx2"/>
                </a:solidFill>
              </a:rPr>
              <a:t>Vận hành</a:t>
            </a:r>
            <a:endParaRPr lang="vi-VN" sz="2600" dirty="0"/>
          </a:p>
        </p:txBody>
      </p:sp>
      <p:sp>
        <p:nvSpPr>
          <p:cNvPr id="20" name="Flow 3 body"/>
          <p:cNvSpPr txBox="1"/>
          <p:nvPr/>
        </p:nvSpPr>
        <p:spPr>
          <a:xfrm>
            <a:off x="9052331" y="4572000"/>
            <a:ext cx="2407844" cy="914400"/>
          </a:xfrm>
          <a:prstGeom prst="rect">
            <a:avLst/>
          </a:prstGeom>
          <a:noFill/>
          <a:ln/>
        </p:spPr>
        <p:txBody>
          <a:bodyPr wrap="square" lIns="0" tIns="0" rIns="0" bIns="0" rtlCol="0" anchor="t"/>
          <a:lstStyle/>
          <a:p>
            <a:pPr algn="ctr" indent="0" marL="0">
              <a:buNone/>
            </a:pPr>
            <a:r>
              <a:rPr lang="vi-VN" sz="1800" dirty="0">
                <a:solidFill>
                  <a:schemeClr val="accent4"/>
                </a:solidFill>
              </a:rPr>
              <a:t>Chạy trên dây chuyền và báo cáo ngay trong ngày.</a:t>
            </a:r>
            <a:endParaRPr lang="vi-VN"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vi-VN"/>
              <a:t>10</a:t>
            </a:fld>
            <a:endParaRPr lang="vi-V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70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par>
                                <p:cTn id="11" presetID="10" presetClass="entr" presetSubtype="0" fill="hold" grpId="0" nodeType="withEffect">
                                  <p:stCondLst>
                                    <p:cond delay="7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childTnLst>
                                </p:cTn>
                              </p:par>
                              <p:par>
                                <p:cTn id="14" presetID="10" presetClass="entr" presetSubtype="0" fill="hold" grpId="0" nodeType="withEffect">
                                  <p:stCondLst>
                                    <p:cond delay="7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7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140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140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14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14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21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210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210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210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280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280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280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280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1" grpId="0" animBg="1"/>
      <p:bldP spid="12" grpId="0" animBg="1"/>
      <p:bldP spid="13" grpId="0" animBg="1"/>
      <p:bldP spid="15" grpId="0" animBg="1"/>
      <p:bldP spid="16" grpId="0" animBg="1"/>
      <p:bldP spid="17" grpId="0" animBg="1"/>
      <p:bldP spid="19" grpId="0" animBg="1"/>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vi-VN" sz="1100" b="1" spc="300" kern="0" dirty="0">
                <a:solidFill>
                  <a:schemeClr val="accent1"/>
                </a:solidFill>
              </a:rPr>
              <a:t>SO SÁNH</a:t>
            </a:r>
            <a:endParaRPr lang="vi-VN"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vi-VN" sz="3600" b="1" dirty="0">
                <a:solidFill>
                  <a:schemeClr val="tx2"/>
                </a:solidFill>
              </a:rPr>
              <a:t>Trạm QC, không cần dự án</a:t>
            </a:r>
            <a:endParaRPr lang="vi-VN" sz="3600" dirty="0"/>
          </a:p>
        </p:txBody>
      </p:sp>
      <p:sp>
        <p:nvSpPr>
          <p:cNvPr id="4" name="Us bg"/>
          <p:cNvSpPr/>
          <p:nvPr/>
        </p:nvSpPr>
        <p:spPr>
          <a:xfrm>
            <a:off x="8869680" y="1581912"/>
            <a:ext cx="2770632" cy="4526280"/>
          </a:xfrm>
          <a:prstGeom prst="roundRect">
            <a:avLst>
              <a:gd name="adj" fmla="val 3960"/>
            </a:avLst>
          </a:prstGeom>
          <a:solidFill>
            <a:schemeClr val="tx2"/>
          </a:solidFill>
          <a:ln/>
        </p:spPr>
      </p:sp>
      <p:sp>
        <p:nvSpPr>
          <p:cNvPr id="5" name="Text 3"/>
          <p:cNvSpPr txBox="1"/>
          <p:nvPr/>
        </p:nvSpPr>
        <p:spPr>
          <a:xfrm>
            <a:off x="548640" y="1691640"/>
            <a:ext cx="2240280" cy="411480"/>
          </a:xfrm>
          <a:prstGeom prst="rect">
            <a:avLst/>
          </a:prstGeom>
          <a:noFill/>
          <a:ln/>
        </p:spPr>
        <p:txBody>
          <a:bodyPr wrap="square" lIns="0" tIns="0" rIns="0" bIns="0" rtlCol="0" anchor="ctr"/>
          <a:lstStyle/>
          <a:p>
            <a:pPr indent="0" marL="0">
              <a:buNone/>
            </a:pPr>
            <a:endParaRPr lang="vi-VN" sz="1400" dirty="0"/>
          </a:p>
        </p:txBody>
      </p:sp>
      <p:sp>
        <p:nvSpPr>
          <p:cNvPr id="6" name="Text 4"/>
          <p:cNvSpPr txBox="1"/>
          <p:nvPr/>
        </p:nvSpPr>
        <p:spPr>
          <a:xfrm>
            <a:off x="3063240" y="1691640"/>
            <a:ext cx="1691640" cy="411480"/>
          </a:xfrm>
          <a:prstGeom prst="rect">
            <a:avLst/>
          </a:prstGeom>
          <a:noFill/>
          <a:ln/>
        </p:spPr>
        <p:txBody>
          <a:bodyPr wrap="square" lIns="0" tIns="0" rIns="0" bIns="0" rtlCol="0" anchor="ctr"/>
          <a:lstStyle/>
          <a:p>
            <a:pPr indent="0" marL="0">
              <a:buNone/>
            </a:pPr>
            <a:r>
              <a:rPr lang="vi-VN" sz="1400" b="1" dirty="0">
                <a:solidFill>
                  <a:schemeClr val="accent4"/>
                </a:solidFill>
              </a:rPr>
              <a:t>QC thủ công</a:t>
            </a:r>
            <a:endParaRPr lang="vi-VN" sz="1400" dirty="0"/>
          </a:p>
        </p:txBody>
      </p:sp>
      <p:sp>
        <p:nvSpPr>
          <p:cNvPr id="7" name="Text 5"/>
          <p:cNvSpPr txBox="1"/>
          <p:nvPr/>
        </p:nvSpPr>
        <p:spPr>
          <a:xfrm>
            <a:off x="5029200" y="1691640"/>
            <a:ext cx="1691640" cy="411480"/>
          </a:xfrm>
          <a:prstGeom prst="rect">
            <a:avLst/>
          </a:prstGeom>
          <a:noFill/>
          <a:ln/>
        </p:spPr>
        <p:txBody>
          <a:bodyPr wrap="square" lIns="0" tIns="0" rIns="0" bIns="0" rtlCol="0" anchor="ctr"/>
          <a:lstStyle/>
          <a:p>
            <a:pPr indent="0" marL="0">
              <a:buNone/>
            </a:pPr>
            <a:r>
              <a:rPr lang="vi-VN" sz="1400" b="1" dirty="0">
                <a:solidFill>
                  <a:schemeClr val="accent4"/>
                </a:solidFill>
              </a:rPr>
              <a:t>Thị giác theo quy tắc</a:t>
            </a:r>
            <a:endParaRPr lang="vi-VN" sz="1400" dirty="0"/>
          </a:p>
        </p:txBody>
      </p:sp>
      <p:sp>
        <p:nvSpPr>
          <p:cNvPr id="8" name="Text 6"/>
          <p:cNvSpPr txBox="1"/>
          <p:nvPr/>
        </p:nvSpPr>
        <p:spPr>
          <a:xfrm>
            <a:off x="6995160" y="1691640"/>
            <a:ext cx="1691640" cy="411480"/>
          </a:xfrm>
          <a:prstGeom prst="rect">
            <a:avLst/>
          </a:prstGeom>
          <a:noFill/>
          <a:ln/>
        </p:spPr>
        <p:txBody>
          <a:bodyPr wrap="square" lIns="0" tIns="0" rIns="0" bIns="0" rtlCol="0" anchor="ctr"/>
          <a:lstStyle/>
          <a:p>
            <a:pPr indent="0" marL="0">
              <a:buNone/>
            </a:pPr>
            <a:r>
              <a:rPr lang="vi-VN" sz="1400" b="1" dirty="0">
                <a:solidFill>
                  <a:schemeClr val="accent4"/>
                </a:solidFill>
              </a:rPr>
              <a:t>Nền tảng thị giác AI</a:t>
            </a:r>
            <a:endParaRPr lang="vi-VN" sz="1400" dirty="0"/>
          </a:p>
        </p:txBody>
      </p:sp>
      <p:sp>
        <p:nvSpPr>
          <p:cNvPr id="9" name="Us head"/>
          <p:cNvSpPr txBox="1"/>
          <p:nvPr/>
        </p:nvSpPr>
        <p:spPr>
          <a:xfrm>
            <a:off x="8961120" y="1691640"/>
            <a:ext cx="2542032" cy="411480"/>
          </a:xfrm>
          <a:prstGeom prst="rect">
            <a:avLst/>
          </a:prstGeom>
          <a:noFill/>
          <a:ln/>
        </p:spPr>
        <p:txBody>
          <a:bodyPr wrap="square" lIns="0" tIns="0" rIns="0" bIns="0" rtlCol="0" anchor="ctr"/>
          <a:lstStyle/>
          <a:p>
            <a:pPr indent="0" marL="0">
              <a:buNone/>
            </a:pPr>
            <a:r>
              <a:rPr lang="vi-VN" sz="1400" b="1" dirty="0">
                <a:solidFill>
                  <a:schemeClr val="bg1"/>
                </a:solidFill>
              </a:rPr>
              <a:t>MetriQ</a:t>
            </a:r>
            <a:endParaRPr lang="vi-VN" sz="1400" dirty="0"/>
          </a:p>
        </p:txBody>
      </p:sp>
      <p:sp>
        <p:nvSpPr>
          <p:cNvPr id="10" name="Text 8"/>
          <p:cNvSpPr txBox="1"/>
          <p:nvPr/>
        </p:nvSpPr>
        <p:spPr>
          <a:xfrm>
            <a:off x="548640" y="2194560"/>
            <a:ext cx="2240280" cy="585216"/>
          </a:xfrm>
          <a:prstGeom prst="rect">
            <a:avLst/>
          </a:prstGeom>
          <a:noFill/>
          <a:ln/>
        </p:spPr>
        <p:txBody>
          <a:bodyPr wrap="square" lIns="0" tIns="0" rIns="0" bIns="0" rtlCol="0" anchor="ctr"/>
          <a:lstStyle/>
          <a:p>
            <a:pPr indent="0" marL="0">
              <a:buNone/>
            </a:pPr>
            <a:r>
              <a:rPr lang="vi-VN" sz="1400" b="1" dirty="0">
                <a:solidFill>
                  <a:schemeClr val="tx1"/>
                </a:solidFill>
              </a:rPr>
              <a:t>Thời gian vận hành</a:t>
            </a:r>
            <a:endParaRPr lang="vi-VN" sz="1400" dirty="0"/>
          </a:p>
        </p:txBody>
      </p:sp>
      <p:sp>
        <p:nvSpPr>
          <p:cNvPr id="11" name="Text 9"/>
          <p:cNvSpPr txBox="1"/>
          <p:nvPr/>
        </p:nvSpPr>
        <p:spPr>
          <a:xfrm>
            <a:off x="3063240" y="219456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Tuyển và đào tạo</a:t>
            </a:r>
            <a:endParaRPr lang="vi-VN" sz="1300" dirty="0"/>
          </a:p>
        </p:txBody>
      </p:sp>
      <p:sp>
        <p:nvSpPr>
          <p:cNvPr id="12" name="Text 10"/>
          <p:cNvSpPr txBox="1"/>
          <p:nvPr/>
        </p:nvSpPr>
        <p:spPr>
          <a:xfrm>
            <a:off x="5029200" y="219456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Vài tuần đến vài tháng</a:t>
            </a:r>
            <a:endParaRPr lang="vi-VN" sz="1300" dirty="0"/>
          </a:p>
        </p:txBody>
      </p:sp>
      <p:sp>
        <p:nvSpPr>
          <p:cNvPr id="13" name="Text 11"/>
          <p:cNvSpPr txBox="1"/>
          <p:nvPr/>
        </p:nvSpPr>
        <p:spPr>
          <a:xfrm>
            <a:off x="6995160" y="219456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1–4 tuần</a:t>
            </a:r>
            <a:endParaRPr lang="vi-VN" sz="1300" dirty="0"/>
          </a:p>
        </p:txBody>
      </p:sp>
      <p:sp>
        <p:nvSpPr>
          <p:cNvPr id="14" name="Us 0"/>
          <p:cNvSpPr txBox="1"/>
          <p:nvPr/>
        </p:nvSpPr>
        <p:spPr>
          <a:xfrm>
            <a:off x="8961120" y="2194560"/>
            <a:ext cx="2542032" cy="585216"/>
          </a:xfrm>
          <a:prstGeom prst="rect">
            <a:avLst/>
          </a:prstGeom>
          <a:noFill/>
          <a:ln/>
        </p:spPr>
        <p:txBody>
          <a:bodyPr wrap="square" lIns="0" tIns="0" rIns="0" bIns="0" rtlCol="0" anchor="ctr"/>
          <a:lstStyle/>
          <a:p>
            <a:pPr indent="0" marL="0">
              <a:buNone/>
            </a:pPr>
            <a:r>
              <a:rPr lang="vi-VN" sz="1300" b="1" dirty="0">
                <a:solidFill>
                  <a:schemeClr val="bg1"/>
                </a:solidFill>
              </a:rPr>
              <a:t>Trong ngày</a:t>
            </a:r>
            <a:endParaRPr lang="vi-VN" sz="1300" dirty="0"/>
          </a:p>
        </p:txBody>
      </p:sp>
      <p:sp>
        <p:nvSpPr>
          <p:cNvPr id="15" name="Shape 13"/>
          <p:cNvSpPr/>
          <p:nvPr/>
        </p:nvSpPr>
        <p:spPr>
          <a:xfrm>
            <a:off x="548640" y="2816352"/>
            <a:ext cx="8229600" cy="0"/>
          </a:xfrm>
          <a:prstGeom prst="line">
            <a:avLst/>
          </a:prstGeom>
          <a:noFill/>
          <a:ln w="12700">
            <a:solidFill>
              <a:schemeClr val="accent5"/>
            </a:solidFill>
            <a:prstDash val="solid"/>
          </a:ln>
        </p:spPr>
      </p:sp>
      <p:sp>
        <p:nvSpPr>
          <p:cNvPr id="16" name="Text 14"/>
          <p:cNvSpPr txBox="1"/>
          <p:nvPr/>
        </p:nvSpPr>
        <p:spPr>
          <a:xfrm>
            <a:off x="548640" y="2834640"/>
            <a:ext cx="2240280" cy="585216"/>
          </a:xfrm>
          <a:prstGeom prst="rect">
            <a:avLst/>
          </a:prstGeom>
          <a:noFill/>
          <a:ln/>
        </p:spPr>
        <p:txBody>
          <a:bodyPr wrap="square" lIns="0" tIns="0" rIns="0" bIns="0" rtlCol="0" anchor="ctr"/>
          <a:lstStyle/>
          <a:p>
            <a:pPr indent="0" marL="0">
              <a:buNone/>
            </a:pPr>
            <a:r>
              <a:rPr lang="vi-VN" sz="1400" b="1" dirty="0">
                <a:solidFill>
                  <a:schemeClr val="tx1"/>
                </a:solidFill>
              </a:rPr>
              <a:t>Sản phẩm hoặc lỗi mới</a:t>
            </a:r>
            <a:endParaRPr lang="vi-VN" sz="1400" dirty="0"/>
          </a:p>
        </p:txBody>
      </p:sp>
      <p:sp>
        <p:nvSpPr>
          <p:cNvPr id="17" name="Text 15"/>
          <p:cNvSpPr txBox="1"/>
          <p:nvPr/>
        </p:nvSpPr>
        <p:spPr>
          <a:xfrm>
            <a:off x="3063240" y="283464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Đào tạo lại nhân viên</a:t>
            </a:r>
            <a:endParaRPr lang="vi-VN" sz="1300" dirty="0"/>
          </a:p>
        </p:txBody>
      </p:sp>
      <p:sp>
        <p:nvSpPr>
          <p:cNvPr id="18" name="Text 16"/>
          <p:cNvSpPr txBox="1"/>
          <p:nvPr/>
        </p:nvSpPr>
        <p:spPr>
          <a:xfrm>
            <a:off x="5029200" y="283464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Nhà tích hợp lập trình lại</a:t>
            </a:r>
            <a:endParaRPr lang="vi-VN" sz="1300" dirty="0"/>
          </a:p>
        </p:txBody>
      </p:sp>
      <p:sp>
        <p:nvSpPr>
          <p:cNvPr id="19" name="Text 17"/>
          <p:cNvSpPr txBox="1"/>
          <p:nvPr/>
        </p:nvSpPr>
        <p:spPr>
          <a:xfrm>
            <a:off x="6995160" y="283464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Gán nhãn và huấn luyện lại</a:t>
            </a:r>
            <a:endParaRPr lang="vi-VN" sz="1300" dirty="0"/>
          </a:p>
        </p:txBody>
      </p:sp>
      <p:sp>
        <p:nvSpPr>
          <p:cNvPr id="20" name="Us 1"/>
          <p:cNvSpPr txBox="1"/>
          <p:nvPr/>
        </p:nvSpPr>
        <p:spPr>
          <a:xfrm>
            <a:off x="8961120" y="2834640"/>
            <a:ext cx="2542032" cy="585216"/>
          </a:xfrm>
          <a:prstGeom prst="rect">
            <a:avLst/>
          </a:prstGeom>
          <a:noFill/>
          <a:ln/>
        </p:spPr>
        <p:txBody>
          <a:bodyPr wrap="square" lIns="0" tIns="0" rIns="0" bIns="0" rtlCol="0" anchor="ctr"/>
          <a:lstStyle/>
          <a:p>
            <a:pPr indent="0" marL="0">
              <a:buNone/>
            </a:pPr>
            <a:r>
              <a:rPr lang="vi-VN" sz="1300" b="1" dirty="0">
                <a:solidFill>
                  <a:schemeClr val="bg1"/>
                </a:solidFill>
              </a:rPr>
              <a:t>Dạy MetriQ trong vài phút</a:t>
            </a:r>
            <a:endParaRPr lang="vi-VN" sz="1300" dirty="0"/>
          </a:p>
        </p:txBody>
      </p:sp>
      <p:sp>
        <p:nvSpPr>
          <p:cNvPr id="21" name="Shape 19"/>
          <p:cNvSpPr/>
          <p:nvPr/>
        </p:nvSpPr>
        <p:spPr>
          <a:xfrm>
            <a:off x="548640" y="3456432"/>
            <a:ext cx="8229600" cy="0"/>
          </a:xfrm>
          <a:prstGeom prst="line">
            <a:avLst/>
          </a:prstGeom>
          <a:noFill/>
          <a:ln w="12700">
            <a:solidFill>
              <a:schemeClr val="accent5"/>
            </a:solidFill>
            <a:prstDash val="solid"/>
          </a:ln>
        </p:spPr>
      </p:sp>
      <p:sp>
        <p:nvSpPr>
          <p:cNvPr id="22" name="Text 20"/>
          <p:cNvSpPr txBox="1"/>
          <p:nvPr/>
        </p:nvSpPr>
        <p:spPr>
          <a:xfrm>
            <a:off x="548640" y="3474720"/>
            <a:ext cx="2240280" cy="585216"/>
          </a:xfrm>
          <a:prstGeom prst="rect">
            <a:avLst/>
          </a:prstGeom>
          <a:noFill/>
          <a:ln/>
        </p:spPr>
        <p:txBody>
          <a:bodyPr wrap="square" lIns="0" tIns="0" rIns="0" bIns="0" rtlCol="0" anchor="ctr"/>
          <a:lstStyle/>
          <a:p>
            <a:pPr indent="0" marL="0">
              <a:buNone/>
            </a:pPr>
            <a:r>
              <a:rPr lang="vi-VN" sz="1400" b="1" dirty="0">
                <a:solidFill>
                  <a:schemeClr val="tx1"/>
                </a:solidFill>
              </a:rPr>
              <a:t>Chuyển đổi sản phẩm</a:t>
            </a:r>
            <a:endParaRPr lang="vi-VN" sz="1400" dirty="0"/>
          </a:p>
        </p:txBody>
      </p:sp>
      <p:sp>
        <p:nvSpPr>
          <p:cNvPr id="23" name="Text 21"/>
          <p:cNvSpPr txBox="1"/>
          <p:nvPr/>
        </p:nvSpPr>
        <p:spPr>
          <a:xfrm>
            <a:off x="3063240" y="347472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Hướng dẫn lại cả ca</a:t>
            </a:r>
            <a:endParaRPr lang="vi-VN" sz="1300" dirty="0"/>
          </a:p>
        </p:txBody>
      </p:sp>
      <p:sp>
        <p:nvSpPr>
          <p:cNvPr id="24" name="Text 22"/>
          <p:cNvSpPr txBox="1"/>
          <p:nvPr/>
        </p:nvSpPr>
        <p:spPr>
          <a:xfrm>
            <a:off x="5029200" y="347472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Lập trình lại cho từng sản phẩm</a:t>
            </a:r>
            <a:endParaRPr lang="vi-VN" sz="1300" dirty="0"/>
          </a:p>
        </p:txBody>
      </p:sp>
      <p:sp>
        <p:nvSpPr>
          <p:cNvPr id="25" name="Text 23"/>
          <p:cNvSpPr txBox="1"/>
          <p:nvPr/>
        </p:nvSpPr>
        <p:spPr>
          <a:xfrm>
            <a:off x="6995160" y="347472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Đổi chương trình thủ công hoặc qua PLC</a:t>
            </a:r>
            <a:endParaRPr lang="vi-VN" sz="1300" dirty="0"/>
          </a:p>
        </p:txBody>
      </p:sp>
      <p:sp>
        <p:nvSpPr>
          <p:cNvPr id="26" name="Us 2"/>
          <p:cNvSpPr txBox="1"/>
          <p:nvPr/>
        </p:nvSpPr>
        <p:spPr>
          <a:xfrm>
            <a:off x="8961120" y="3474720"/>
            <a:ext cx="2542032" cy="585216"/>
          </a:xfrm>
          <a:prstGeom prst="rect">
            <a:avLst/>
          </a:prstGeom>
          <a:noFill/>
          <a:ln/>
        </p:spPr>
        <p:txBody>
          <a:bodyPr wrap="square" lIns="0" tIns="0" rIns="0" bIns="0" rtlCol="0" anchor="ctr"/>
          <a:lstStyle/>
          <a:p>
            <a:pPr indent="0" marL="0">
              <a:buNone/>
            </a:pPr>
            <a:r>
              <a:rPr lang="vi-VN" sz="1300" b="1" dirty="0">
                <a:solidFill>
                  <a:schemeClr val="bg1"/>
                </a:solidFill>
              </a:rPr>
              <a:t>Tự động: nhận diện sản phẩm</a:t>
            </a:r>
            <a:endParaRPr lang="vi-VN" sz="1300" dirty="0"/>
          </a:p>
        </p:txBody>
      </p:sp>
      <p:sp>
        <p:nvSpPr>
          <p:cNvPr id="27" name="Shape 25"/>
          <p:cNvSpPr/>
          <p:nvPr/>
        </p:nvSpPr>
        <p:spPr>
          <a:xfrm>
            <a:off x="548640" y="4096512"/>
            <a:ext cx="8229600" cy="0"/>
          </a:xfrm>
          <a:prstGeom prst="line">
            <a:avLst/>
          </a:prstGeom>
          <a:noFill/>
          <a:ln w="12700">
            <a:solidFill>
              <a:schemeClr val="accent5"/>
            </a:solidFill>
            <a:prstDash val="solid"/>
          </a:ln>
        </p:spPr>
      </p:sp>
      <p:sp>
        <p:nvSpPr>
          <p:cNvPr id="28" name="Text 26"/>
          <p:cNvSpPr txBox="1"/>
          <p:nvPr/>
        </p:nvSpPr>
        <p:spPr>
          <a:xfrm>
            <a:off x="548640" y="4114800"/>
            <a:ext cx="2240280" cy="585216"/>
          </a:xfrm>
          <a:prstGeom prst="rect">
            <a:avLst/>
          </a:prstGeom>
          <a:noFill/>
          <a:ln/>
        </p:spPr>
        <p:txBody>
          <a:bodyPr wrap="square" lIns="0" tIns="0" rIns="0" bIns="0" rtlCol="0" anchor="ctr"/>
          <a:lstStyle/>
          <a:p>
            <a:pPr indent="0" marL="0">
              <a:buNone/>
            </a:pPr>
            <a:r>
              <a:rPr lang="vi-VN" sz="1400" b="1" dirty="0">
                <a:solidFill>
                  <a:schemeClr val="tx1"/>
                </a:solidFill>
              </a:rPr>
              <a:t>Lỗi chưa từng gặp</a:t>
            </a:r>
            <a:endParaRPr lang="vi-VN" sz="1400" dirty="0"/>
          </a:p>
        </p:txBody>
      </p:sp>
      <p:sp>
        <p:nvSpPr>
          <p:cNvPr id="29" name="Text 27"/>
          <p:cNvSpPr txBox="1"/>
          <p:nvPr/>
        </p:nvSpPr>
        <p:spPr>
          <a:xfrm>
            <a:off x="3063240" y="411480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Tùy người kiểm</a:t>
            </a:r>
            <a:endParaRPr lang="vi-VN" sz="1300" dirty="0"/>
          </a:p>
        </p:txBody>
      </p:sp>
      <p:sp>
        <p:nvSpPr>
          <p:cNvPr id="30" name="Text 28"/>
          <p:cNvSpPr txBox="1"/>
          <p:nvPr/>
        </p:nvSpPr>
        <p:spPr>
          <a:xfrm>
            <a:off x="5029200" y="411480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Chỉ những gì quy tắc mô tả</a:t>
            </a:r>
            <a:endParaRPr lang="vi-VN" sz="1300" dirty="0"/>
          </a:p>
        </p:txBody>
      </p:sp>
      <p:sp>
        <p:nvSpPr>
          <p:cNvPr id="31" name="Text 29"/>
          <p:cNvSpPr txBox="1"/>
          <p:nvPr/>
        </p:nvSpPr>
        <p:spPr>
          <a:xfrm>
            <a:off x="6995160" y="411480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Tùy công cụ</a:t>
            </a:r>
            <a:endParaRPr lang="vi-VN" sz="1300" dirty="0"/>
          </a:p>
        </p:txBody>
      </p:sp>
      <p:sp>
        <p:nvSpPr>
          <p:cNvPr id="32" name="Us 3"/>
          <p:cNvSpPr txBox="1"/>
          <p:nvPr/>
        </p:nvSpPr>
        <p:spPr>
          <a:xfrm>
            <a:off x="8961120" y="4114800"/>
            <a:ext cx="2542032" cy="585216"/>
          </a:xfrm>
          <a:prstGeom prst="rect">
            <a:avLst/>
          </a:prstGeom>
          <a:noFill/>
          <a:ln/>
        </p:spPr>
        <p:txBody>
          <a:bodyPr wrap="square" lIns="0" tIns="0" rIns="0" bIns="0" rtlCol="0" anchor="ctr"/>
          <a:lstStyle/>
          <a:p>
            <a:pPr indent="0" marL="0">
              <a:buNone/>
            </a:pPr>
            <a:r>
              <a:rPr lang="vi-VN" sz="1300" b="1" dirty="0">
                <a:solidFill>
                  <a:schemeClr val="bg1"/>
                </a:solidFill>
              </a:rPr>
              <a:t>Phát hiện bất thường</a:t>
            </a:r>
            <a:endParaRPr lang="vi-VN" sz="1300" dirty="0"/>
          </a:p>
        </p:txBody>
      </p:sp>
      <p:sp>
        <p:nvSpPr>
          <p:cNvPr id="33" name="Shape 31"/>
          <p:cNvSpPr/>
          <p:nvPr/>
        </p:nvSpPr>
        <p:spPr>
          <a:xfrm>
            <a:off x="548640" y="4736592"/>
            <a:ext cx="8229600" cy="0"/>
          </a:xfrm>
          <a:prstGeom prst="line">
            <a:avLst/>
          </a:prstGeom>
          <a:noFill/>
          <a:ln w="12700">
            <a:solidFill>
              <a:schemeClr val="accent5"/>
            </a:solidFill>
            <a:prstDash val="solid"/>
          </a:ln>
        </p:spPr>
      </p:sp>
      <p:sp>
        <p:nvSpPr>
          <p:cNvPr id="34" name="Text 32"/>
          <p:cNvSpPr txBox="1"/>
          <p:nvPr/>
        </p:nvSpPr>
        <p:spPr>
          <a:xfrm>
            <a:off x="548640" y="4754880"/>
            <a:ext cx="2240280" cy="585216"/>
          </a:xfrm>
          <a:prstGeom prst="rect">
            <a:avLst/>
          </a:prstGeom>
          <a:noFill/>
          <a:ln/>
        </p:spPr>
        <p:txBody>
          <a:bodyPr wrap="square" lIns="0" tIns="0" rIns="0" bIns="0" rtlCol="0" anchor="ctr"/>
          <a:lstStyle/>
          <a:p>
            <a:pPr indent="0" marL="0">
              <a:buNone/>
            </a:pPr>
            <a:r>
              <a:rPr lang="vi-VN" sz="1400" b="1" dirty="0">
                <a:solidFill>
                  <a:schemeClr val="tx1"/>
                </a:solidFill>
              </a:rPr>
              <a:t>Dữ liệu</a:t>
            </a:r>
            <a:endParaRPr lang="vi-VN" sz="1400" dirty="0"/>
          </a:p>
        </p:txBody>
      </p:sp>
      <p:sp>
        <p:nvSpPr>
          <p:cNvPr id="35" name="Text 33"/>
          <p:cNvSpPr txBox="1"/>
          <p:nvPr/>
        </p:nvSpPr>
        <p:spPr>
          <a:xfrm>
            <a:off x="3063240" y="475488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Sổ ghi chép giấy</a:t>
            </a:r>
            <a:endParaRPr lang="vi-VN" sz="1300" dirty="0"/>
          </a:p>
        </p:txBody>
      </p:sp>
      <p:sp>
        <p:nvSpPr>
          <p:cNvPr id="36" name="Text 34"/>
          <p:cNvSpPr txBox="1"/>
          <p:nvPr/>
        </p:nvSpPr>
        <p:spPr>
          <a:xfrm>
            <a:off x="5029200" y="475488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Tín hiệu đạt / lỗi</a:t>
            </a:r>
            <a:endParaRPr lang="vi-VN" sz="1300" dirty="0"/>
          </a:p>
        </p:txBody>
      </p:sp>
      <p:sp>
        <p:nvSpPr>
          <p:cNvPr id="37" name="Text 35"/>
          <p:cNvSpPr txBox="1"/>
          <p:nvPr/>
        </p:nvSpPr>
        <p:spPr>
          <a:xfrm>
            <a:off x="6995160" y="475488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Đạt / lỗi và hình ảnh</a:t>
            </a:r>
            <a:endParaRPr lang="vi-VN" sz="1300" dirty="0"/>
          </a:p>
        </p:txBody>
      </p:sp>
      <p:sp>
        <p:nvSpPr>
          <p:cNvPr id="38" name="Us 4"/>
          <p:cNvSpPr txBox="1"/>
          <p:nvPr/>
        </p:nvSpPr>
        <p:spPr>
          <a:xfrm>
            <a:off x="8961120" y="4754880"/>
            <a:ext cx="2542032" cy="585216"/>
          </a:xfrm>
          <a:prstGeom prst="rect">
            <a:avLst/>
          </a:prstGeom>
          <a:noFill/>
          <a:ln/>
        </p:spPr>
        <p:txBody>
          <a:bodyPr wrap="square" lIns="0" tIns="0" rIns="0" bIns="0" rtlCol="0" anchor="ctr"/>
          <a:lstStyle/>
          <a:p>
            <a:pPr indent="0" marL="0">
              <a:buNone/>
            </a:pPr>
            <a:r>
              <a:rPr lang="vi-VN" sz="1300" b="1" dirty="0">
                <a:solidFill>
                  <a:schemeClr val="bg1"/>
                </a:solidFill>
              </a:rPr>
              <a:t>Bảng điều khiển, báo cáo, tư vấn AI</a:t>
            </a:r>
            <a:endParaRPr lang="vi-VN" sz="1300" dirty="0"/>
          </a:p>
        </p:txBody>
      </p:sp>
      <p:sp>
        <p:nvSpPr>
          <p:cNvPr id="39" name="Shape 37"/>
          <p:cNvSpPr/>
          <p:nvPr/>
        </p:nvSpPr>
        <p:spPr>
          <a:xfrm>
            <a:off x="548640" y="5376672"/>
            <a:ext cx="8229600" cy="0"/>
          </a:xfrm>
          <a:prstGeom prst="line">
            <a:avLst/>
          </a:prstGeom>
          <a:noFill/>
          <a:ln w="12700">
            <a:solidFill>
              <a:schemeClr val="accent5"/>
            </a:solidFill>
            <a:prstDash val="solid"/>
          </a:ln>
        </p:spPr>
      </p:sp>
      <p:sp>
        <p:nvSpPr>
          <p:cNvPr id="40" name="Text 38"/>
          <p:cNvSpPr txBox="1"/>
          <p:nvPr/>
        </p:nvSpPr>
        <p:spPr>
          <a:xfrm>
            <a:off x="548640" y="5394960"/>
            <a:ext cx="2240280" cy="585216"/>
          </a:xfrm>
          <a:prstGeom prst="rect">
            <a:avLst/>
          </a:prstGeom>
          <a:noFill/>
          <a:ln/>
        </p:spPr>
        <p:txBody>
          <a:bodyPr wrap="square" lIns="0" tIns="0" rIns="0" bIns="0" rtlCol="0" anchor="ctr"/>
          <a:lstStyle/>
          <a:p>
            <a:pPr indent="0" marL="0">
              <a:buNone/>
            </a:pPr>
            <a:r>
              <a:rPr lang="vi-VN" sz="1400" b="1" dirty="0">
                <a:solidFill>
                  <a:schemeClr val="tx1"/>
                </a:solidFill>
              </a:rPr>
              <a:t>Phần cứng</a:t>
            </a:r>
            <a:endParaRPr lang="vi-VN" sz="1400" dirty="0"/>
          </a:p>
        </p:txBody>
      </p:sp>
      <p:sp>
        <p:nvSpPr>
          <p:cNvPr id="41" name="Text 39"/>
          <p:cNvSpPr txBox="1"/>
          <p:nvPr/>
        </p:nvSpPr>
        <p:spPr>
          <a:xfrm>
            <a:off x="3063240" y="539496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a:t>
            </a:r>
            <a:endParaRPr lang="vi-VN" sz="1300" dirty="0"/>
          </a:p>
        </p:txBody>
      </p:sp>
      <p:sp>
        <p:nvSpPr>
          <p:cNvPr id="42" name="Text 40"/>
          <p:cNvSpPr txBox="1"/>
          <p:nvPr/>
        </p:nvSpPr>
        <p:spPr>
          <a:xfrm>
            <a:off x="5029200" y="539496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Do nhà tích hợp chọn</a:t>
            </a:r>
            <a:endParaRPr lang="vi-VN" sz="1300" dirty="0"/>
          </a:p>
        </p:txBody>
      </p:sp>
      <p:sp>
        <p:nvSpPr>
          <p:cNvPr id="43" name="Text 41"/>
          <p:cNvSpPr txBox="1"/>
          <p:nvPr/>
        </p:nvSpPr>
        <p:spPr>
          <a:xfrm>
            <a:off x="6995160" y="5394960"/>
            <a:ext cx="1691640" cy="585216"/>
          </a:xfrm>
          <a:prstGeom prst="rect">
            <a:avLst/>
          </a:prstGeom>
          <a:noFill/>
          <a:ln/>
        </p:spPr>
        <p:txBody>
          <a:bodyPr wrap="square" lIns="0" tIns="0" rIns="0" bIns="0" rtlCol="0" anchor="ctr"/>
          <a:lstStyle/>
          <a:p>
            <a:pPr indent="0" marL="0">
              <a:buNone/>
            </a:pPr>
            <a:r>
              <a:rPr lang="vi-VN" sz="1300" dirty="0">
                <a:solidFill>
                  <a:schemeClr val="accent4"/>
                </a:solidFill>
              </a:rPr>
              <a:t>Camera của nhà cung cấp</a:t>
            </a:r>
            <a:endParaRPr lang="vi-VN" sz="1300" dirty="0"/>
          </a:p>
        </p:txBody>
      </p:sp>
      <p:sp>
        <p:nvSpPr>
          <p:cNvPr id="44" name="Us 5"/>
          <p:cNvSpPr txBox="1"/>
          <p:nvPr/>
        </p:nvSpPr>
        <p:spPr>
          <a:xfrm>
            <a:off x="8961120" y="5394960"/>
            <a:ext cx="2542032" cy="585216"/>
          </a:xfrm>
          <a:prstGeom prst="rect">
            <a:avLst/>
          </a:prstGeom>
          <a:noFill/>
          <a:ln/>
        </p:spPr>
        <p:txBody>
          <a:bodyPr wrap="square" lIns="0" tIns="0" rIns="0" bIns="0" rtlCol="0" anchor="ctr"/>
          <a:lstStyle/>
          <a:p>
            <a:pPr indent="0" marL="0">
              <a:buNone/>
            </a:pPr>
            <a:r>
              <a:rPr lang="vi-VN" sz="1300" b="1" dirty="0">
                <a:solidFill>
                  <a:schemeClr val="bg1"/>
                </a:solidFill>
              </a:rPr>
              <a:t>Thiết kế theo dây chuyền của bạn</a:t>
            </a:r>
            <a:endParaRPr lang="vi-VN" sz="1300" dirty="0"/>
          </a:p>
        </p:txBody>
      </p:sp>
      <p:sp>
        <p:nvSpPr>
          <p:cNvPr id="45" name="Text 43"/>
          <p:cNvSpPr txBox="1"/>
          <p:nvPr/>
        </p:nvSpPr>
        <p:spPr>
          <a:xfrm>
            <a:off x="548640" y="6053328"/>
            <a:ext cx="8229600" cy="274320"/>
          </a:xfrm>
          <a:prstGeom prst="rect">
            <a:avLst/>
          </a:prstGeom>
          <a:noFill/>
          <a:ln/>
        </p:spPr>
        <p:txBody>
          <a:bodyPr wrap="square" lIns="0" tIns="0" rIns="0" bIns="0" rtlCol="0" anchor="ctr"/>
          <a:lstStyle/>
          <a:p>
            <a:pPr indent="0" marL="0">
              <a:buNone/>
            </a:pPr>
            <a:r>
              <a:rPr lang="vi-VN" sz="1000" dirty="0">
                <a:solidFill>
                  <a:schemeClr val="accent6"/>
                </a:solidFill>
              </a:rPr>
              <a:t>Nhấp để hiện MetriQ. Số liệu thị trường điển hình; mỗi dự án mỗi khác.</a:t>
            </a:r>
            <a:endParaRPr lang="vi-VN"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vi-VN"/>
              <a:t>11</a:t>
            </a:fld>
            <a:endParaRPr lang="vi-V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5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45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50"/>
                                        <p:tgtEl>
                                          <p:spTgt spid="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5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50"/>
                                        <p:tgtEl>
                                          <p:spTgt spid="3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fade">
                                      <p:cBhvr>
                                        <p:cTn id="25" dur="450"/>
                                        <p:tgtEl>
                                          <p:spTgt spid="3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fade">
                                      <p:cBhvr>
                                        <p:cTn id="28" dur="45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4" grpId="0" animBg="1"/>
      <p:bldP spid="20" grpId="0" animBg="1"/>
      <p:bldP spid="26" grpId="0" animBg="1"/>
      <p:bldP spid="32" grpId="0" animBg="1"/>
      <p:bldP spid="38" grpId="0" animBg="1"/>
      <p:bldP spid="4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vi-VN" sz="1100" b="1" spc="300" kern="0" dirty="0">
                <a:solidFill>
                  <a:schemeClr val="accent1"/>
                </a:solidFill>
              </a:rPr>
              <a:t>BÁO CÁO</a:t>
            </a:r>
            <a:endParaRPr lang="vi-VN"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vi-VN" sz="3600" b="1" dirty="0">
                <a:solidFill>
                  <a:schemeClr val="tx2"/>
                </a:solidFill>
              </a:rPr>
              <a:t>Mỗi ca kết thúc bằng một báo cáo</a:t>
            </a:r>
            <a:endParaRPr lang="vi-VN" sz="3600" dirty="0"/>
          </a:p>
        </p:txBody>
      </p:sp>
      <p:sp>
        <p:nvSpPr>
          <p:cNvPr id="4" name="Report frame 1"/>
          <p:cNvSpPr/>
          <p:nvPr/>
        </p:nvSpPr>
        <p:spPr>
          <a:xfrm>
            <a:off x="548640" y="1600200"/>
            <a:ext cx="3529584" cy="4663440"/>
          </a:xfrm>
          <a:prstGeom prst="roundRect">
            <a:avLst>
              <a:gd name="adj" fmla="val 3109"/>
            </a:avLst>
          </a:prstGeom>
          <a:solidFill>
            <a:schemeClr val="bg1"/>
          </a:solidFill>
          <a:ln w="12700">
            <a:solidFill>
              <a:schemeClr val="accent5"/>
            </a:solidFill>
            <a:prstDash val="solid"/>
          </a:ln>
        </p:spPr>
      </p:sp>
      <p:pic>
        <p:nvPicPr>
          <p:cNvPr id="5" name="Image 0" descr="Báo cáo ca, trang 1">    </p:cNvPr>
          <p:cNvPicPr>
            <a:picLocks noChangeAspect="1"/>
          </p:cNvPicPr>
          <p:nvPr/>
        </p:nvPicPr>
        <p:blipFill>
          <a:blip r:embed="rId1"/>
          <a:stretch>
            <a:fillRect/>
          </a:stretch>
        </p:blipFill>
        <p:spPr>
          <a:xfrm>
            <a:off x="667512" y="1664208"/>
            <a:ext cx="3291840" cy="4535424"/>
          </a:xfrm>
          <a:prstGeom prst="rect">
            <a:avLst/>
          </a:prstGeom>
        </p:spPr>
      </p:pic>
      <p:sp>
        <p:nvSpPr>
          <p:cNvPr id="6" name="Report frame 2"/>
          <p:cNvSpPr/>
          <p:nvPr/>
        </p:nvSpPr>
        <p:spPr>
          <a:xfrm>
            <a:off x="4261104" y="1600200"/>
            <a:ext cx="3529584" cy="4663440"/>
          </a:xfrm>
          <a:prstGeom prst="roundRect">
            <a:avLst>
              <a:gd name="adj" fmla="val 3109"/>
            </a:avLst>
          </a:prstGeom>
          <a:solidFill>
            <a:schemeClr val="bg1"/>
          </a:solidFill>
          <a:ln w="12700">
            <a:solidFill>
              <a:schemeClr val="accent5"/>
            </a:solidFill>
            <a:prstDash val="solid"/>
          </a:ln>
        </p:spPr>
      </p:sp>
      <p:pic>
        <p:nvPicPr>
          <p:cNvPr id="7" name="Image 1" descr="Báo cáo ca, trang 2">    </p:cNvPr>
          <p:cNvPicPr>
            <a:picLocks noChangeAspect="1"/>
          </p:cNvPicPr>
          <p:nvPr/>
        </p:nvPicPr>
        <p:blipFill>
          <a:blip r:embed="rId2"/>
          <a:stretch>
            <a:fillRect/>
          </a:stretch>
        </p:blipFill>
        <p:spPr>
          <a:xfrm>
            <a:off x="4379976" y="1664208"/>
            <a:ext cx="3291840" cy="4535424"/>
          </a:xfrm>
          <a:prstGeom prst="rect">
            <a:avLst/>
          </a:prstGeom>
        </p:spPr>
      </p:pic>
      <p:sp>
        <p:nvSpPr>
          <p:cNvPr id="8" name="Rep 0"/>
          <p:cNvSpPr txBox="1"/>
          <p:nvPr/>
        </p:nvSpPr>
        <p:spPr>
          <a:xfrm>
            <a:off x="8229600" y="1691640"/>
            <a:ext cx="3410712" cy="868680"/>
          </a:xfrm>
          <a:prstGeom prst="rect">
            <a:avLst/>
          </a:prstGeom>
          <a:noFill/>
          <a:ln/>
        </p:spPr>
        <p:txBody>
          <a:bodyPr wrap="square" lIns="0" tIns="0" rIns="0" bIns="0" rtlCol="0" anchor="t"/>
          <a:lstStyle/>
          <a:p>
            <a:pPr indent="0" marL="0">
              <a:buNone/>
            </a:pPr>
            <a:r>
              <a:rPr lang="vi-VN" sz="1500" b="1" dirty="0">
                <a:solidFill>
                  <a:schemeClr val="tx1"/>
                </a:solidFill>
              </a:rPr>
              <a:t>Số lượng và tỷ lệ loại</a:t>
            </a:r>
            <a:endParaRPr lang="vi-VN" sz="1500" dirty="0"/>
          </a:p>
          <a:p>
            <a:pPr indent="0" marL="0">
              <a:buNone/>
            </a:pPr>
            <a:r>
              <a:rPr lang="vi-VN" sz="1500" dirty="0">
                <a:solidFill>
                  <a:schemeClr val="accent4"/>
                </a:solidFill>
              </a:rPr>
              <a:t>theo từng giờ.</a:t>
            </a:r>
            <a:endParaRPr lang="vi-VN" sz="1500" dirty="0"/>
          </a:p>
        </p:txBody>
      </p:sp>
      <p:sp>
        <p:nvSpPr>
          <p:cNvPr id="9" name="Rep 1"/>
          <p:cNvSpPr txBox="1"/>
          <p:nvPr/>
        </p:nvSpPr>
        <p:spPr>
          <a:xfrm>
            <a:off x="8229600" y="2679192"/>
            <a:ext cx="3410712" cy="868680"/>
          </a:xfrm>
          <a:prstGeom prst="rect">
            <a:avLst/>
          </a:prstGeom>
          <a:noFill/>
          <a:ln/>
        </p:spPr>
        <p:txBody>
          <a:bodyPr wrap="square" lIns="0" tIns="0" rIns="0" bIns="0" rtlCol="0" anchor="t"/>
          <a:lstStyle/>
          <a:p>
            <a:pPr indent="0" marL="0">
              <a:buNone/>
            </a:pPr>
            <a:r>
              <a:rPr lang="vi-VN" sz="1500" b="1" dirty="0">
                <a:solidFill>
                  <a:schemeClr val="tx1"/>
                </a:solidFill>
              </a:rPr>
              <a:t>Mục tiêu so với thực tế</a:t>
            </a:r>
            <a:endParaRPr lang="vi-VN" sz="1500" dirty="0"/>
          </a:p>
          <a:p>
            <a:pPr indent="0" marL="0">
              <a:buNone/>
            </a:pPr>
            <a:r>
              <a:rPr lang="vi-VN" sz="1500" dirty="0">
                <a:solidFill>
                  <a:schemeClr val="accent4"/>
                </a:solidFill>
              </a:rPr>
              <a:t>OK, Theo dõi hoặc Xử lý cho từng tiêu chí.</a:t>
            </a:r>
            <a:endParaRPr lang="vi-VN" sz="1500" dirty="0"/>
          </a:p>
        </p:txBody>
      </p:sp>
      <p:sp>
        <p:nvSpPr>
          <p:cNvPr id="10" name="Rep 2"/>
          <p:cNvSpPr txBox="1"/>
          <p:nvPr/>
        </p:nvSpPr>
        <p:spPr>
          <a:xfrm>
            <a:off x="8229600" y="3666744"/>
            <a:ext cx="3410712" cy="868680"/>
          </a:xfrm>
          <a:prstGeom prst="rect">
            <a:avLst/>
          </a:prstGeom>
          <a:noFill/>
          <a:ln/>
        </p:spPr>
        <p:txBody>
          <a:bodyPr wrap="square" lIns="0" tIns="0" rIns="0" bIns="0" rtlCol="0" anchor="t"/>
          <a:lstStyle/>
          <a:p>
            <a:pPr indent="0" marL="0">
              <a:buNone/>
            </a:pPr>
            <a:r>
              <a:rPr lang="vi-VN" sz="1500" b="1" dirty="0">
                <a:solidFill>
                  <a:schemeClr val="tx1"/>
                </a:solidFill>
              </a:rPr>
              <a:t>Cpk và sai lệch theo kích thước</a:t>
            </a:r>
            <a:endParaRPr lang="vi-VN" sz="1500" dirty="0"/>
          </a:p>
          <a:p>
            <a:pPr indent="0" marL="0">
              <a:buNone/>
            </a:pPr>
            <a:r>
              <a:rPr lang="vi-VN" sz="1500" dirty="0">
                <a:solidFill>
                  <a:schemeClr val="accent4"/>
                </a:solidFill>
              </a:rPr>
              <a:t>sửa quy trình, không chỉ sản phẩm.</a:t>
            </a:r>
            <a:endParaRPr lang="vi-VN" sz="1500" dirty="0"/>
          </a:p>
        </p:txBody>
      </p:sp>
      <p:sp>
        <p:nvSpPr>
          <p:cNvPr id="11" name="Rep 3"/>
          <p:cNvSpPr txBox="1"/>
          <p:nvPr/>
        </p:nvSpPr>
        <p:spPr>
          <a:xfrm>
            <a:off x="8229600" y="4654296"/>
            <a:ext cx="3410712" cy="868680"/>
          </a:xfrm>
          <a:prstGeom prst="rect">
            <a:avLst/>
          </a:prstGeom>
          <a:noFill/>
          <a:ln/>
        </p:spPr>
        <p:txBody>
          <a:bodyPr wrap="square" lIns="0" tIns="0" rIns="0" bIns="0" rtlCol="0" anchor="t"/>
          <a:lstStyle/>
          <a:p>
            <a:pPr indent="0" marL="0">
              <a:buNone/>
            </a:pPr>
            <a:r>
              <a:rPr lang="vi-VN" sz="1500" b="1" dirty="0">
                <a:solidFill>
                  <a:schemeClr val="tx1"/>
                </a:solidFill>
              </a:rPr>
              <a:t>Khuyến nghị</a:t>
            </a:r>
            <a:endParaRPr lang="vi-VN" sz="1500" dirty="0"/>
          </a:p>
          <a:p>
            <a:pPr indent="0" marL="0">
              <a:buNone/>
            </a:pPr>
            <a:r>
              <a:rPr lang="vi-VN" sz="1500" dirty="0">
                <a:solidFill>
                  <a:schemeClr val="accent4"/>
                </a:solidFill>
              </a:rPr>
              <a:t>xếp theo ưu tiên, kèm việc cần kiểm tra.</a:t>
            </a:r>
            <a:endParaRPr lang="vi-VN" sz="1500" dirty="0"/>
          </a:p>
        </p:txBody>
      </p:sp>
      <p:sp>
        <p:nvSpPr>
          <p:cNvPr id="12" name="Text 8"/>
          <p:cNvSpPr txBox="1"/>
          <p:nvPr/>
        </p:nvSpPr>
        <p:spPr>
          <a:xfrm>
            <a:off x="8229600" y="5760720"/>
            <a:ext cx="3410712" cy="274320"/>
          </a:xfrm>
          <a:prstGeom prst="rect">
            <a:avLst/>
          </a:prstGeom>
          <a:noFill/>
          <a:ln/>
        </p:spPr>
        <p:txBody>
          <a:bodyPr wrap="square" lIns="0" tIns="0" rIns="0" bIns="0" rtlCol="0" anchor="ctr"/>
          <a:lstStyle/>
          <a:p>
            <a:pPr indent="0" marL="0">
              <a:buNone/>
            </a:pPr>
            <a:r>
              <a:rPr lang="vi-VN" sz="1000" dirty="0">
                <a:solidFill>
                  <a:schemeClr val="accent6"/>
                </a:solidFill>
              </a:rPr>
              <a:t>Dữ liệu mẫu.</a:t>
            </a:r>
            <a:endParaRPr lang="vi-VN" sz="1000" dirty="0"/>
          </a:p>
        </p:txBody>
      </p:sp>
      <p:sp>
        <p:nvSpPr>
          <p:cNvPr id="13" name="Back link"/>
          <p:cNvSpPr txBox="1"/>
          <p:nvPr/>
        </p:nvSpPr>
        <p:spPr>
          <a:xfrm>
            <a:off x="8716975" y="6382512"/>
            <a:ext cx="2194560" cy="310896"/>
          </a:xfrm>
          <a:prstGeom prst="rect">
            <a:avLst/>
          </a:prstGeom>
          <a:noFill/>
          <a:ln/>
        </p:spPr>
        <p:txBody>
          <a:bodyPr wrap="square" lIns="0" tIns="0" rIns="0" bIns="0" rtlCol="0" anchor="ctr"/>
          <a:lstStyle/>
          <a:p>
            <a:pPr algn="r" indent="0" marL="0">
              <a:buNone/>
            </a:pPr>
            <a:r>
              <a:rPr lang="vi-VN" sz="1100" u="sng" dirty="0">
                <a:solidFill>
                  <a:schemeClr val="accent1"/>
                </a:solidFill>
                <a:hlinkClick r:id="rId3" action="ppaction://hlinksldjump" tooltip="Back to capabilities">
                  <a:extLst>
                    <a:ext uri="{A12FA001-AC4F-418D-AE19-62706E023703}">
                      <ahyp:hlinkClr xmlns:ahyp="http://schemas.microsoft.com/office/drawing/2018/hyperlinkcolor" val="tx"/>
                    </a:ext>
                  </a:extLst>
                </a:hlinkClick>
              </a:rPr>
              <a:t>← Tất cả tính năng</a:t>
            </a:r>
            <a:endParaRPr lang="vi-VN"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vi-VN"/>
              <a:t>12</a:t>
            </a:fld>
            <a:endParaRPr lang="vi-V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50"/>
                                        <p:tgtEl>
                                          <p:spTgt spid="10"/>
                                        </p:tgtEl>
                                      </p:cBhvr>
                                    </p:animEffect>
                                  </p:childTnLst>
                                </p:cTn>
                              </p:par>
                              <p:par>
                                <p:cTn id="14" presetID="10" presetClass="entr" presetSubtype="0" fill="hold" grpId="0" nodeType="withEffect">
                                  <p:stCondLst>
                                    <p:cond delay="75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411480"/>
            <a:ext cx="8229600" cy="274320"/>
          </a:xfrm>
          <a:prstGeom prst="rect">
            <a:avLst/>
          </a:prstGeom>
          <a:noFill/>
          <a:ln/>
        </p:spPr>
        <p:txBody>
          <a:bodyPr wrap="square" lIns="0" tIns="0" rIns="0" bIns="0" rtlCol="0"/>
          <a:lstStyle/>
          <a:p>
            <a:pPr indent="0" marL="0">
              <a:buNone/>
            </a:pPr>
            <a:r>
              <a:rPr lang="vi-VN" sz="1100" b="1" spc="300" kern="0" dirty="0">
                <a:solidFill>
                  <a:schemeClr val="accent1"/>
                </a:solidFill>
              </a:rPr>
              <a:t>TÙY CHỈNH</a:t>
            </a:r>
            <a:endParaRPr lang="vi-VN" sz="1100" dirty="0"/>
          </a:p>
        </p:txBody>
      </p:sp>
      <p:sp>
        <p:nvSpPr>
          <p:cNvPr id="3" name="Text 1"/>
          <p:cNvSpPr/>
          <p:nvPr>
            <p:ph idx="102"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vi-VN" sz="3600" b="1" dirty="0">
                <a:solidFill>
                  <a:schemeClr val="tx2"/>
                </a:solidFill>
              </a:rPr>
              <a:t>Thiết kế theo dây chuyền của bạn</a:t>
            </a:r>
            <a:endParaRPr lang="vi-VN" sz="3600" dirty="0"/>
          </a:p>
        </p:txBody>
      </p:sp>
      <p:sp>
        <p:nvSpPr>
          <p:cNvPr id="4" name="Cell frame"/>
          <p:cNvSpPr/>
          <p:nvPr/>
        </p:nvSpPr>
        <p:spPr>
          <a:xfrm>
            <a:off x="548640" y="1691640"/>
            <a:ext cx="5120640" cy="4206240"/>
          </a:xfrm>
          <a:prstGeom prst="roundRect">
            <a:avLst>
              <a:gd name="adj" fmla="val 2609"/>
            </a:avLst>
          </a:prstGeom>
          <a:solidFill>
            <a:schemeClr val="bg1"/>
          </a:solidFill>
          <a:ln w="12700">
            <a:solidFill>
              <a:schemeClr val="accent5"/>
            </a:solidFill>
            <a:prstDash val="solid"/>
          </a:ln>
        </p:spPr>
      </p:sp>
      <p:pic>
        <p:nvPicPr>
          <p:cNvPr id="5" name="Cell" descr="Trạm kiểm tra MetriQ">    </p:cNvPr>
          <p:cNvPicPr>
            <a:picLocks noChangeAspect="1"/>
          </p:cNvPicPr>
          <p:nvPr/>
        </p:nvPicPr>
        <p:blipFill>
          <a:blip r:embed="rId1"/>
          <a:stretch>
            <a:fillRect/>
          </a:stretch>
        </p:blipFill>
        <p:spPr>
          <a:xfrm>
            <a:off x="777240" y="1828800"/>
            <a:ext cx="4663440" cy="3730752"/>
          </a:xfrm>
          <a:prstGeom prst="rect">
            <a:avLst/>
          </a:prstGeom>
        </p:spPr>
      </p:pic>
      <p:sp>
        <p:nvSpPr>
          <p:cNvPr id="6" name="Cus 0 dot"/>
          <p:cNvSpPr/>
          <p:nvPr/>
        </p:nvSpPr>
        <p:spPr>
          <a:xfrm>
            <a:off x="6172200" y="1783080"/>
            <a:ext cx="457200" cy="457200"/>
          </a:xfrm>
          <a:prstGeom prst="ellipse">
            <a:avLst/>
          </a:prstGeom>
          <a:solidFill>
            <a:schemeClr val="tx2"/>
          </a:solidFill>
          <a:ln/>
        </p:spPr>
      </p:sp>
      <p:pic>
        <p:nvPicPr>
          <p:cNvPr id="7" name="Cus 0 icon" descr="preencoded.png">    </p:cNvPr>
          <p:cNvPicPr>
            <a:picLocks noChangeAspect="1"/>
          </p:cNvPicPr>
          <p:nvPr/>
        </p:nvPicPr>
        <p:blipFill>
          <a:blip r:embed="rId2"/>
          <a:stretch>
            <a:fillRect/>
          </a:stretch>
        </p:blipFill>
        <p:spPr>
          <a:xfrm>
            <a:off x="6286500" y="1897380"/>
            <a:ext cx="228600" cy="228600"/>
          </a:xfrm>
          <a:prstGeom prst="rect">
            <a:avLst/>
          </a:prstGeom>
        </p:spPr>
      </p:pic>
      <p:sp>
        <p:nvSpPr>
          <p:cNvPr id="8" name="Cus 0 text"/>
          <p:cNvSpPr txBox="1"/>
          <p:nvPr/>
        </p:nvSpPr>
        <p:spPr>
          <a:xfrm>
            <a:off x="6812280" y="1737360"/>
            <a:ext cx="4846320" cy="777240"/>
          </a:xfrm>
          <a:prstGeom prst="rect">
            <a:avLst/>
          </a:prstGeom>
          <a:noFill/>
          <a:ln/>
        </p:spPr>
        <p:txBody>
          <a:bodyPr wrap="square" lIns="0" tIns="0" rIns="0" bIns="0" rtlCol="0" anchor="t"/>
          <a:lstStyle/>
          <a:p>
            <a:pPr indent="0" marL="0">
              <a:buNone/>
            </a:pPr>
            <a:r>
              <a:rPr lang="vi-VN" sz="1500" b="1" dirty="0">
                <a:solidFill>
                  <a:schemeClr val="tx2"/>
                </a:solidFill>
              </a:rPr>
              <a:t>Camera</a:t>
            </a:r>
            <a:endParaRPr lang="vi-VN" sz="1500" dirty="0"/>
          </a:p>
          <a:p>
            <a:pPr indent="0" marL="0">
              <a:buNone/>
            </a:pPr>
            <a:r>
              <a:rPr lang="vi-VN" sz="1500" dirty="0">
                <a:solidFill>
                  <a:schemeClr val="accent4"/>
                </a:solidFill>
              </a:rPr>
              <a:t>Quét dòng, quét vùng hoặc 3D, theo sản phẩm của bạn.</a:t>
            </a:r>
            <a:endParaRPr lang="vi-VN" sz="1500" dirty="0"/>
          </a:p>
        </p:txBody>
      </p:sp>
      <p:sp>
        <p:nvSpPr>
          <p:cNvPr id="9" name="Cus 1 dot"/>
          <p:cNvSpPr/>
          <p:nvPr/>
        </p:nvSpPr>
        <p:spPr>
          <a:xfrm>
            <a:off x="6172200" y="2624328"/>
            <a:ext cx="457200" cy="457200"/>
          </a:xfrm>
          <a:prstGeom prst="ellipse">
            <a:avLst/>
          </a:prstGeom>
          <a:solidFill>
            <a:schemeClr val="tx2"/>
          </a:solidFill>
          <a:ln/>
        </p:spPr>
      </p:sp>
      <p:pic>
        <p:nvPicPr>
          <p:cNvPr id="10" name="Cus 1 icon" descr="preencoded.png">    </p:cNvPr>
          <p:cNvPicPr>
            <a:picLocks noChangeAspect="1"/>
          </p:cNvPicPr>
          <p:nvPr/>
        </p:nvPicPr>
        <p:blipFill>
          <a:blip r:embed="rId3"/>
          <a:stretch>
            <a:fillRect/>
          </a:stretch>
        </p:blipFill>
        <p:spPr>
          <a:xfrm>
            <a:off x="6286500" y="2738628"/>
            <a:ext cx="228600" cy="228600"/>
          </a:xfrm>
          <a:prstGeom prst="rect">
            <a:avLst/>
          </a:prstGeom>
        </p:spPr>
      </p:pic>
      <p:sp>
        <p:nvSpPr>
          <p:cNvPr id="11" name="Cus 1 text"/>
          <p:cNvSpPr txBox="1"/>
          <p:nvPr/>
        </p:nvSpPr>
        <p:spPr>
          <a:xfrm>
            <a:off x="6812280" y="2578608"/>
            <a:ext cx="4846320" cy="777240"/>
          </a:xfrm>
          <a:prstGeom prst="rect">
            <a:avLst/>
          </a:prstGeom>
          <a:noFill/>
          <a:ln/>
        </p:spPr>
        <p:txBody>
          <a:bodyPr wrap="square" lIns="0" tIns="0" rIns="0" bIns="0" rtlCol="0" anchor="t"/>
          <a:lstStyle/>
          <a:p>
            <a:pPr indent="0" marL="0">
              <a:buNone/>
            </a:pPr>
            <a:r>
              <a:rPr lang="vi-VN" sz="1500" b="1" dirty="0">
                <a:solidFill>
                  <a:schemeClr val="tx2"/>
                </a:solidFill>
              </a:rPr>
              <a:t>Khung và chiếu sáng</a:t>
            </a:r>
            <a:endParaRPr lang="vi-VN" sz="1500" dirty="0"/>
          </a:p>
          <a:p>
            <a:pPr indent="0" marL="0">
              <a:buNone/>
            </a:pPr>
            <a:r>
              <a:rPr lang="vi-VN" sz="1500" dirty="0">
                <a:solidFill>
                  <a:schemeClr val="accent4"/>
                </a:solidFill>
              </a:rPr>
              <a:t>Theo kích thước băng tải. Không sửa dây chuyền.</a:t>
            </a:r>
            <a:endParaRPr lang="vi-VN" sz="1500" dirty="0"/>
          </a:p>
        </p:txBody>
      </p:sp>
      <p:sp>
        <p:nvSpPr>
          <p:cNvPr id="12" name="Cus 2 dot"/>
          <p:cNvSpPr/>
          <p:nvPr/>
        </p:nvSpPr>
        <p:spPr>
          <a:xfrm>
            <a:off x="6172200" y="3465576"/>
            <a:ext cx="457200" cy="457200"/>
          </a:xfrm>
          <a:prstGeom prst="ellipse">
            <a:avLst/>
          </a:prstGeom>
          <a:solidFill>
            <a:schemeClr val="tx2"/>
          </a:solidFill>
          <a:ln/>
        </p:spPr>
      </p:sp>
      <p:pic>
        <p:nvPicPr>
          <p:cNvPr id="13" name="Cus 2 icon" descr="preencoded.png">    </p:cNvPr>
          <p:cNvPicPr>
            <a:picLocks noChangeAspect="1"/>
          </p:cNvPicPr>
          <p:nvPr/>
        </p:nvPicPr>
        <p:blipFill>
          <a:blip r:embed="rId4"/>
          <a:stretch>
            <a:fillRect/>
          </a:stretch>
        </p:blipFill>
        <p:spPr>
          <a:xfrm>
            <a:off x="6286500" y="3579876"/>
            <a:ext cx="228600" cy="228600"/>
          </a:xfrm>
          <a:prstGeom prst="rect">
            <a:avLst/>
          </a:prstGeom>
        </p:spPr>
      </p:pic>
      <p:sp>
        <p:nvSpPr>
          <p:cNvPr id="14" name="Cus 2 text"/>
          <p:cNvSpPr txBox="1"/>
          <p:nvPr/>
        </p:nvSpPr>
        <p:spPr>
          <a:xfrm>
            <a:off x="6812280" y="3419856"/>
            <a:ext cx="4846320" cy="777240"/>
          </a:xfrm>
          <a:prstGeom prst="rect">
            <a:avLst/>
          </a:prstGeom>
          <a:noFill/>
          <a:ln/>
        </p:spPr>
        <p:txBody>
          <a:bodyPr wrap="square" lIns="0" tIns="0" rIns="0" bIns="0" rtlCol="0" anchor="t"/>
          <a:lstStyle/>
          <a:p>
            <a:pPr indent="0" marL="0">
              <a:buNone/>
            </a:pPr>
            <a:r>
              <a:rPr lang="vi-VN" sz="1500" b="1" dirty="0">
                <a:solidFill>
                  <a:schemeClr val="tx2"/>
                </a:solidFill>
              </a:rPr>
              <a:t>Tiêu chí kiểm tra</a:t>
            </a:r>
            <a:endParaRPr lang="vi-VN" sz="1500" dirty="0"/>
          </a:p>
          <a:p>
            <a:pPr indent="0" marL="0">
              <a:buNone/>
            </a:pPr>
            <a:r>
              <a:rPr lang="vi-VN" sz="1500" dirty="0">
                <a:solidFill>
                  <a:schemeClr val="accent4"/>
                </a:solidFill>
              </a:rPr>
              <a:t>Lỗi, dung sai và quy tắc loại của bạn.</a:t>
            </a:r>
            <a:endParaRPr lang="vi-VN" sz="1500" dirty="0"/>
          </a:p>
        </p:txBody>
      </p:sp>
      <p:sp>
        <p:nvSpPr>
          <p:cNvPr id="15" name="Cus 3 dot"/>
          <p:cNvSpPr/>
          <p:nvPr/>
        </p:nvSpPr>
        <p:spPr>
          <a:xfrm>
            <a:off x="6172200" y="4306824"/>
            <a:ext cx="457200" cy="457200"/>
          </a:xfrm>
          <a:prstGeom prst="ellipse">
            <a:avLst/>
          </a:prstGeom>
          <a:solidFill>
            <a:schemeClr val="tx2"/>
          </a:solidFill>
          <a:ln/>
        </p:spPr>
      </p:sp>
      <p:pic>
        <p:nvPicPr>
          <p:cNvPr id="16" name="Cus 3 icon" descr="preencoded.png">    </p:cNvPr>
          <p:cNvPicPr>
            <a:picLocks noChangeAspect="1"/>
          </p:cNvPicPr>
          <p:nvPr/>
        </p:nvPicPr>
        <p:blipFill>
          <a:blip r:embed="rId5"/>
          <a:stretch>
            <a:fillRect/>
          </a:stretch>
        </p:blipFill>
        <p:spPr>
          <a:xfrm>
            <a:off x="6286500" y="4421124"/>
            <a:ext cx="228600" cy="228600"/>
          </a:xfrm>
          <a:prstGeom prst="rect">
            <a:avLst/>
          </a:prstGeom>
        </p:spPr>
      </p:pic>
      <p:sp>
        <p:nvSpPr>
          <p:cNvPr id="17" name="Cus 3 text"/>
          <p:cNvSpPr txBox="1"/>
          <p:nvPr/>
        </p:nvSpPr>
        <p:spPr>
          <a:xfrm>
            <a:off x="6812280" y="4261104"/>
            <a:ext cx="4846320" cy="777240"/>
          </a:xfrm>
          <a:prstGeom prst="rect">
            <a:avLst/>
          </a:prstGeom>
          <a:noFill/>
          <a:ln/>
        </p:spPr>
        <p:txBody>
          <a:bodyPr wrap="square" lIns="0" tIns="0" rIns="0" bIns="0" rtlCol="0" anchor="t"/>
          <a:lstStyle/>
          <a:p>
            <a:pPr indent="0" marL="0">
              <a:buNone/>
            </a:pPr>
            <a:r>
              <a:rPr lang="vi-VN" sz="1500" b="1" dirty="0">
                <a:solidFill>
                  <a:schemeClr val="tx2"/>
                </a:solidFill>
              </a:rPr>
              <a:t>Kết nối</a:t>
            </a:r>
            <a:endParaRPr lang="vi-VN" sz="1500" dirty="0"/>
          </a:p>
          <a:p>
            <a:pPr indent="0" marL="0">
              <a:buNone/>
            </a:pPr>
            <a:r>
              <a:rPr lang="vi-VN" sz="1500" dirty="0">
                <a:solidFill>
                  <a:schemeClr val="accent4"/>
                </a:solidFill>
              </a:rPr>
              <a:t>OPC UA, SQL, tín hiệu loại qua PLC, Excel.</a:t>
            </a:r>
            <a:endParaRPr lang="vi-VN" sz="1500" dirty="0"/>
          </a:p>
        </p:txBody>
      </p:sp>
      <p:sp>
        <p:nvSpPr>
          <p:cNvPr id="18" name="Cus 4 dot"/>
          <p:cNvSpPr/>
          <p:nvPr/>
        </p:nvSpPr>
        <p:spPr>
          <a:xfrm>
            <a:off x="6172200" y="5148072"/>
            <a:ext cx="457200" cy="457200"/>
          </a:xfrm>
          <a:prstGeom prst="ellipse">
            <a:avLst/>
          </a:prstGeom>
          <a:solidFill>
            <a:schemeClr val="tx2"/>
          </a:solidFill>
          <a:ln/>
        </p:spPr>
      </p:sp>
      <p:pic>
        <p:nvPicPr>
          <p:cNvPr id="19" name="Cus 4 icon" descr="preencoded.png">    </p:cNvPr>
          <p:cNvPicPr>
            <a:picLocks noChangeAspect="1"/>
          </p:cNvPicPr>
          <p:nvPr/>
        </p:nvPicPr>
        <p:blipFill>
          <a:blip r:embed="rId6"/>
          <a:stretch>
            <a:fillRect/>
          </a:stretch>
        </p:blipFill>
        <p:spPr>
          <a:xfrm>
            <a:off x="6286500" y="5262372"/>
            <a:ext cx="228600" cy="228600"/>
          </a:xfrm>
          <a:prstGeom prst="rect">
            <a:avLst/>
          </a:prstGeom>
        </p:spPr>
      </p:pic>
      <p:sp>
        <p:nvSpPr>
          <p:cNvPr id="20" name="Cus 4 text"/>
          <p:cNvSpPr txBox="1"/>
          <p:nvPr/>
        </p:nvSpPr>
        <p:spPr>
          <a:xfrm>
            <a:off x="6812280" y="5102352"/>
            <a:ext cx="4846320" cy="777240"/>
          </a:xfrm>
          <a:prstGeom prst="rect">
            <a:avLst/>
          </a:prstGeom>
          <a:noFill/>
          <a:ln/>
        </p:spPr>
        <p:txBody>
          <a:bodyPr wrap="square" lIns="0" tIns="0" rIns="0" bIns="0" rtlCol="0" anchor="t"/>
          <a:lstStyle/>
          <a:p>
            <a:pPr indent="0" marL="0">
              <a:buNone/>
            </a:pPr>
            <a:r>
              <a:rPr lang="vi-VN" sz="1500" b="1" dirty="0">
                <a:solidFill>
                  <a:schemeClr val="tx2"/>
                </a:solidFill>
              </a:rPr>
              <a:t>Bộ xử lý</a:t>
            </a:r>
            <a:endParaRPr lang="vi-VN" sz="1500" dirty="0"/>
          </a:p>
          <a:p>
            <a:pPr indent="0" marL="0">
              <a:buNone/>
            </a:pPr>
            <a:r>
              <a:rPr lang="vi-VN" sz="1500" dirty="0">
                <a:solidFill>
                  <a:schemeClr val="accent4"/>
                </a:solidFill>
              </a:rPr>
              <a:t>PC có GPU, PC công nghiệp hoặc Jetson tại biên.</a:t>
            </a:r>
            <a:endParaRPr lang="vi-VN"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vi-VN"/>
              <a:t>13</a:t>
            </a:fld>
            <a:endParaRPr lang="vi-VN"/>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5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par>
                                <p:cTn id="14" presetID="10" presetClass="entr" presetSubtype="0" fill="hold" grpId="0" nodeType="withEffect">
                                  <p:stCondLst>
                                    <p:cond delay="3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50"/>
                                        <p:tgtEl>
                                          <p:spTgt spid="9"/>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50"/>
                                        <p:tgtEl>
                                          <p:spTgt spid="10"/>
                                        </p:tgtEl>
                                      </p:cBhvr>
                                    </p:animEffect>
                                  </p:childTnLst>
                                </p:cTn>
                              </p:par>
                              <p:par>
                                <p:cTn id="20" presetID="10" presetClass="entr" presetSubtype="0" fill="hold" grpId="0" nodeType="withEffect">
                                  <p:stCondLst>
                                    <p:cond delay="3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50"/>
                                        <p:tgtEl>
                                          <p:spTgt spid="11"/>
                                        </p:tgtEl>
                                      </p:cBhvr>
                                    </p:animEffect>
                                  </p:childTnLst>
                                </p:cTn>
                              </p:par>
                              <p:par>
                                <p:cTn id="23" presetID="10" presetClass="entr" presetSubtype="0" fill="hold" grpId="0" nodeType="withEffect">
                                  <p:stCondLst>
                                    <p:cond delay="60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50"/>
                                        <p:tgtEl>
                                          <p:spTgt spid="12"/>
                                        </p:tgtEl>
                                      </p:cBhvr>
                                    </p:animEffect>
                                  </p:childTnLst>
                                </p:cTn>
                              </p:par>
                              <p:par>
                                <p:cTn id="26" presetID="10" presetClass="entr" presetSubtype="0" fill="hold" grpId="0" nodeType="withEffect">
                                  <p:stCondLst>
                                    <p:cond delay="60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par>
                                <p:cTn id="29" presetID="10" presetClass="entr" presetSubtype="0" fill="hold" grpId="0" nodeType="withEffect">
                                  <p:stCondLst>
                                    <p:cond delay="60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50"/>
                                        <p:tgtEl>
                                          <p:spTgt spid="14"/>
                                        </p:tgtEl>
                                      </p:cBhvr>
                                    </p:animEffect>
                                  </p:childTnLst>
                                </p:cTn>
                              </p:par>
                              <p:par>
                                <p:cTn id="32" presetID="10" presetClass="entr" presetSubtype="0" fill="hold" grpId="0" nodeType="withEffect">
                                  <p:stCondLst>
                                    <p:cond delay="90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50"/>
                                        <p:tgtEl>
                                          <p:spTgt spid="15"/>
                                        </p:tgtEl>
                                      </p:cBhvr>
                                    </p:animEffect>
                                  </p:childTnLst>
                                </p:cTn>
                              </p:par>
                              <p:par>
                                <p:cTn id="35" presetID="10" presetClass="entr" presetSubtype="0" fill="hold" grpId="0" nodeType="withEffect">
                                  <p:stCondLst>
                                    <p:cond delay="90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50"/>
                                        <p:tgtEl>
                                          <p:spTgt spid="16"/>
                                        </p:tgtEl>
                                      </p:cBhvr>
                                    </p:animEffect>
                                  </p:childTnLst>
                                </p:cTn>
                              </p:par>
                              <p:par>
                                <p:cTn id="38" presetID="10" presetClass="entr" presetSubtype="0" fill="hold" grpId="0" nodeType="withEffect">
                                  <p:stCondLst>
                                    <p:cond delay="90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50"/>
                                        <p:tgtEl>
                                          <p:spTgt spid="17"/>
                                        </p:tgtEl>
                                      </p:cBhvr>
                                    </p:animEffect>
                                  </p:childTnLst>
                                </p:cTn>
                              </p:par>
                              <p:par>
                                <p:cTn id="41" presetID="10" presetClass="entr" presetSubtype="0" fill="hold" grpId="0" nodeType="withEffect">
                                  <p:stCondLst>
                                    <p:cond delay="120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50"/>
                                        <p:tgtEl>
                                          <p:spTgt spid="18"/>
                                        </p:tgtEl>
                                      </p:cBhvr>
                                    </p:animEffect>
                                  </p:childTnLst>
                                </p:cTn>
                              </p:par>
                              <p:par>
                                <p:cTn id="44" presetID="10" presetClass="entr" presetSubtype="0" fill="hold" grpId="0" nodeType="withEffect">
                                  <p:stCondLst>
                                    <p:cond delay="120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50"/>
                                        <p:tgtEl>
                                          <p:spTgt spid="19"/>
                                        </p:tgtEl>
                                      </p:cBhvr>
                                    </p:animEffect>
                                  </p:childTnLst>
                                </p:cTn>
                              </p:par>
                              <p:par>
                                <p:cTn id="47" presetID="10" presetClass="entr" presetSubtype="0" fill="hold" grpId="0" nodeType="withEffect">
                                  <p:stCondLst>
                                    <p:cond delay="120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1" grpId="0" animBg="1"/>
      <p:bldP spid="12" grpId="0" animBg="1"/>
      <p:bldP spid="14" grpId="0" animBg="1"/>
      <p:bldP spid="15" grpId="0" animBg="1"/>
      <p:bldP spid="17" grpId="0" animBg="1"/>
      <p:bldP spid="18" grpId="0" animBg="1"/>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Wordmark"/>
          <p:cNvSpPr txBox="1"/>
          <p:nvPr/>
        </p:nvSpPr>
        <p:spPr>
          <a:xfrm>
            <a:off x="548640" y="548640"/>
            <a:ext cx="3657600" cy="365760"/>
          </a:xfrm>
          <a:prstGeom prst="rect">
            <a:avLst/>
          </a:prstGeom>
          <a:noFill/>
          <a:ln/>
        </p:spPr>
        <p:txBody>
          <a:bodyPr wrap="square" lIns="0" tIns="0" rIns="0" bIns="0" rtlCol="0" anchor="ctr"/>
          <a:lstStyle/>
          <a:p>
            <a:pPr indent="0" marL="0">
              <a:buNone/>
            </a:pPr>
            <a:r>
              <a:rPr lang="vi-VN" sz="1400" b="1" spc="600" kern="0" dirty="0">
                <a:solidFill>
                  <a:schemeClr val="accent2"/>
                </a:solidFill>
              </a:rPr>
              <a:t>MT</a:t>
            </a:r>
            <a:pPr indent="0" marL="0">
              <a:buNone/>
            </a:pPr>
            <a:r>
              <a:rPr lang="vi-VN" sz="1400" b="1" spc="600" kern="0" dirty="0">
                <a:solidFill>
                  <a:schemeClr val="bg1"/>
                </a:solidFill>
              </a:rPr>
              <a:t>ROBOTIX</a:t>
            </a:r>
            <a:endParaRPr lang="vi-VN" sz="1400" dirty="0"/>
          </a:p>
        </p:txBody>
      </p:sp>
      <p:sp>
        <p:nvSpPr>
          <p:cNvPr id="3" name="Text 1"/>
          <p:cNvSpPr txBox="1"/>
          <p:nvPr/>
        </p:nvSpPr>
        <p:spPr>
          <a:xfrm>
            <a:off x="548640" y="1737360"/>
            <a:ext cx="6583680" cy="1463040"/>
          </a:xfrm>
          <a:prstGeom prst="rect">
            <a:avLst/>
          </a:prstGeom>
          <a:noFill/>
          <a:ln/>
        </p:spPr>
        <p:txBody>
          <a:bodyPr wrap="square" lIns="0" tIns="0" rIns="0" bIns="0" rtlCol="0" anchor="t"/>
          <a:lstStyle/>
          <a:p>
            <a:pPr indent="0" marL="0">
              <a:buNone/>
            </a:pPr>
            <a:r>
              <a:rPr lang="vi-VN" sz="4800" b="1" dirty="0">
                <a:solidFill>
                  <a:schemeClr val="bg1"/>
                </a:solidFill>
              </a:rPr>
              <a:t>Xem MetriQ trên sản phẩm của bạn</a:t>
            </a:r>
            <a:endParaRPr lang="vi-VN" sz="4800" dirty="0"/>
          </a:p>
        </p:txBody>
      </p:sp>
      <p:sp>
        <p:nvSpPr>
          <p:cNvPr id="4" name="Text 2"/>
          <p:cNvSpPr txBox="1"/>
          <p:nvPr/>
        </p:nvSpPr>
        <p:spPr>
          <a:xfrm>
            <a:off x="548640" y="3291840"/>
            <a:ext cx="6400800" cy="457200"/>
          </a:xfrm>
          <a:prstGeom prst="rect">
            <a:avLst/>
          </a:prstGeom>
          <a:noFill/>
          <a:ln/>
        </p:spPr>
        <p:txBody>
          <a:bodyPr wrap="square" lIns="0" tIns="0" rIns="0" bIns="0" rtlCol="0" anchor="ctr"/>
          <a:lstStyle/>
          <a:p>
            <a:pPr indent="0" marL="0">
              <a:buNone/>
            </a:pPr>
            <a:r>
              <a:rPr lang="vi-VN" sz="2000" dirty="0">
                <a:solidFill>
                  <a:schemeClr val="accent5"/>
                </a:solidFill>
              </a:rPr>
              <a:t>Demo 30 phút trên chính sản phẩm của bạn.</a:t>
            </a:r>
            <a:endParaRPr lang="vi-VN" sz="2000" dirty="0"/>
          </a:p>
        </p:txBody>
      </p:sp>
      <p:pic>
        <p:nvPicPr>
          <p:cNvPr id="5" name="Image 0" descr="preencoded.png">    </p:cNvPr>
          <p:cNvPicPr>
            <a:picLocks noChangeAspect="1"/>
          </p:cNvPicPr>
          <p:nvPr/>
        </p:nvPicPr>
        <p:blipFill>
          <a:blip r:embed="rId1"/>
          <a:stretch>
            <a:fillRect/>
          </a:stretch>
        </p:blipFill>
        <p:spPr>
          <a:xfrm>
            <a:off x="548640" y="4297680"/>
            <a:ext cx="274320" cy="274320"/>
          </a:xfrm>
          <a:prstGeom prst="rect">
            <a:avLst/>
          </a:prstGeom>
        </p:spPr>
      </p:pic>
      <p:sp>
        <p:nvSpPr>
          <p:cNvPr id="6" name="Text 3"/>
          <p:cNvSpPr txBox="1"/>
          <p:nvPr/>
        </p:nvSpPr>
        <p:spPr>
          <a:xfrm>
            <a:off x="1005840" y="4251960"/>
            <a:ext cx="5943600" cy="365760"/>
          </a:xfrm>
          <a:prstGeom prst="rect">
            <a:avLst/>
          </a:prstGeom>
          <a:noFill/>
          <a:ln/>
        </p:spPr>
        <p:txBody>
          <a:bodyPr wrap="square" lIns="0" tIns="0" rIns="0" bIns="0" rtlCol="0" anchor="ctr"/>
          <a:lstStyle/>
          <a:p>
            <a:pPr indent="0" marL="0">
              <a:buNone/>
            </a:pPr>
            <a:r>
              <a:rPr lang="vi-VN" sz="16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mtrobotix@gmail.com</a:t>
            </a:r>
            <a:endParaRPr lang="vi-VN" sz="1600" dirty="0"/>
          </a:p>
        </p:txBody>
      </p:sp>
      <p:pic>
        <p:nvPicPr>
          <p:cNvPr id="7" name="Image 1" descr="preencoded.png">    </p:cNvPr>
          <p:cNvPicPr>
            <a:picLocks noChangeAspect="1"/>
          </p:cNvPicPr>
          <p:nvPr/>
        </p:nvPicPr>
        <p:blipFill>
          <a:blip r:embed="rId3"/>
          <a:stretch>
            <a:fillRect/>
          </a:stretch>
        </p:blipFill>
        <p:spPr>
          <a:xfrm>
            <a:off x="548640" y="4800600"/>
            <a:ext cx="274320" cy="274320"/>
          </a:xfrm>
          <a:prstGeom prst="rect">
            <a:avLst/>
          </a:prstGeom>
        </p:spPr>
      </p:pic>
      <p:sp>
        <p:nvSpPr>
          <p:cNvPr id="8" name="Text 4"/>
          <p:cNvSpPr txBox="1"/>
          <p:nvPr/>
        </p:nvSpPr>
        <p:spPr>
          <a:xfrm>
            <a:off x="1005840" y="4754880"/>
            <a:ext cx="5943600" cy="365760"/>
          </a:xfrm>
          <a:prstGeom prst="rect">
            <a:avLst/>
          </a:prstGeom>
          <a:noFill/>
          <a:ln/>
        </p:spPr>
        <p:txBody>
          <a:bodyPr wrap="square" lIns="0" tIns="0" rIns="0" bIns="0" rtlCol="0" anchor="ctr"/>
          <a:lstStyle/>
          <a:p>
            <a:pPr indent="0" marL="0">
              <a:buNone/>
            </a:pPr>
            <a:r>
              <a:rPr lang="vi-VN" sz="1600" dirty="0">
                <a:solidFill>
                  <a:schemeClr val="bg1"/>
                </a:solidFill>
              </a:rPr>
              <a:t>+84 835 760 735  ·  +1 905 924 5498</a:t>
            </a:r>
            <a:endParaRPr lang="vi-VN" sz="1600" dirty="0"/>
          </a:p>
        </p:txBody>
      </p:sp>
      <p:pic>
        <p:nvPicPr>
          <p:cNvPr id="9" name="Image 2" descr="preencoded.png">    </p:cNvPr>
          <p:cNvPicPr>
            <a:picLocks noChangeAspect="1"/>
          </p:cNvPicPr>
          <p:nvPr/>
        </p:nvPicPr>
        <p:blipFill>
          <a:blip r:embed="rId4"/>
          <a:stretch>
            <a:fillRect/>
          </a:stretch>
        </p:blipFill>
        <p:spPr>
          <a:xfrm>
            <a:off x="548640" y="5303520"/>
            <a:ext cx="274320" cy="274320"/>
          </a:xfrm>
          <a:prstGeom prst="rect">
            <a:avLst/>
          </a:prstGeom>
        </p:spPr>
      </p:pic>
      <p:sp>
        <p:nvSpPr>
          <p:cNvPr id="10" name="Text 5"/>
          <p:cNvSpPr txBox="1"/>
          <p:nvPr/>
        </p:nvSpPr>
        <p:spPr>
          <a:xfrm>
            <a:off x="1005840" y="5257800"/>
            <a:ext cx="5943600" cy="365760"/>
          </a:xfrm>
          <a:prstGeom prst="rect">
            <a:avLst/>
          </a:prstGeom>
          <a:noFill/>
          <a:ln/>
        </p:spPr>
        <p:txBody>
          <a:bodyPr wrap="square" lIns="0" tIns="0" rIns="0" bIns="0" rtlCol="0" anchor="ctr"/>
          <a:lstStyle/>
          <a:p>
            <a:pPr indent="0" marL="0">
              <a:buNone/>
            </a:pPr>
            <a:r>
              <a:rPr lang="vi-VN" sz="1600" u="sng" dirty="0">
                <a:solidFill>
                  <a:schemeClr val="bg1"/>
                </a:solidFill>
                <a:hlinkClick r:id="rId5" invalidUrl="" action="" tgtFrame="" tooltip="" history="1" highlightClick="0" endSnd="0">
                  <a:extLst>
                    <a:ext uri="{A12FA001-AC4F-418D-AE19-62706E023703}">
                      <ahyp:hlinkClr xmlns:ahyp="http://schemas.microsoft.com/office/drawing/2018/hyperlinkcolor" val="tx"/>
                    </a:ext>
                  </a:extLst>
                </a:hlinkClick>
              </a:rPr>
              <a:t>mtrobotix.com</a:t>
            </a:r>
            <a:endParaRPr lang="vi-VN" sz="1600" dirty="0"/>
          </a:p>
        </p:txBody>
      </p:sp>
      <p:pic>
        <p:nvPicPr>
          <p:cNvPr id="11" name="Image 3" descr="Logo MTRobotix">    </p:cNvPr>
          <p:cNvPicPr>
            <a:picLocks noChangeAspect="1"/>
          </p:cNvPicPr>
          <p:nvPr/>
        </p:nvPicPr>
        <p:blipFill>
          <a:blip r:embed="rId6"/>
          <a:stretch>
            <a:fillRect/>
          </a:stretch>
        </p:blipFill>
        <p:spPr>
          <a:xfrm>
            <a:off x="8613648" y="1828800"/>
            <a:ext cx="2286000" cy="2286000"/>
          </a:xfrm>
          <a:prstGeom prst="rect">
            <a:avLst/>
          </a:prstGeom>
        </p:spPr>
      </p:pic>
      <p:sp>
        <p:nvSpPr>
          <p:cNvPr id="12" name="Text 6"/>
          <p:cNvSpPr txBox="1"/>
          <p:nvPr/>
        </p:nvSpPr>
        <p:spPr>
          <a:xfrm>
            <a:off x="7680960" y="4343400"/>
            <a:ext cx="4160520" cy="868680"/>
          </a:xfrm>
          <a:prstGeom prst="rect">
            <a:avLst/>
          </a:prstGeom>
          <a:noFill/>
          <a:ln/>
        </p:spPr>
        <p:txBody>
          <a:bodyPr wrap="square" lIns="0" tIns="0" rIns="0" bIns="0" rtlCol="0" anchor="ctr"/>
          <a:lstStyle/>
          <a:p>
            <a:pPr algn="ctr" indent="0" marL="0">
              <a:buNone/>
            </a:pPr>
            <a:r>
              <a:rPr lang="vi-VN" sz="5400" b="1" dirty="0">
                <a:solidFill>
                  <a:schemeClr val="bg1"/>
                </a:solidFill>
              </a:rPr>
              <a:t>MetriQ</a:t>
            </a:r>
            <a:endParaRPr lang="vi-VN" sz="5400" dirty="0"/>
          </a:p>
        </p:txBody>
      </p:sp>
      <p:sp>
        <p:nvSpPr>
          <p:cNvPr id="13" name="Text 7"/>
          <p:cNvSpPr txBox="1"/>
          <p:nvPr/>
        </p:nvSpPr>
        <p:spPr>
          <a:xfrm>
            <a:off x="548640" y="6035040"/>
            <a:ext cx="4572000" cy="274320"/>
          </a:xfrm>
          <a:prstGeom prst="rect">
            <a:avLst/>
          </a:prstGeom>
          <a:noFill/>
          <a:ln/>
        </p:spPr>
        <p:txBody>
          <a:bodyPr wrap="square" lIns="0" tIns="0" rIns="0" bIns="0" rtlCol="0" anchor="ctr"/>
          <a:lstStyle/>
          <a:p>
            <a:pPr indent="0" marL="0">
              <a:buNone/>
            </a:pPr>
            <a:r>
              <a:rPr lang="vi-VN" sz="1100" spc="200" kern="0" dirty="0">
                <a:solidFill>
                  <a:schemeClr val="accent6"/>
                </a:solidFill>
              </a:rPr>
              <a:t>TP. Hồ Chí Minh  ·  Toronto</a:t>
            </a:r>
            <a:endParaRPr lang="vi-VN" sz="1100" dirty="0"/>
          </a:p>
        </p:txBody>
      </p:sp>
    </p:spTree>
  </p:cSld>
  <p:clrMapOvr>
    <a:masterClrMapping/>
  </p:clrMapOvr>
  <p:transition spd="med">
    <p:fade/>
  </p:transition>
</p:sld>
</file>

<file path=ppt/theme/theme1.xml><?xml version="1.0" encoding="utf-8"?>
<a:theme xmlns:a="http://schemas.openxmlformats.org/drawingml/2006/main" name="MTRobotix">
  <a:themeElements>
    <a:clrScheme name="MTRobotix">
      <a:dk1>
        <a:srgbClr val="17181A"/>
      </a:dk1>
      <a:lt1>
        <a:srgbClr val="FFFFFF"/>
      </a:lt1>
      <a:dk2>
        <a:srgbClr val="1D2D3D"/>
      </a:dk2>
      <a:lt2>
        <a:srgbClr val="F2F1EC"/>
      </a:lt2>
      <a:accent1>
        <a:srgbClr val="2F5D8A"/>
      </a:accent1>
      <a:accent2>
        <a:srgbClr val="E5463D"/>
      </a:accent2>
      <a:accent3>
        <a:srgbClr val="2F7D52"/>
      </a:accent3>
      <a:accent4>
        <a:srgbClr val="5B5D63"/>
      </a:accent4>
      <a:accent5>
        <a:srgbClr val="E6E4DC"/>
      </a:accent5>
      <a:accent6>
        <a:srgbClr val="8B8D92"/>
      </a:accent6>
      <a:hlink>
        <a:srgbClr val="2F5D8A"/>
      </a:hlink>
      <a:folHlink>
        <a:srgbClr val="1D2D3D"/>
      </a:folHlink>
    </a:clrScheme>
    <a:fontScheme name="MTRobotix">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MTRobotix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MetriQ — kiểm tra bằng thị giác máy của MTRobotix</dc:title>
  <dc:subject>PptxGenJS Presentation</dc:subject>
  <dc:creator>Thong Huynh, MTRobotix</dc:creator>
  <cp:lastModifiedBy>Thong Huynh, MTRobotix</cp:lastModifiedBy>
  <cp:revision>1</cp:revision>
  <dcterms:created xsi:type="dcterms:W3CDTF">2026-10-15T00:30:09Z</dcterms:created>
  <dcterms:modified xsi:type="dcterms:W3CDTF">2026-10-15T00:30:09Z</dcterms:modified>
</cp:coreProperties>
</file>